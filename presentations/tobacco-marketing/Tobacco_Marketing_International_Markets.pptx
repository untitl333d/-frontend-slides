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2841"/>
                </a:solidFill>
                <a:latin typeface="+mn-lt"/>
              </a:defRPr>
            </a:pPr>
            <a:r>
              <a:rPr sz="1400" b="0" i="0" u="none" strike="noStrike">
                <a:solidFill>
                  <a:srgbClr val="0E2841"/>
                </a:solidFill>
                <a:latin typeface="+mn-lt"/>
              </a:rPr>
              <a:t>US high-school students who smoke cigarettes, %</a:t>
            </a:r>
          </a:p>
        </c:rich>
      </c:tx>
      <c:layout/>
      <c:overlay val="0"/>
    </c:title>
    <c:autoTitleDeleted val="0"/>
    <c:plotArea>
      <c:layout/>
      <c:barChart>
        <c:barDir val="col"/>
        <c:grouping val="clustered"/>
        <c:varyColors val="0"/>
        <c:ser>
          <c:idx val="0"/>
          <c:order val="0"/>
          <c:tx>
            <c:strRef>
              <c:f>Sheet1!$B$1</c:f>
              <c:strCache>
                <c:ptCount val="1"/>
                <c:pt idx="0">
                  <c:v>Smokers</c:v>
                </c:pt>
              </c:strCache>
            </c:strRef>
          </c:tx>
          <c:spPr>
            <a:solidFill>
              <a:srgbClr val="0E2841"/>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1999</c:v>
                  </c:pt>
                  <c:pt idx="1">
                    <c:v>2011</c:v>
                  </c:pt>
                  <c:pt idx="2">
                    <c:v>2014</c:v>
                  </c:pt>
                  <c:pt idx="3">
                    <c:v>2019</c:v>
                  </c:pt>
                </c:lvl>
              </c:multiLvlStrCache>
            </c:multiLvlStrRef>
          </c:cat>
          <c:val>
            <c:numRef>
              <c:f>Sheet1!$B$2:$B$5</c:f>
              <c:numCache>
                <c:formatCode>General</c:formatCode>
                <c:ptCount val="4"/>
                <c:pt idx="0">
                  <c:v>28.5</c:v>
                </c:pt>
                <c:pt idx="1">
                  <c:v>15.8</c:v>
                </c:pt>
                <c:pt idx="2">
                  <c:v>9.2</c:v>
                </c:pt>
                <c:pt idx="3">
                  <c:v>5.8</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1D1D1"/>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E5E5E5"/>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7F7F7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2841"/>
                </a:solidFill>
                <a:latin typeface="+mn-lt"/>
              </a:defRPr>
            </a:pPr>
            <a:r>
              <a:rPr sz="1400" b="0" i="0" u="none" strike="noStrike">
                <a:solidFill>
                  <a:srgbClr val="0E2841"/>
                </a:solidFill>
                <a:latin typeface="+mn-lt"/>
              </a:rPr>
              <a:t>US high-school students who vape, %</a:t>
            </a:r>
          </a:p>
        </c:rich>
      </c:tx>
      <c:layout/>
      <c:overlay val="0"/>
    </c:title>
    <c:autoTitleDeleted val="0"/>
    <c:plotArea>
      <c:layout/>
      <c:barChart>
        <c:barDir val="col"/>
        <c:grouping val="clustered"/>
        <c:varyColors val="0"/>
        <c:ser>
          <c:idx val="0"/>
          <c:order val="0"/>
          <c:tx>
            <c:strRef>
              <c:f>Sheet1!$B$1</c:f>
              <c:strCache>
                <c:ptCount val="1"/>
                <c:pt idx="0">
                  <c:v>Vapers</c:v>
                </c:pt>
              </c:strCache>
            </c:strRef>
          </c:tx>
          <c:spPr>
            <a:solidFill>
              <a:srgbClr val="0E2841"/>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0E2841"/>
              </a:solidFill>
              <a:effectLst/>
            </c:spPr>
          </c:dPt>
          <c:dPt>
            <c:idx val="1"/>
            <c:invertIfNegative val="0"/>
            <c:bubble3D val="0"/>
            <c:spPr>
              <a:solidFill>
                <a:srgbClr val="0E2841"/>
              </a:solidFill>
              <a:effectLst/>
            </c:spPr>
          </c:dPt>
          <c:dPt>
            <c:idx val="2"/>
            <c:invertIfNegative val="0"/>
            <c:bubble3D val="0"/>
            <c:spPr>
              <a:solidFill>
                <a:srgbClr val="0E2841"/>
              </a:solidFill>
              <a:effectLst/>
            </c:spPr>
          </c:dPt>
          <c:dPt>
            <c:idx val="3"/>
            <c:invertIfNegative val="0"/>
            <c:bubble3D val="0"/>
            <c:spPr>
              <a:solidFill>
                <a:srgbClr val="C00000"/>
              </a:solidFill>
              <a:effectLst/>
            </c:spPr>
          </c:dPt>
          <c:dPt>
            <c:idx val="4"/>
            <c:invertIfNegative val="0"/>
            <c:bubble3D val="0"/>
            <c:spPr>
              <a:solidFill>
                <a:srgbClr val="0E2841"/>
              </a:solidFill>
              <a:effectLst/>
            </c:spPr>
          </c:dPt>
          <c:dPt>
            <c:idx val="5"/>
            <c:invertIfNegative val="0"/>
            <c:bubble3D val="0"/>
            <c:spPr>
              <a:solidFill>
                <a:srgbClr val="0E2841"/>
              </a:solidFill>
              <a:effectLst/>
            </c:spPr>
          </c:dPt>
          <c:cat>
            <c:multiLvlStrRef>
              <c:f>Sheet1!$A$2:$A$7</c:f>
              <c:multiLvlStrCache>
                <c:ptCount val="6"/>
                <c:lvl>
                  <c:pt idx="0">
                    <c:v>2011</c:v>
                  </c:pt>
                  <c:pt idx="1">
                    <c:v>2014</c:v>
                  </c:pt>
                  <c:pt idx="2">
                    <c:v>2018</c:v>
                  </c:pt>
                  <c:pt idx="3">
                    <c:v>2019</c:v>
                  </c:pt>
                  <c:pt idx="4">
                    <c:v>2022</c:v>
                  </c:pt>
                  <c:pt idx="5">
                    <c:v>2024</c:v>
                  </c:pt>
                </c:lvl>
              </c:multiLvlStrCache>
            </c:multiLvlStrRef>
          </c:cat>
          <c:val>
            <c:numRef>
              <c:f>Sheet1!$B$2:$B$7</c:f>
              <c:numCache>
                <c:formatCode>General</c:formatCode>
                <c:ptCount val="6"/>
                <c:pt idx="0">
                  <c:v>1.5</c:v>
                </c:pt>
                <c:pt idx="1">
                  <c:v>13.4</c:v>
                </c:pt>
                <c:pt idx="2">
                  <c:v>20.8</c:v>
                </c:pt>
                <c:pt idx="3">
                  <c:v>27.5</c:v>
                </c:pt>
                <c:pt idx="4">
                  <c:v>14.1</c:v>
                </c:pt>
                <c:pt idx="5">
                  <c:v>7.8</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1D1D1"/>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9525" cap="flat">
              <a:solidFill>
                <a:srgbClr val="E5E5E5"/>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7F7F7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Good afternoon. I'm Amir, and my topic is tobacco marketing on international markets: not the business side, but the marketing itself. Before I say anything, I want to show you some packs.
Photo circle: right-click the circle &gt; Format Shape &gt; Fill &gt; Picture fill to insert a portrait.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Here are four cigarette packs from four countries. Which country is each one from? And what is different about them? Take a few seconds and shout out your guesses.
PHOTOS TO INSERT (ideally the same brand, e.g. Marlboro, so only the rules differ):
A = USA: full brand design, small text-only warning on the side.
B = Hungary (EU): plain pack + 65% picture warning in Hungarian.
C = Kyrgyzstan: pack with the 50% picture warning in Kyrgyz/Russian (Eurasian Economic Union rules).
D = Australia: plain drab dark brown pack, 75% warning on the front.
Click the picture icon in each box to insert a photo; it fills and crops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Here are the answers, and look at them as a marketer: how much of the pack is still yours? A is the USA: the whole front is still brand. B is Hungary, the pack you see in every Nemzeti Dohánybolt: no logo, no colours, just the name. C is Kyrgyzstan: half for the brand, half for the warning. D is Australia, the first plain pack: a quarter of the front, in the least attractive colour researchers could find. Same cigarettes, four completely different marketing toolboxes. That is today's story: how tobacco marketing keeps working when, one by one, its tools are taken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To understand tobacco marketing today, remember how powerful it used to be. In 1954 the Leo Burnett agency took Marlboro, a filter cigarette sold to women with the slogan 'Mild as May', and turned it into the Marlboro Man, one of the most successful repositionings in marketing history. From 1968, when Gold Leaf sponsored Team Lotus, cigarette brands were painted on Formula 1 cars. And in 1988 came Joe Camel, a cartoon: a 1991 study found that 91% of six-year-olds recognised him, as many as recognised Mickey Mouse. Then all of this was banned. So how do you market a product you're not allowed to advertise?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Chapter one: the marketing toolbox is taken away, piece by piece. In 2003 the WHO treaty bans advertising, promotion and sponsorship. In 2009 the US bans sweet flavours in cigarettes. In 2012 Australia takes the logo off the pack. In 2020 the EU bans menthol. In 2025 Kyrgyzstan bans nicotine vapes completely. And this year the UK passed a law that anyone born after 2008 can never legally buy tobacco: a whole generation of customers gone. Every time a tool was lost, marketers looked for another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Did it work? Look at American high-school students. In 1999, almost 3 in 10 smoked. By 2019 it was under 6 in 100: five times fewer. Researchers found that the 2009 flavour ban alone cut the chance that a teenager smokes by about 17%. Without ads, cartoons and sweet flavours, cigarettes lost the teenagers. But, and this is the twist, nicotine didn't. Before we get there, let's look at the last marketing tool cigarettes still have: the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When there is no TV, no billboard and no magazine, the pack itself is the last billboard. That's why regulators fight over it. In the EU, two-thirds of the pack is a warning, and in Hungary the logo is gone too. In the US, the brand still owns the pack: just a small text warning on the side, and the picture warnings have been stuck in court since 2020. The record holders are Türkiye and Timor-Leste, where 92.5% of the pack is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Chapter two: the sweet door. If you can't change the advertising, you change the product, and flavour is the easiest way to fit a local culture. In Kyrgyzstan the local habit is nasvay, a chewing tobacco: the only smokeless product the law still allows. In Japan menthol and 'ice' flavours are mainstream. In Latin America, capsule cigarettes let you click a ball in the filter and change the taste: product innovation as entertainment. In the Middle East it's flavoured shisha.
Picture suggestion: a capsule ('click') pack or a pack of nasvay.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Why do flavours work so well? Menthol numbs the throat, so the first cigarette doesn't hurt. Sweet flavours make perfect starter products. And a flavour can be built for one specific community. The clearest case is menthol in the United States. From the 1950s, companies advertised menthol brands in Black magazines, sponsored events like the Kool Jazz Festival, and handed out free samples in Black neighbourhoods. Today about 85% of Black American smokers use menthol. That is targeted marketing at its most effective, and exactly why governments started banning flavours.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Chapter three: the new door. Just as teenagers stopped smoking, the vape arrived. In 2011 only 1.5% of American high-schoolers vaped. In 2014 vapes overtook cigarettes. By 2019, more than one in four high-schoolers vaped. That is more than ever smoked cigarettes in the last decade. Then regulators reacted: in 2020 the FDA restricted flavoured cartridges, and use fell to under 8% by 2024. But even today about nine in ten young vapers use flavours, and worldwide 15 million children aged 13 to 15 vape.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Why did vapes reach kids so fast? Four reasons, and every one of them is a marketing decision. Flavours: bubblegum, mango, cotton candy. Design: colourful, looks like a USB stick, easy to hide from parents and teachers. Social media: influencers and TikTok, a channel the old ad bans were never written for. And price: cheap disposables at every kiosk. The companies say vapes are for adult smokers who want to quit. But JUUL paid 462 million dollars to US states over marketing to young people, and the WHO calls it a 'candy-flavoured trap'. It is the Joe Camel playbook, just moved to the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So what did marketers learn? When mass media is closed, the other three Ps do the work. Product: new formats like capsules, vapes and pouches. Price: single sticks and cheap disposables that fit a teenager's pocket money. Place: kiosks, shop displays, duty-free and online. And promotion didn't disappear, it moved: from TV, billboards and magazines to the pack, the shop and the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So, three chapters. First, the marketing tools were taken away, and teenagers stopped smoking. Second, flavours became the sweet door, fitting the product to every culture and every target group. Third, vapes opened a new door straight into teenagers' phones. My conclusion: tobacco marketing didn't disappear, it moved. And my question for you: where is the line between marketing a legal product and marketing to children?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PICTURE">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8549640" y="1417320"/>
            <a:ext cx="2953512" cy="466344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picture</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CK_QUIZ">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69164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A</a:t>
            </a:r>
            <a:endParaRPr lang="en-US" sz="1200" dirty="0"/>
          </a:p>
        </p:txBody>
      </p:sp>
      <p:sp>
        <p:nvSpPr>
          <p:cNvPr id="7" name="Text 2"/>
          <p:cNvSpPr/>
          <p:nvPr>
            <p:ph type="pic" idx="105" hasCustomPrompt="1"/>
          </p:nvPr>
        </p:nvSpPr>
        <p:spPr>
          <a:xfrm>
            <a:off x="3666744" y="169164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B</a:t>
            </a:r>
            <a:endParaRPr lang="en-US" sz="1200" dirty="0"/>
          </a:p>
        </p:txBody>
      </p:sp>
      <p:sp>
        <p:nvSpPr>
          <p:cNvPr id="8" name="Text 2"/>
          <p:cNvSpPr/>
          <p:nvPr>
            <p:ph type="pic" idx="106" hasCustomPrompt="1"/>
          </p:nvPr>
        </p:nvSpPr>
        <p:spPr>
          <a:xfrm>
            <a:off x="6419088" y="169164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C</a:t>
            </a:r>
            <a:endParaRPr lang="en-US" sz="1200" dirty="0"/>
          </a:p>
        </p:txBody>
      </p:sp>
      <p:sp>
        <p:nvSpPr>
          <p:cNvPr id="9" name="Text 2"/>
          <p:cNvSpPr/>
          <p:nvPr>
            <p:ph type="pic" idx="107" hasCustomPrompt="1"/>
          </p:nvPr>
        </p:nvSpPr>
        <p:spPr>
          <a:xfrm>
            <a:off x="9171432" y="169164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D</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CK_REVEAL">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325880"/>
            <a:ext cx="2441448" cy="205740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USA pack</a:t>
            </a:r>
            <a:endParaRPr lang="en-US" sz="1200" dirty="0"/>
          </a:p>
        </p:txBody>
      </p:sp>
      <p:sp>
        <p:nvSpPr>
          <p:cNvPr id="7" name="Text 2"/>
          <p:cNvSpPr/>
          <p:nvPr>
            <p:ph type="pic" idx="105" hasCustomPrompt="1"/>
          </p:nvPr>
        </p:nvSpPr>
        <p:spPr>
          <a:xfrm>
            <a:off x="3630168" y="1325880"/>
            <a:ext cx="2441448" cy="205740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Hungary pack</a:t>
            </a:r>
            <a:endParaRPr lang="en-US" sz="1200" dirty="0"/>
          </a:p>
        </p:txBody>
      </p:sp>
      <p:sp>
        <p:nvSpPr>
          <p:cNvPr id="8" name="Text 2"/>
          <p:cNvSpPr/>
          <p:nvPr>
            <p:ph type="pic" idx="106" hasCustomPrompt="1"/>
          </p:nvPr>
        </p:nvSpPr>
        <p:spPr>
          <a:xfrm>
            <a:off x="6345936" y="1325880"/>
            <a:ext cx="2441448" cy="205740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Kyrgyzstan pack</a:t>
            </a:r>
            <a:endParaRPr lang="en-US" sz="1200" dirty="0"/>
          </a:p>
        </p:txBody>
      </p:sp>
      <p:sp>
        <p:nvSpPr>
          <p:cNvPr id="9" name="Text 2"/>
          <p:cNvSpPr/>
          <p:nvPr>
            <p:ph type="pic" idx="107" hasCustomPrompt="1"/>
          </p:nvPr>
        </p:nvSpPr>
        <p:spPr>
          <a:xfrm>
            <a:off x="9061704" y="1325880"/>
            <a:ext cx="2441448" cy="205740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Australia pack</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p:bg>
      <p:bgPr>
        <a:solidFill>
          <a:schemeClr val="accent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51560"/>
            <a:ext cx="7680960" cy="365760"/>
          </a:xfrm>
          <a:prstGeom prst="rect">
            <a:avLst/>
          </a:prstGeom>
          <a:noFill/>
          <a:ln/>
        </p:spPr>
        <p:txBody>
          <a:bodyPr wrap="square" lIns="0" tIns="0" rIns="0" bIns="0" rtlCol="0" anchor="t"/>
          <a:lstStyle/>
          <a:p>
            <a:pPr indent="0" marL="0">
              <a:buNone/>
            </a:pPr>
            <a:r>
              <a:rPr lang="en-US" sz="1400" b="1" spc="100" kern="0" dirty="0">
                <a:solidFill>
                  <a:schemeClr val="accent4"/>
                </a:solidFill>
              </a:rPr>
              <a:t>International Marketing  ·  Individual presentation</a:t>
            </a:r>
            <a:endParaRPr lang="en-US" sz="1400" dirty="0"/>
          </a:p>
        </p:txBody>
      </p:sp>
      <p:sp>
        <p:nvSpPr>
          <p:cNvPr id="3" name="Text 1"/>
          <p:cNvSpPr txBox="1"/>
          <p:nvPr/>
        </p:nvSpPr>
        <p:spPr>
          <a:xfrm>
            <a:off x="731520" y="1554480"/>
            <a:ext cx="7498080" cy="2103120"/>
          </a:xfrm>
          <a:prstGeom prst="rect">
            <a:avLst/>
          </a:prstGeom>
          <a:noFill/>
          <a:ln/>
        </p:spPr>
        <p:txBody>
          <a:bodyPr wrap="square" lIns="0" tIns="0" rIns="0" bIns="0" rtlCol="0" anchor="t"/>
          <a:lstStyle/>
          <a:p>
            <a:pPr indent="0" marL="0">
              <a:buNone/>
            </a:pPr>
            <a:r>
              <a:rPr lang="en-US" sz="4000" b="1" dirty="0">
                <a:solidFill>
                  <a:schemeClr val="bg1"/>
                </a:solidFill>
              </a:rPr>
              <a:t>Tobacco Marketing on International Markets</a:t>
            </a:r>
            <a:endParaRPr lang="en-US" sz="4000" dirty="0"/>
          </a:p>
        </p:txBody>
      </p:sp>
      <p:sp>
        <p:nvSpPr>
          <p:cNvPr id="4" name="Text 2"/>
          <p:cNvSpPr txBox="1"/>
          <p:nvPr/>
        </p:nvSpPr>
        <p:spPr>
          <a:xfrm>
            <a:off x="731520" y="3794760"/>
            <a:ext cx="7315200" cy="822960"/>
          </a:xfrm>
          <a:prstGeom prst="rect">
            <a:avLst/>
          </a:prstGeom>
          <a:noFill/>
          <a:ln/>
        </p:spPr>
        <p:txBody>
          <a:bodyPr wrap="square" lIns="0" tIns="0" rIns="0" bIns="0" rtlCol="0" anchor="t"/>
          <a:lstStyle/>
          <a:p>
            <a:pPr indent="0" marL="0">
              <a:buNone/>
            </a:pPr>
            <a:r>
              <a:rPr lang="en-US" sz="2200" dirty="0">
                <a:solidFill>
                  <a:schemeClr val="accent4"/>
                </a:solidFill>
              </a:rPr>
              <a:t>How to market a product nobody lets you advertise</a:t>
            </a:r>
            <a:endParaRPr lang="en-US" sz="2200" dirty="0"/>
          </a:p>
        </p:txBody>
      </p:sp>
      <p:sp>
        <p:nvSpPr>
          <p:cNvPr id="5" name="Text 3"/>
          <p:cNvSpPr txBox="1"/>
          <p:nvPr/>
        </p:nvSpPr>
        <p:spPr>
          <a:xfrm>
            <a:off x="731520" y="5806440"/>
            <a:ext cx="6766560" cy="365760"/>
          </a:xfrm>
          <a:prstGeom prst="rect">
            <a:avLst/>
          </a:prstGeom>
          <a:noFill/>
          <a:ln/>
        </p:spPr>
        <p:txBody>
          <a:bodyPr wrap="square" lIns="0" tIns="0" rIns="0" bIns="0" rtlCol="0" anchor="t"/>
          <a:lstStyle/>
          <a:p>
            <a:pPr indent="0" marL="0">
              <a:buNone/>
            </a:pPr>
            <a:r>
              <a:rPr lang="en-US" sz="1400" dirty="0">
                <a:solidFill>
                  <a:schemeClr val="accent4"/>
                </a:solidFill>
              </a:rPr>
              <a:t>Corvinus University of Budapest  ·  Fall 2026</a:t>
            </a:r>
            <a:endParaRPr lang="en-US" sz="1400" dirty="0"/>
          </a:p>
        </p:txBody>
      </p:sp>
      <p:sp>
        <p:nvSpPr>
          <p:cNvPr id="6" name="Photo Amir Kenenbaev"/>
          <p:cNvSpPr/>
          <p:nvPr/>
        </p:nvSpPr>
        <p:spPr>
          <a:xfrm>
            <a:off x="9098280" y="1828800"/>
            <a:ext cx="1828800" cy="1828800"/>
          </a:xfrm>
          <a:prstGeom prst="ellipse">
            <a:avLst/>
          </a:prstGeom>
          <a:solidFill>
            <a:srgbClr val="1B3A5C"/>
          </a:solidFill>
          <a:ln w="19050">
            <a:solidFill>
              <a:schemeClr val="bg1"/>
            </a:solidFill>
            <a:prstDash val="solid"/>
          </a:ln>
        </p:spPr>
      </p:sp>
      <p:sp>
        <p:nvSpPr>
          <p:cNvPr id="7" name="Text 5"/>
          <p:cNvSpPr txBox="1"/>
          <p:nvPr/>
        </p:nvSpPr>
        <p:spPr>
          <a:xfrm>
            <a:off x="8823960" y="3840480"/>
            <a:ext cx="2377440" cy="365760"/>
          </a:xfrm>
          <a:prstGeom prst="rect">
            <a:avLst/>
          </a:prstGeom>
          <a:noFill/>
          <a:ln/>
        </p:spPr>
        <p:txBody>
          <a:bodyPr wrap="square" lIns="0" tIns="0" rIns="0" bIns="0" rtlCol="0" anchor="t"/>
          <a:lstStyle/>
          <a:p>
            <a:pPr algn="ctr" indent="0" marL="0">
              <a:buNone/>
            </a:pPr>
            <a:r>
              <a:rPr lang="en-US" sz="1500" b="1" dirty="0">
                <a:solidFill>
                  <a:schemeClr val="bg1"/>
                </a:solidFill>
              </a:rPr>
              <a:t>Amir Kenenbaev</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Prologue</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Guess the country</a:t>
            </a:r>
            <a:endParaRPr lang="en-US" sz="2600" dirty="0"/>
          </a:p>
        </p:txBody>
      </p:sp>
      <p:sp>
        <p:nvSpPr>
          <p:cNvPr id="4" name="Text 2"/>
          <p:cNvSpPr txBox="1"/>
          <p:nvPr/>
        </p:nvSpPr>
        <p:spPr>
          <a:xfrm>
            <a:off x="914400" y="1188720"/>
            <a:ext cx="10588752" cy="365760"/>
          </a:xfrm>
          <a:prstGeom prst="rect">
            <a:avLst/>
          </a:prstGeom>
          <a:noFill/>
          <a:ln/>
        </p:spPr>
        <p:txBody>
          <a:bodyPr wrap="square" lIns="0" tIns="0" rIns="0" bIns="0" rtlCol="0" anchor="t"/>
          <a:lstStyle/>
          <a:p>
            <a:pPr indent="0" marL="0">
              <a:buNone/>
            </a:pPr>
            <a:r>
              <a:rPr lang="en-US" sz="1800" dirty="0">
                <a:solidFill>
                  <a:schemeClr val="accent6"/>
                </a:solidFill>
              </a:rPr>
              <a:t>Four packs, four countries. What is different?</a:t>
            </a:r>
            <a:endParaRPr lang="en-US" sz="1800" dirty="0"/>
          </a:p>
        </p:txBody>
      </p:sp>
      <p:sp>
        <p:nvSpPr>
          <p:cNvPr id="5" name="Text 3"/>
          <p:cNvSpPr txBox="1"/>
          <p:nvPr/>
        </p:nvSpPr>
        <p:spPr>
          <a:xfrm>
            <a:off x="914400" y="5440680"/>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6" name="Text 4"/>
          <p:cNvSpPr txBox="1"/>
          <p:nvPr/>
        </p:nvSpPr>
        <p:spPr>
          <a:xfrm>
            <a:off x="1508760" y="5513832"/>
            <a:ext cx="1737360" cy="329184"/>
          </a:xfrm>
          <a:prstGeom prst="rect">
            <a:avLst/>
          </a:prstGeom>
          <a:noFill/>
          <a:ln/>
        </p:spPr>
        <p:txBody>
          <a:bodyPr wrap="square" lIns="0" tIns="0" rIns="0" bIns="0" rtlCol="0" anchor="t"/>
          <a:lstStyle/>
          <a:p>
            <a:pPr indent="0" marL="0">
              <a:buNone/>
            </a:pPr>
            <a:r>
              <a:rPr lang="en-US" sz="1500" dirty="0">
                <a:solidFill>
                  <a:schemeClr val="accent3"/>
                </a:solidFill>
              </a:rPr>
              <a:t>Which country?</a:t>
            </a:r>
            <a:endParaRPr lang="en-US" sz="1500" dirty="0"/>
          </a:p>
        </p:txBody>
      </p:sp>
      <p:sp>
        <p:nvSpPr>
          <p:cNvPr id="7" name="Text 5"/>
          <p:cNvSpPr txBox="1"/>
          <p:nvPr/>
        </p:nvSpPr>
        <p:spPr>
          <a:xfrm>
            <a:off x="3666744" y="5440680"/>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8" name="Text 6"/>
          <p:cNvSpPr txBox="1"/>
          <p:nvPr/>
        </p:nvSpPr>
        <p:spPr>
          <a:xfrm>
            <a:off x="4261104" y="5513832"/>
            <a:ext cx="1737360" cy="329184"/>
          </a:xfrm>
          <a:prstGeom prst="rect">
            <a:avLst/>
          </a:prstGeom>
          <a:noFill/>
          <a:ln/>
        </p:spPr>
        <p:txBody>
          <a:bodyPr wrap="square" lIns="0" tIns="0" rIns="0" bIns="0" rtlCol="0" anchor="t"/>
          <a:lstStyle/>
          <a:p>
            <a:pPr indent="0" marL="0">
              <a:buNone/>
            </a:pPr>
            <a:r>
              <a:rPr lang="en-US" sz="1500" dirty="0">
                <a:solidFill>
                  <a:schemeClr val="accent3"/>
                </a:solidFill>
              </a:rPr>
              <a:t>Which country?</a:t>
            </a:r>
            <a:endParaRPr lang="en-US" sz="1500" dirty="0"/>
          </a:p>
        </p:txBody>
      </p:sp>
      <p:sp>
        <p:nvSpPr>
          <p:cNvPr id="9" name="Text 7"/>
          <p:cNvSpPr txBox="1"/>
          <p:nvPr/>
        </p:nvSpPr>
        <p:spPr>
          <a:xfrm>
            <a:off x="6419088" y="5440680"/>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C</a:t>
            </a:r>
            <a:endParaRPr lang="en-US" sz="1800" dirty="0"/>
          </a:p>
        </p:txBody>
      </p:sp>
      <p:sp>
        <p:nvSpPr>
          <p:cNvPr id="10" name="Text 8"/>
          <p:cNvSpPr txBox="1"/>
          <p:nvPr/>
        </p:nvSpPr>
        <p:spPr>
          <a:xfrm>
            <a:off x="7013448" y="5513832"/>
            <a:ext cx="1737360" cy="329184"/>
          </a:xfrm>
          <a:prstGeom prst="rect">
            <a:avLst/>
          </a:prstGeom>
          <a:noFill/>
          <a:ln/>
        </p:spPr>
        <p:txBody>
          <a:bodyPr wrap="square" lIns="0" tIns="0" rIns="0" bIns="0" rtlCol="0" anchor="t"/>
          <a:lstStyle/>
          <a:p>
            <a:pPr indent="0" marL="0">
              <a:buNone/>
            </a:pPr>
            <a:r>
              <a:rPr lang="en-US" sz="1500" dirty="0">
                <a:solidFill>
                  <a:schemeClr val="accent3"/>
                </a:solidFill>
              </a:rPr>
              <a:t>Which country?</a:t>
            </a:r>
            <a:endParaRPr lang="en-US" sz="1500" dirty="0"/>
          </a:p>
        </p:txBody>
      </p:sp>
      <p:sp>
        <p:nvSpPr>
          <p:cNvPr id="11" name="Text 9"/>
          <p:cNvSpPr txBox="1"/>
          <p:nvPr/>
        </p:nvSpPr>
        <p:spPr>
          <a:xfrm>
            <a:off x="9171432" y="5440680"/>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D</a:t>
            </a:r>
            <a:endParaRPr lang="en-US" sz="1800" dirty="0"/>
          </a:p>
        </p:txBody>
      </p:sp>
      <p:sp>
        <p:nvSpPr>
          <p:cNvPr id="12" name="Text 10"/>
          <p:cNvSpPr txBox="1"/>
          <p:nvPr/>
        </p:nvSpPr>
        <p:spPr>
          <a:xfrm>
            <a:off x="9765792" y="5513832"/>
            <a:ext cx="1737360" cy="329184"/>
          </a:xfrm>
          <a:prstGeom prst="rect">
            <a:avLst/>
          </a:prstGeom>
          <a:noFill/>
          <a:ln/>
        </p:spPr>
        <p:txBody>
          <a:bodyPr wrap="square" lIns="0" tIns="0" rIns="0" bIns="0" rtlCol="0" anchor="t"/>
          <a:lstStyle/>
          <a:p>
            <a:pPr indent="0" marL="0">
              <a:buNone/>
            </a:pPr>
            <a:r>
              <a:rPr lang="en-US" sz="1500" dirty="0">
                <a:solidFill>
                  <a:schemeClr val="accent3"/>
                </a:solidFill>
              </a:rPr>
              <a:t>Which country?</a:t>
            </a:r>
            <a:endParaRPr lang="en-US" sz="1500" dirty="0"/>
          </a:p>
        </p:txBody>
      </p:sp>
      <p:sp>
        <p:nvSpPr>
          <p:cNvPr id="14" name="Text 2"/>
          <p:cNvSpPr/>
          <p:nvPr>
            <p:ph type="pic" idx="104" hasCustomPrompt="1"/>
          </p:nvPr>
        </p:nvSpPr>
        <p:spPr>
          <a:xfrm>
            <a:off x="914400" y="1691640"/>
            <a:ext cx="2331720" cy="3566160"/>
          </a:xfrm>
          <a:prstGeom prst="rect">
            <a:avLst/>
          </a:prstGeom>
          <a:noFill/>
          <a:ln/>
        </p:spPr>
        <p:txBody>
          <a:bodyPr wrap="square" rtlCol="0"/>
          <a:lstStyle/>
          <a:p>
            <a:pPr indent="0" marL="0">
              <a:buNone/>
            </a:pPr>
            <a:endParaRPr lang="en-US" sz="1200" dirty="0"/>
          </a:p>
        </p:txBody>
      </p:sp>
      <p:sp>
        <p:nvSpPr>
          <p:cNvPr id="15" name="Text 2"/>
          <p:cNvSpPr/>
          <p:nvPr>
            <p:ph type="pic" idx="105" hasCustomPrompt="1"/>
          </p:nvPr>
        </p:nvSpPr>
        <p:spPr>
          <a:xfrm>
            <a:off x="3666744" y="1691640"/>
            <a:ext cx="2331720" cy="3566160"/>
          </a:xfrm>
          <a:prstGeom prst="rect">
            <a:avLst/>
          </a:prstGeom>
          <a:noFill/>
          <a:ln/>
        </p:spPr>
        <p:txBody>
          <a:bodyPr wrap="square" rtlCol="0"/>
          <a:lstStyle/>
          <a:p>
            <a:pPr indent="0" marL="0">
              <a:buNone/>
            </a:pPr>
            <a:endParaRPr lang="en-US" sz="1200" dirty="0"/>
          </a:p>
        </p:txBody>
      </p:sp>
      <p:sp>
        <p:nvSpPr>
          <p:cNvPr id="16" name="Text 2"/>
          <p:cNvSpPr/>
          <p:nvPr>
            <p:ph type="pic" idx="106" hasCustomPrompt="1"/>
          </p:nvPr>
        </p:nvSpPr>
        <p:spPr>
          <a:xfrm>
            <a:off x="6419088" y="1691640"/>
            <a:ext cx="2331720" cy="3566160"/>
          </a:xfrm>
          <a:prstGeom prst="rect">
            <a:avLst/>
          </a:prstGeom>
          <a:noFill/>
          <a:ln/>
        </p:spPr>
        <p:txBody>
          <a:bodyPr wrap="square" rtlCol="0"/>
          <a:lstStyle/>
          <a:p>
            <a:pPr indent="0" marL="0">
              <a:buNone/>
            </a:pPr>
            <a:endParaRPr lang="en-US" sz="1200" dirty="0"/>
          </a:p>
        </p:txBody>
      </p:sp>
      <p:sp>
        <p:nvSpPr>
          <p:cNvPr id="17" name="Text 2"/>
          <p:cNvSpPr/>
          <p:nvPr>
            <p:ph type="pic" idx="107" hasCustomPrompt="1"/>
          </p:nvPr>
        </p:nvSpPr>
        <p:spPr>
          <a:xfrm>
            <a:off x="9171432" y="1691640"/>
            <a:ext cx="2331720" cy="356616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Prologue</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Same cigarettes, four ways to brand a pack</a:t>
            </a:r>
            <a:endParaRPr lang="en-US" sz="2600" dirty="0"/>
          </a:p>
        </p:txBody>
      </p:sp>
      <p:sp>
        <p:nvSpPr>
          <p:cNvPr id="4" name="Text 2"/>
          <p:cNvSpPr txBox="1"/>
          <p:nvPr/>
        </p:nvSpPr>
        <p:spPr>
          <a:xfrm>
            <a:off x="914400" y="3611880"/>
            <a:ext cx="2441448" cy="320040"/>
          </a:xfrm>
          <a:prstGeom prst="rect">
            <a:avLst/>
          </a:prstGeom>
          <a:noFill/>
          <a:ln/>
        </p:spPr>
        <p:txBody>
          <a:bodyPr wrap="square" lIns="0" tIns="0" rIns="0" bIns="0" rtlCol="0" anchor="t"/>
          <a:lstStyle/>
          <a:p>
            <a:pPr indent="0" marL="0">
              <a:buNone/>
            </a:pPr>
            <a:r>
              <a:rPr lang="en-US" sz="1600" b="1" dirty="0">
                <a:solidFill>
                  <a:schemeClr val="accent2"/>
                </a:solidFill>
              </a:rPr>
              <a:t>A  ·  USA</a:t>
            </a:r>
            <a:endParaRPr lang="en-US" sz="1600" dirty="0"/>
          </a:p>
        </p:txBody>
      </p:sp>
      <p:sp>
        <p:nvSpPr>
          <p:cNvPr id="5" name="Text 3"/>
          <p:cNvSpPr txBox="1"/>
          <p:nvPr/>
        </p:nvSpPr>
        <p:spPr>
          <a:xfrm>
            <a:off x="914400" y="3977640"/>
            <a:ext cx="2441448" cy="640080"/>
          </a:xfrm>
          <a:prstGeom prst="rect">
            <a:avLst/>
          </a:prstGeom>
          <a:noFill/>
          <a:ln/>
        </p:spPr>
        <p:txBody>
          <a:bodyPr wrap="square" lIns="0" tIns="0" rIns="0" bIns="0" rtlCol="0" anchor="t"/>
          <a:lstStyle/>
          <a:p>
            <a:pPr indent="0" marL="0">
              <a:buNone/>
            </a:pPr>
            <a:r>
              <a:rPr lang="en-US" sz="3600" b="1" dirty="0">
                <a:solidFill>
                  <a:schemeClr val="accent1"/>
                </a:solidFill>
              </a:rPr>
              <a:t>100%</a:t>
            </a:r>
            <a:endParaRPr lang="en-US" sz="3600" dirty="0"/>
          </a:p>
        </p:txBody>
      </p:sp>
      <p:sp>
        <p:nvSpPr>
          <p:cNvPr id="6" name="Text 4"/>
          <p:cNvSpPr txBox="1"/>
          <p:nvPr/>
        </p:nvSpPr>
        <p:spPr>
          <a:xfrm>
            <a:off x="914400" y="4709160"/>
            <a:ext cx="2441448" cy="822960"/>
          </a:xfrm>
          <a:prstGeom prst="rect">
            <a:avLst/>
          </a:prstGeom>
          <a:noFill/>
          <a:ln/>
        </p:spPr>
        <p:txBody>
          <a:bodyPr wrap="square" lIns="0" tIns="0" rIns="0" bIns="0" rtlCol="0" anchor="t"/>
          <a:lstStyle/>
          <a:p>
            <a:pPr indent="0" marL="0">
              <a:buNone/>
            </a:pPr>
            <a:r>
              <a:rPr lang="en-US" sz="1500" dirty="0">
                <a:solidFill>
                  <a:schemeClr val="accent6"/>
                </a:solidFill>
              </a:rPr>
              <a:t>The whole front is still brand: logo, colours, design.</a:t>
            </a:r>
            <a:endParaRPr lang="en-US" sz="1500" dirty="0"/>
          </a:p>
        </p:txBody>
      </p:sp>
      <p:sp>
        <p:nvSpPr>
          <p:cNvPr id="7" name="Text 5"/>
          <p:cNvSpPr txBox="1"/>
          <p:nvPr/>
        </p:nvSpPr>
        <p:spPr>
          <a:xfrm>
            <a:off x="3630168" y="3611880"/>
            <a:ext cx="2441448" cy="320040"/>
          </a:xfrm>
          <a:prstGeom prst="rect">
            <a:avLst/>
          </a:prstGeom>
          <a:noFill/>
          <a:ln/>
        </p:spPr>
        <p:txBody>
          <a:bodyPr wrap="square" lIns="0" tIns="0" rIns="0" bIns="0" rtlCol="0" anchor="t"/>
          <a:lstStyle/>
          <a:p>
            <a:pPr indent="0" marL="0">
              <a:buNone/>
            </a:pPr>
            <a:r>
              <a:rPr lang="en-US" sz="1600" b="1" dirty="0">
                <a:solidFill>
                  <a:schemeClr val="accent2"/>
                </a:solidFill>
              </a:rPr>
              <a:t>B  ·  Hungary</a:t>
            </a:r>
            <a:endParaRPr lang="en-US" sz="1600" dirty="0"/>
          </a:p>
        </p:txBody>
      </p:sp>
      <p:sp>
        <p:nvSpPr>
          <p:cNvPr id="8" name="Text 6"/>
          <p:cNvSpPr txBox="1"/>
          <p:nvPr/>
        </p:nvSpPr>
        <p:spPr>
          <a:xfrm>
            <a:off x="3630168" y="3977640"/>
            <a:ext cx="2441448" cy="640080"/>
          </a:xfrm>
          <a:prstGeom prst="rect">
            <a:avLst/>
          </a:prstGeom>
          <a:noFill/>
          <a:ln/>
        </p:spPr>
        <p:txBody>
          <a:bodyPr wrap="square" lIns="0" tIns="0" rIns="0" bIns="0" rtlCol="0" anchor="t"/>
          <a:lstStyle/>
          <a:p>
            <a:pPr indent="0" marL="0">
              <a:buNone/>
            </a:pPr>
            <a:r>
              <a:rPr lang="en-US" sz="3600" b="1" dirty="0">
                <a:solidFill>
                  <a:schemeClr val="accent1"/>
                </a:solidFill>
              </a:rPr>
              <a:t>35%</a:t>
            </a:r>
            <a:endParaRPr lang="en-US" sz="3600" dirty="0"/>
          </a:p>
        </p:txBody>
      </p:sp>
      <p:sp>
        <p:nvSpPr>
          <p:cNvPr id="9" name="Text 7"/>
          <p:cNvSpPr txBox="1"/>
          <p:nvPr/>
        </p:nvSpPr>
        <p:spPr>
          <a:xfrm>
            <a:off x="3630168" y="4709160"/>
            <a:ext cx="2441448" cy="822960"/>
          </a:xfrm>
          <a:prstGeom prst="rect">
            <a:avLst/>
          </a:prstGeom>
          <a:noFill/>
          <a:ln/>
        </p:spPr>
        <p:txBody>
          <a:bodyPr wrap="square" lIns="0" tIns="0" rIns="0" bIns="0" rtlCol="0" anchor="t"/>
          <a:lstStyle/>
          <a:p>
            <a:pPr indent="0" marL="0">
              <a:buNone/>
            </a:pPr>
            <a:r>
              <a:rPr lang="en-US" sz="1500" dirty="0">
                <a:solidFill>
                  <a:schemeClr val="accent6"/>
                </a:solidFill>
              </a:rPr>
              <a:t>No logo, no colours: only the name in a plain font.</a:t>
            </a:r>
            <a:endParaRPr lang="en-US" sz="1500" dirty="0"/>
          </a:p>
        </p:txBody>
      </p:sp>
      <p:sp>
        <p:nvSpPr>
          <p:cNvPr id="10" name="Text 8"/>
          <p:cNvSpPr txBox="1"/>
          <p:nvPr/>
        </p:nvSpPr>
        <p:spPr>
          <a:xfrm>
            <a:off x="6345936" y="3611880"/>
            <a:ext cx="2441448" cy="320040"/>
          </a:xfrm>
          <a:prstGeom prst="rect">
            <a:avLst/>
          </a:prstGeom>
          <a:noFill/>
          <a:ln/>
        </p:spPr>
        <p:txBody>
          <a:bodyPr wrap="square" lIns="0" tIns="0" rIns="0" bIns="0" rtlCol="0" anchor="t"/>
          <a:lstStyle/>
          <a:p>
            <a:pPr indent="0" marL="0">
              <a:buNone/>
            </a:pPr>
            <a:r>
              <a:rPr lang="en-US" sz="1600" b="1" dirty="0">
                <a:solidFill>
                  <a:schemeClr val="accent2"/>
                </a:solidFill>
              </a:rPr>
              <a:t>C  ·  Kyrgyzstan</a:t>
            </a:r>
            <a:endParaRPr lang="en-US" sz="1600" dirty="0"/>
          </a:p>
        </p:txBody>
      </p:sp>
      <p:sp>
        <p:nvSpPr>
          <p:cNvPr id="11" name="Text 9"/>
          <p:cNvSpPr txBox="1"/>
          <p:nvPr/>
        </p:nvSpPr>
        <p:spPr>
          <a:xfrm>
            <a:off x="6345936" y="3977640"/>
            <a:ext cx="2441448" cy="640080"/>
          </a:xfrm>
          <a:prstGeom prst="rect">
            <a:avLst/>
          </a:prstGeom>
          <a:noFill/>
          <a:ln/>
        </p:spPr>
        <p:txBody>
          <a:bodyPr wrap="square" lIns="0" tIns="0" rIns="0" bIns="0" rtlCol="0" anchor="t"/>
          <a:lstStyle/>
          <a:p>
            <a:pPr indent="0" marL="0">
              <a:buNone/>
            </a:pPr>
            <a:r>
              <a:rPr lang="en-US" sz="3600" b="1" dirty="0">
                <a:solidFill>
                  <a:schemeClr val="accent1"/>
                </a:solidFill>
              </a:rPr>
              <a:t>50%</a:t>
            </a:r>
            <a:endParaRPr lang="en-US" sz="3600" dirty="0"/>
          </a:p>
        </p:txBody>
      </p:sp>
      <p:sp>
        <p:nvSpPr>
          <p:cNvPr id="12" name="Text 10"/>
          <p:cNvSpPr txBox="1"/>
          <p:nvPr/>
        </p:nvSpPr>
        <p:spPr>
          <a:xfrm>
            <a:off x="6345936" y="4709160"/>
            <a:ext cx="2441448" cy="822960"/>
          </a:xfrm>
          <a:prstGeom prst="rect">
            <a:avLst/>
          </a:prstGeom>
          <a:noFill/>
          <a:ln/>
        </p:spPr>
        <p:txBody>
          <a:bodyPr wrap="square" lIns="0" tIns="0" rIns="0" bIns="0" rtlCol="0" anchor="t"/>
          <a:lstStyle/>
          <a:p>
            <a:pPr indent="0" marL="0">
              <a:buNone/>
            </a:pPr>
            <a:r>
              <a:rPr lang="en-US" sz="1500" dirty="0">
                <a:solidFill>
                  <a:schemeClr val="accent6"/>
                </a:solidFill>
              </a:rPr>
              <a:t>Half the front for the brand, half for a picture warning.</a:t>
            </a:r>
            <a:endParaRPr lang="en-US" sz="1500" dirty="0"/>
          </a:p>
        </p:txBody>
      </p:sp>
      <p:sp>
        <p:nvSpPr>
          <p:cNvPr id="13" name="Text 11"/>
          <p:cNvSpPr txBox="1"/>
          <p:nvPr/>
        </p:nvSpPr>
        <p:spPr>
          <a:xfrm>
            <a:off x="9061704" y="3611880"/>
            <a:ext cx="2441448" cy="320040"/>
          </a:xfrm>
          <a:prstGeom prst="rect">
            <a:avLst/>
          </a:prstGeom>
          <a:noFill/>
          <a:ln/>
        </p:spPr>
        <p:txBody>
          <a:bodyPr wrap="square" lIns="0" tIns="0" rIns="0" bIns="0" rtlCol="0" anchor="t"/>
          <a:lstStyle/>
          <a:p>
            <a:pPr indent="0" marL="0">
              <a:buNone/>
            </a:pPr>
            <a:r>
              <a:rPr lang="en-US" sz="1600" b="1" dirty="0">
                <a:solidFill>
                  <a:schemeClr val="accent2"/>
                </a:solidFill>
              </a:rPr>
              <a:t>D  ·  Australia</a:t>
            </a:r>
            <a:endParaRPr lang="en-US" sz="1600" dirty="0"/>
          </a:p>
        </p:txBody>
      </p:sp>
      <p:sp>
        <p:nvSpPr>
          <p:cNvPr id="14" name="Text 12"/>
          <p:cNvSpPr txBox="1"/>
          <p:nvPr/>
        </p:nvSpPr>
        <p:spPr>
          <a:xfrm>
            <a:off x="9061704" y="3977640"/>
            <a:ext cx="2441448" cy="640080"/>
          </a:xfrm>
          <a:prstGeom prst="rect">
            <a:avLst/>
          </a:prstGeom>
          <a:noFill/>
          <a:ln/>
        </p:spPr>
        <p:txBody>
          <a:bodyPr wrap="square" lIns="0" tIns="0" rIns="0" bIns="0" rtlCol="0" anchor="t"/>
          <a:lstStyle/>
          <a:p>
            <a:pPr indent="0" marL="0">
              <a:buNone/>
            </a:pPr>
            <a:r>
              <a:rPr lang="en-US" sz="3600" b="1" dirty="0">
                <a:solidFill>
                  <a:schemeClr val="accent1"/>
                </a:solidFill>
              </a:rPr>
              <a:t>25%</a:t>
            </a:r>
            <a:endParaRPr lang="en-US" sz="3600" dirty="0"/>
          </a:p>
        </p:txBody>
      </p:sp>
      <p:sp>
        <p:nvSpPr>
          <p:cNvPr id="15" name="Text 13"/>
          <p:cNvSpPr txBox="1"/>
          <p:nvPr/>
        </p:nvSpPr>
        <p:spPr>
          <a:xfrm>
            <a:off x="9061704" y="4709160"/>
            <a:ext cx="2441448" cy="822960"/>
          </a:xfrm>
          <a:prstGeom prst="rect">
            <a:avLst/>
          </a:prstGeom>
          <a:noFill/>
          <a:ln/>
        </p:spPr>
        <p:txBody>
          <a:bodyPr wrap="square" lIns="0" tIns="0" rIns="0" bIns="0" rtlCol="0" anchor="t"/>
          <a:lstStyle/>
          <a:p>
            <a:pPr indent="0" marL="0">
              <a:buNone/>
            </a:pPr>
            <a:r>
              <a:rPr lang="en-US" sz="1500" dirty="0">
                <a:solidFill>
                  <a:schemeClr val="accent6"/>
                </a:solidFill>
              </a:rPr>
              <a:t>The first plain packs (2012): name only, drab brown.</a:t>
            </a:r>
            <a:endParaRPr lang="en-US" sz="1500" dirty="0"/>
          </a:p>
        </p:txBody>
      </p:sp>
      <p:sp>
        <p:nvSpPr>
          <p:cNvPr id="16" name="Text 14"/>
          <p:cNvSpPr txBox="1"/>
          <p:nvPr/>
        </p:nvSpPr>
        <p:spPr>
          <a:xfrm>
            <a:off x="914400" y="6053328"/>
            <a:ext cx="10588752" cy="256032"/>
          </a:xfrm>
          <a:prstGeom prst="rect">
            <a:avLst/>
          </a:prstGeom>
          <a:noFill/>
          <a:ln/>
        </p:spPr>
        <p:txBody>
          <a:bodyPr wrap="square" lIns="0" tIns="0" rIns="0" bIns="0" rtlCol="0" anchor="t"/>
          <a:lstStyle/>
          <a:p>
            <a:pPr indent="0" marL="0">
              <a:buNone/>
            </a:pPr>
            <a:r>
              <a:rPr lang="en-US" sz="1000" i="1" dirty="0">
                <a:solidFill>
                  <a:schemeClr val="accent3"/>
                </a:solidFill>
              </a:rPr>
              <a:t>Share of the pack front left to the brand after the health warning. Sources: Canadian Cancer Society (2025); Tobacco Control Laws (2025).</a:t>
            </a:r>
            <a:endParaRPr lang="en-US" sz="1000" dirty="0"/>
          </a:p>
        </p:txBody>
      </p:sp>
      <p:sp>
        <p:nvSpPr>
          <p:cNvPr id="18" name="Text 2"/>
          <p:cNvSpPr/>
          <p:nvPr>
            <p:ph type="pic" idx="104" hasCustomPrompt="1"/>
          </p:nvPr>
        </p:nvSpPr>
        <p:spPr>
          <a:xfrm>
            <a:off x="914400" y="1325880"/>
            <a:ext cx="2441448" cy="2057400"/>
          </a:xfrm>
          <a:prstGeom prst="rect">
            <a:avLst/>
          </a:prstGeom>
          <a:noFill/>
          <a:ln/>
        </p:spPr>
        <p:txBody>
          <a:bodyPr wrap="square" rtlCol="0"/>
          <a:lstStyle/>
          <a:p>
            <a:pPr indent="0" marL="0">
              <a:buNone/>
            </a:pPr>
            <a:endParaRPr lang="en-US" sz="1200" dirty="0"/>
          </a:p>
        </p:txBody>
      </p:sp>
      <p:sp>
        <p:nvSpPr>
          <p:cNvPr id="19" name="Text 2"/>
          <p:cNvSpPr/>
          <p:nvPr>
            <p:ph type="pic" idx="105" hasCustomPrompt="1"/>
          </p:nvPr>
        </p:nvSpPr>
        <p:spPr>
          <a:xfrm>
            <a:off x="3630168" y="1325880"/>
            <a:ext cx="2441448" cy="2057400"/>
          </a:xfrm>
          <a:prstGeom prst="rect">
            <a:avLst/>
          </a:prstGeom>
          <a:noFill/>
          <a:ln/>
        </p:spPr>
        <p:txBody>
          <a:bodyPr wrap="square" rtlCol="0"/>
          <a:lstStyle/>
          <a:p>
            <a:pPr indent="0" marL="0">
              <a:buNone/>
            </a:pPr>
            <a:endParaRPr lang="en-US" sz="1200" dirty="0"/>
          </a:p>
        </p:txBody>
      </p:sp>
      <p:sp>
        <p:nvSpPr>
          <p:cNvPr id="20" name="Text 2"/>
          <p:cNvSpPr/>
          <p:nvPr>
            <p:ph type="pic" idx="106" hasCustomPrompt="1"/>
          </p:nvPr>
        </p:nvSpPr>
        <p:spPr>
          <a:xfrm>
            <a:off x="6345936" y="1325880"/>
            <a:ext cx="2441448" cy="2057400"/>
          </a:xfrm>
          <a:prstGeom prst="rect">
            <a:avLst/>
          </a:prstGeom>
          <a:noFill/>
          <a:ln/>
        </p:spPr>
        <p:txBody>
          <a:bodyPr wrap="square" rtlCol="0"/>
          <a:lstStyle/>
          <a:p>
            <a:pPr indent="0" marL="0">
              <a:buNone/>
            </a:pPr>
            <a:endParaRPr lang="en-US" sz="1200" dirty="0"/>
          </a:p>
        </p:txBody>
      </p:sp>
      <p:sp>
        <p:nvSpPr>
          <p:cNvPr id="21" name="Text 2"/>
          <p:cNvSpPr/>
          <p:nvPr>
            <p:ph type="pic" idx="107" hasCustomPrompt="1"/>
          </p:nvPr>
        </p:nvSpPr>
        <p:spPr>
          <a:xfrm>
            <a:off x="9061704" y="1325880"/>
            <a:ext cx="2441448" cy="205740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Prologue</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golden age of tobacco advertising</a:t>
            </a:r>
            <a:endParaRPr lang="en-US" sz="2600" dirty="0"/>
          </a:p>
        </p:txBody>
      </p:sp>
      <p:sp>
        <p:nvSpPr>
          <p:cNvPr id="4" name="Shape 2"/>
          <p:cNvSpPr/>
          <p:nvPr/>
        </p:nvSpPr>
        <p:spPr>
          <a:xfrm>
            <a:off x="914400" y="1371600"/>
            <a:ext cx="3346704" cy="3246120"/>
          </a:xfrm>
          <a:prstGeom prst="rect">
            <a:avLst/>
          </a:prstGeom>
          <a:solidFill>
            <a:schemeClr val="bg1"/>
          </a:solidFill>
          <a:ln w="12700">
            <a:solidFill>
              <a:schemeClr val="accent4"/>
            </a:solidFill>
            <a:prstDash val="solid"/>
          </a:ln>
        </p:spPr>
      </p:sp>
      <p:sp>
        <p:nvSpPr>
          <p:cNvPr id="5" name="Text 3"/>
          <p:cNvSpPr txBox="1"/>
          <p:nvPr/>
        </p:nvSpPr>
        <p:spPr>
          <a:xfrm>
            <a:off x="1234440" y="1554480"/>
            <a:ext cx="2706624" cy="685800"/>
          </a:xfrm>
          <a:prstGeom prst="rect">
            <a:avLst/>
          </a:prstGeom>
          <a:noFill/>
          <a:ln/>
        </p:spPr>
        <p:txBody>
          <a:bodyPr wrap="square" lIns="0" tIns="0" rIns="0" bIns="0" rtlCol="0" anchor="t"/>
          <a:lstStyle/>
          <a:p>
            <a:pPr indent="0" marL="0">
              <a:buNone/>
            </a:pPr>
            <a:r>
              <a:rPr lang="en-US" sz="3600" b="1" dirty="0">
                <a:solidFill>
                  <a:schemeClr val="accent2"/>
                </a:solidFill>
              </a:rPr>
              <a:t>1954</a:t>
            </a:r>
            <a:endParaRPr lang="en-US" sz="3600" dirty="0"/>
          </a:p>
        </p:txBody>
      </p:sp>
      <p:sp>
        <p:nvSpPr>
          <p:cNvPr id="6" name="Text 4"/>
          <p:cNvSpPr txBox="1"/>
          <p:nvPr/>
        </p:nvSpPr>
        <p:spPr>
          <a:xfrm>
            <a:off x="1234440" y="2331720"/>
            <a:ext cx="2706624" cy="411480"/>
          </a:xfrm>
          <a:prstGeom prst="rect">
            <a:avLst/>
          </a:prstGeom>
          <a:noFill/>
          <a:ln/>
        </p:spPr>
        <p:txBody>
          <a:bodyPr wrap="square" lIns="0" tIns="0" rIns="0" bIns="0" rtlCol="0" anchor="t"/>
          <a:lstStyle/>
          <a:p>
            <a:pPr indent="0" marL="0">
              <a:buNone/>
            </a:pPr>
            <a:r>
              <a:rPr lang="en-US" sz="2100" b="1" dirty="0">
                <a:solidFill>
                  <a:schemeClr val="accent1"/>
                </a:solidFill>
              </a:rPr>
              <a:t>The Marlboro Man</a:t>
            </a:r>
            <a:endParaRPr lang="en-US" sz="2100" dirty="0"/>
          </a:p>
        </p:txBody>
      </p:sp>
      <p:sp>
        <p:nvSpPr>
          <p:cNvPr id="7" name="Text 5"/>
          <p:cNvSpPr txBox="1"/>
          <p:nvPr/>
        </p:nvSpPr>
        <p:spPr>
          <a:xfrm>
            <a:off x="1234440" y="2834640"/>
            <a:ext cx="2706624" cy="1645920"/>
          </a:xfrm>
          <a:prstGeom prst="rect">
            <a:avLst/>
          </a:prstGeom>
          <a:noFill/>
          <a:ln/>
        </p:spPr>
        <p:txBody>
          <a:bodyPr wrap="square" lIns="0" tIns="0" rIns="0" bIns="0" rtlCol="0" anchor="t"/>
          <a:lstStyle/>
          <a:p>
            <a:pPr indent="0" marL="0">
              <a:buNone/>
            </a:pPr>
            <a:r>
              <a:rPr lang="en-US" sz="1600" dirty="0">
                <a:solidFill>
                  <a:schemeClr val="accent6"/>
                </a:solidFill>
              </a:rPr>
              <a:t>A filter cigarette once sold to women as “Mild as May” became a symbol of the rugged cowboy.</a:t>
            </a:r>
            <a:endParaRPr lang="en-US" sz="1600" dirty="0"/>
          </a:p>
        </p:txBody>
      </p:sp>
      <p:sp>
        <p:nvSpPr>
          <p:cNvPr id="8" name="Shape 6"/>
          <p:cNvSpPr/>
          <p:nvPr/>
        </p:nvSpPr>
        <p:spPr>
          <a:xfrm>
            <a:off x="4535424" y="1371600"/>
            <a:ext cx="3346704" cy="3246120"/>
          </a:xfrm>
          <a:prstGeom prst="rect">
            <a:avLst/>
          </a:prstGeom>
          <a:solidFill>
            <a:schemeClr val="bg1"/>
          </a:solidFill>
          <a:ln w="12700">
            <a:solidFill>
              <a:schemeClr val="accent4"/>
            </a:solidFill>
            <a:prstDash val="solid"/>
          </a:ln>
        </p:spPr>
      </p:sp>
      <p:sp>
        <p:nvSpPr>
          <p:cNvPr id="9" name="Text 7"/>
          <p:cNvSpPr txBox="1"/>
          <p:nvPr/>
        </p:nvSpPr>
        <p:spPr>
          <a:xfrm>
            <a:off x="4855464" y="1554480"/>
            <a:ext cx="2706624" cy="685800"/>
          </a:xfrm>
          <a:prstGeom prst="rect">
            <a:avLst/>
          </a:prstGeom>
          <a:noFill/>
          <a:ln/>
        </p:spPr>
        <p:txBody>
          <a:bodyPr wrap="square" lIns="0" tIns="0" rIns="0" bIns="0" rtlCol="0" anchor="t"/>
          <a:lstStyle/>
          <a:p>
            <a:pPr indent="0" marL="0">
              <a:buNone/>
            </a:pPr>
            <a:r>
              <a:rPr lang="en-US" sz="3600" b="1" dirty="0">
                <a:solidFill>
                  <a:schemeClr val="accent2"/>
                </a:solidFill>
              </a:rPr>
              <a:t>1968</a:t>
            </a:r>
            <a:endParaRPr lang="en-US" sz="3600" dirty="0"/>
          </a:p>
        </p:txBody>
      </p:sp>
      <p:sp>
        <p:nvSpPr>
          <p:cNvPr id="10" name="Text 8"/>
          <p:cNvSpPr txBox="1"/>
          <p:nvPr/>
        </p:nvSpPr>
        <p:spPr>
          <a:xfrm>
            <a:off x="4855464" y="2331720"/>
            <a:ext cx="2706624" cy="411480"/>
          </a:xfrm>
          <a:prstGeom prst="rect">
            <a:avLst/>
          </a:prstGeom>
          <a:noFill/>
          <a:ln/>
        </p:spPr>
        <p:txBody>
          <a:bodyPr wrap="square" lIns="0" tIns="0" rIns="0" bIns="0" rtlCol="0" anchor="t"/>
          <a:lstStyle/>
          <a:p>
            <a:pPr indent="0" marL="0">
              <a:buNone/>
            </a:pPr>
            <a:r>
              <a:rPr lang="en-US" sz="2100" b="1" dirty="0">
                <a:solidFill>
                  <a:schemeClr val="accent1"/>
                </a:solidFill>
              </a:rPr>
              <a:t>Formula 1</a:t>
            </a:r>
            <a:endParaRPr lang="en-US" sz="2100" dirty="0"/>
          </a:p>
        </p:txBody>
      </p:sp>
      <p:sp>
        <p:nvSpPr>
          <p:cNvPr id="11" name="Text 9"/>
          <p:cNvSpPr txBox="1"/>
          <p:nvPr/>
        </p:nvSpPr>
        <p:spPr>
          <a:xfrm>
            <a:off x="4855464" y="2834640"/>
            <a:ext cx="2706624" cy="1645920"/>
          </a:xfrm>
          <a:prstGeom prst="rect">
            <a:avLst/>
          </a:prstGeom>
          <a:noFill/>
          <a:ln/>
        </p:spPr>
        <p:txBody>
          <a:bodyPr wrap="square" lIns="0" tIns="0" rIns="0" bIns="0" rtlCol="0" anchor="t"/>
          <a:lstStyle/>
          <a:p>
            <a:pPr indent="0" marL="0">
              <a:buNone/>
            </a:pPr>
            <a:r>
              <a:rPr lang="en-US" sz="1600" dirty="0">
                <a:solidFill>
                  <a:schemeClr val="accent6"/>
                </a:solidFill>
              </a:rPr>
              <a:t>Gold Leaf Lotus started it. Marlboro, Camel and others followed on the fastest cars in the world.</a:t>
            </a:r>
            <a:endParaRPr lang="en-US" sz="1600" dirty="0"/>
          </a:p>
        </p:txBody>
      </p:sp>
      <p:sp>
        <p:nvSpPr>
          <p:cNvPr id="12" name="Shape 10"/>
          <p:cNvSpPr/>
          <p:nvPr/>
        </p:nvSpPr>
        <p:spPr>
          <a:xfrm>
            <a:off x="8156448" y="1371600"/>
            <a:ext cx="3346704" cy="3246120"/>
          </a:xfrm>
          <a:prstGeom prst="rect">
            <a:avLst/>
          </a:prstGeom>
          <a:solidFill>
            <a:schemeClr val="bg1"/>
          </a:solidFill>
          <a:ln w="12700">
            <a:solidFill>
              <a:schemeClr val="accent4"/>
            </a:solidFill>
            <a:prstDash val="solid"/>
          </a:ln>
        </p:spPr>
      </p:sp>
      <p:sp>
        <p:nvSpPr>
          <p:cNvPr id="13" name="Text 11"/>
          <p:cNvSpPr txBox="1"/>
          <p:nvPr/>
        </p:nvSpPr>
        <p:spPr>
          <a:xfrm>
            <a:off x="8476488" y="1554480"/>
            <a:ext cx="2706624" cy="685800"/>
          </a:xfrm>
          <a:prstGeom prst="rect">
            <a:avLst/>
          </a:prstGeom>
          <a:noFill/>
          <a:ln/>
        </p:spPr>
        <p:txBody>
          <a:bodyPr wrap="square" lIns="0" tIns="0" rIns="0" bIns="0" rtlCol="0" anchor="t"/>
          <a:lstStyle/>
          <a:p>
            <a:pPr indent="0" marL="0">
              <a:buNone/>
            </a:pPr>
            <a:r>
              <a:rPr lang="en-US" sz="3600" b="1" dirty="0">
                <a:solidFill>
                  <a:schemeClr val="accent2"/>
                </a:solidFill>
              </a:rPr>
              <a:t>1988</a:t>
            </a:r>
            <a:endParaRPr lang="en-US" sz="3600" dirty="0"/>
          </a:p>
        </p:txBody>
      </p:sp>
      <p:sp>
        <p:nvSpPr>
          <p:cNvPr id="14" name="Text 12"/>
          <p:cNvSpPr txBox="1"/>
          <p:nvPr/>
        </p:nvSpPr>
        <p:spPr>
          <a:xfrm>
            <a:off x="8476488" y="2331720"/>
            <a:ext cx="2706624" cy="411480"/>
          </a:xfrm>
          <a:prstGeom prst="rect">
            <a:avLst/>
          </a:prstGeom>
          <a:noFill/>
          <a:ln/>
        </p:spPr>
        <p:txBody>
          <a:bodyPr wrap="square" lIns="0" tIns="0" rIns="0" bIns="0" rtlCol="0" anchor="t"/>
          <a:lstStyle/>
          <a:p>
            <a:pPr indent="0" marL="0">
              <a:buNone/>
            </a:pPr>
            <a:r>
              <a:rPr lang="en-US" sz="2100" b="1" dirty="0">
                <a:solidFill>
                  <a:schemeClr val="accent1"/>
                </a:solidFill>
              </a:rPr>
              <a:t>Joe Camel</a:t>
            </a:r>
            <a:endParaRPr lang="en-US" sz="2100" dirty="0"/>
          </a:p>
        </p:txBody>
      </p:sp>
      <p:sp>
        <p:nvSpPr>
          <p:cNvPr id="15" name="Text 13"/>
          <p:cNvSpPr txBox="1"/>
          <p:nvPr/>
        </p:nvSpPr>
        <p:spPr>
          <a:xfrm>
            <a:off x="8476488" y="2834640"/>
            <a:ext cx="2706624" cy="1645920"/>
          </a:xfrm>
          <a:prstGeom prst="rect">
            <a:avLst/>
          </a:prstGeom>
          <a:noFill/>
          <a:ln/>
        </p:spPr>
        <p:txBody>
          <a:bodyPr wrap="square" lIns="0" tIns="0" rIns="0" bIns="0" rtlCol="0" anchor="t"/>
          <a:lstStyle/>
          <a:p>
            <a:pPr indent="0" marL="0">
              <a:buNone/>
            </a:pPr>
            <a:r>
              <a:rPr lang="en-US" sz="1600" dirty="0">
                <a:solidFill>
                  <a:schemeClr val="accent6"/>
                </a:solidFill>
              </a:rPr>
              <a:t>A cartoon camel. 91% of 6-year-olds recognised him, as many as knew Mickey Mouse.</a:t>
            </a:r>
            <a:endParaRPr lang="en-US" sz="1600" dirty="0"/>
          </a:p>
        </p:txBody>
      </p:sp>
      <p:sp>
        <p:nvSpPr>
          <p:cNvPr id="16" name="Text 14"/>
          <p:cNvSpPr txBox="1"/>
          <p:nvPr/>
        </p:nvSpPr>
        <p:spPr>
          <a:xfrm>
            <a:off x="914400" y="4937760"/>
            <a:ext cx="10588752" cy="868680"/>
          </a:xfrm>
          <a:prstGeom prst="rect">
            <a:avLst/>
          </a:prstGeom>
          <a:solidFill>
            <a:schemeClr val="accent1"/>
          </a:solidFill>
          <a:ln/>
        </p:spPr>
        <p:txBody>
          <a:bodyPr wrap="square" lIns="203200" tIns="203200" rIns="203200" bIns="203200" rtlCol="0" anchor="ctr"/>
          <a:lstStyle/>
          <a:p>
            <a:pPr indent="0" marL="0">
              <a:buNone/>
            </a:pPr>
            <a:r>
              <a:rPr lang="en-US" sz="2000" b="1" dirty="0">
                <a:solidFill>
                  <a:schemeClr val="bg1"/>
                </a:solidFill>
              </a:rPr>
              <a:t>Then the ads were banned.  </a:t>
            </a:r>
            <a:pPr indent="0" marL="0">
              <a:buNone/>
            </a:pPr>
            <a:r>
              <a:rPr lang="en-US" sz="2000" b="1" dirty="0">
                <a:solidFill>
                  <a:srgbClr val="F2B8B8"/>
                </a:solidFill>
              </a:rPr>
              <a:t>How do you market a product you can’t advertise?</a:t>
            </a:r>
            <a:endParaRPr lang="en-US" sz="2000" dirty="0"/>
          </a:p>
        </p:txBody>
      </p:sp>
      <p:sp>
        <p:nvSpPr>
          <p:cNvPr id="17" name="Text 15"/>
          <p:cNvSpPr txBox="1"/>
          <p:nvPr/>
        </p:nvSpPr>
        <p:spPr>
          <a:xfrm>
            <a:off x="914400" y="5943600"/>
            <a:ext cx="10588752" cy="256032"/>
          </a:xfrm>
          <a:prstGeom prst="rect">
            <a:avLst/>
          </a:prstGeom>
          <a:noFill/>
          <a:ln/>
        </p:spPr>
        <p:txBody>
          <a:bodyPr wrap="square" lIns="0" tIns="0" rIns="0" bIns="0" rtlCol="0" anchor="t"/>
          <a:lstStyle/>
          <a:p>
            <a:pPr indent="0" marL="0">
              <a:buNone/>
            </a:pPr>
            <a:r>
              <a:rPr lang="en-US" sz="1000" i="1" dirty="0">
                <a:solidFill>
                  <a:schemeClr val="accent3"/>
                </a:solidFill>
              </a:rPr>
              <a:t>Fischer et al., JAMA (1991); Marlboro Man: Leo Burnett for Philip Morris.</a:t>
            </a:r>
            <a:endParaRPr lang="en-US" sz="1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Chapter 1  ·  Closing the doors</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One by one, marketers lost their tools</a:t>
            </a:r>
            <a:endParaRPr lang="en-US" sz="2600" dirty="0"/>
          </a:p>
        </p:txBody>
      </p:sp>
      <p:sp>
        <p:nvSpPr>
          <p:cNvPr id="4" name="Shape 2"/>
          <p:cNvSpPr/>
          <p:nvPr/>
        </p:nvSpPr>
        <p:spPr>
          <a:xfrm>
            <a:off x="1737360" y="2651760"/>
            <a:ext cx="8961120" cy="0"/>
          </a:xfrm>
          <a:prstGeom prst="line">
            <a:avLst/>
          </a:prstGeom>
          <a:noFill/>
          <a:ln w="38100">
            <a:solidFill>
              <a:schemeClr val="accent4"/>
            </a:solidFill>
            <a:prstDash val="solid"/>
          </a:ln>
        </p:spPr>
      </p:sp>
      <p:sp>
        <p:nvSpPr>
          <p:cNvPr id="5" name="Shape 3"/>
          <p:cNvSpPr/>
          <p:nvPr/>
        </p:nvSpPr>
        <p:spPr>
          <a:xfrm>
            <a:off x="1563624" y="2478024"/>
            <a:ext cx="347472" cy="347472"/>
          </a:xfrm>
          <a:prstGeom prst="ellipse">
            <a:avLst/>
          </a:prstGeom>
          <a:solidFill>
            <a:schemeClr val="accent1"/>
          </a:solidFill>
          <a:ln w="25400">
            <a:solidFill>
              <a:schemeClr val="bg1"/>
            </a:solidFill>
            <a:prstDash val="solid"/>
          </a:ln>
        </p:spPr>
      </p:sp>
      <p:sp>
        <p:nvSpPr>
          <p:cNvPr id="6" name="Text 4"/>
          <p:cNvSpPr txBox="1"/>
          <p:nvPr/>
        </p:nvSpPr>
        <p:spPr>
          <a:xfrm>
            <a:off x="868680" y="1737360"/>
            <a:ext cx="1737360" cy="502920"/>
          </a:xfrm>
          <a:prstGeom prst="rect">
            <a:avLst/>
          </a:prstGeom>
          <a:noFill/>
          <a:ln/>
        </p:spPr>
        <p:txBody>
          <a:bodyPr wrap="square" lIns="0" tIns="0" rIns="0" bIns="0" rtlCol="0" anchor="t"/>
          <a:lstStyle/>
          <a:p>
            <a:pPr algn="ctr" indent="0" marL="0">
              <a:buNone/>
            </a:pPr>
            <a:r>
              <a:rPr lang="en-US" sz="2600" b="1" dirty="0">
                <a:solidFill>
                  <a:schemeClr val="accent1"/>
                </a:solidFill>
              </a:rPr>
              <a:t>2003</a:t>
            </a:r>
            <a:endParaRPr lang="en-US" sz="2600" dirty="0"/>
          </a:p>
        </p:txBody>
      </p:sp>
      <p:sp>
        <p:nvSpPr>
          <p:cNvPr id="7" name="Text 5"/>
          <p:cNvSpPr txBox="1"/>
          <p:nvPr/>
        </p:nvSpPr>
        <p:spPr>
          <a:xfrm>
            <a:off x="868680" y="3063240"/>
            <a:ext cx="1737360" cy="365760"/>
          </a:xfrm>
          <a:prstGeom prst="rect">
            <a:avLst/>
          </a:prstGeom>
          <a:noFill/>
          <a:ln/>
        </p:spPr>
        <p:txBody>
          <a:bodyPr wrap="square" lIns="0" tIns="0" rIns="0" bIns="0" rtlCol="0" anchor="t"/>
          <a:lstStyle/>
          <a:p>
            <a:pPr algn="ctr" indent="0" marL="0">
              <a:buNone/>
            </a:pPr>
            <a:r>
              <a:rPr lang="en-US" sz="1600" b="1" dirty="0">
                <a:solidFill>
                  <a:schemeClr val="accent1"/>
                </a:solidFill>
              </a:rPr>
              <a:t>WHO treaty</a:t>
            </a:r>
            <a:endParaRPr lang="en-US" sz="1600" dirty="0"/>
          </a:p>
        </p:txBody>
      </p:sp>
      <p:sp>
        <p:nvSpPr>
          <p:cNvPr id="8" name="Text 6"/>
          <p:cNvSpPr txBox="1"/>
          <p:nvPr/>
        </p:nvSpPr>
        <p:spPr>
          <a:xfrm>
            <a:off x="868680" y="3474720"/>
            <a:ext cx="1737360" cy="777240"/>
          </a:xfrm>
          <a:prstGeom prst="rect">
            <a:avLst/>
          </a:prstGeom>
          <a:noFill/>
          <a:ln/>
        </p:spPr>
        <p:txBody>
          <a:bodyPr wrap="square" lIns="0" tIns="0" rIns="0" bIns="0" rtlCol="0" anchor="t"/>
          <a:lstStyle/>
          <a:p>
            <a:pPr algn="ctr" indent="0" marL="0">
              <a:buNone/>
            </a:pPr>
            <a:r>
              <a:rPr lang="en-US" sz="1400" dirty="0">
                <a:solidFill>
                  <a:schemeClr val="accent6"/>
                </a:solidFill>
              </a:rPr>
              <a:t>Lost: ads, promotion, sponsorship</a:t>
            </a:r>
            <a:endParaRPr lang="en-US" sz="1400" dirty="0"/>
          </a:p>
        </p:txBody>
      </p:sp>
      <p:sp>
        <p:nvSpPr>
          <p:cNvPr id="9" name="Shape 7"/>
          <p:cNvSpPr/>
          <p:nvPr/>
        </p:nvSpPr>
        <p:spPr>
          <a:xfrm>
            <a:off x="3355848" y="2478024"/>
            <a:ext cx="347472" cy="347472"/>
          </a:xfrm>
          <a:prstGeom prst="ellipse">
            <a:avLst/>
          </a:prstGeom>
          <a:solidFill>
            <a:schemeClr val="accent1"/>
          </a:solidFill>
          <a:ln w="25400">
            <a:solidFill>
              <a:schemeClr val="bg1"/>
            </a:solidFill>
            <a:prstDash val="solid"/>
          </a:ln>
        </p:spPr>
      </p:sp>
      <p:sp>
        <p:nvSpPr>
          <p:cNvPr id="10" name="Text 8"/>
          <p:cNvSpPr txBox="1"/>
          <p:nvPr/>
        </p:nvSpPr>
        <p:spPr>
          <a:xfrm>
            <a:off x="2660904" y="1737360"/>
            <a:ext cx="1737360" cy="502920"/>
          </a:xfrm>
          <a:prstGeom prst="rect">
            <a:avLst/>
          </a:prstGeom>
          <a:noFill/>
          <a:ln/>
        </p:spPr>
        <p:txBody>
          <a:bodyPr wrap="square" lIns="0" tIns="0" rIns="0" bIns="0" rtlCol="0" anchor="t"/>
          <a:lstStyle/>
          <a:p>
            <a:pPr algn="ctr" indent="0" marL="0">
              <a:buNone/>
            </a:pPr>
            <a:r>
              <a:rPr lang="en-US" sz="2600" b="1" dirty="0">
                <a:solidFill>
                  <a:schemeClr val="accent1"/>
                </a:solidFill>
              </a:rPr>
              <a:t>2009</a:t>
            </a:r>
            <a:endParaRPr lang="en-US" sz="2600" dirty="0"/>
          </a:p>
        </p:txBody>
      </p:sp>
      <p:sp>
        <p:nvSpPr>
          <p:cNvPr id="11" name="Text 9"/>
          <p:cNvSpPr txBox="1"/>
          <p:nvPr/>
        </p:nvSpPr>
        <p:spPr>
          <a:xfrm>
            <a:off x="2660904" y="3063240"/>
            <a:ext cx="1737360" cy="365760"/>
          </a:xfrm>
          <a:prstGeom prst="rect">
            <a:avLst/>
          </a:prstGeom>
          <a:noFill/>
          <a:ln/>
        </p:spPr>
        <p:txBody>
          <a:bodyPr wrap="square" lIns="0" tIns="0" rIns="0" bIns="0" rtlCol="0" anchor="t"/>
          <a:lstStyle/>
          <a:p>
            <a:pPr algn="ctr" indent="0" marL="0">
              <a:buNone/>
            </a:pPr>
            <a:r>
              <a:rPr lang="en-US" sz="1600" b="1" dirty="0">
                <a:solidFill>
                  <a:schemeClr val="accent1"/>
                </a:solidFill>
              </a:rPr>
              <a:t>USA</a:t>
            </a:r>
            <a:endParaRPr lang="en-US" sz="1600" dirty="0"/>
          </a:p>
        </p:txBody>
      </p:sp>
      <p:sp>
        <p:nvSpPr>
          <p:cNvPr id="12" name="Text 10"/>
          <p:cNvSpPr txBox="1"/>
          <p:nvPr/>
        </p:nvSpPr>
        <p:spPr>
          <a:xfrm>
            <a:off x="2660904" y="3474720"/>
            <a:ext cx="1737360" cy="777240"/>
          </a:xfrm>
          <a:prstGeom prst="rect">
            <a:avLst/>
          </a:prstGeom>
          <a:noFill/>
          <a:ln/>
        </p:spPr>
        <p:txBody>
          <a:bodyPr wrap="square" lIns="0" tIns="0" rIns="0" bIns="0" rtlCol="0" anchor="t"/>
          <a:lstStyle/>
          <a:p>
            <a:pPr algn="ctr" indent="0" marL="0">
              <a:buNone/>
            </a:pPr>
            <a:r>
              <a:rPr lang="en-US" sz="1400" dirty="0">
                <a:solidFill>
                  <a:schemeClr val="accent6"/>
                </a:solidFill>
              </a:rPr>
              <a:t>Lost: sweet flavours</a:t>
            </a:r>
            <a:endParaRPr lang="en-US" sz="1400" dirty="0"/>
          </a:p>
        </p:txBody>
      </p:sp>
      <p:sp>
        <p:nvSpPr>
          <p:cNvPr id="13" name="Shape 11"/>
          <p:cNvSpPr/>
          <p:nvPr/>
        </p:nvSpPr>
        <p:spPr>
          <a:xfrm>
            <a:off x="5148072" y="2478024"/>
            <a:ext cx="347472" cy="347472"/>
          </a:xfrm>
          <a:prstGeom prst="ellipse">
            <a:avLst/>
          </a:prstGeom>
          <a:solidFill>
            <a:schemeClr val="accent1"/>
          </a:solidFill>
          <a:ln w="25400">
            <a:solidFill>
              <a:schemeClr val="bg1"/>
            </a:solidFill>
            <a:prstDash val="solid"/>
          </a:ln>
        </p:spPr>
      </p:sp>
      <p:sp>
        <p:nvSpPr>
          <p:cNvPr id="14" name="Text 12"/>
          <p:cNvSpPr txBox="1"/>
          <p:nvPr/>
        </p:nvSpPr>
        <p:spPr>
          <a:xfrm>
            <a:off x="4453128" y="1737360"/>
            <a:ext cx="1737360" cy="502920"/>
          </a:xfrm>
          <a:prstGeom prst="rect">
            <a:avLst/>
          </a:prstGeom>
          <a:noFill/>
          <a:ln/>
        </p:spPr>
        <p:txBody>
          <a:bodyPr wrap="square" lIns="0" tIns="0" rIns="0" bIns="0" rtlCol="0" anchor="t"/>
          <a:lstStyle/>
          <a:p>
            <a:pPr algn="ctr" indent="0" marL="0">
              <a:buNone/>
            </a:pPr>
            <a:r>
              <a:rPr lang="en-US" sz="2600" b="1" dirty="0">
                <a:solidFill>
                  <a:schemeClr val="accent1"/>
                </a:solidFill>
              </a:rPr>
              <a:t>2012</a:t>
            </a:r>
            <a:endParaRPr lang="en-US" sz="2600" dirty="0"/>
          </a:p>
        </p:txBody>
      </p:sp>
      <p:sp>
        <p:nvSpPr>
          <p:cNvPr id="15" name="Text 13"/>
          <p:cNvSpPr txBox="1"/>
          <p:nvPr/>
        </p:nvSpPr>
        <p:spPr>
          <a:xfrm>
            <a:off x="4453128" y="3063240"/>
            <a:ext cx="1737360" cy="365760"/>
          </a:xfrm>
          <a:prstGeom prst="rect">
            <a:avLst/>
          </a:prstGeom>
          <a:noFill/>
          <a:ln/>
        </p:spPr>
        <p:txBody>
          <a:bodyPr wrap="square" lIns="0" tIns="0" rIns="0" bIns="0" rtlCol="0" anchor="t"/>
          <a:lstStyle/>
          <a:p>
            <a:pPr algn="ctr" indent="0" marL="0">
              <a:buNone/>
            </a:pPr>
            <a:r>
              <a:rPr lang="en-US" sz="1600" b="1" dirty="0">
                <a:solidFill>
                  <a:schemeClr val="accent1"/>
                </a:solidFill>
              </a:rPr>
              <a:t>Australia</a:t>
            </a:r>
            <a:endParaRPr lang="en-US" sz="1600" dirty="0"/>
          </a:p>
        </p:txBody>
      </p:sp>
      <p:sp>
        <p:nvSpPr>
          <p:cNvPr id="16" name="Text 14"/>
          <p:cNvSpPr txBox="1"/>
          <p:nvPr/>
        </p:nvSpPr>
        <p:spPr>
          <a:xfrm>
            <a:off x="4453128" y="3474720"/>
            <a:ext cx="1737360" cy="777240"/>
          </a:xfrm>
          <a:prstGeom prst="rect">
            <a:avLst/>
          </a:prstGeom>
          <a:noFill/>
          <a:ln/>
        </p:spPr>
        <p:txBody>
          <a:bodyPr wrap="square" lIns="0" tIns="0" rIns="0" bIns="0" rtlCol="0" anchor="t"/>
          <a:lstStyle/>
          <a:p>
            <a:pPr algn="ctr" indent="0" marL="0">
              <a:buNone/>
            </a:pPr>
            <a:r>
              <a:rPr lang="en-US" sz="1400" dirty="0">
                <a:solidFill>
                  <a:schemeClr val="accent6"/>
                </a:solidFill>
              </a:rPr>
              <a:t>Lost: the logo on the pack</a:t>
            </a:r>
            <a:endParaRPr lang="en-US" sz="1400" dirty="0"/>
          </a:p>
        </p:txBody>
      </p:sp>
      <p:sp>
        <p:nvSpPr>
          <p:cNvPr id="17" name="Shape 15"/>
          <p:cNvSpPr/>
          <p:nvPr/>
        </p:nvSpPr>
        <p:spPr>
          <a:xfrm>
            <a:off x="6940296" y="2478024"/>
            <a:ext cx="347472" cy="347472"/>
          </a:xfrm>
          <a:prstGeom prst="ellipse">
            <a:avLst/>
          </a:prstGeom>
          <a:solidFill>
            <a:schemeClr val="accent1"/>
          </a:solidFill>
          <a:ln w="25400">
            <a:solidFill>
              <a:schemeClr val="bg1"/>
            </a:solidFill>
            <a:prstDash val="solid"/>
          </a:ln>
        </p:spPr>
      </p:sp>
      <p:sp>
        <p:nvSpPr>
          <p:cNvPr id="18" name="Text 16"/>
          <p:cNvSpPr txBox="1"/>
          <p:nvPr/>
        </p:nvSpPr>
        <p:spPr>
          <a:xfrm>
            <a:off x="6245352" y="1737360"/>
            <a:ext cx="1737360" cy="502920"/>
          </a:xfrm>
          <a:prstGeom prst="rect">
            <a:avLst/>
          </a:prstGeom>
          <a:noFill/>
          <a:ln/>
        </p:spPr>
        <p:txBody>
          <a:bodyPr wrap="square" lIns="0" tIns="0" rIns="0" bIns="0" rtlCol="0" anchor="t"/>
          <a:lstStyle/>
          <a:p>
            <a:pPr algn="ctr" indent="0" marL="0">
              <a:buNone/>
            </a:pPr>
            <a:r>
              <a:rPr lang="en-US" sz="2600" b="1" dirty="0">
                <a:solidFill>
                  <a:schemeClr val="accent1"/>
                </a:solidFill>
              </a:rPr>
              <a:t>2020</a:t>
            </a:r>
            <a:endParaRPr lang="en-US" sz="2600" dirty="0"/>
          </a:p>
        </p:txBody>
      </p:sp>
      <p:sp>
        <p:nvSpPr>
          <p:cNvPr id="19" name="Text 17"/>
          <p:cNvSpPr txBox="1"/>
          <p:nvPr/>
        </p:nvSpPr>
        <p:spPr>
          <a:xfrm>
            <a:off x="6245352" y="3063240"/>
            <a:ext cx="1737360" cy="365760"/>
          </a:xfrm>
          <a:prstGeom prst="rect">
            <a:avLst/>
          </a:prstGeom>
          <a:noFill/>
          <a:ln/>
        </p:spPr>
        <p:txBody>
          <a:bodyPr wrap="square" lIns="0" tIns="0" rIns="0" bIns="0" rtlCol="0" anchor="t"/>
          <a:lstStyle/>
          <a:p>
            <a:pPr algn="ctr" indent="0" marL="0">
              <a:buNone/>
            </a:pPr>
            <a:r>
              <a:rPr lang="en-US" sz="1600" b="1" dirty="0">
                <a:solidFill>
                  <a:schemeClr val="accent1"/>
                </a:solidFill>
              </a:rPr>
              <a:t>European Union</a:t>
            </a:r>
            <a:endParaRPr lang="en-US" sz="1600" dirty="0"/>
          </a:p>
        </p:txBody>
      </p:sp>
      <p:sp>
        <p:nvSpPr>
          <p:cNvPr id="20" name="Text 18"/>
          <p:cNvSpPr txBox="1"/>
          <p:nvPr/>
        </p:nvSpPr>
        <p:spPr>
          <a:xfrm>
            <a:off x="6245352" y="3474720"/>
            <a:ext cx="1737360" cy="777240"/>
          </a:xfrm>
          <a:prstGeom prst="rect">
            <a:avLst/>
          </a:prstGeom>
          <a:noFill/>
          <a:ln/>
        </p:spPr>
        <p:txBody>
          <a:bodyPr wrap="square" lIns="0" tIns="0" rIns="0" bIns="0" rtlCol="0" anchor="t"/>
          <a:lstStyle/>
          <a:p>
            <a:pPr algn="ctr" indent="0" marL="0">
              <a:buNone/>
            </a:pPr>
            <a:r>
              <a:rPr lang="en-US" sz="1400" dirty="0">
                <a:solidFill>
                  <a:schemeClr val="accent6"/>
                </a:solidFill>
              </a:rPr>
              <a:t>Lost: menthol</a:t>
            </a:r>
            <a:endParaRPr lang="en-US" sz="1400" dirty="0"/>
          </a:p>
        </p:txBody>
      </p:sp>
      <p:sp>
        <p:nvSpPr>
          <p:cNvPr id="21" name="Shape 19"/>
          <p:cNvSpPr/>
          <p:nvPr/>
        </p:nvSpPr>
        <p:spPr>
          <a:xfrm>
            <a:off x="8732520" y="2478024"/>
            <a:ext cx="347472" cy="347472"/>
          </a:xfrm>
          <a:prstGeom prst="ellipse">
            <a:avLst/>
          </a:prstGeom>
          <a:solidFill>
            <a:schemeClr val="accent1"/>
          </a:solidFill>
          <a:ln w="25400">
            <a:solidFill>
              <a:schemeClr val="bg1"/>
            </a:solidFill>
            <a:prstDash val="solid"/>
          </a:ln>
        </p:spPr>
      </p:sp>
      <p:sp>
        <p:nvSpPr>
          <p:cNvPr id="22" name="Text 20"/>
          <p:cNvSpPr txBox="1"/>
          <p:nvPr/>
        </p:nvSpPr>
        <p:spPr>
          <a:xfrm>
            <a:off x="8037576" y="1737360"/>
            <a:ext cx="1737360" cy="502920"/>
          </a:xfrm>
          <a:prstGeom prst="rect">
            <a:avLst/>
          </a:prstGeom>
          <a:noFill/>
          <a:ln/>
        </p:spPr>
        <p:txBody>
          <a:bodyPr wrap="square" lIns="0" tIns="0" rIns="0" bIns="0" rtlCol="0" anchor="t"/>
          <a:lstStyle/>
          <a:p>
            <a:pPr algn="ctr" indent="0" marL="0">
              <a:buNone/>
            </a:pPr>
            <a:r>
              <a:rPr lang="en-US" sz="2600" b="1" dirty="0">
                <a:solidFill>
                  <a:schemeClr val="accent1"/>
                </a:solidFill>
              </a:rPr>
              <a:t>2025</a:t>
            </a:r>
            <a:endParaRPr lang="en-US" sz="2600" dirty="0"/>
          </a:p>
        </p:txBody>
      </p:sp>
      <p:sp>
        <p:nvSpPr>
          <p:cNvPr id="23" name="Text 21"/>
          <p:cNvSpPr txBox="1"/>
          <p:nvPr/>
        </p:nvSpPr>
        <p:spPr>
          <a:xfrm>
            <a:off x="8037576" y="3063240"/>
            <a:ext cx="1737360" cy="365760"/>
          </a:xfrm>
          <a:prstGeom prst="rect">
            <a:avLst/>
          </a:prstGeom>
          <a:noFill/>
          <a:ln/>
        </p:spPr>
        <p:txBody>
          <a:bodyPr wrap="square" lIns="0" tIns="0" rIns="0" bIns="0" rtlCol="0" anchor="t"/>
          <a:lstStyle/>
          <a:p>
            <a:pPr algn="ctr" indent="0" marL="0">
              <a:buNone/>
            </a:pPr>
            <a:r>
              <a:rPr lang="en-US" sz="1600" b="1" dirty="0">
                <a:solidFill>
                  <a:schemeClr val="accent1"/>
                </a:solidFill>
              </a:rPr>
              <a:t>Kyrgyzstan</a:t>
            </a:r>
            <a:endParaRPr lang="en-US" sz="1600" dirty="0"/>
          </a:p>
        </p:txBody>
      </p:sp>
      <p:sp>
        <p:nvSpPr>
          <p:cNvPr id="24" name="Text 22"/>
          <p:cNvSpPr txBox="1"/>
          <p:nvPr/>
        </p:nvSpPr>
        <p:spPr>
          <a:xfrm>
            <a:off x="8037576" y="3474720"/>
            <a:ext cx="1737360" cy="777240"/>
          </a:xfrm>
          <a:prstGeom prst="rect">
            <a:avLst/>
          </a:prstGeom>
          <a:noFill/>
          <a:ln/>
        </p:spPr>
        <p:txBody>
          <a:bodyPr wrap="square" lIns="0" tIns="0" rIns="0" bIns="0" rtlCol="0" anchor="t"/>
          <a:lstStyle/>
          <a:p>
            <a:pPr algn="ctr" indent="0" marL="0">
              <a:buNone/>
            </a:pPr>
            <a:r>
              <a:rPr lang="en-US" sz="1400" dirty="0">
                <a:solidFill>
                  <a:schemeClr val="accent6"/>
                </a:solidFill>
              </a:rPr>
              <a:t>Lost: the whole vape category</a:t>
            </a:r>
            <a:endParaRPr lang="en-US" sz="1400" dirty="0"/>
          </a:p>
        </p:txBody>
      </p:sp>
      <p:sp>
        <p:nvSpPr>
          <p:cNvPr id="25" name="Shape 23"/>
          <p:cNvSpPr/>
          <p:nvPr/>
        </p:nvSpPr>
        <p:spPr>
          <a:xfrm>
            <a:off x="10524744" y="2478024"/>
            <a:ext cx="347472" cy="347472"/>
          </a:xfrm>
          <a:prstGeom prst="ellipse">
            <a:avLst/>
          </a:prstGeom>
          <a:solidFill>
            <a:schemeClr val="accent2"/>
          </a:solidFill>
          <a:ln w="25400">
            <a:solidFill>
              <a:schemeClr val="bg1"/>
            </a:solidFill>
            <a:prstDash val="solid"/>
          </a:ln>
        </p:spPr>
      </p:sp>
      <p:sp>
        <p:nvSpPr>
          <p:cNvPr id="26" name="Text 24"/>
          <p:cNvSpPr txBox="1"/>
          <p:nvPr/>
        </p:nvSpPr>
        <p:spPr>
          <a:xfrm>
            <a:off x="9829800" y="1737360"/>
            <a:ext cx="1737360" cy="502920"/>
          </a:xfrm>
          <a:prstGeom prst="rect">
            <a:avLst/>
          </a:prstGeom>
          <a:noFill/>
          <a:ln/>
        </p:spPr>
        <p:txBody>
          <a:bodyPr wrap="square" lIns="0" tIns="0" rIns="0" bIns="0" rtlCol="0" anchor="t"/>
          <a:lstStyle/>
          <a:p>
            <a:pPr algn="ctr" indent="0" marL="0">
              <a:buNone/>
            </a:pPr>
            <a:r>
              <a:rPr lang="en-US" sz="2600" b="1" dirty="0">
                <a:solidFill>
                  <a:schemeClr val="accent2"/>
                </a:solidFill>
              </a:rPr>
              <a:t>2026</a:t>
            </a:r>
            <a:endParaRPr lang="en-US" sz="2600" dirty="0"/>
          </a:p>
        </p:txBody>
      </p:sp>
      <p:sp>
        <p:nvSpPr>
          <p:cNvPr id="27" name="Text 25"/>
          <p:cNvSpPr txBox="1"/>
          <p:nvPr/>
        </p:nvSpPr>
        <p:spPr>
          <a:xfrm>
            <a:off x="9829800" y="3063240"/>
            <a:ext cx="1737360" cy="365760"/>
          </a:xfrm>
          <a:prstGeom prst="rect">
            <a:avLst/>
          </a:prstGeom>
          <a:noFill/>
          <a:ln/>
        </p:spPr>
        <p:txBody>
          <a:bodyPr wrap="square" lIns="0" tIns="0" rIns="0" bIns="0" rtlCol="0" anchor="t"/>
          <a:lstStyle/>
          <a:p>
            <a:pPr algn="ctr" indent="0" marL="0">
              <a:buNone/>
            </a:pPr>
            <a:r>
              <a:rPr lang="en-US" sz="1600" b="1" dirty="0">
                <a:solidFill>
                  <a:schemeClr val="accent2"/>
                </a:solidFill>
              </a:rPr>
              <a:t>United Kingdom</a:t>
            </a:r>
            <a:endParaRPr lang="en-US" sz="1600" dirty="0"/>
          </a:p>
        </p:txBody>
      </p:sp>
      <p:sp>
        <p:nvSpPr>
          <p:cNvPr id="28" name="Text 26"/>
          <p:cNvSpPr txBox="1"/>
          <p:nvPr/>
        </p:nvSpPr>
        <p:spPr>
          <a:xfrm>
            <a:off x="9829800" y="3474720"/>
            <a:ext cx="1737360" cy="777240"/>
          </a:xfrm>
          <a:prstGeom prst="rect">
            <a:avLst/>
          </a:prstGeom>
          <a:noFill/>
          <a:ln/>
        </p:spPr>
        <p:txBody>
          <a:bodyPr wrap="square" lIns="0" tIns="0" rIns="0" bIns="0" rtlCol="0" anchor="t"/>
          <a:lstStyle/>
          <a:p>
            <a:pPr algn="ctr" indent="0" marL="0">
              <a:buNone/>
            </a:pPr>
            <a:r>
              <a:rPr lang="en-US" sz="1400" dirty="0">
                <a:solidFill>
                  <a:schemeClr val="accent6"/>
                </a:solidFill>
              </a:rPr>
              <a:t>Lost: a whole generation of customers</a:t>
            </a:r>
            <a:endParaRPr lang="en-US" sz="1400" dirty="0"/>
          </a:p>
        </p:txBody>
      </p:sp>
      <p:sp>
        <p:nvSpPr>
          <p:cNvPr id="29" name="Text 27"/>
          <p:cNvSpPr txBox="1"/>
          <p:nvPr/>
        </p:nvSpPr>
        <p:spPr>
          <a:xfrm>
            <a:off x="914400" y="5074920"/>
            <a:ext cx="10588752" cy="777240"/>
          </a:xfrm>
          <a:prstGeom prst="rect">
            <a:avLst/>
          </a:prstGeom>
          <a:solidFill>
            <a:schemeClr val="accent1"/>
          </a:solidFill>
          <a:ln/>
        </p:spPr>
        <p:txBody>
          <a:bodyPr wrap="square" lIns="203200" tIns="203200" rIns="203200" bIns="203200" rtlCol="0" anchor="ctr"/>
          <a:lstStyle/>
          <a:p>
            <a:pPr indent="0" marL="0">
              <a:buNone/>
            </a:pPr>
            <a:r>
              <a:rPr lang="en-US" sz="2000" b="1" dirty="0">
                <a:solidFill>
                  <a:schemeClr val="bg1"/>
                </a:solidFill>
              </a:rPr>
              <a:t>Every lost tool pushed marketers to look for another one.</a:t>
            </a:r>
            <a:endParaRPr lang="en-US" sz="2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Chapter 1  ·  Closing the doors</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Did it work? Teenagers stopped smoking</a:t>
            </a:r>
            <a:endParaRPr lang="en-US" sz="2600" dirty="0"/>
          </a:p>
        </p:txBody>
      </p:sp>
      <p:graphicFrame>
        <p:nvGraphicFramePr>
          <p:cNvPr id="4" name="Chart 0" descr=""/>
          <p:cNvGraphicFramePr/>
          <p:nvPr/>
        </p:nvGraphicFramePr>
        <p:xfrm>
          <a:off x="822960" y="1280160"/>
          <a:ext cx="6309360" cy="35204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914400" y="4846320"/>
            <a:ext cx="6217920" cy="256032"/>
          </a:xfrm>
          <a:prstGeom prst="rect">
            <a:avLst/>
          </a:prstGeom>
          <a:noFill/>
          <a:ln/>
        </p:spPr>
        <p:txBody>
          <a:bodyPr wrap="square" lIns="0" tIns="0" rIns="0" bIns="0" rtlCol="0" anchor="t"/>
          <a:lstStyle/>
          <a:p>
            <a:pPr indent="0" marL="0">
              <a:buNone/>
            </a:pPr>
            <a:r>
              <a:rPr lang="en-US" sz="1000" i="1" dirty="0">
                <a:solidFill>
                  <a:schemeClr val="accent3"/>
                </a:solidFill>
              </a:rPr>
              <a:t>CDC / FDA National Youth Tobacco Survey (past-30-day use).</a:t>
            </a:r>
            <a:endParaRPr lang="en-US" sz="1000" dirty="0"/>
          </a:p>
        </p:txBody>
      </p:sp>
      <p:sp>
        <p:nvSpPr>
          <p:cNvPr id="6" name="Text 3"/>
          <p:cNvSpPr txBox="1"/>
          <p:nvPr/>
        </p:nvSpPr>
        <p:spPr>
          <a:xfrm>
            <a:off x="7589520" y="1463040"/>
            <a:ext cx="3913632" cy="731520"/>
          </a:xfrm>
          <a:prstGeom prst="rect">
            <a:avLst/>
          </a:prstGeom>
          <a:noFill/>
          <a:ln/>
        </p:spPr>
        <p:txBody>
          <a:bodyPr wrap="square" lIns="0" tIns="0" rIns="0" bIns="0" rtlCol="0" anchor="t"/>
          <a:lstStyle/>
          <a:p>
            <a:pPr indent="0" marL="0">
              <a:buNone/>
            </a:pPr>
            <a:r>
              <a:rPr lang="en-US" sz="4400" b="1" dirty="0">
                <a:solidFill>
                  <a:schemeClr val="accent2"/>
                </a:solidFill>
              </a:rPr>
              <a:t>÷5</a:t>
            </a:r>
            <a:endParaRPr lang="en-US" sz="4400" dirty="0"/>
          </a:p>
        </p:txBody>
      </p:sp>
      <p:sp>
        <p:nvSpPr>
          <p:cNvPr id="7" name="Text 4"/>
          <p:cNvSpPr txBox="1"/>
          <p:nvPr/>
        </p:nvSpPr>
        <p:spPr>
          <a:xfrm>
            <a:off x="7589520" y="2194560"/>
            <a:ext cx="3913632" cy="640080"/>
          </a:xfrm>
          <a:prstGeom prst="rect">
            <a:avLst/>
          </a:prstGeom>
          <a:noFill/>
          <a:ln/>
        </p:spPr>
        <p:txBody>
          <a:bodyPr wrap="square" lIns="0" tIns="0" rIns="0" bIns="0" rtlCol="0" anchor="t"/>
          <a:lstStyle/>
          <a:p>
            <a:pPr indent="0" marL="0">
              <a:buNone/>
            </a:pPr>
            <a:r>
              <a:rPr lang="en-US" sz="1600" dirty="0">
                <a:solidFill>
                  <a:schemeClr val="accent6"/>
                </a:solidFill>
              </a:rPr>
              <a:t>five times fewer teenage smokers in 20 years</a:t>
            </a:r>
            <a:endParaRPr lang="en-US" sz="1600" dirty="0"/>
          </a:p>
        </p:txBody>
      </p:sp>
      <p:sp>
        <p:nvSpPr>
          <p:cNvPr id="8" name="Text 5"/>
          <p:cNvSpPr txBox="1"/>
          <p:nvPr/>
        </p:nvSpPr>
        <p:spPr>
          <a:xfrm>
            <a:off x="7589520" y="3017520"/>
            <a:ext cx="3913632" cy="731520"/>
          </a:xfrm>
          <a:prstGeom prst="rect">
            <a:avLst/>
          </a:prstGeom>
          <a:noFill/>
          <a:ln/>
        </p:spPr>
        <p:txBody>
          <a:bodyPr wrap="square" lIns="0" tIns="0" rIns="0" bIns="0" rtlCol="0" anchor="t"/>
          <a:lstStyle/>
          <a:p>
            <a:pPr indent="0" marL="0">
              <a:buNone/>
            </a:pPr>
            <a:r>
              <a:rPr lang="en-US" sz="4400" b="1" dirty="0">
                <a:solidFill>
                  <a:schemeClr val="accent2"/>
                </a:solidFill>
              </a:rPr>
              <a:t>−17%</a:t>
            </a:r>
            <a:endParaRPr lang="en-US" sz="4400" dirty="0"/>
          </a:p>
        </p:txBody>
      </p:sp>
      <p:sp>
        <p:nvSpPr>
          <p:cNvPr id="9" name="Text 6"/>
          <p:cNvSpPr txBox="1"/>
          <p:nvPr/>
        </p:nvSpPr>
        <p:spPr>
          <a:xfrm>
            <a:off x="7589520" y="3749040"/>
            <a:ext cx="3913632" cy="640080"/>
          </a:xfrm>
          <a:prstGeom prst="rect">
            <a:avLst/>
          </a:prstGeom>
          <a:noFill/>
          <a:ln/>
        </p:spPr>
        <p:txBody>
          <a:bodyPr wrap="square" lIns="0" tIns="0" rIns="0" bIns="0" rtlCol="0" anchor="t"/>
          <a:lstStyle/>
          <a:p>
            <a:pPr indent="0" marL="0">
              <a:buNone/>
            </a:pPr>
            <a:r>
              <a:rPr lang="en-US" sz="1600" dirty="0">
                <a:solidFill>
                  <a:schemeClr val="accent6"/>
                </a:solidFill>
              </a:rPr>
              <a:t>lower chance that a teenager smokes after the 2009 US flavour ban</a:t>
            </a:r>
            <a:endParaRPr lang="en-US" sz="1600" dirty="0"/>
          </a:p>
        </p:txBody>
      </p:sp>
      <p:sp>
        <p:nvSpPr>
          <p:cNvPr id="10" name="Text 7"/>
          <p:cNvSpPr txBox="1"/>
          <p:nvPr/>
        </p:nvSpPr>
        <p:spPr>
          <a:xfrm>
            <a:off x="7589520" y="4434840"/>
            <a:ext cx="3913632" cy="228600"/>
          </a:xfrm>
          <a:prstGeom prst="rect">
            <a:avLst/>
          </a:prstGeom>
          <a:noFill/>
          <a:ln/>
        </p:spPr>
        <p:txBody>
          <a:bodyPr wrap="square" lIns="0" tIns="0" rIns="0" bIns="0" rtlCol="0" anchor="t"/>
          <a:lstStyle/>
          <a:p>
            <a:pPr indent="0" marL="0">
              <a:buNone/>
            </a:pPr>
            <a:r>
              <a:rPr lang="en-US" sz="1000" i="1" dirty="0">
                <a:solidFill>
                  <a:schemeClr val="accent3"/>
                </a:solidFill>
              </a:rPr>
              <a:t>Courtemanche, Palmer &amp; Pesko (2017)</a:t>
            </a:r>
            <a:endParaRPr lang="en-US" sz="1000" dirty="0"/>
          </a:p>
        </p:txBody>
      </p:sp>
      <p:sp>
        <p:nvSpPr>
          <p:cNvPr id="11" name="Text 8"/>
          <p:cNvSpPr txBox="1"/>
          <p:nvPr/>
        </p:nvSpPr>
        <p:spPr>
          <a:xfrm>
            <a:off x="914400" y="5257800"/>
            <a:ext cx="10588752" cy="731520"/>
          </a:xfrm>
          <a:prstGeom prst="rect">
            <a:avLst/>
          </a:prstGeom>
          <a:solidFill>
            <a:schemeClr val="accent1"/>
          </a:solidFill>
          <a:ln/>
        </p:spPr>
        <p:txBody>
          <a:bodyPr wrap="square" lIns="203200" tIns="203200" rIns="203200" bIns="203200" rtlCol="0" anchor="ctr"/>
          <a:lstStyle/>
          <a:p>
            <a:pPr indent="0" marL="0">
              <a:buNone/>
            </a:pPr>
            <a:r>
              <a:rPr lang="en-US" sz="2000" b="1" dirty="0">
                <a:solidFill>
                  <a:schemeClr val="bg1"/>
                </a:solidFill>
              </a:rPr>
              <a:t>Cigarettes lost the teenagers.  </a:t>
            </a:r>
            <a:pPr indent="0" marL="0">
              <a:buNone/>
            </a:pPr>
            <a:r>
              <a:rPr lang="en-US" sz="2000" b="1" dirty="0">
                <a:solidFill>
                  <a:srgbClr val="F2B8B8"/>
                </a:solidFill>
              </a:rPr>
              <a:t>But nicotine didn’t.</a:t>
            </a:r>
            <a:endParaRPr lang="en-US" sz="2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Chapter 1  ·  Closing the doors</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pack became the last billboard</a:t>
            </a:r>
            <a:endParaRPr lang="en-US" sz="2600" dirty="0"/>
          </a:p>
        </p:txBody>
      </p:sp>
      <p:sp>
        <p:nvSpPr>
          <p:cNvPr id="4" name="Text 2"/>
          <p:cNvSpPr txBox="1"/>
          <p:nvPr/>
        </p:nvSpPr>
        <p:spPr>
          <a:xfrm>
            <a:off x="914400" y="1371600"/>
            <a:ext cx="5111496" cy="548640"/>
          </a:xfrm>
          <a:prstGeom prst="rect">
            <a:avLst/>
          </a:prstGeom>
          <a:solidFill>
            <a:schemeClr val="accent1"/>
          </a:solidFill>
          <a:ln/>
        </p:spPr>
        <p:txBody>
          <a:bodyPr wrap="square" lIns="203200" tIns="203200" rIns="203200" bIns="203200" rtlCol="0" anchor="ctr"/>
          <a:lstStyle/>
          <a:p>
            <a:pPr indent="0" marL="0">
              <a:buNone/>
            </a:pPr>
            <a:r>
              <a:rPr lang="en-US" sz="2000" b="1" dirty="0">
                <a:solidFill>
                  <a:schemeClr val="bg1"/>
                </a:solidFill>
              </a:rPr>
              <a:t>European Union</a:t>
            </a:r>
            <a:endParaRPr lang="en-US" sz="2000" dirty="0"/>
          </a:p>
        </p:txBody>
      </p:sp>
      <p:sp>
        <p:nvSpPr>
          <p:cNvPr id="5" name="Shape 3"/>
          <p:cNvSpPr/>
          <p:nvPr/>
        </p:nvSpPr>
        <p:spPr>
          <a:xfrm>
            <a:off x="914400" y="1920240"/>
            <a:ext cx="5111496" cy="2697480"/>
          </a:xfrm>
          <a:prstGeom prst="rect">
            <a:avLst/>
          </a:prstGeom>
          <a:solidFill>
            <a:schemeClr val="bg1"/>
          </a:solidFill>
          <a:ln w="12700">
            <a:solidFill>
              <a:schemeClr val="accent4"/>
            </a:solidFill>
            <a:prstDash val="solid"/>
          </a:ln>
        </p:spPr>
      </p:sp>
      <p:sp>
        <p:nvSpPr>
          <p:cNvPr id="6" name="Text 4"/>
          <p:cNvSpPr txBox="1"/>
          <p:nvPr/>
        </p:nvSpPr>
        <p:spPr>
          <a:xfrm>
            <a:off x="1280160" y="2148840"/>
            <a:ext cx="4379976" cy="822960"/>
          </a:xfrm>
          <a:prstGeom prst="rect">
            <a:avLst/>
          </a:prstGeom>
          <a:noFill/>
          <a:ln/>
        </p:spPr>
        <p:txBody>
          <a:bodyPr wrap="square" lIns="0" tIns="0" rIns="0" bIns="0" rtlCol="0" anchor="t"/>
          <a:lstStyle/>
          <a:p>
            <a:pPr indent="0" marL="0">
              <a:buNone/>
            </a:pPr>
            <a:r>
              <a:rPr lang="en-US" sz="4800" b="1" dirty="0">
                <a:solidFill>
                  <a:schemeClr val="accent1"/>
                </a:solidFill>
              </a:rPr>
              <a:t>65%</a:t>
            </a:r>
            <a:endParaRPr lang="en-US" sz="4800" dirty="0"/>
          </a:p>
        </p:txBody>
      </p:sp>
      <p:sp>
        <p:nvSpPr>
          <p:cNvPr id="7" name="Text 5"/>
          <p:cNvSpPr txBox="1"/>
          <p:nvPr/>
        </p:nvSpPr>
        <p:spPr>
          <a:xfrm>
            <a:off x="1280160" y="2971800"/>
            <a:ext cx="4379976" cy="365760"/>
          </a:xfrm>
          <a:prstGeom prst="rect">
            <a:avLst/>
          </a:prstGeom>
          <a:noFill/>
          <a:ln/>
        </p:spPr>
        <p:txBody>
          <a:bodyPr wrap="square" lIns="0" tIns="0" rIns="0" bIns="0" rtlCol="0" anchor="t"/>
          <a:lstStyle/>
          <a:p>
            <a:pPr indent="0" marL="0">
              <a:buNone/>
            </a:pPr>
            <a:r>
              <a:rPr lang="en-US" sz="1700" dirty="0">
                <a:solidFill>
                  <a:schemeClr val="accent6"/>
                </a:solidFill>
              </a:rPr>
              <a:t>of the pack is a picture warning</a:t>
            </a:r>
            <a:endParaRPr lang="en-US" sz="1700" dirty="0"/>
          </a:p>
        </p:txBody>
      </p:sp>
      <p:sp>
        <p:nvSpPr>
          <p:cNvPr id="8" name="Text 6"/>
          <p:cNvSpPr txBox="1"/>
          <p:nvPr/>
        </p:nvSpPr>
        <p:spPr>
          <a:xfrm>
            <a:off x="1280160" y="3611880"/>
            <a:ext cx="4379976" cy="1188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Plain packs in France, Ireland, Hungary…</a:t>
            </a:r>
            <a:endParaRPr lang="en-US" sz="1600" dirty="0"/>
          </a:p>
          <a:p>
            <a:pPr marL="342900" indent="-342900">
              <a:spcAft>
                <a:spcPts val="800"/>
              </a:spcAft>
              <a:buSzPct val="100000"/>
              <a:buChar char="•"/>
            </a:pPr>
            <a:r>
              <a:rPr lang="en-US" sz="1600" dirty="0">
                <a:solidFill>
                  <a:schemeClr val="accent6"/>
                </a:solidFill>
              </a:rPr>
              <a:t>No flavours at all, menthol included</a:t>
            </a:r>
            <a:endParaRPr lang="en-US" sz="1600" dirty="0"/>
          </a:p>
        </p:txBody>
      </p:sp>
      <p:sp>
        <p:nvSpPr>
          <p:cNvPr id="9" name="Text 7"/>
          <p:cNvSpPr txBox="1"/>
          <p:nvPr/>
        </p:nvSpPr>
        <p:spPr>
          <a:xfrm>
            <a:off x="6391656" y="1371600"/>
            <a:ext cx="5111496" cy="548640"/>
          </a:xfrm>
          <a:prstGeom prst="rect">
            <a:avLst/>
          </a:prstGeom>
          <a:solidFill>
            <a:schemeClr val="accent2"/>
          </a:solidFill>
          <a:ln/>
        </p:spPr>
        <p:txBody>
          <a:bodyPr wrap="square" lIns="203200" tIns="203200" rIns="203200" bIns="203200" rtlCol="0" anchor="ctr"/>
          <a:lstStyle/>
          <a:p>
            <a:pPr indent="0" marL="0">
              <a:buNone/>
            </a:pPr>
            <a:r>
              <a:rPr lang="en-US" sz="2000" b="1" dirty="0">
                <a:solidFill>
                  <a:schemeClr val="bg1"/>
                </a:solidFill>
              </a:rPr>
              <a:t>United States</a:t>
            </a:r>
            <a:endParaRPr lang="en-US" sz="2000" dirty="0"/>
          </a:p>
        </p:txBody>
      </p:sp>
      <p:sp>
        <p:nvSpPr>
          <p:cNvPr id="10" name="Shape 8"/>
          <p:cNvSpPr/>
          <p:nvPr/>
        </p:nvSpPr>
        <p:spPr>
          <a:xfrm>
            <a:off x="6391656" y="1920240"/>
            <a:ext cx="5111496" cy="2697480"/>
          </a:xfrm>
          <a:prstGeom prst="rect">
            <a:avLst/>
          </a:prstGeom>
          <a:solidFill>
            <a:schemeClr val="bg1"/>
          </a:solidFill>
          <a:ln w="12700">
            <a:solidFill>
              <a:schemeClr val="accent4"/>
            </a:solidFill>
            <a:prstDash val="solid"/>
          </a:ln>
        </p:spPr>
      </p:sp>
      <p:sp>
        <p:nvSpPr>
          <p:cNvPr id="11" name="Text 9"/>
          <p:cNvSpPr txBox="1"/>
          <p:nvPr/>
        </p:nvSpPr>
        <p:spPr>
          <a:xfrm>
            <a:off x="6757416" y="2148840"/>
            <a:ext cx="4379976" cy="822960"/>
          </a:xfrm>
          <a:prstGeom prst="rect">
            <a:avLst/>
          </a:prstGeom>
          <a:noFill/>
          <a:ln/>
        </p:spPr>
        <p:txBody>
          <a:bodyPr wrap="square" lIns="0" tIns="0" rIns="0" bIns="0" rtlCol="0" anchor="t"/>
          <a:lstStyle/>
          <a:p>
            <a:pPr indent="0" marL="0">
              <a:buNone/>
            </a:pPr>
            <a:r>
              <a:rPr lang="en-US" sz="4800" b="1" dirty="0">
                <a:solidFill>
                  <a:schemeClr val="accent2"/>
                </a:solidFill>
              </a:rPr>
              <a:t>Text only</a:t>
            </a:r>
            <a:endParaRPr lang="en-US" sz="4800" dirty="0"/>
          </a:p>
        </p:txBody>
      </p:sp>
      <p:sp>
        <p:nvSpPr>
          <p:cNvPr id="12" name="Text 10"/>
          <p:cNvSpPr txBox="1"/>
          <p:nvPr/>
        </p:nvSpPr>
        <p:spPr>
          <a:xfrm>
            <a:off x="6757416" y="2971800"/>
            <a:ext cx="4379976" cy="365760"/>
          </a:xfrm>
          <a:prstGeom prst="rect">
            <a:avLst/>
          </a:prstGeom>
          <a:noFill/>
          <a:ln/>
        </p:spPr>
        <p:txBody>
          <a:bodyPr wrap="square" lIns="0" tIns="0" rIns="0" bIns="0" rtlCol="0" anchor="t"/>
          <a:lstStyle/>
          <a:p>
            <a:pPr indent="0" marL="0">
              <a:buNone/>
            </a:pPr>
            <a:r>
              <a:rPr lang="en-US" sz="1700" dirty="0">
                <a:solidFill>
                  <a:schemeClr val="accent6"/>
                </a:solidFill>
              </a:rPr>
              <a:t>a small warning on the side</a:t>
            </a:r>
            <a:endParaRPr lang="en-US" sz="1700" dirty="0"/>
          </a:p>
        </p:txBody>
      </p:sp>
      <p:sp>
        <p:nvSpPr>
          <p:cNvPr id="13" name="Text 11"/>
          <p:cNvSpPr txBox="1"/>
          <p:nvPr/>
        </p:nvSpPr>
        <p:spPr>
          <a:xfrm>
            <a:off x="6757416" y="3611880"/>
            <a:ext cx="4379976" cy="1188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Graphic warnings stuck in court since 2020</a:t>
            </a:r>
            <a:endParaRPr lang="en-US" sz="1600" dirty="0"/>
          </a:p>
          <a:p>
            <a:pPr marL="342900" indent="-342900">
              <a:spcAft>
                <a:spcPts val="800"/>
              </a:spcAft>
              <a:buSzPct val="100000"/>
              <a:buChar char="•"/>
            </a:pPr>
            <a:r>
              <a:rPr lang="en-US" sz="1600" dirty="0">
                <a:solidFill>
                  <a:schemeClr val="accent6"/>
                </a:solidFill>
              </a:rPr>
              <a:t>Menthol is still allowed</a:t>
            </a:r>
            <a:endParaRPr lang="en-US" sz="1600" dirty="0"/>
          </a:p>
        </p:txBody>
      </p:sp>
      <p:sp>
        <p:nvSpPr>
          <p:cNvPr id="14" name="Text 12"/>
          <p:cNvSpPr txBox="1"/>
          <p:nvPr/>
        </p:nvSpPr>
        <p:spPr>
          <a:xfrm>
            <a:off x="914400" y="4937760"/>
            <a:ext cx="10588752" cy="365760"/>
          </a:xfrm>
          <a:prstGeom prst="rect">
            <a:avLst/>
          </a:prstGeom>
          <a:noFill/>
          <a:ln/>
        </p:spPr>
        <p:txBody>
          <a:bodyPr wrap="square" lIns="0" tIns="0" rIns="0" bIns="0" rtlCol="0" anchor="t"/>
          <a:lstStyle/>
          <a:p>
            <a:pPr indent="0" marL="0">
              <a:buNone/>
            </a:pPr>
            <a:r>
              <a:rPr lang="en-US" sz="1600" i="1" dirty="0">
                <a:solidFill>
                  <a:schemeClr val="accent3"/>
                </a:solidFill>
              </a:rPr>
              <a:t>World record: in Türkiye and Timor-Leste, 92.5% of the pack is warning.</a:t>
            </a:r>
            <a:endParaRPr lang="en-US" sz="1600" dirty="0"/>
          </a:p>
        </p:txBody>
      </p:sp>
      <p:sp>
        <p:nvSpPr>
          <p:cNvPr id="15" name="Text 13"/>
          <p:cNvSpPr txBox="1"/>
          <p:nvPr/>
        </p:nvSpPr>
        <p:spPr>
          <a:xfrm>
            <a:off x="914400" y="6053328"/>
            <a:ext cx="10588752" cy="256032"/>
          </a:xfrm>
          <a:prstGeom prst="rect">
            <a:avLst/>
          </a:prstGeom>
          <a:noFill/>
          <a:ln/>
        </p:spPr>
        <p:txBody>
          <a:bodyPr wrap="square" lIns="0" tIns="0" rIns="0" bIns="0" rtlCol="0" anchor="t"/>
          <a:lstStyle/>
          <a:p>
            <a:pPr indent="0" marL="0">
              <a:buNone/>
            </a:pPr>
            <a:r>
              <a:rPr lang="en-US" sz="1000" i="1" dirty="0">
                <a:solidFill>
                  <a:schemeClr val="accent3"/>
                </a:solidFill>
              </a:rPr>
              <a:t>Sources: EU Directive 2014/40/EU; US FDA; Canadian Cancer Society (2025).</a:t>
            </a:r>
            <a:endParaRPr lang="en-US" sz="1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Chapter 2  ·  The sweet door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Every country has its own taste</a:t>
            </a:r>
            <a:endParaRPr lang="en-US" sz="2600" dirty="0"/>
          </a:p>
        </p:txBody>
      </p:sp>
      <p:sp>
        <p:nvSpPr>
          <p:cNvPr id="4" name="Shape 2"/>
          <p:cNvSpPr/>
          <p:nvPr/>
        </p:nvSpPr>
        <p:spPr>
          <a:xfrm>
            <a:off x="914400" y="1417320"/>
            <a:ext cx="7315200" cy="1005840"/>
          </a:xfrm>
          <a:prstGeom prst="rect">
            <a:avLst/>
          </a:prstGeom>
          <a:solidFill>
            <a:schemeClr val="bg2"/>
          </a:solidFill>
          <a:ln w="12700">
            <a:solidFill>
              <a:schemeClr val="bg2"/>
            </a:solidFill>
            <a:prstDash val="solid"/>
          </a:ln>
        </p:spPr>
      </p:sp>
      <p:sp>
        <p:nvSpPr>
          <p:cNvPr id="5" name="Text 3"/>
          <p:cNvSpPr txBox="1"/>
          <p:nvPr/>
        </p:nvSpPr>
        <p:spPr>
          <a:xfrm>
            <a:off x="1188720" y="1508760"/>
            <a:ext cx="1920240" cy="822960"/>
          </a:xfrm>
          <a:prstGeom prst="rect">
            <a:avLst/>
          </a:prstGeom>
          <a:noFill/>
          <a:ln/>
        </p:spPr>
        <p:txBody>
          <a:bodyPr wrap="square" lIns="0" tIns="0" rIns="0" bIns="0" rtlCol="0" anchor="ctr"/>
          <a:lstStyle/>
          <a:p>
            <a:pPr indent="0" marL="0">
              <a:buNone/>
            </a:pPr>
            <a:r>
              <a:rPr lang="en-US" sz="1800" b="1" dirty="0">
                <a:solidFill>
                  <a:schemeClr val="accent2"/>
                </a:solidFill>
              </a:rPr>
              <a:t>Kyrgyzstan</a:t>
            </a:r>
            <a:endParaRPr lang="en-US" sz="1800" dirty="0"/>
          </a:p>
        </p:txBody>
      </p:sp>
      <p:sp>
        <p:nvSpPr>
          <p:cNvPr id="6" name="Text 4"/>
          <p:cNvSpPr txBox="1"/>
          <p:nvPr/>
        </p:nvSpPr>
        <p:spPr>
          <a:xfrm>
            <a:off x="3154680" y="1508760"/>
            <a:ext cx="4846320" cy="822960"/>
          </a:xfrm>
          <a:prstGeom prst="rect">
            <a:avLst/>
          </a:prstGeom>
          <a:noFill/>
          <a:ln/>
        </p:spPr>
        <p:txBody>
          <a:bodyPr wrap="square" lIns="0" tIns="0" rIns="0" bIns="0" rtlCol="0" anchor="ctr"/>
          <a:lstStyle/>
          <a:p>
            <a:pPr indent="0" marL="0">
              <a:buNone/>
            </a:pPr>
            <a:r>
              <a:rPr lang="en-US" sz="1600" dirty="0">
                <a:solidFill>
                  <a:schemeClr val="accent6"/>
                </a:solidFill>
              </a:rPr>
              <a:t>Nasvay: local chewing tobacco, the only smokeless product allowed.</a:t>
            </a:r>
            <a:endParaRPr lang="en-US" sz="1600" dirty="0"/>
          </a:p>
        </p:txBody>
      </p:sp>
      <p:sp>
        <p:nvSpPr>
          <p:cNvPr id="7" name="Shape 5"/>
          <p:cNvSpPr/>
          <p:nvPr/>
        </p:nvSpPr>
        <p:spPr>
          <a:xfrm>
            <a:off x="914400" y="2578608"/>
            <a:ext cx="7315200" cy="1005840"/>
          </a:xfrm>
          <a:prstGeom prst="rect">
            <a:avLst/>
          </a:prstGeom>
          <a:solidFill>
            <a:schemeClr val="bg1"/>
          </a:solidFill>
          <a:ln w="12700">
            <a:solidFill>
              <a:schemeClr val="accent4"/>
            </a:solidFill>
            <a:prstDash val="solid"/>
          </a:ln>
        </p:spPr>
      </p:sp>
      <p:sp>
        <p:nvSpPr>
          <p:cNvPr id="8" name="Text 6"/>
          <p:cNvSpPr txBox="1"/>
          <p:nvPr/>
        </p:nvSpPr>
        <p:spPr>
          <a:xfrm>
            <a:off x="1188720" y="2670048"/>
            <a:ext cx="1920240" cy="822960"/>
          </a:xfrm>
          <a:prstGeom prst="rect">
            <a:avLst/>
          </a:prstGeom>
          <a:noFill/>
          <a:ln/>
        </p:spPr>
        <p:txBody>
          <a:bodyPr wrap="square" lIns="0" tIns="0" rIns="0" bIns="0" rtlCol="0" anchor="ctr"/>
          <a:lstStyle/>
          <a:p>
            <a:pPr indent="0" marL="0">
              <a:buNone/>
            </a:pPr>
            <a:r>
              <a:rPr lang="en-US" sz="1800" b="1" dirty="0">
                <a:solidFill>
                  <a:schemeClr val="accent2"/>
                </a:solidFill>
              </a:rPr>
              <a:t>Japan</a:t>
            </a:r>
            <a:endParaRPr lang="en-US" sz="1800" dirty="0"/>
          </a:p>
        </p:txBody>
      </p:sp>
      <p:sp>
        <p:nvSpPr>
          <p:cNvPr id="9" name="Text 7"/>
          <p:cNvSpPr txBox="1"/>
          <p:nvPr/>
        </p:nvSpPr>
        <p:spPr>
          <a:xfrm>
            <a:off x="3154680" y="2670048"/>
            <a:ext cx="4846320" cy="822960"/>
          </a:xfrm>
          <a:prstGeom prst="rect">
            <a:avLst/>
          </a:prstGeom>
          <a:noFill/>
          <a:ln/>
        </p:spPr>
        <p:txBody>
          <a:bodyPr wrap="square" lIns="0" tIns="0" rIns="0" bIns="0" rtlCol="0" anchor="ctr"/>
          <a:lstStyle/>
          <a:p>
            <a:pPr indent="0" marL="0">
              <a:buNone/>
            </a:pPr>
            <a:r>
              <a:rPr lang="en-US" sz="1600" dirty="0">
                <a:solidFill>
                  <a:schemeClr val="accent6"/>
                </a:solidFill>
              </a:rPr>
              <a:t>Menthol and “ice” flavours are mainstream.</a:t>
            </a:r>
            <a:endParaRPr lang="en-US" sz="1600" dirty="0"/>
          </a:p>
        </p:txBody>
      </p:sp>
      <p:sp>
        <p:nvSpPr>
          <p:cNvPr id="10" name="Shape 8"/>
          <p:cNvSpPr/>
          <p:nvPr/>
        </p:nvSpPr>
        <p:spPr>
          <a:xfrm>
            <a:off x="914400" y="3739896"/>
            <a:ext cx="7315200" cy="1005840"/>
          </a:xfrm>
          <a:prstGeom prst="rect">
            <a:avLst/>
          </a:prstGeom>
          <a:solidFill>
            <a:schemeClr val="bg2"/>
          </a:solidFill>
          <a:ln w="12700">
            <a:solidFill>
              <a:schemeClr val="bg2"/>
            </a:solidFill>
            <a:prstDash val="solid"/>
          </a:ln>
        </p:spPr>
      </p:sp>
      <p:sp>
        <p:nvSpPr>
          <p:cNvPr id="11" name="Text 9"/>
          <p:cNvSpPr txBox="1"/>
          <p:nvPr/>
        </p:nvSpPr>
        <p:spPr>
          <a:xfrm>
            <a:off x="1188720" y="3831336"/>
            <a:ext cx="1920240" cy="822960"/>
          </a:xfrm>
          <a:prstGeom prst="rect">
            <a:avLst/>
          </a:prstGeom>
          <a:noFill/>
          <a:ln/>
        </p:spPr>
        <p:txBody>
          <a:bodyPr wrap="square" lIns="0" tIns="0" rIns="0" bIns="0" rtlCol="0" anchor="ctr"/>
          <a:lstStyle/>
          <a:p>
            <a:pPr indent="0" marL="0">
              <a:buNone/>
            </a:pPr>
            <a:r>
              <a:rPr lang="en-US" sz="1800" b="1" dirty="0">
                <a:solidFill>
                  <a:schemeClr val="accent2"/>
                </a:solidFill>
              </a:rPr>
              <a:t>Latin America</a:t>
            </a:r>
            <a:endParaRPr lang="en-US" sz="1800" dirty="0"/>
          </a:p>
        </p:txBody>
      </p:sp>
      <p:sp>
        <p:nvSpPr>
          <p:cNvPr id="12" name="Text 10"/>
          <p:cNvSpPr txBox="1"/>
          <p:nvPr/>
        </p:nvSpPr>
        <p:spPr>
          <a:xfrm>
            <a:off x="3154680" y="3831336"/>
            <a:ext cx="4846320" cy="822960"/>
          </a:xfrm>
          <a:prstGeom prst="rect">
            <a:avLst/>
          </a:prstGeom>
          <a:noFill/>
          <a:ln/>
        </p:spPr>
        <p:txBody>
          <a:bodyPr wrap="square" lIns="0" tIns="0" rIns="0" bIns="0" rtlCol="0" anchor="ctr"/>
          <a:lstStyle/>
          <a:p>
            <a:pPr indent="0" marL="0">
              <a:buNone/>
            </a:pPr>
            <a:r>
              <a:rPr lang="en-US" sz="1600" dirty="0">
                <a:solidFill>
                  <a:schemeClr val="accent6"/>
                </a:solidFill>
              </a:rPr>
              <a:t>Capsules: click the filter, change the flavour.</a:t>
            </a:r>
            <a:endParaRPr lang="en-US" sz="1600" dirty="0"/>
          </a:p>
        </p:txBody>
      </p:sp>
      <p:sp>
        <p:nvSpPr>
          <p:cNvPr id="13" name="Shape 11"/>
          <p:cNvSpPr/>
          <p:nvPr/>
        </p:nvSpPr>
        <p:spPr>
          <a:xfrm>
            <a:off x="914400" y="4901184"/>
            <a:ext cx="7315200" cy="1005840"/>
          </a:xfrm>
          <a:prstGeom prst="rect">
            <a:avLst/>
          </a:prstGeom>
          <a:solidFill>
            <a:schemeClr val="bg1"/>
          </a:solidFill>
          <a:ln w="12700">
            <a:solidFill>
              <a:schemeClr val="accent4"/>
            </a:solidFill>
            <a:prstDash val="solid"/>
          </a:ln>
        </p:spPr>
      </p:sp>
      <p:sp>
        <p:nvSpPr>
          <p:cNvPr id="14" name="Text 12"/>
          <p:cNvSpPr txBox="1"/>
          <p:nvPr/>
        </p:nvSpPr>
        <p:spPr>
          <a:xfrm>
            <a:off x="1188720" y="4992624"/>
            <a:ext cx="1920240" cy="822960"/>
          </a:xfrm>
          <a:prstGeom prst="rect">
            <a:avLst/>
          </a:prstGeom>
          <a:noFill/>
          <a:ln/>
        </p:spPr>
        <p:txBody>
          <a:bodyPr wrap="square" lIns="0" tIns="0" rIns="0" bIns="0" rtlCol="0" anchor="ctr"/>
          <a:lstStyle/>
          <a:p>
            <a:pPr indent="0" marL="0">
              <a:buNone/>
            </a:pPr>
            <a:r>
              <a:rPr lang="en-US" sz="1800" b="1" dirty="0">
                <a:solidFill>
                  <a:schemeClr val="accent2"/>
                </a:solidFill>
              </a:rPr>
              <a:t>Middle East</a:t>
            </a:r>
            <a:endParaRPr lang="en-US" sz="1800" dirty="0"/>
          </a:p>
        </p:txBody>
      </p:sp>
      <p:sp>
        <p:nvSpPr>
          <p:cNvPr id="15" name="Text 13"/>
          <p:cNvSpPr txBox="1"/>
          <p:nvPr/>
        </p:nvSpPr>
        <p:spPr>
          <a:xfrm>
            <a:off x="3154680" y="4992624"/>
            <a:ext cx="4846320" cy="822960"/>
          </a:xfrm>
          <a:prstGeom prst="rect">
            <a:avLst/>
          </a:prstGeom>
          <a:noFill/>
          <a:ln/>
        </p:spPr>
        <p:txBody>
          <a:bodyPr wrap="square" lIns="0" tIns="0" rIns="0" bIns="0" rtlCol="0" anchor="ctr"/>
          <a:lstStyle/>
          <a:p>
            <a:pPr indent="0" marL="0">
              <a:buNone/>
            </a:pPr>
            <a:r>
              <a:rPr lang="en-US" sz="1600" dirty="0">
                <a:solidFill>
                  <a:schemeClr val="accent6"/>
                </a:solidFill>
              </a:rPr>
              <a:t>Flavoured shisha: apple, grape, mint.</a:t>
            </a:r>
            <a:endParaRPr lang="en-US" sz="1600" dirty="0"/>
          </a:p>
        </p:txBody>
      </p:sp>
      <p:sp>
        <p:nvSpPr>
          <p:cNvPr id="16" name="Text 14"/>
          <p:cNvSpPr txBox="1"/>
          <p:nvPr/>
        </p:nvSpPr>
        <p:spPr>
          <a:xfrm>
            <a:off x="914400" y="6035040"/>
            <a:ext cx="7315200" cy="274320"/>
          </a:xfrm>
          <a:prstGeom prst="rect">
            <a:avLst/>
          </a:prstGeom>
          <a:noFill/>
          <a:ln/>
        </p:spPr>
        <p:txBody>
          <a:bodyPr wrap="square" lIns="0" tIns="0" rIns="0" bIns="0" rtlCol="0" anchor="t"/>
          <a:lstStyle/>
          <a:p>
            <a:pPr indent="0" marL="0">
              <a:buNone/>
            </a:pPr>
            <a:r>
              <a:rPr lang="en-US" sz="1400" i="1" dirty="0">
                <a:solidFill>
                  <a:schemeClr val="accent3"/>
                </a:solidFill>
              </a:rPr>
              <a:t>When you can’t change the ad, you change the product.</a:t>
            </a:r>
            <a:endParaRPr lang="en-US" sz="1400" dirty="0"/>
          </a:p>
        </p:txBody>
      </p:sp>
      <p:sp>
        <p:nvSpPr>
          <p:cNvPr id="18" name="Text 2"/>
          <p:cNvSpPr/>
          <p:nvPr>
            <p:ph type="pic" idx="104" hasCustomPrompt="1"/>
          </p:nvPr>
        </p:nvSpPr>
        <p:spPr>
          <a:xfrm>
            <a:off x="8549640" y="1417320"/>
            <a:ext cx="2953512" cy="466344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Chapter 2  ·  The sweet door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Why flavours work, and why they get banned</a:t>
            </a:r>
            <a:endParaRPr lang="en-US" sz="2600" dirty="0"/>
          </a:p>
        </p:txBody>
      </p:sp>
      <p:sp>
        <p:nvSpPr>
          <p:cNvPr id="4" name="Shape 2"/>
          <p:cNvSpPr/>
          <p:nvPr/>
        </p:nvSpPr>
        <p:spPr>
          <a:xfrm>
            <a:off x="914400" y="1417320"/>
            <a:ext cx="5669280" cy="1280160"/>
          </a:xfrm>
          <a:prstGeom prst="rect">
            <a:avLst/>
          </a:prstGeom>
          <a:solidFill>
            <a:schemeClr val="bg2"/>
          </a:solidFill>
          <a:ln w="12700">
            <a:solidFill>
              <a:schemeClr val="bg2"/>
            </a:solidFill>
            <a:prstDash val="solid"/>
          </a:ln>
        </p:spPr>
      </p:sp>
      <p:sp>
        <p:nvSpPr>
          <p:cNvPr id="5" name="Shape 3"/>
          <p:cNvSpPr/>
          <p:nvPr/>
        </p:nvSpPr>
        <p:spPr>
          <a:xfrm>
            <a:off x="1188720" y="1773936"/>
            <a:ext cx="566928" cy="566928"/>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330452" y="1915668"/>
            <a:ext cx="283464" cy="283464"/>
          </a:xfrm>
          <a:prstGeom prst="rect">
            <a:avLst/>
          </a:prstGeom>
        </p:spPr>
      </p:pic>
      <p:sp>
        <p:nvSpPr>
          <p:cNvPr id="7" name="Text 4"/>
          <p:cNvSpPr txBox="1"/>
          <p:nvPr/>
        </p:nvSpPr>
        <p:spPr>
          <a:xfrm>
            <a:off x="2011680" y="1618488"/>
            <a:ext cx="4389120" cy="365760"/>
          </a:xfrm>
          <a:prstGeom prst="rect">
            <a:avLst/>
          </a:prstGeom>
          <a:noFill/>
          <a:ln/>
        </p:spPr>
        <p:txBody>
          <a:bodyPr wrap="square" lIns="0" tIns="0" rIns="0" bIns="0" rtlCol="0" anchor="t"/>
          <a:lstStyle/>
          <a:p>
            <a:pPr indent="0" marL="0">
              <a:buNone/>
            </a:pPr>
            <a:r>
              <a:rPr lang="en-US" sz="1900" b="1" dirty="0">
                <a:solidFill>
                  <a:schemeClr val="accent1"/>
                </a:solidFill>
              </a:rPr>
              <a:t>They hide the harshness</a:t>
            </a:r>
            <a:endParaRPr lang="en-US" sz="1900" dirty="0"/>
          </a:p>
        </p:txBody>
      </p:sp>
      <p:sp>
        <p:nvSpPr>
          <p:cNvPr id="8" name="Text 5"/>
          <p:cNvSpPr txBox="1"/>
          <p:nvPr/>
        </p:nvSpPr>
        <p:spPr>
          <a:xfrm>
            <a:off x="2011680" y="2020824"/>
            <a:ext cx="4389120" cy="548640"/>
          </a:xfrm>
          <a:prstGeom prst="rect">
            <a:avLst/>
          </a:prstGeom>
          <a:noFill/>
          <a:ln/>
        </p:spPr>
        <p:txBody>
          <a:bodyPr wrap="square" lIns="0" tIns="0" rIns="0" bIns="0" rtlCol="0" anchor="t"/>
          <a:lstStyle/>
          <a:p>
            <a:pPr indent="0" marL="0">
              <a:buNone/>
            </a:pPr>
            <a:r>
              <a:rPr lang="en-US" sz="1500" dirty="0">
                <a:solidFill>
                  <a:schemeClr val="accent6"/>
                </a:solidFill>
              </a:rPr>
              <a:t>Menthol numbs the throat. The first cigarette doesn’t hurt.</a:t>
            </a:r>
            <a:endParaRPr lang="en-US" sz="1500" dirty="0"/>
          </a:p>
        </p:txBody>
      </p:sp>
      <p:sp>
        <p:nvSpPr>
          <p:cNvPr id="9" name="Shape 6"/>
          <p:cNvSpPr/>
          <p:nvPr/>
        </p:nvSpPr>
        <p:spPr>
          <a:xfrm>
            <a:off x="914400" y="2880360"/>
            <a:ext cx="5669280" cy="1280160"/>
          </a:xfrm>
          <a:prstGeom prst="rect">
            <a:avLst/>
          </a:prstGeom>
          <a:solidFill>
            <a:schemeClr val="bg2"/>
          </a:solidFill>
          <a:ln w="12700">
            <a:solidFill>
              <a:schemeClr val="bg2"/>
            </a:solidFill>
            <a:prstDash val="solid"/>
          </a:ln>
        </p:spPr>
      </p:sp>
      <p:sp>
        <p:nvSpPr>
          <p:cNvPr id="10" name="Shape 7"/>
          <p:cNvSpPr/>
          <p:nvPr/>
        </p:nvSpPr>
        <p:spPr>
          <a:xfrm>
            <a:off x="1188720" y="3236976"/>
            <a:ext cx="566928" cy="566928"/>
          </a:xfrm>
          <a:prstGeom prst="ellipse">
            <a:avLst/>
          </a:prstGeom>
          <a:solidFill>
            <a:schemeClr val="accent1"/>
          </a:solidFill>
          <a:ln w="1270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1330452" y="3378708"/>
            <a:ext cx="283464" cy="283464"/>
          </a:xfrm>
          <a:prstGeom prst="rect">
            <a:avLst/>
          </a:prstGeom>
        </p:spPr>
      </p:pic>
      <p:sp>
        <p:nvSpPr>
          <p:cNvPr id="12" name="Text 8"/>
          <p:cNvSpPr txBox="1"/>
          <p:nvPr/>
        </p:nvSpPr>
        <p:spPr>
          <a:xfrm>
            <a:off x="2011680" y="3081528"/>
            <a:ext cx="4389120" cy="365760"/>
          </a:xfrm>
          <a:prstGeom prst="rect">
            <a:avLst/>
          </a:prstGeom>
          <a:noFill/>
          <a:ln/>
        </p:spPr>
        <p:txBody>
          <a:bodyPr wrap="square" lIns="0" tIns="0" rIns="0" bIns="0" rtlCol="0" anchor="t"/>
          <a:lstStyle/>
          <a:p>
            <a:pPr indent="0" marL="0">
              <a:buNone/>
            </a:pPr>
            <a:r>
              <a:rPr lang="en-US" sz="1900" b="1" dirty="0">
                <a:solidFill>
                  <a:schemeClr val="accent1"/>
                </a:solidFill>
              </a:rPr>
              <a:t>They attract beginners</a:t>
            </a:r>
            <a:endParaRPr lang="en-US" sz="1900" dirty="0"/>
          </a:p>
        </p:txBody>
      </p:sp>
      <p:sp>
        <p:nvSpPr>
          <p:cNvPr id="13" name="Text 9"/>
          <p:cNvSpPr txBox="1"/>
          <p:nvPr/>
        </p:nvSpPr>
        <p:spPr>
          <a:xfrm>
            <a:off x="2011680" y="3483864"/>
            <a:ext cx="4389120" cy="548640"/>
          </a:xfrm>
          <a:prstGeom prst="rect">
            <a:avLst/>
          </a:prstGeom>
          <a:noFill/>
          <a:ln/>
        </p:spPr>
        <p:txBody>
          <a:bodyPr wrap="square" lIns="0" tIns="0" rIns="0" bIns="0" rtlCol="0" anchor="t"/>
          <a:lstStyle/>
          <a:p>
            <a:pPr indent="0" marL="0">
              <a:buNone/>
            </a:pPr>
            <a:r>
              <a:rPr lang="en-US" sz="1500" dirty="0">
                <a:solidFill>
                  <a:schemeClr val="accent6"/>
                </a:solidFill>
              </a:rPr>
              <a:t>Sweet tastes make perfect starter products.</a:t>
            </a:r>
            <a:endParaRPr lang="en-US" sz="1500" dirty="0"/>
          </a:p>
        </p:txBody>
      </p:sp>
      <p:sp>
        <p:nvSpPr>
          <p:cNvPr id="14" name="Shape 10"/>
          <p:cNvSpPr/>
          <p:nvPr/>
        </p:nvSpPr>
        <p:spPr>
          <a:xfrm>
            <a:off x="914400" y="4343400"/>
            <a:ext cx="5669280" cy="1280160"/>
          </a:xfrm>
          <a:prstGeom prst="rect">
            <a:avLst/>
          </a:prstGeom>
          <a:solidFill>
            <a:schemeClr val="bg2"/>
          </a:solidFill>
          <a:ln w="12700">
            <a:solidFill>
              <a:schemeClr val="bg2"/>
            </a:solidFill>
            <a:prstDash val="solid"/>
          </a:ln>
        </p:spPr>
      </p:sp>
      <p:sp>
        <p:nvSpPr>
          <p:cNvPr id="15" name="Shape 11"/>
          <p:cNvSpPr/>
          <p:nvPr/>
        </p:nvSpPr>
        <p:spPr>
          <a:xfrm>
            <a:off x="1188720" y="4700016"/>
            <a:ext cx="566928" cy="566928"/>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1330452" y="4841748"/>
            <a:ext cx="283464" cy="283464"/>
          </a:xfrm>
          <a:prstGeom prst="rect">
            <a:avLst/>
          </a:prstGeom>
        </p:spPr>
      </p:pic>
      <p:sp>
        <p:nvSpPr>
          <p:cNvPr id="17" name="Text 12"/>
          <p:cNvSpPr txBox="1"/>
          <p:nvPr/>
        </p:nvSpPr>
        <p:spPr>
          <a:xfrm>
            <a:off x="2011680" y="4544568"/>
            <a:ext cx="4389120" cy="365760"/>
          </a:xfrm>
          <a:prstGeom prst="rect">
            <a:avLst/>
          </a:prstGeom>
          <a:noFill/>
          <a:ln/>
        </p:spPr>
        <p:txBody>
          <a:bodyPr wrap="square" lIns="0" tIns="0" rIns="0" bIns="0" rtlCol="0" anchor="t"/>
          <a:lstStyle/>
          <a:p>
            <a:pPr indent="0" marL="0">
              <a:buNone/>
            </a:pPr>
            <a:r>
              <a:rPr lang="en-US" sz="1900" b="1" dirty="0">
                <a:solidFill>
                  <a:schemeClr val="accent1"/>
                </a:solidFill>
              </a:rPr>
              <a:t>They target groups</a:t>
            </a:r>
            <a:endParaRPr lang="en-US" sz="1900" dirty="0"/>
          </a:p>
        </p:txBody>
      </p:sp>
      <p:sp>
        <p:nvSpPr>
          <p:cNvPr id="18" name="Text 13"/>
          <p:cNvSpPr txBox="1"/>
          <p:nvPr/>
        </p:nvSpPr>
        <p:spPr>
          <a:xfrm>
            <a:off x="2011680" y="4946904"/>
            <a:ext cx="4389120" cy="548640"/>
          </a:xfrm>
          <a:prstGeom prst="rect">
            <a:avLst/>
          </a:prstGeom>
          <a:noFill/>
          <a:ln/>
        </p:spPr>
        <p:txBody>
          <a:bodyPr wrap="square" lIns="0" tIns="0" rIns="0" bIns="0" rtlCol="0" anchor="t"/>
          <a:lstStyle/>
          <a:p>
            <a:pPr indent="0" marL="0">
              <a:buNone/>
            </a:pPr>
            <a:r>
              <a:rPr lang="en-US" sz="1500" dirty="0">
                <a:solidFill>
                  <a:schemeClr val="accent6"/>
                </a:solidFill>
              </a:rPr>
              <a:t>One flavour can be built for one community.</a:t>
            </a:r>
            <a:endParaRPr lang="en-US" sz="1500" dirty="0"/>
          </a:p>
        </p:txBody>
      </p:sp>
      <p:sp>
        <p:nvSpPr>
          <p:cNvPr id="19" name="Shape 14"/>
          <p:cNvSpPr/>
          <p:nvPr/>
        </p:nvSpPr>
        <p:spPr>
          <a:xfrm>
            <a:off x="6949440" y="1417320"/>
            <a:ext cx="4553712" cy="4206240"/>
          </a:xfrm>
          <a:prstGeom prst="rect">
            <a:avLst/>
          </a:prstGeom>
          <a:solidFill>
            <a:schemeClr val="bg1"/>
          </a:solidFill>
          <a:ln w="15875">
            <a:solidFill>
              <a:schemeClr val="accent2"/>
            </a:solidFill>
            <a:prstDash val="solid"/>
          </a:ln>
        </p:spPr>
      </p:sp>
      <p:sp>
        <p:nvSpPr>
          <p:cNvPr id="20" name="Text 15"/>
          <p:cNvSpPr txBox="1"/>
          <p:nvPr/>
        </p:nvSpPr>
        <p:spPr>
          <a:xfrm>
            <a:off x="7269480" y="1600200"/>
            <a:ext cx="3913632" cy="411480"/>
          </a:xfrm>
          <a:prstGeom prst="rect">
            <a:avLst/>
          </a:prstGeom>
          <a:noFill/>
          <a:ln/>
        </p:spPr>
        <p:txBody>
          <a:bodyPr wrap="square" lIns="0" tIns="0" rIns="0" bIns="0" rtlCol="0" anchor="t"/>
          <a:lstStyle/>
          <a:p>
            <a:pPr indent="0" marL="0">
              <a:buNone/>
            </a:pPr>
            <a:r>
              <a:rPr lang="en-US" sz="2100" b="1" dirty="0">
                <a:solidFill>
                  <a:schemeClr val="accent2"/>
                </a:solidFill>
              </a:rPr>
              <a:t>Case: menthol in the USA</a:t>
            </a:r>
            <a:endParaRPr lang="en-US" sz="2100" dirty="0"/>
          </a:p>
        </p:txBody>
      </p:sp>
      <p:sp>
        <p:nvSpPr>
          <p:cNvPr id="21" name="Text 16"/>
          <p:cNvSpPr txBox="1"/>
          <p:nvPr/>
        </p:nvSpPr>
        <p:spPr>
          <a:xfrm>
            <a:off x="7269480" y="2194560"/>
            <a:ext cx="3913632" cy="1463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accent6"/>
                </a:solidFill>
              </a:rPr>
              <a:t>Ads in Black magazines</a:t>
            </a:r>
            <a:endParaRPr lang="en-US" sz="1600" dirty="0"/>
          </a:p>
          <a:p>
            <a:pPr marL="342900" indent="-342900">
              <a:spcAft>
                <a:spcPts val="1000"/>
              </a:spcAft>
              <a:buSzPct val="100000"/>
              <a:buChar char="•"/>
            </a:pPr>
            <a:r>
              <a:rPr lang="en-US" sz="1600" dirty="0">
                <a:solidFill>
                  <a:schemeClr val="accent6"/>
                </a:solidFill>
              </a:rPr>
              <a:t>Sponsorship: the Kool Jazz Festival</a:t>
            </a:r>
            <a:endParaRPr lang="en-US" sz="1600" dirty="0"/>
          </a:p>
          <a:p>
            <a:pPr marL="342900" indent="-342900">
              <a:spcAft>
                <a:spcPts val="1000"/>
              </a:spcAft>
              <a:buSzPct val="100000"/>
              <a:buChar char="•"/>
            </a:pPr>
            <a:r>
              <a:rPr lang="en-US" sz="1600" dirty="0">
                <a:solidFill>
                  <a:schemeClr val="accent6"/>
                </a:solidFill>
              </a:rPr>
              <a:t>Free samples in neighbourhoods</a:t>
            </a:r>
            <a:endParaRPr lang="en-US" sz="1600" dirty="0"/>
          </a:p>
        </p:txBody>
      </p:sp>
      <p:sp>
        <p:nvSpPr>
          <p:cNvPr id="22" name="Text 17"/>
          <p:cNvSpPr txBox="1"/>
          <p:nvPr/>
        </p:nvSpPr>
        <p:spPr>
          <a:xfrm>
            <a:off x="7269480" y="3749040"/>
            <a:ext cx="3913632" cy="685800"/>
          </a:xfrm>
          <a:prstGeom prst="rect">
            <a:avLst/>
          </a:prstGeom>
          <a:noFill/>
          <a:ln/>
        </p:spPr>
        <p:txBody>
          <a:bodyPr wrap="square" lIns="0" tIns="0" rIns="0" bIns="0" rtlCol="0" anchor="t"/>
          <a:lstStyle/>
          <a:p>
            <a:pPr indent="0" marL="0">
              <a:buNone/>
            </a:pPr>
            <a:r>
              <a:rPr lang="en-US" sz="4000" b="1" dirty="0">
                <a:solidFill>
                  <a:schemeClr val="accent1"/>
                </a:solidFill>
              </a:rPr>
              <a:t>~85%</a:t>
            </a:r>
            <a:endParaRPr lang="en-US" sz="4000" dirty="0"/>
          </a:p>
        </p:txBody>
      </p:sp>
      <p:sp>
        <p:nvSpPr>
          <p:cNvPr id="23" name="Text 18"/>
          <p:cNvSpPr txBox="1"/>
          <p:nvPr/>
        </p:nvSpPr>
        <p:spPr>
          <a:xfrm>
            <a:off x="7269480" y="4434840"/>
            <a:ext cx="3913632" cy="640080"/>
          </a:xfrm>
          <a:prstGeom prst="rect">
            <a:avLst/>
          </a:prstGeom>
          <a:noFill/>
          <a:ln/>
        </p:spPr>
        <p:txBody>
          <a:bodyPr wrap="square" lIns="0" tIns="0" rIns="0" bIns="0" rtlCol="0" anchor="t"/>
          <a:lstStyle/>
          <a:p>
            <a:pPr indent="0" marL="0">
              <a:buNone/>
            </a:pPr>
            <a:r>
              <a:rPr lang="en-US" sz="1500" dirty="0">
                <a:solidFill>
                  <a:schemeClr val="accent6"/>
                </a:solidFill>
              </a:rPr>
              <a:t>of Black American smokers use menthol today (FDA)</a:t>
            </a:r>
            <a:endParaRPr lang="en-US" sz="15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Chapter 3  ·  The new door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Then came the vape</a:t>
            </a:r>
            <a:endParaRPr lang="en-US" sz="2600" dirty="0"/>
          </a:p>
        </p:txBody>
      </p:sp>
      <p:graphicFrame>
        <p:nvGraphicFramePr>
          <p:cNvPr id="4" name="Chart 0" descr=""/>
          <p:cNvGraphicFramePr/>
          <p:nvPr/>
        </p:nvGraphicFramePr>
        <p:xfrm>
          <a:off x="822960" y="1280160"/>
          <a:ext cx="6766560" cy="36576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914400" y="4983480"/>
            <a:ext cx="6675120" cy="256032"/>
          </a:xfrm>
          <a:prstGeom prst="rect">
            <a:avLst/>
          </a:prstGeom>
          <a:noFill/>
          <a:ln/>
        </p:spPr>
        <p:txBody>
          <a:bodyPr wrap="square" lIns="0" tIns="0" rIns="0" bIns="0" rtlCol="0" anchor="t"/>
          <a:lstStyle/>
          <a:p>
            <a:pPr indent="0" marL="0">
              <a:buNone/>
            </a:pPr>
            <a:r>
              <a:rPr lang="en-US" sz="1000" i="1" dirty="0">
                <a:solidFill>
                  <a:schemeClr val="accent3"/>
                </a:solidFill>
              </a:rPr>
              <a:t>CDC / FDA National Youth Tobacco Survey. The 2019 survey moved to tablets, which may raise estimates.</a:t>
            </a:r>
            <a:endParaRPr lang="en-US" sz="1000" dirty="0"/>
          </a:p>
        </p:txBody>
      </p:sp>
      <p:sp>
        <p:nvSpPr>
          <p:cNvPr id="6" name="Text 3"/>
          <p:cNvSpPr txBox="1"/>
          <p:nvPr/>
        </p:nvSpPr>
        <p:spPr>
          <a:xfrm>
            <a:off x="8046720" y="1417320"/>
            <a:ext cx="3456432" cy="457200"/>
          </a:xfrm>
          <a:prstGeom prst="rect">
            <a:avLst/>
          </a:prstGeom>
          <a:noFill/>
          <a:ln/>
        </p:spPr>
        <p:txBody>
          <a:bodyPr wrap="square" lIns="0" tIns="0" rIns="0" bIns="0" rtlCol="0" anchor="t"/>
          <a:lstStyle/>
          <a:p>
            <a:pPr indent="0" marL="0">
              <a:buNone/>
            </a:pPr>
            <a:r>
              <a:rPr lang="en-US" sz="2400" b="1" dirty="0">
                <a:solidFill>
                  <a:schemeClr val="accent1"/>
                </a:solidFill>
              </a:rPr>
              <a:t>2014</a:t>
            </a:r>
            <a:endParaRPr lang="en-US" sz="2400" dirty="0"/>
          </a:p>
        </p:txBody>
      </p:sp>
      <p:sp>
        <p:nvSpPr>
          <p:cNvPr id="7" name="Text 4"/>
          <p:cNvSpPr txBox="1"/>
          <p:nvPr/>
        </p:nvSpPr>
        <p:spPr>
          <a:xfrm>
            <a:off x="8046720" y="1874520"/>
            <a:ext cx="3456432" cy="594360"/>
          </a:xfrm>
          <a:prstGeom prst="rect">
            <a:avLst/>
          </a:prstGeom>
          <a:noFill/>
          <a:ln/>
        </p:spPr>
        <p:txBody>
          <a:bodyPr wrap="square" lIns="0" tIns="0" rIns="0" bIns="0" rtlCol="0" anchor="t"/>
          <a:lstStyle/>
          <a:p>
            <a:pPr indent="0" marL="0">
              <a:buNone/>
            </a:pPr>
            <a:r>
              <a:rPr lang="en-US" sz="1500" dirty="0">
                <a:solidFill>
                  <a:schemeClr val="accent6"/>
                </a:solidFill>
              </a:rPr>
              <a:t>Vapes overtake cigarettes among US teens</a:t>
            </a:r>
            <a:endParaRPr lang="en-US" sz="1500" dirty="0"/>
          </a:p>
        </p:txBody>
      </p:sp>
      <p:sp>
        <p:nvSpPr>
          <p:cNvPr id="8" name="Text 5"/>
          <p:cNvSpPr txBox="1"/>
          <p:nvPr/>
        </p:nvSpPr>
        <p:spPr>
          <a:xfrm>
            <a:off x="8046720" y="2560320"/>
            <a:ext cx="3456432" cy="457200"/>
          </a:xfrm>
          <a:prstGeom prst="rect">
            <a:avLst/>
          </a:prstGeom>
          <a:noFill/>
          <a:ln/>
        </p:spPr>
        <p:txBody>
          <a:bodyPr wrap="square" lIns="0" tIns="0" rIns="0" bIns="0" rtlCol="0" anchor="t"/>
          <a:lstStyle/>
          <a:p>
            <a:pPr indent="0" marL="0">
              <a:buNone/>
            </a:pPr>
            <a:r>
              <a:rPr lang="en-US" sz="2400" b="1" dirty="0">
                <a:solidFill>
                  <a:schemeClr val="accent2"/>
                </a:solidFill>
              </a:rPr>
              <a:t>2019</a:t>
            </a:r>
            <a:endParaRPr lang="en-US" sz="2400" dirty="0"/>
          </a:p>
        </p:txBody>
      </p:sp>
      <p:sp>
        <p:nvSpPr>
          <p:cNvPr id="9" name="Text 6"/>
          <p:cNvSpPr txBox="1"/>
          <p:nvPr/>
        </p:nvSpPr>
        <p:spPr>
          <a:xfrm>
            <a:off x="8046720" y="3017520"/>
            <a:ext cx="3456432" cy="594360"/>
          </a:xfrm>
          <a:prstGeom prst="rect">
            <a:avLst/>
          </a:prstGeom>
          <a:noFill/>
          <a:ln/>
        </p:spPr>
        <p:txBody>
          <a:bodyPr wrap="square" lIns="0" tIns="0" rIns="0" bIns="0" rtlCol="0" anchor="t"/>
          <a:lstStyle/>
          <a:p>
            <a:pPr indent="0" marL="0">
              <a:buNone/>
            </a:pPr>
            <a:r>
              <a:rPr lang="en-US" sz="1500" dirty="0">
                <a:solidFill>
                  <a:schemeClr val="accent6"/>
                </a:solidFill>
              </a:rPr>
              <a:t>Peak: more than 1 in 4 high-schoolers vape</a:t>
            </a:r>
            <a:endParaRPr lang="en-US" sz="1500" dirty="0"/>
          </a:p>
        </p:txBody>
      </p:sp>
      <p:sp>
        <p:nvSpPr>
          <p:cNvPr id="10" name="Text 7"/>
          <p:cNvSpPr txBox="1"/>
          <p:nvPr/>
        </p:nvSpPr>
        <p:spPr>
          <a:xfrm>
            <a:off x="8046720" y="3703320"/>
            <a:ext cx="3456432" cy="457200"/>
          </a:xfrm>
          <a:prstGeom prst="rect">
            <a:avLst/>
          </a:prstGeom>
          <a:noFill/>
          <a:ln/>
        </p:spPr>
        <p:txBody>
          <a:bodyPr wrap="square" lIns="0" tIns="0" rIns="0" bIns="0" rtlCol="0" anchor="t"/>
          <a:lstStyle/>
          <a:p>
            <a:pPr indent="0" marL="0">
              <a:buNone/>
            </a:pPr>
            <a:r>
              <a:rPr lang="en-US" sz="2400" b="1" dirty="0">
                <a:solidFill>
                  <a:schemeClr val="accent1"/>
                </a:solidFill>
              </a:rPr>
              <a:t>2020</a:t>
            </a:r>
            <a:endParaRPr lang="en-US" sz="2400" dirty="0"/>
          </a:p>
        </p:txBody>
      </p:sp>
      <p:sp>
        <p:nvSpPr>
          <p:cNvPr id="11" name="Text 8"/>
          <p:cNvSpPr txBox="1"/>
          <p:nvPr/>
        </p:nvSpPr>
        <p:spPr>
          <a:xfrm>
            <a:off x="8046720" y="4160520"/>
            <a:ext cx="3456432" cy="594360"/>
          </a:xfrm>
          <a:prstGeom prst="rect">
            <a:avLst/>
          </a:prstGeom>
          <a:noFill/>
          <a:ln/>
        </p:spPr>
        <p:txBody>
          <a:bodyPr wrap="square" lIns="0" tIns="0" rIns="0" bIns="0" rtlCol="0" anchor="t"/>
          <a:lstStyle/>
          <a:p>
            <a:pPr indent="0" marL="0">
              <a:buNone/>
            </a:pPr>
            <a:r>
              <a:rPr lang="en-US" sz="1500" dirty="0">
                <a:solidFill>
                  <a:schemeClr val="accent6"/>
                </a:solidFill>
              </a:rPr>
              <a:t>FDA restricts flavoured cartridges, and use falls</a:t>
            </a:r>
            <a:endParaRPr lang="en-US" sz="1500" dirty="0"/>
          </a:p>
        </p:txBody>
      </p:sp>
      <p:sp>
        <p:nvSpPr>
          <p:cNvPr id="12" name="Text 9"/>
          <p:cNvSpPr txBox="1"/>
          <p:nvPr/>
        </p:nvSpPr>
        <p:spPr>
          <a:xfrm>
            <a:off x="914400" y="5349240"/>
            <a:ext cx="10588752" cy="731520"/>
          </a:xfrm>
          <a:prstGeom prst="rect">
            <a:avLst/>
          </a:prstGeom>
          <a:solidFill>
            <a:schemeClr val="accent1"/>
          </a:solidFill>
          <a:ln/>
        </p:spPr>
        <p:txBody>
          <a:bodyPr wrap="square" lIns="203200" tIns="203200" rIns="203200" bIns="203200" rtlCol="0" anchor="ctr"/>
          <a:lstStyle/>
          <a:p>
            <a:pPr indent="0" marL="0">
              <a:buNone/>
            </a:pPr>
            <a:r>
              <a:rPr lang="en-US" sz="1700" b="1" dirty="0">
                <a:solidFill>
                  <a:schemeClr val="bg1"/>
                </a:solidFill>
              </a:rPr>
              <a:t>Today: </a:t>
            </a:r>
            <a:pPr indent="0" marL="0">
              <a:buNone/>
            </a:pPr>
            <a:r>
              <a:rPr lang="en-US" sz="1700" b="1" dirty="0">
                <a:solidFill>
                  <a:srgbClr val="F2B8B8"/>
                </a:solidFill>
              </a:rPr>
              <a:t>~9 in 10 young vapers use flavours.</a:t>
            </a:r>
            <a:pPr indent="0" marL="0">
              <a:buNone/>
            </a:pPr>
            <a:r>
              <a:rPr lang="en-US" sz="1700" b="1" dirty="0">
                <a:solidFill>
                  <a:schemeClr val="bg1"/>
                </a:solidFill>
              </a:rPr>
              <a:t>  Worldwide, 15 million kids aged 13–15 vape.</a:t>
            </a:r>
            <a:endParaRPr lang="en-US" sz="17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Chapter 3  ·  The new door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Why vapes speak to kids</a:t>
            </a:r>
            <a:endParaRPr lang="en-US" sz="2600" dirty="0"/>
          </a:p>
        </p:txBody>
      </p:sp>
      <p:sp>
        <p:nvSpPr>
          <p:cNvPr id="4" name="Shape 2"/>
          <p:cNvSpPr/>
          <p:nvPr/>
        </p:nvSpPr>
        <p:spPr>
          <a:xfrm>
            <a:off x="914400" y="1417320"/>
            <a:ext cx="2441448" cy="2743200"/>
          </a:xfrm>
          <a:prstGeom prst="rect">
            <a:avLst/>
          </a:prstGeom>
          <a:solidFill>
            <a:schemeClr val="bg1"/>
          </a:solidFill>
          <a:ln w="12700">
            <a:solidFill>
              <a:schemeClr val="accent4"/>
            </a:solidFill>
            <a:prstDash val="solid"/>
          </a:ln>
        </p:spPr>
      </p:sp>
      <p:sp>
        <p:nvSpPr>
          <p:cNvPr id="5" name="Shape 3"/>
          <p:cNvSpPr/>
          <p:nvPr/>
        </p:nvSpPr>
        <p:spPr>
          <a:xfrm>
            <a:off x="1234440" y="1691640"/>
            <a:ext cx="685800" cy="68580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1405890" y="1863090"/>
            <a:ext cx="342900" cy="342900"/>
          </a:xfrm>
          <a:prstGeom prst="rect">
            <a:avLst/>
          </a:prstGeom>
        </p:spPr>
      </p:pic>
      <p:sp>
        <p:nvSpPr>
          <p:cNvPr id="7" name="Text 4"/>
          <p:cNvSpPr txBox="1"/>
          <p:nvPr/>
        </p:nvSpPr>
        <p:spPr>
          <a:xfrm>
            <a:off x="1234440" y="2560320"/>
            <a:ext cx="1801368" cy="411480"/>
          </a:xfrm>
          <a:prstGeom prst="rect">
            <a:avLst/>
          </a:prstGeom>
          <a:noFill/>
          <a:ln/>
        </p:spPr>
        <p:txBody>
          <a:bodyPr wrap="square" lIns="0" tIns="0" rIns="0" bIns="0" rtlCol="0" anchor="t"/>
          <a:lstStyle/>
          <a:p>
            <a:pPr indent="0" marL="0">
              <a:buNone/>
            </a:pPr>
            <a:r>
              <a:rPr lang="en-US" sz="2000" b="1" dirty="0">
                <a:solidFill>
                  <a:schemeClr val="accent2"/>
                </a:solidFill>
              </a:rPr>
              <a:t>Flavours</a:t>
            </a:r>
            <a:endParaRPr lang="en-US" sz="2000" dirty="0"/>
          </a:p>
        </p:txBody>
      </p:sp>
      <p:sp>
        <p:nvSpPr>
          <p:cNvPr id="8" name="Text 5"/>
          <p:cNvSpPr txBox="1"/>
          <p:nvPr/>
        </p:nvSpPr>
        <p:spPr>
          <a:xfrm>
            <a:off x="1234440" y="3017520"/>
            <a:ext cx="1801368" cy="1005840"/>
          </a:xfrm>
          <a:prstGeom prst="rect">
            <a:avLst/>
          </a:prstGeom>
          <a:noFill/>
          <a:ln/>
        </p:spPr>
        <p:txBody>
          <a:bodyPr wrap="square" lIns="0" tIns="0" rIns="0" bIns="0" rtlCol="0" anchor="t"/>
          <a:lstStyle/>
          <a:p>
            <a:pPr indent="0" marL="0">
              <a:buNone/>
            </a:pPr>
            <a:r>
              <a:rPr lang="en-US" sz="1600" dirty="0">
                <a:solidFill>
                  <a:schemeClr val="accent6"/>
                </a:solidFill>
              </a:rPr>
              <a:t>Bubblegum, mango, cotton candy</a:t>
            </a:r>
            <a:endParaRPr lang="en-US" sz="1600" dirty="0"/>
          </a:p>
        </p:txBody>
      </p:sp>
      <p:sp>
        <p:nvSpPr>
          <p:cNvPr id="9" name="Shape 6"/>
          <p:cNvSpPr/>
          <p:nvPr/>
        </p:nvSpPr>
        <p:spPr>
          <a:xfrm>
            <a:off x="3630168" y="1417320"/>
            <a:ext cx="2441448" cy="2743200"/>
          </a:xfrm>
          <a:prstGeom prst="rect">
            <a:avLst/>
          </a:prstGeom>
          <a:solidFill>
            <a:schemeClr val="bg1"/>
          </a:solidFill>
          <a:ln w="12700">
            <a:solidFill>
              <a:schemeClr val="accent4"/>
            </a:solidFill>
            <a:prstDash val="solid"/>
          </a:ln>
        </p:spPr>
      </p:sp>
      <p:sp>
        <p:nvSpPr>
          <p:cNvPr id="10" name="Shape 7"/>
          <p:cNvSpPr/>
          <p:nvPr/>
        </p:nvSpPr>
        <p:spPr>
          <a:xfrm>
            <a:off x="3950208" y="1691640"/>
            <a:ext cx="685800" cy="685800"/>
          </a:xfrm>
          <a:prstGeom prst="ellipse">
            <a:avLst/>
          </a:prstGeom>
          <a:solidFill>
            <a:schemeClr val="accent1"/>
          </a:solidFill>
          <a:ln w="1270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4121658" y="1863090"/>
            <a:ext cx="342900" cy="342900"/>
          </a:xfrm>
          <a:prstGeom prst="rect">
            <a:avLst/>
          </a:prstGeom>
        </p:spPr>
      </p:pic>
      <p:sp>
        <p:nvSpPr>
          <p:cNvPr id="12" name="Text 8"/>
          <p:cNvSpPr txBox="1"/>
          <p:nvPr/>
        </p:nvSpPr>
        <p:spPr>
          <a:xfrm>
            <a:off x="3950208" y="2560320"/>
            <a:ext cx="1801368" cy="411480"/>
          </a:xfrm>
          <a:prstGeom prst="rect">
            <a:avLst/>
          </a:prstGeom>
          <a:noFill/>
          <a:ln/>
        </p:spPr>
        <p:txBody>
          <a:bodyPr wrap="square" lIns="0" tIns="0" rIns="0" bIns="0" rtlCol="0" anchor="t"/>
          <a:lstStyle/>
          <a:p>
            <a:pPr indent="0" marL="0">
              <a:buNone/>
            </a:pPr>
            <a:r>
              <a:rPr lang="en-US" sz="2000" b="1" dirty="0">
                <a:solidFill>
                  <a:schemeClr val="accent1"/>
                </a:solidFill>
              </a:rPr>
              <a:t>Design</a:t>
            </a:r>
            <a:endParaRPr lang="en-US" sz="2000" dirty="0"/>
          </a:p>
        </p:txBody>
      </p:sp>
      <p:sp>
        <p:nvSpPr>
          <p:cNvPr id="13" name="Text 9"/>
          <p:cNvSpPr txBox="1"/>
          <p:nvPr/>
        </p:nvSpPr>
        <p:spPr>
          <a:xfrm>
            <a:off x="3950208" y="3017520"/>
            <a:ext cx="1801368" cy="1005840"/>
          </a:xfrm>
          <a:prstGeom prst="rect">
            <a:avLst/>
          </a:prstGeom>
          <a:noFill/>
          <a:ln/>
        </p:spPr>
        <p:txBody>
          <a:bodyPr wrap="square" lIns="0" tIns="0" rIns="0" bIns="0" rtlCol="0" anchor="t"/>
          <a:lstStyle/>
          <a:p>
            <a:pPr indent="0" marL="0">
              <a:buNone/>
            </a:pPr>
            <a:r>
              <a:rPr lang="en-US" sz="1600" dirty="0">
                <a:solidFill>
                  <a:schemeClr val="accent6"/>
                </a:solidFill>
              </a:rPr>
              <a:t>Colourful, looks like a USB stick, easy to hide</a:t>
            </a:r>
            <a:endParaRPr lang="en-US" sz="1600" dirty="0"/>
          </a:p>
        </p:txBody>
      </p:sp>
      <p:sp>
        <p:nvSpPr>
          <p:cNvPr id="14" name="Shape 10"/>
          <p:cNvSpPr/>
          <p:nvPr/>
        </p:nvSpPr>
        <p:spPr>
          <a:xfrm>
            <a:off x="6345936" y="1417320"/>
            <a:ext cx="2441448" cy="2743200"/>
          </a:xfrm>
          <a:prstGeom prst="rect">
            <a:avLst/>
          </a:prstGeom>
          <a:solidFill>
            <a:schemeClr val="bg1"/>
          </a:solidFill>
          <a:ln w="12700">
            <a:solidFill>
              <a:schemeClr val="accent4"/>
            </a:solidFill>
            <a:prstDash val="solid"/>
          </a:ln>
        </p:spPr>
      </p:sp>
      <p:sp>
        <p:nvSpPr>
          <p:cNvPr id="15" name="Shape 11"/>
          <p:cNvSpPr/>
          <p:nvPr/>
        </p:nvSpPr>
        <p:spPr>
          <a:xfrm>
            <a:off x="6665976" y="1691640"/>
            <a:ext cx="685800" cy="68580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6837426" y="1863090"/>
            <a:ext cx="342900" cy="342900"/>
          </a:xfrm>
          <a:prstGeom prst="rect">
            <a:avLst/>
          </a:prstGeom>
        </p:spPr>
      </p:pic>
      <p:sp>
        <p:nvSpPr>
          <p:cNvPr id="17" name="Text 12"/>
          <p:cNvSpPr txBox="1"/>
          <p:nvPr/>
        </p:nvSpPr>
        <p:spPr>
          <a:xfrm>
            <a:off x="6665976" y="2560320"/>
            <a:ext cx="1801368" cy="411480"/>
          </a:xfrm>
          <a:prstGeom prst="rect">
            <a:avLst/>
          </a:prstGeom>
          <a:noFill/>
          <a:ln/>
        </p:spPr>
        <p:txBody>
          <a:bodyPr wrap="square" lIns="0" tIns="0" rIns="0" bIns="0" rtlCol="0" anchor="t"/>
          <a:lstStyle/>
          <a:p>
            <a:pPr indent="0" marL="0">
              <a:buNone/>
            </a:pPr>
            <a:r>
              <a:rPr lang="en-US" sz="2000" b="1" dirty="0">
                <a:solidFill>
                  <a:schemeClr val="accent1"/>
                </a:solidFill>
              </a:rPr>
              <a:t>Social media</a:t>
            </a:r>
            <a:endParaRPr lang="en-US" sz="2000" dirty="0"/>
          </a:p>
        </p:txBody>
      </p:sp>
      <p:sp>
        <p:nvSpPr>
          <p:cNvPr id="18" name="Text 13"/>
          <p:cNvSpPr txBox="1"/>
          <p:nvPr/>
        </p:nvSpPr>
        <p:spPr>
          <a:xfrm>
            <a:off x="6665976" y="3017520"/>
            <a:ext cx="1801368" cy="1005840"/>
          </a:xfrm>
          <a:prstGeom prst="rect">
            <a:avLst/>
          </a:prstGeom>
          <a:noFill/>
          <a:ln/>
        </p:spPr>
        <p:txBody>
          <a:bodyPr wrap="square" lIns="0" tIns="0" rIns="0" bIns="0" rtlCol="0" anchor="t"/>
          <a:lstStyle/>
          <a:p>
            <a:pPr indent="0" marL="0">
              <a:buNone/>
            </a:pPr>
            <a:r>
              <a:rPr lang="en-US" sz="1600" dirty="0">
                <a:solidFill>
                  <a:schemeClr val="accent6"/>
                </a:solidFill>
              </a:rPr>
              <a:t>Influencers and TikTok, not TV</a:t>
            </a:r>
            <a:endParaRPr lang="en-US" sz="1600" dirty="0"/>
          </a:p>
        </p:txBody>
      </p:sp>
      <p:sp>
        <p:nvSpPr>
          <p:cNvPr id="19" name="Shape 14"/>
          <p:cNvSpPr/>
          <p:nvPr/>
        </p:nvSpPr>
        <p:spPr>
          <a:xfrm>
            <a:off x="9061704" y="1417320"/>
            <a:ext cx="2441448" cy="2743200"/>
          </a:xfrm>
          <a:prstGeom prst="rect">
            <a:avLst/>
          </a:prstGeom>
          <a:solidFill>
            <a:schemeClr val="bg1"/>
          </a:solidFill>
          <a:ln w="12700">
            <a:solidFill>
              <a:schemeClr val="accent4"/>
            </a:solidFill>
            <a:prstDash val="solid"/>
          </a:ln>
        </p:spPr>
      </p:sp>
      <p:sp>
        <p:nvSpPr>
          <p:cNvPr id="20" name="Shape 15"/>
          <p:cNvSpPr/>
          <p:nvPr/>
        </p:nvSpPr>
        <p:spPr>
          <a:xfrm>
            <a:off x="9381744" y="1691640"/>
            <a:ext cx="685800" cy="685800"/>
          </a:xfrm>
          <a:prstGeom prst="ellipse">
            <a:avLst/>
          </a:prstGeom>
          <a:solidFill>
            <a:schemeClr val="accent1"/>
          </a:solidFill>
          <a:ln w="12700">
            <a:solidFill>
              <a:schemeClr val="accent1"/>
            </a:solidFill>
            <a:prstDash val="solid"/>
          </a:ln>
        </p:spPr>
      </p:sp>
      <p:pic>
        <p:nvPicPr>
          <p:cNvPr id="21" name="Image 3" descr="preencoded.png">    </p:cNvPr>
          <p:cNvPicPr>
            <a:picLocks noChangeAspect="1"/>
          </p:cNvPicPr>
          <p:nvPr/>
        </p:nvPicPr>
        <p:blipFill>
          <a:blip r:embed="rId4"/>
          <a:stretch>
            <a:fillRect/>
          </a:stretch>
        </p:blipFill>
        <p:spPr>
          <a:xfrm>
            <a:off x="9553194" y="1863090"/>
            <a:ext cx="342900" cy="342900"/>
          </a:xfrm>
          <a:prstGeom prst="rect">
            <a:avLst/>
          </a:prstGeom>
        </p:spPr>
      </p:pic>
      <p:sp>
        <p:nvSpPr>
          <p:cNvPr id="22" name="Text 16"/>
          <p:cNvSpPr txBox="1"/>
          <p:nvPr/>
        </p:nvSpPr>
        <p:spPr>
          <a:xfrm>
            <a:off x="9381744" y="2560320"/>
            <a:ext cx="1801368" cy="411480"/>
          </a:xfrm>
          <a:prstGeom prst="rect">
            <a:avLst/>
          </a:prstGeom>
          <a:noFill/>
          <a:ln/>
        </p:spPr>
        <p:txBody>
          <a:bodyPr wrap="square" lIns="0" tIns="0" rIns="0" bIns="0" rtlCol="0" anchor="t"/>
          <a:lstStyle/>
          <a:p>
            <a:pPr indent="0" marL="0">
              <a:buNone/>
            </a:pPr>
            <a:r>
              <a:rPr lang="en-US" sz="2000" b="1" dirty="0">
                <a:solidFill>
                  <a:schemeClr val="accent1"/>
                </a:solidFill>
              </a:rPr>
              <a:t>Price</a:t>
            </a:r>
            <a:endParaRPr lang="en-US" sz="2000" dirty="0"/>
          </a:p>
        </p:txBody>
      </p:sp>
      <p:sp>
        <p:nvSpPr>
          <p:cNvPr id="23" name="Text 17"/>
          <p:cNvSpPr txBox="1"/>
          <p:nvPr/>
        </p:nvSpPr>
        <p:spPr>
          <a:xfrm>
            <a:off x="9381744" y="3017520"/>
            <a:ext cx="1801368" cy="1005840"/>
          </a:xfrm>
          <a:prstGeom prst="rect">
            <a:avLst/>
          </a:prstGeom>
          <a:noFill/>
          <a:ln/>
        </p:spPr>
        <p:txBody>
          <a:bodyPr wrap="square" lIns="0" tIns="0" rIns="0" bIns="0" rtlCol="0" anchor="t"/>
          <a:lstStyle/>
          <a:p>
            <a:pPr indent="0" marL="0">
              <a:buNone/>
            </a:pPr>
            <a:r>
              <a:rPr lang="en-US" sz="1600" dirty="0">
                <a:solidFill>
                  <a:schemeClr val="accent6"/>
                </a:solidFill>
              </a:rPr>
              <a:t>Cheap disposables sold at every kiosk</a:t>
            </a:r>
            <a:endParaRPr lang="en-US" sz="1600" dirty="0"/>
          </a:p>
        </p:txBody>
      </p:sp>
      <p:sp>
        <p:nvSpPr>
          <p:cNvPr id="24" name="Text 18"/>
          <p:cNvSpPr txBox="1"/>
          <p:nvPr/>
        </p:nvSpPr>
        <p:spPr>
          <a:xfrm>
            <a:off x="914400" y="4434840"/>
            <a:ext cx="10588752" cy="914400"/>
          </a:xfrm>
          <a:prstGeom prst="rect">
            <a:avLst/>
          </a:prstGeom>
          <a:solidFill>
            <a:schemeClr val="accent1"/>
          </a:solidFill>
          <a:ln/>
        </p:spPr>
        <p:txBody>
          <a:bodyPr wrap="square" lIns="203200" tIns="203200" rIns="203200" bIns="203200" rtlCol="0" anchor="ctr"/>
          <a:lstStyle/>
          <a:p>
            <a:pPr indent="0" marL="0">
              <a:buNone/>
            </a:pPr>
            <a:r>
              <a:rPr lang="en-US" sz="3000" b="1" dirty="0">
                <a:solidFill>
                  <a:schemeClr val="bg1"/>
                </a:solidFill>
              </a:rPr>
              <a:t>$462 million</a:t>
            </a:r>
            <a:pPr indent="0" marL="0">
              <a:buNone/>
            </a:pPr>
            <a:r>
              <a:rPr lang="en-US" sz="1700" dirty="0">
                <a:solidFill>
                  <a:schemeClr val="bg1"/>
                </a:solidFill>
              </a:rPr>
              <a:t>   paid by JUUL (2023) to US states over marketing to young people</a:t>
            </a:r>
            <a:endParaRPr lang="en-US" sz="3000" dirty="0"/>
          </a:p>
        </p:txBody>
      </p:sp>
      <p:sp>
        <p:nvSpPr>
          <p:cNvPr id="25" name="Text 19"/>
          <p:cNvSpPr txBox="1"/>
          <p:nvPr/>
        </p:nvSpPr>
        <p:spPr>
          <a:xfrm>
            <a:off x="914400" y="5532120"/>
            <a:ext cx="10588752" cy="365760"/>
          </a:xfrm>
          <a:prstGeom prst="rect">
            <a:avLst/>
          </a:prstGeom>
          <a:noFill/>
          <a:ln/>
        </p:spPr>
        <p:txBody>
          <a:bodyPr wrap="square" lIns="0" tIns="0" rIns="0" bIns="0" rtlCol="0" anchor="t"/>
          <a:lstStyle/>
          <a:p>
            <a:pPr indent="0" marL="0">
              <a:buNone/>
            </a:pPr>
            <a:r>
              <a:rPr lang="en-US" sz="1600" b="1" i="1" dirty="0">
                <a:solidFill>
                  <a:schemeClr val="accent2"/>
                </a:solidFill>
              </a:rPr>
              <a:t>The Joe Camel playbook, moved to a new channel: the phone.</a:t>
            </a:r>
            <a:endParaRPr lang="en-US" sz="16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What marketers learned</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Marketing without advertising: the 4Ps</a:t>
            </a:r>
            <a:endParaRPr lang="en-US" sz="2600" dirty="0"/>
          </a:p>
        </p:txBody>
      </p:sp>
      <p:sp>
        <p:nvSpPr>
          <p:cNvPr id="4" name="Shape 2"/>
          <p:cNvSpPr/>
          <p:nvPr/>
        </p:nvSpPr>
        <p:spPr>
          <a:xfrm>
            <a:off x="914400" y="1417320"/>
            <a:ext cx="2441448" cy="2743200"/>
          </a:xfrm>
          <a:prstGeom prst="rect">
            <a:avLst/>
          </a:prstGeom>
          <a:solidFill>
            <a:schemeClr val="bg2"/>
          </a:solidFill>
          <a:ln w="12700">
            <a:solidFill>
              <a:schemeClr val="bg2"/>
            </a:solidFill>
            <a:prstDash val="solid"/>
          </a:ln>
        </p:spPr>
      </p:sp>
      <p:sp>
        <p:nvSpPr>
          <p:cNvPr id="5" name="Shape 3"/>
          <p:cNvSpPr/>
          <p:nvPr/>
        </p:nvSpPr>
        <p:spPr>
          <a:xfrm>
            <a:off x="1234440" y="1691640"/>
            <a:ext cx="685800" cy="68580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405890" y="1863090"/>
            <a:ext cx="342900" cy="342900"/>
          </a:xfrm>
          <a:prstGeom prst="rect">
            <a:avLst/>
          </a:prstGeom>
        </p:spPr>
      </p:pic>
      <p:sp>
        <p:nvSpPr>
          <p:cNvPr id="7" name="Text 4"/>
          <p:cNvSpPr txBox="1"/>
          <p:nvPr/>
        </p:nvSpPr>
        <p:spPr>
          <a:xfrm>
            <a:off x="1234440" y="2560320"/>
            <a:ext cx="1801368" cy="411480"/>
          </a:xfrm>
          <a:prstGeom prst="rect">
            <a:avLst/>
          </a:prstGeom>
          <a:noFill/>
          <a:ln/>
        </p:spPr>
        <p:txBody>
          <a:bodyPr wrap="square" lIns="0" tIns="0" rIns="0" bIns="0" rtlCol="0" anchor="t"/>
          <a:lstStyle/>
          <a:p>
            <a:pPr indent="0" marL="0">
              <a:buNone/>
            </a:pPr>
            <a:r>
              <a:rPr lang="en-US" sz="2000" b="1" dirty="0">
                <a:solidFill>
                  <a:schemeClr val="accent1"/>
                </a:solidFill>
              </a:rPr>
              <a:t>Product</a:t>
            </a:r>
            <a:endParaRPr lang="en-US" sz="2000" dirty="0"/>
          </a:p>
        </p:txBody>
      </p:sp>
      <p:sp>
        <p:nvSpPr>
          <p:cNvPr id="8" name="Text 5"/>
          <p:cNvSpPr txBox="1"/>
          <p:nvPr/>
        </p:nvSpPr>
        <p:spPr>
          <a:xfrm>
            <a:off x="1234440" y="3017520"/>
            <a:ext cx="1801368" cy="1005840"/>
          </a:xfrm>
          <a:prstGeom prst="rect">
            <a:avLst/>
          </a:prstGeom>
          <a:noFill/>
          <a:ln/>
        </p:spPr>
        <p:txBody>
          <a:bodyPr wrap="square" lIns="0" tIns="0" rIns="0" bIns="0" rtlCol="0" anchor="t"/>
          <a:lstStyle/>
          <a:p>
            <a:pPr indent="0" marL="0">
              <a:buNone/>
            </a:pPr>
            <a:r>
              <a:rPr lang="en-US" sz="1600" dirty="0">
                <a:solidFill>
                  <a:schemeClr val="accent6"/>
                </a:solidFill>
              </a:rPr>
              <a:t>New formats: capsules, vapes, pouches</a:t>
            </a:r>
            <a:endParaRPr lang="en-US" sz="1600" dirty="0"/>
          </a:p>
        </p:txBody>
      </p:sp>
      <p:sp>
        <p:nvSpPr>
          <p:cNvPr id="9" name="Shape 6"/>
          <p:cNvSpPr/>
          <p:nvPr/>
        </p:nvSpPr>
        <p:spPr>
          <a:xfrm>
            <a:off x="3630168" y="1417320"/>
            <a:ext cx="2441448" cy="2743200"/>
          </a:xfrm>
          <a:prstGeom prst="rect">
            <a:avLst/>
          </a:prstGeom>
          <a:solidFill>
            <a:schemeClr val="bg2"/>
          </a:solidFill>
          <a:ln w="12700">
            <a:solidFill>
              <a:schemeClr val="bg2"/>
            </a:solidFill>
            <a:prstDash val="solid"/>
          </a:ln>
        </p:spPr>
      </p:sp>
      <p:sp>
        <p:nvSpPr>
          <p:cNvPr id="10" name="Shape 7"/>
          <p:cNvSpPr/>
          <p:nvPr/>
        </p:nvSpPr>
        <p:spPr>
          <a:xfrm>
            <a:off x="3950208" y="1691640"/>
            <a:ext cx="685800" cy="685800"/>
          </a:xfrm>
          <a:prstGeom prst="ellipse">
            <a:avLst/>
          </a:prstGeom>
          <a:solidFill>
            <a:schemeClr val="accent1"/>
          </a:solidFill>
          <a:ln w="1270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4121658" y="1863090"/>
            <a:ext cx="342900" cy="342900"/>
          </a:xfrm>
          <a:prstGeom prst="rect">
            <a:avLst/>
          </a:prstGeom>
        </p:spPr>
      </p:pic>
      <p:sp>
        <p:nvSpPr>
          <p:cNvPr id="12" name="Text 8"/>
          <p:cNvSpPr txBox="1"/>
          <p:nvPr/>
        </p:nvSpPr>
        <p:spPr>
          <a:xfrm>
            <a:off x="3950208" y="2560320"/>
            <a:ext cx="1801368" cy="411480"/>
          </a:xfrm>
          <a:prstGeom prst="rect">
            <a:avLst/>
          </a:prstGeom>
          <a:noFill/>
          <a:ln/>
        </p:spPr>
        <p:txBody>
          <a:bodyPr wrap="square" lIns="0" tIns="0" rIns="0" bIns="0" rtlCol="0" anchor="t"/>
          <a:lstStyle/>
          <a:p>
            <a:pPr indent="0" marL="0">
              <a:buNone/>
            </a:pPr>
            <a:r>
              <a:rPr lang="en-US" sz="2000" b="1" dirty="0">
                <a:solidFill>
                  <a:schemeClr val="accent1"/>
                </a:solidFill>
              </a:rPr>
              <a:t>Price</a:t>
            </a:r>
            <a:endParaRPr lang="en-US" sz="2000" dirty="0"/>
          </a:p>
        </p:txBody>
      </p:sp>
      <p:sp>
        <p:nvSpPr>
          <p:cNvPr id="13" name="Text 9"/>
          <p:cNvSpPr txBox="1"/>
          <p:nvPr/>
        </p:nvSpPr>
        <p:spPr>
          <a:xfrm>
            <a:off x="3950208" y="3017520"/>
            <a:ext cx="1801368" cy="1005840"/>
          </a:xfrm>
          <a:prstGeom prst="rect">
            <a:avLst/>
          </a:prstGeom>
          <a:noFill/>
          <a:ln/>
        </p:spPr>
        <p:txBody>
          <a:bodyPr wrap="square" lIns="0" tIns="0" rIns="0" bIns="0" rtlCol="0" anchor="t"/>
          <a:lstStyle/>
          <a:p>
            <a:pPr indent="0" marL="0">
              <a:buNone/>
            </a:pPr>
            <a:r>
              <a:rPr lang="en-US" sz="1600" dirty="0">
                <a:solidFill>
                  <a:schemeClr val="accent6"/>
                </a:solidFill>
              </a:rPr>
              <a:t>Single sticks and cheap disposables</a:t>
            </a:r>
            <a:endParaRPr lang="en-US" sz="1600" dirty="0"/>
          </a:p>
        </p:txBody>
      </p:sp>
      <p:sp>
        <p:nvSpPr>
          <p:cNvPr id="14" name="Shape 10"/>
          <p:cNvSpPr/>
          <p:nvPr/>
        </p:nvSpPr>
        <p:spPr>
          <a:xfrm>
            <a:off x="6345936" y="1417320"/>
            <a:ext cx="2441448" cy="2743200"/>
          </a:xfrm>
          <a:prstGeom prst="rect">
            <a:avLst/>
          </a:prstGeom>
          <a:solidFill>
            <a:schemeClr val="bg2"/>
          </a:solidFill>
          <a:ln w="12700">
            <a:solidFill>
              <a:schemeClr val="bg2"/>
            </a:solidFill>
            <a:prstDash val="solid"/>
          </a:ln>
        </p:spPr>
      </p:sp>
      <p:sp>
        <p:nvSpPr>
          <p:cNvPr id="15" name="Shape 11"/>
          <p:cNvSpPr/>
          <p:nvPr/>
        </p:nvSpPr>
        <p:spPr>
          <a:xfrm>
            <a:off x="6665976" y="1691640"/>
            <a:ext cx="685800" cy="68580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6837426" y="1863090"/>
            <a:ext cx="342900" cy="342900"/>
          </a:xfrm>
          <a:prstGeom prst="rect">
            <a:avLst/>
          </a:prstGeom>
        </p:spPr>
      </p:pic>
      <p:sp>
        <p:nvSpPr>
          <p:cNvPr id="17" name="Text 12"/>
          <p:cNvSpPr txBox="1"/>
          <p:nvPr/>
        </p:nvSpPr>
        <p:spPr>
          <a:xfrm>
            <a:off x="6665976" y="2560320"/>
            <a:ext cx="1801368" cy="411480"/>
          </a:xfrm>
          <a:prstGeom prst="rect">
            <a:avLst/>
          </a:prstGeom>
          <a:noFill/>
          <a:ln/>
        </p:spPr>
        <p:txBody>
          <a:bodyPr wrap="square" lIns="0" tIns="0" rIns="0" bIns="0" rtlCol="0" anchor="t"/>
          <a:lstStyle/>
          <a:p>
            <a:pPr indent="0" marL="0">
              <a:buNone/>
            </a:pPr>
            <a:r>
              <a:rPr lang="en-US" sz="2000" b="1" dirty="0">
                <a:solidFill>
                  <a:schemeClr val="accent1"/>
                </a:solidFill>
              </a:rPr>
              <a:t>Place</a:t>
            </a:r>
            <a:endParaRPr lang="en-US" sz="2000" dirty="0"/>
          </a:p>
        </p:txBody>
      </p:sp>
      <p:sp>
        <p:nvSpPr>
          <p:cNvPr id="18" name="Text 13"/>
          <p:cNvSpPr txBox="1"/>
          <p:nvPr/>
        </p:nvSpPr>
        <p:spPr>
          <a:xfrm>
            <a:off x="6665976" y="3017520"/>
            <a:ext cx="1801368" cy="1005840"/>
          </a:xfrm>
          <a:prstGeom prst="rect">
            <a:avLst/>
          </a:prstGeom>
          <a:noFill/>
          <a:ln/>
        </p:spPr>
        <p:txBody>
          <a:bodyPr wrap="square" lIns="0" tIns="0" rIns="0" bIns="0" rtlCol="0" anchor="t"/>
          <a:lstStyle/>
          <a:p>
            <a:pPr indent="0" marL="0">
              <a:buNone/>
            </a:pPr>
            <a:r>
              <a:rPr lang="en-US" sz="1600" dirty="0">
                <a:solidFill>
                  <a:schemeClr val="accent6"/>
                </a:solidFill>
              </a:rPr>
              <a:t>Kiosks, shop displays, duty-free, online</a:t>
            </a:r>
            <a:endParaRPr lang="en-US" sz="1600" dirty="0"/>
          </a:p>
        </p:txBody>
      </p:sp>
      <p:sp>
        <p:nvSpPr>
          <p:cNvPr id="19" name="Shape 14"/>
          <p:cNvSpPr/>
          <p:nvPr/>
        </p:nvSpPr>
        <p:spPr>
          <a:xfrm>
            <a:off x="9061704" y="1417320"/>
            <a:ext cx="2441448" cy="2743200"/>
          </a:xfrm>
          <a:prstGeom prst="rect">
            <a:avLst/>
          </a:prstGeom>
          <a:solidFill>
            <a:schemeClr val="bg2"/>
          </a:solidFill>
          <a:ln w="12700">
            <a:solidFill>
              <a:schemeClr val="bg2"/>
            </a:solidFill>
            <a:prstDash val="solid"/>
          </a:ln>
        </p:spPr>
      </p:sp>
      <p:sp>
        <p:nvSpPr>
          <p:cNvPr id="20" name="Shape 15"/>
          <p:cNvSpPr/>
          <p:nvPr/>
        </p:nvSpPr>
        <p:spPr>
          <a:xfrm>
            <a:off x="9381744" y="1691640"/>
            <a:ext cx="685800" cy="685800"/>
          </a:xfrm>
          <a:prstGeom prst="ellipse">
            <a:avLst/>
          </a:prstGeom>
          <a:solidFill>
            <a:schemeClr val="accent1"/>
          </a:solidFill>
          <a:ln w="12700">
            <a:solidFill>
              <a:schemeClr val="accent1"/>
            </a:solidFill>
            <a:prstDash val="solid"/>
          </a:ln>
        </p:spPr>
      </p:sp>
      <p:pic>
        <p:nvPicPr>
          <p:cNvPr id="21" name="Image 3" descr="preencoded.png">    </p:cNvPr>
          <p:cNvPicPr>
            <a:picLocks noChangeAspect="1"/>
          </p:cNvPicPr>
          <p:nvPr/>
        </p:nvPicPr>
        <p:blipFill>
          <a:blip r:embed="rId4"/>
          <a:stretch>
            <a:fillRect/>
          </a:stretch>
        </p:blipFill>
        <p:spPr>
          <a:xfrm>
            <a:off x="9553194" y="1863090"/>
            <a:ext cx="342900" cy="342900"/>
          </a:xfrm>
          <a:prstGeom prst="rect">
            <a:avLst/>
          </a:prstGeom>
        </p:spPr>
      </p:pic>
      <p:sp>
        <p:nvSpPr>
          <p:cNvPr id="22" name="Text 16"/>
          <p:cNvSpPr txBox="1"/>
          <p:nvPr/>
        </p:nvSpPr>
        <p:spPr>
          <a:xfrm>
            <a:off x="9381744" y="2560320"/>
            <a:ext cx="1801368" cy="411480"/>
          </a:xfrm>
          <a:prstGeom prst="rect">
            <a:avLst/>
          </a:prstGeom>
          <a:noFill/>
          <a:ln/>
        </p:spPr>
        <p:txBody>
          <a:bodyPr wrap="square" lIns="0" tIns="0" rIns="0" bIns="0" rtlCol="0" anchor="t"/>
          <a:lstStyle/>
          <a:p>
            <a:pPr indent="0" marL="0">
              <a:buNone/>
            </a:pPr>
            <a:r>
              <a:rPr lang="en-US" sz="2000" b="1" dirty="0">
                <a:solidFill>
                  <a:schemeClr val="accent1"/>
                </a:solidFill>
              </a:rPr>
              <a:t>Promotion</a:t>
            </a:r>
            <a:endParaRPr lang="en-US" sz="2000" dirty="0"/>
          </a:p>
        </p:txBody>
      </p:sp>
      <p:sp>
        <p:nvSpPr>
          <p:cNvPr id="23" name="Text 17"/>
          <p:cNvSpPr txBox="1"/>
          <p:nvPr/>
        </p:nvSpPr>
        <p:spPr>
          <a:xfrm>
            <a:off x="9381744" y="3017520"/>
            <a:ext cx="1801368" cy="1005840"/>
          </a:xfrm>
          <a:prstGeom prst="rect">
            <a:avLst/>
          </a:prstGeom>
          <a:noFill/>
          <a:ln/>
        </p:spPr>
        <p:txBody>
          <a:bodyPr wrap="square" lIns="0" tIns="0" rIns="0" bIns="0" rtlCol="0" anchor="t"/>
          <a:lstStyle/>
          <a:p>
            <a:pPr indent="0" marL="0">
              <a:buNone/>
            </a:pPr>
            <a:r>
              <a:rPr lang="en-US" sz="1600" dirty="0">
                <a:solidFill>
                  <a:schemeClr val="accent6"/>
                </a:solidFill>
              </a:rPr>
              <a:t>Sponsorships, influencers, the pack</a:t>
            </a:r>
            <a:endParaRPr lang="en-US" sz="1600" dirty="0"/>
          </a:p>
        </p:txBody>
      </p:sp>
      <p:sp>
        <p:nvSpPr>
          <p:cNvPr id="24" name="Text 18"/>
          <p:cNvSpPr txBox="1"/>
          <p:nvPr/>
        </p:nvSpPr>
        <p:spPr>
          <a:xfrm>
            <a:off x="914400" y="4434840"/>
            <a:ext cx="10588752" cy="365760"/>
          </a:xfrm>
          <a:prstGeom prst="rect">
            <a:avLst/>
          </a:prstGeom>
          <a:noFill/>
          <a:ln/>
        </p:spPr>
        <p:txBody>
          <a:bodyPr wrap="square" lIns="0" tIns="0" rIns="0" bIns="0" rtlCol="0" anchor="t"/>
          <a:lstStyle/>
          <a:p>
            <a:pPr indent="0" marL="0">
              <a:buNone/>
            </a:pPr>
            <a:r>
              <a:rPr lang="en-US" sz="1800" b="1" dirty="0">
                <a:solidFill>
                  <a:schemeClr val="accent1"/>
                </a:solidFill>
              </a:rPr>
              <a:t>Where promotion moved</a:t>
            </a:r>
            <a:endParaRPr lang="en-US" sz="1800" dirty="0"/>
          </a:p>
        </p:txBody>
      </p:sp>
      <p:sp>
        <p:nvSpPr>
          <p:cNvPr id="25" name="Text 19"/>
          <p:cNvSpPr txBox="1"/>
          <p:nvPr/>
        </p:nvSpPr>
        <p:spPr>
          <a:xfrm>
            <a:off x="914400" y="4983480"/>
            <a:ext cx="1417320" cy="548640"/>
          </a:xfrm>
          <a:prstGeom prst="rect">
            <a:avLst/>
          </a:prstGeom>
          <a:solidFill>
            <a:schemeClr val="bg2"/>
          </a:solidFill>
          <a:ln>
            <a:solidFill>
              <a:schemeClr val="bg2"/>
            </a:solidFill>
          </a:ln>
        </p:spPr>
        <p:txBody>
          <a:bodyPr wrap="square" lIns="0" tIns="0" rIns="0" bIns="0" rtlCol="0" anchor="ctr"/>
          <a:lstStyle/>
          <a:p>
            <a:pPr algn="ctr" indent="0" marL="0">
              <a:buNone/>
            </a:pPr>
            <a:r>
              <a:rPr lang="en-US" sz="1700" b="1" dirty="0">
                <a:solidFill>
                  <a:schemeClr val="accent3"/>
                </a:solidFill>
              </a:rPr>
              <a:t>TV</a:t>
            </a:r>
            <a:endParaRPr lang="en-US" sz="1700" dirty="0"/>
          </a:p>
        </p:txBody>
      </p:sp>
      <p:sp>
        <p:nvSpPr>
          <p:cNvPr id="26" name="Text 20"/>
          <p:cNvSpPr txBox="1"/>
          <p:nvPr/>
        </p:nvSpPr>
        <p:spPr>
          <a:xfrm>
            <a:off x="2441448" y="4983480"/>
            <a:ext cx="1417320" cy="548640"/>
          </a:xfrm>
          <a:prstGeom prst="rect">
            <a:avLst/>
          </a:prstGeom>
          <a:solidFill>
            <a:schemeClr val="bg2"/>
          </a:solidFill>
          <a:ln>
            <a:solidFill>
              <a:schemeClr val="bg2"/>
            </a:solidFill>
          </a:ln>
        </p:spPr>
        <p:txBody>
          <a:bodyPr wrap="square" lIns="0" tIns="0" rIns="0" bIns="0" rtlCol="0" anchor="ctr"/>
          <a:lstStyle/>
          <a:p>
            <a:pPr algn="ctr" indent="0" marL="0">
              <a:buNone/>
            </a:pPr>
            <a:r>
              <a:rPr lang="en-US" sz="1700" b="1" dirty="0">
                <a:solidFill>
                  <a:schemeClr val="accent3"/>
                </a:solidFill>
              </a:rPr>
              <a:t>Billboards</a:t>
            </a:r>
            <a:endParaRPr lang="en-US" sz="1700" dirty="0"/>
          </a:p>
        </p:txBody>
      </p:sp>
      <p:sp>
        <p:nvSpPr>
          <p:cNvPr id="27" name="Text 21"/>
          <p:cNvSpPr txBox="1"/>
          <p:nvPr/>
        </p:nvSpPr>
        <p:spPr>
          <a:xfrm>
            <a:off x="3968496" y="4983480"/>
            <a:ext cx="1417320" cy="548640"/>
          </a:xfrm>
          <a:prstGeom prst="rect">
            <a:avLst/>
          </a:prstGeom>
          <a:solidFill>
            <a:schemeClr val="bg2"/>
          </a:solidFill>
          <a:ln>
            <a:solidFill>
              <a:schemeClr val="bg2"/>
            </a:solidFill>
          </a:ln>
        </p:spPr>
        <p:txBody>
          <a:bodyPr wrap="square" lIns="0" tIns="0" rIns="0" bIns="0" rtlCol="0" anchor="ctr"/>
          <a:lstStyle/>
          <a:p>
            <a:pPr algn="ctr" indent="0" marL="0">
              <a:buNone/>
            </a:pPr>
            <a:r>
              <a:rPr lang="en-US" sz="1700" b="1" dirty="0">
                <a:solidFill>
                  <a:schemeClr val="accent3"/>
                </a:solidFill>
              </a:rPr>
              <a:t>Magazines</a:t>
            </a:r>
            <a:endParaRPr lang="en-US" sz="1700" dirty="0"/>
          </a:p>
        </p:txBody>
      </p:sp>
      <p:sp>
        <p:nvSpPr>
          <p:cNvPr id="28" name="Shape 22"/>
          <p:cNvSpPr/>
          <p:nvPr/>
        </p:nvSpPr>
        <p:spPr>
          <a:xfrm>
            <a:off x="5568696" y="5257800"/>
            <a:ext cx="594360" cy="0"/>
          </a:xfrm>
          <a:prstGeom prst="line">
            <a:avLst/>
          </a:prstGeom>
          <a:noFill/>
          <a:ln w="31750">
            <a:solidFill>
              <a:schemeClr val="accent2"/>
            </a:solidFill>
            <a:prstDash val="solid"/>
            <a:tailEnd type="triangle"/>
          </a:ln>
        </p:spPr>
      </p:sp>
      <p:sp>
        <p:nvSpPr>
          <p:cNvPr id="29" name="Text 23"/>
          <p:cNvSpPr txBox="1"/>
          <p:nvPr/>
        </p:nvSpPr>
        <p:spPr>
          <a:xfrm>
            <a:off x="6345936" y="4983480"/>
            <a:ext cx="1417320" cy="548640"/>
          </a:xfrm>
          <a:prstGeom prst="rect">
            <a:avLst/>
          </a:prstGeom>
          <a:solidFill>
            <a:schemeClr val="accent1"/>
          </a:solidFill>
          <a:ln>
            <a:solidFill>
              <a:schemeClr val="accent1"/>
            </a:solidFill>
          </a:ln>
        </p:spPr>
        <p:txBody>
          <a:bodyPr wrap="square" lIns="0" tIns="0" rIns="0" bIns="0" rtlCol="0" anchor="ctr"/>
          <a:lstStyle/>
          <a:p>
            <a:pPr algn="ctr" indent="0" marL="0">
              <a:buNone/>
            </a:pPr>
            <a:r>
              <a:rPr lang="en-US" sz="1700" b="1" dirty="0">
                <a:solidFill>
                  <a:schemeClr val="bg1"/>
                </a:solidFill>
              </a:rPr>
              <a:t>The pack</a:t>
            </a:r>
            <a:endParaRPr lang="en-US" sz="1700" dirty="0"/>
          </a:p>
        </p:txBody>
      </p:sp>
      <p:sp>
        <p:nvSpPr>
          <p:cNvPr id="30" name="Text 24"/>
          <p:cNvSpPr txBox="1"/>
          <p:nvPr/>
        </p:nvSpPr>
        <p:spPr>
          <a:xfrm>
            <a:off x="7872984" y="4983480"/>
            <a:ext cx="1417320" cy="548640"/>
          </a:xfrm>
          <a:prstGeom prst="rect">
            <a:avLst/>
          </a:prstGeom>
          <a:solidFill>
            <a:schemeClr val="accent1"/>
          </a:solidFill>
          <a:ln>
            <a:solidFill>
              <a:schemeClr val="accent1"/>
            </a:solidFill>
          </a:ln>
        </p:spPr>
        <p:txBody>
          <a:bodyPr wrap="square" lIns="0" tIns="0" rIns="0" bIns="0" rtlCol="0" anchor="ctr"/>
          <a:lstStyle/>
          <a:p>
            <a:pPr algn="ctr" indent="0" marL="0">
              <a:buNone/>
            </a:pPr>
            <a:r>
              <a:rPr lang="en-US" sz="1700" b="1" dirty="0">
                <a:solidFill>
                  <a:schemeClr val="bg1"/>
                </a:solidFill>
              </a:rPr>
              <a:t>The shop</a:t>
            </a:r>
            <a:endParaRPr lang="en-US" sz="1700" dirty="0"/>
          </a:p>
        </p:txBody>
      </p:sp>
      <p:sp>
        <p:nvSpPr>
          <p:cNvPr id="31" name="Text 25"/>
          <p:cNvSpPr txBox="1"/>
          <p:nvPr/>
        </p:nvSpPr>
        <p:spPr>
          <a:xfrm>
            <a:off x="9400032" y="4983480"/>
            <a:ext cx="1417320" cy="548640"/>
          </a:xfrm>
          <a:prstGeom prst="rect">
            <a:avLst/>
          </a:prstGeom>
          <a:solidFill>
            <a:schemeClr val="accent1"/>
          </a:solidFill>
          <a:ln>
            <a:solidFill>
              <a:schemeClr val="accent1"/>
            </a:solidFill>
          </a:ln>
        </p:spPr>
        <p:txBody>
          <a:bodyPr wrap="square" lIns="0" tIns="0" rIns="0" bIns="0" rtlCol="0" anchor="ctr"/>
          <a:lstStyle/>
          <a:p>
            <a:pPr algn="ctr" indent="0" marL="0">
              <a:buNone/>
            </a:pPr>
            <a:r>
              <a:rPr lang="en-US" sz="1700" b="1" dirty="0">
                <a:solidFill>
                  <a:schemeClr val="bg1"/>
                </a:solidFill>
              </a:rPr>
              <a:t>The phone</a:t>
            </a:r>
            <a:endParaRPr lang="en-US" sz="17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Epilogue</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story in three chapters</a:t>
            </a:r>
            <a:endParaRPr lang="en-US" sz="2600" dirty="0"/>
          </a:p>
        </p:txBody>
      </p:sp>
      <p:sp>
        <p:nvSpPr>
          <p:cNvPr id="4" name="Shape 2"/>
          <p:cNvSpPr/>
          <p:nvPr/>
        </p:nvSpPr>
        <p:spPr>
          <a:xfrm>
            <a:off x="914400" y="1417320"/>
            <a:ext cx="3346704" cy="2377440"/>
          </a:xfrm>
          <a:prstGeom prst="rect">
            <a:avLst/>
          </a:prstGeom>
          <a:solidFill>
            <a:schemeClr val="bg1"/>
          </a:solidFill>
          <a:ln w="12700">
            <a:solidFill>
              <a:schemeClr val="accent4"/>
            </a:solidFill>
            <a:prstDash val="solid"/>
          </a:ln>
        </p:spPr>
      </p:sp>
      <p:sp>
        <p:nvSpPr>
          <p:cNvPr id="5" name="Text 3"/>
          <p:cNvSpPr txBox="1"/>
          <p:nvPr/>
        </p:nvSpPr>
        <p:spPr>
          <a:xfrm>
            <a:off x="1234440" y="1554480"/>
            <a:ext cx="914400" cy="685800"/>
          </a:xfrm>
          <a:prstGeom prst="rect">
            <a:avLst/>
          </a:prstGeom>
          <a:noFill/>
          <a:ln/>
        </p:spPr>
        <p:txBody>
          <a:bodyPr wrap="square" lIns="0" tIns="0" rIns="0" bIns="0" rtlCol="0" anchor="t"/>
          <a:lstStyle/>
          <a:p>
            <a:pPr indent="0" marL="0">
              <a:buNone/>
            </a:pPr>
            <a:r>
              <a:rPr lang="en-US" sz="4000" b="1" dirty="0">
                <a:solidFill>
                  <a:schemeClr val="accent2"/>
                </a:solidFill>
              </a:rPr>
              <a:t>1</a:t>
            </a:r>
            <a:endParaRPr lang="en-US" sz="4000" dirty="0"/>
          </a:p>
        </p:txBody>
      </p:sp>
      <p:sp>
        <p:nvSpPr>
          <p:cNvPr id="6" name="Text 4"/>
          <p:cNvSpPr txBox="1"/>
          <p:nvPr/>
        </p:nvSpPr>
        <p:spPr>
          <a:xfrm>
            <a:off x="1234440" y="2286000"/>
            <a:ext cx="2706624" cy="411480"/>
          </a:xfrm>
          <a:prstGeom prst="rect">
            <a:avLst/>
          </a:prstGeom>
          <a:noFill/>
          <a:ln/>
        </p:spPr>
        <p:txBody>
          <a:bodyPr wrap="square" lIns="0" tIns="0" rIns="0" bIns="0" rtlCol="0" anchor="t"/>
          <a:lstStyle/>
          <a:p>
            <a:pPr indent="0" marL="0">
              <a:buNone/>
            </a:pPr>
            <a:r>
              <a:rPr lang="en-US" sz="2000" b="1" dirty="0">
                <a:solidFill>
                  <a:schemeClr val="accent1"/>
                </a:solidFill>
              </a:rPr>
              <a:t>The tools were taken</a:t>
            </a:r>
            <a:endParaRPr lang="en-US" sz="2000" dirty="0"/>
          </a:p>
        </p:txBody>
      </p:sp>
      <p:sp>
        <p:nvSpPr>
          <p:cNvPr id="7" name="Text 5"/>
          <p:cNvSpPr txBox="1"/>
          <p:nvPr/>
        </p:nvSpPr>
        <p:spPr>
          <a:xfrm>
            <a:off x="1234440" y="2743200"/>
            <a:ext cx="2706624" cy="914400"/>
          </a:xfrm>
          <a:prstGeom prst="rect">
            <a:avLst/>
          </a:prstGeom>
          <a:noFill/>
          <a:ln/>
        </p:spPr>
        <p:txBody>
          <a:bodyPr wrap="square" lIns="0" tIns="0" rIns="0" bIns="0" rtlCol="0" anchor="t"/>
          <a:lstStyle/>
          <a:p>
            <a:pPr indent="0" marL="0">
              <a:buNone/>
            </a:pPr>
            <a:r>
              <a:rPr lang="en-US" sz="1500" dirty="0">
                <a:solidFill>
                  <a:schemeClr val="accent6"/>
                </a:solidFill>
              </a:rPr>
              <a:t>Ads, logos and sponsorship disappeared, and teenage smoking fell five times.</a:t>
            </a:r>
            <a:endParaRPr lang="en-US" sz="1500" dirty="0"/>
          </a:p>
        </p:txBody>
      </p:sp>
      <p:sp>
        <p:nvSpPr>
          <p:cNvPr id="8" name="Shape 6"/>
          <p:cNvSpPr/>
          <p:nvPr/>
        </p:nvSpPr>
        <p:spPr>
          <a:xfrm>
            <a:off x="4535424" y="1417320"/>
            <a:ext cx="3346704" cy="2377440"/>
          </a:xfrm>
          <a:prstGeom prst="rect">
            <a:avLst/>
          </a:prstGeom>
          <a:solidFill>
            <a:schemeClr val="bg1"/>
          </a:solidFill>
          <a:ln w="12700">
            <a:solidFill>
              <a:schemeClr val="accent4"/>
            </a:solidFill>
            <a:prstDash val="solid"/>
          </a:ln>
        </p:spPr>
      </p:sp>
      <p:sp>
        <p:nvSpPr>
          <p:cNvPr id="9" name="Text 7"/>
          <p:cNvSpPr txBox="1"/>
          <p:nvPr/>
        </p:nvSpPr>
        <p:spPr>
          <a:xfrm>
            <a:off x="4855464" y="1554480"/>
            <a:ext cx="914400" cy="685800"/>
          </a:xfrm>
          <a:prstGeom prst="rect">
            <a:avLst/>
          </a:prstGeom>
          <a:noFill/>
          <a:ln/>
        </p:spPr>
        <p:txBody>
          <a:bodyPr wrap="square" lIns="0" tIns="0" rIns="0" bIns="0" rtlCol="0" anchor="t"/>
          <a:lstStyle/>
          <a:p>
            <a:pPr indent="0" marL="0">
              <a:buNone/>
            </a:pPr>
            <a:r>
              <a:rPr lang="en-US" sz="4000" b="1" dirty="0">
                <a:solidFill>
                  <a:schemeClr val="accent2"/>
                </a:solidFill>
              </a:rPr>
              <a:t>2</a:t>
            </a:r>
            <a:endParaRPr lang="en-US" sz="4000" dirty="0"/>
          </a:p>
        </p:txBody>
      </p:sp>
      <p:sp>
        <p:nvSpPr>
          <p:cNvPr id="10" name="Text 8"/>
          <p:cNvSpPr txBox="1"/>
          <p:nvPr/>
        </p:nvSpPr>
        <p:spPr>
          <a:xfrm>
            <a:off x="4855464" y="2286000"/>
            <a:ext cx="2706624" cy="411480"/>
          </a:xfrm>
          <a:prstGeom prst="rect">
            <a:avLst/>
          </a:prstGeom>
          <a:noFill/>
          <a:ln/>
        </p:spPr>
        <p:txBody>
          <a:bodyPr wrap="square" lIns="0" tIns="0" rIns="0" bIns="0" rtlCol="0" anchor="t"/>
          <a:lstStyle/>
          <a:p>
            <a:pPr indent="0" marL="0">
              <a:buNone/>
            </a:pPr>
            <a:r>
              <a:rPr lang="en-US" sz="2000" b="1" dirty="0">
                <a:solidFill>
                  <a:schemeClr val="accent1"/>
                </a:solidFill>
              </a:rPr>
              <a:t>The sweet door</a:t>
            </a:r>
            <a:endParaRPr lang="en-US" sz="2000" dirty="0"/>
          </a:p>
        </p:txBody>
      </p:sp>
      <p:sp>
        <p:nvSpPr>
          <p:cNvPr id="11" name="Text 9"/>
          <p:cNvSpPr txBox="1"/>
          <p:nvPr/>
        </p:nvSpPr>
        <p:spPr>
          <a:xfrm>
            <a:off x="4855464" y="2743200"/>
            <a:ext cx="2706624" cy="914400"/>
          </a:xfrm>
          <a:prstGeom prst="rect">
            <a:avLst/>
          </a:prstGeom>
          <a:noFill/>
          <a:ln/>
        </p:spPr>
        <p:txBody>
          <a:bodyPr wrap="square" lIns="0" tIns="0" rIns="0" bIns="0" rtlCol="0" anchor="t"/>
          <a:lstStyle/>
          <a:p>
            <a:pPr indent="0" marL="0">
              <a:buNone/>
            </a:pPr>
            <a:r>
              <a:rPr lang="en-US" sz="1500" dirty="0">
                <a:solidFill>
                  <a:schemeClr val="accent6"/>
                </a:solidFill>
              </a:rPr>
              <a:t>Flavours fitted the product to every culture and every target group.</a:t>
            </a:r>
            <a:endParaRPr lang="en-US" sz="1500" dirty="0"/>
          </a:p>
        </p:txBody>
      </p:sp>
      <p:sp>
        <p:nvSpPr>
          <p:cNvPr id="12" name="Shape 10"/>
          <p:cNvSpPr/>
          <p:nvPr/>
        </p:nvSpPr>
        <p:spPr>
          <a:xfrm>
            <a:off x="8156448" y="1417320"/>
            <a:ext cx="3346704" cy="2377440"/>
          </a:xfrm>
          <a:prstGeom prst="rect">
            <a:avLst/>
          </a:prstGeom>
          <a:solidFill>
            <a:schemeClr val="bg1"/>
          </a:solidFill>
          <a:ln w="12700">
            <a:solidFill>
              <a:schemeClr val="accent4"/>
            </a:solidFill>
            <a:prstDash val="solid"/>
          </a:ln>
        </p:spPr>
      </p:sp>
      <p:sp>
        <p:nvSpPr>
          <p:cNvPr id="13" name="Text 11"/>
          <p:cNvSpPr txBox="1"/>
          <p:nvPr/>
        </p:nvSpPr>
        <p:spPr>
          <a:xfrm>
            <a:off x="8476488" y="1554480"/>
            <a:ext cx="914400" cy="685800"/>
          </a:xfrm>
          <a:prstGeom prst="rect">
            <a:avLst/>
          </a:prstGeom>
          <a:noFill/>
          <a:ln/>
        </p:spPr>
        <p:txBody>
          <a:bodyPr wrap="square" lIns="0" tIns="0" rIns="0" bIns="0" rtlCol="0" anchor="t"/>
          <a:lstStyle/>
          <a:p>
            <a:pPr indent="0" marL="0">
              <a:buNone/>
            </a:pPr>
            <a:r>
              <a:rPr lang="en-US" sz="4000" b="1" dirty="0">
                <a:solidFill>
                  <a:schemeClr val="accent2"/>
                </a:solidFill>
              </a:rPr>
              <a:t>3</a:t>
            </a:r>
            <a:endParaRPr lang="en-US" sz="4000" dirty="0"/>
          </a:p>
        </p:txBody>
      </p:sp>
      <p:sp>
        <p:nvSpPr>
          <p:cNvPr id="14" name="Text 12"/>
          <p:cNvSpPr txBox="1"/>
          <p:nvPr/>
        </p:nvSpPr>
        <p:spPr>
          <a:xfrm>
            <a:off x="8476488" y="2286000"/>
            <a:ext cx="2706624" cy="411480"/>
          </a:xfrm>
          <a:prstGeom prst="rect">
            <a:avLst/>
          </a:prstGeom>
          <a:noFill/>
          <a:ln/>
        </p:spPr>
        <p:txBody>
          <a:bodyPr wrap="square" lIns="0" tIns="0" rIns="0" bIns="0" rtlCol="0" anchor="t"/>
          <a:lstStyle/>
          <a:p>
            <a:pPr indent="0" marL="0">
              <a:buNone/>
            </a:pPr>
            <a:r>
              <a:rPr lang="en-US" sz="2000" b="1" dirty="0">
                <a:solidFill>
                  <a:schemeClr val="accent1"/>
                </a:solidFill>
              </a:rPr>
              <a:t>The new door</a:t>
            </a:r>
            <a:endParaRPr lang="en-US" sz="2000" dirty="0"/>
          </a:p>
        </p:txBody>
      </p:sp>
      <p:sp>
        <p:nvSpPr>
          <p:cNvPr id="15" name="Text 13"/>
          <p:cNvSpPr txBox="1"/>
          <p:nvPr/>
        </p:nvSpPr>
        <p:spPr>
          <a:xfrm>
            <a:off x="8476488" y="2743200"/>
            <a:ext cx="2706624" cy="914400"/>
          </a:xfrm>
          <a:prstGeom prst="rect">
            <a:avLst/>
          </a:prstGeom>
          <a:noFill/>
          <a:ln/>
        </p:spPr>
        <p:txBody>
          <a:bodyPr wrap="square" lIns="0" tIns="0" rIns="0" bIns="0" rtlCol="0" anchor="t"/>
          <a:lstStyle/>
          <a:p>
            <a:pPr indent="0" marL="0">
              <a:buNone/>
            </a:pPr>
            <a:r>
              <a:rPr lang="en-US" sz="1500" dirty="0">
                <a:solidFill>
                  <a:schemeClr val="accent6"/>
                </a:solidFill>
              </a:rPr>
              <a:t>Vapes reached kids through flavour, design and social media.</a:t>
            </a:r>
            <a:endParaRPr lang="en-US" sz="1500" dirty="0"/>
          </a:p>
        </p:txBody>
      </p:sp>
      <p:sp>
        <p:nvSpPr>
          <p:cNvPr id="16" name="Text 14"/>
          <p:cNvSpPr txBox="1"/>
          <p:nvPr/>
        </p:nvSpPr>
        <p:spPr>
          <a:xfrm>
            <a:off x="914400" y="3931920"/>
            <a:ext cx="10588752" cy="777240"/>
          </a:xfrm>
          <a:prstGeom prst="rect">
            <a:avLst/>
          </a:prstGeom>
          <a:noFill/>
          <a:ln/>
        </p:spPr>
        <p:txBody>
          <a:bodyPr wrap="square" lIns="0" tIns="0" rIns="0" bIns="0" rtlCol="0" anchor="t"/>
          <a:lstStyle/>
          <a:p>
            <a:pPr indent="0" marL="0">
              <a:buNone/>
            </a:pPr>
            <a:r>
              <a:rPr lang="en-US" sz="2200" b="1" i="1" dirty="0">
                <a:solidFill>
                  <a:schemeClr val="accent2"/>
                </a:solidFill>
              </a:rPr>
              <a:t>“Tobacco marketing didn’t disappear. It moved: into the pack, the flavour and the phone.”</a:t>
            </a:r>
            <a:endParaRPr lang="en-US" sz="2200" dirty="0"/>
          </a:p>
        </p:txBody>
      </p:sp>
      <p:sp>
        <p:nvSpPr>
          <p:cNvPr id="17" name="Text 15"/>
          <p:cNvSpPr txBox="1"/>
          <p:nvPr/>
        </p:nvSpPr>
        <p:spPr>
          <a:xfrm>
            <a:off x="914400" y="4846320"/>
            <a:ext cx="10588752" cy="1280160"/>
          </a:xfrm>
          <a:prstGeom prst="rect">
            <a:avLst/>
          </a:prstGeom>
          <a:solidFill>
            <a:schemeClr val="accent1"/>
          </a:solidFill>
          <a:ln/>
        </p:spPr>
        <p:txBody>
          <a:bodyPr wrap="square" lIns="228600" tIns="228600" rIns="228600" bIns="228600" rtlCol="0" anchor="ctr"/>
          <a:lstStyle/>
          <a:p>
            <a:pPr indent="0" marL="0">
              <a:spcAft>
                <a:spcPts val="400"/>
              </a:spcAft>
              <a:buNone/>
            </a:pPr>
            <a:r>
              <a:rPr lang="en-US" sz="1400" b="1" dirty="0">
                <a:solidFill>
                  <a:schemeClr val="accent4"/>
                </a:solidFill>
              </a:rPr>
              <a:t>Question for you</a:t>
            </a:r>
            <a:endParaRPr lang="en-US" sz="1400" dirty="0"/>
          </a:p>
          <a:p>
            <a:pPr indent="0" marL="0">
              <a:spcAft>
                <a:spcPts val="400"/>
              </a:spcAft>
              <a:buNone/>
            </a:pPr>
            <a:r>
              <a:rPr lang="en-US" sz="2000" b="1" dirty="0">
                <a:solidFill>
                  <a:schemeClr val="bg1"/>
                </a:solidFill>
              </a:rPr>
              <a:t>Where is the line between marketing a legal product and marketing to children?</a:t>
            </a:r>
            <a:endParaRPr lang="en-US" sz="14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Sources</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Bibliography</a:t>
            </a:r>
            <a:endParaRPr lang="en-US" sz="2600" dirty="0"/>
          </a:p>
        </p:txBody>
      </p:sp>
      <p:sp>
        <p:nvSpPr>
          <p:cNvPr id="4" name="Text 2"/>
          <p:cNvSpPr txBox="1"/>
          <p:nvPr/>
        </p:nvSpPr>
        <p:spPr>
          <a:xfrm>
            <a:off x="914400" y="1325880"/>
            <a:ext cx="5111496" cy="4892040"/>
          </a:xfrm>
          <a:prstGeom prst="rect">
            <a:avLst/>
          </a:prstGeom>
          <a:noFill/>
          <a:ln/>
        </p:spPr>
        <p:txBody>
          <a:bodyPr wrap="square" lIns="0" tIns="0" rIns="0" bIns="0" rtlCol="0" anchor="t"/>
          <a:lstStyle/>
          <a:p>
            <a:pPr indent="0" marL="0">
              <a:spcAft>
                <a:spcPts val="800"/>
              </a:spcAft>
              <a:buNone/>
            </a:pPr>
            <a:r>
              <a:rPr lang="en-US" sz="1300" dirty="0">
                <a:solidFill>
                  <a:schemeClr val="tx1"/>
                </a:solidFill>
              </a:rPr>
              <a:t>Campaign for Tobacco-Free Kids. Tobacco Company Marketing to African Americans (fact sheet).</a:t>
            </a:r>
            <a:endParaRPr lang="en-US" sz="1300" dirty="0"/>
          </a:p>
          <a:p>
            <a:pPr indent="0" marL="0">
              <a:spcAft>
                <a:spcPts val="800"/>
              </a:spcAft>
              <a:buNone/>
            </a:pPr>
            <a:r>
              <a:rPr lang="en-US" sz="1300" dirty="0">
                <a:solidFill>
                  <a:schemeClr val="tx1"/>
                </a:solidFill>
              </a:rPr>
              <a:t>Canadian Cancer Society (2025). Cigarette Package Health Warnings: International Status Report, 9th ed.</a:t>
            </a:r>
            <a:endParaRPr lang="en-US" sz="1300" dirty="0"/>
          </a:p>
          <a:p>
            <a:pPr indent="0" marL="0">
              <a:spcAft>
                <a:spcPts val="800"/>
              </a:spcAft>
              <a:buNone/>
            </a:pPr>
            <a:r>
              <a:rPr lang="en-US" sz="1300" dirty="0">
                <a:solidFill>
                  <a:schemeClr val="tx1"/>
                </a:solidFill>
              </a:rPr>
              <a:t>CDC (2015, 2019, 2024). Tobacco product use among middle and high school students. MMWR.</a:t>
            </a:r>
            <a:endParaRPr lang="en-US" sz="1300" dirty="0"/>
          </a:p>
          <a:p>
            <a:pPr indent="0" marL="0">
              <a:spcAft>
                <a:spcPts val="800"/>
              </a:spcAft>
              <a:buNone/>
            </a:pPr>
            <a:r>
              <a:rPr lang="en-US" sz="1300" dirty="0">
                <a:solidFill>
                  <a:schemeClr val="tx1"/>
                </a:solidFill>
              </a:rPr>
              <a:t>Courtemanche, C., Palmer, M., Pesko, M. (2017). Influence of the flavored cigarette ban on adolescent tobacco use. Am. J. of Preventive Medicine.</a:t>
            </a:r>
            <a:endParaRPr lang="en-US" sz="1300" dirty="0"/>
          </a:p>
          <a:p>
            <a:pPr indent="0" marL="0">
              <a:spcAft>
                <a:spcPts val="800"/>
              </a:spcAft>
              <a:buNone/>
            </a:pPr>
            <a:r>
              <a:rPr lang="en-US" sz="1300" dirty="0">
                <a:solidFill>
                  <a:schemeClr val="tx1"/>
                </a:solidFill>
              </a:rPr>
              <a:t>Directive 2014/40/EU (Tobacco Products Directive). Official Journal of the EU.</a:t>
            </a:r>
            <a:endParaRPr lang="en-US" sz="1300" dirty="0"/>
          </a:p>
          <a:p>
            <a:pPr indent="0" marL="0">
              <a:spcAft>
                <a:spcPts val="800"/>
              </a:spcAft>
              <a:buNone/>
            </a:pPr>
            <a:r>
              <a:rPr lang="en-US" sz="1300" dirty="0">
                <a:solidFill>
                  <a:schemeClr val="tx1"/>
                </a:solidFill>
              </a:rPr>
              <a:t>FDA (2026). 2025 National Youth Tobacco Survey findings.</a:t>
            </a:r>
            <a:endParaRPr lang="en-US" sz="1300" dirty="0"/>
          </a:p>
          <a:p>
            <a:pPr indent="0" marL="0">
              <a:spcAft>
                <a:spcPts val="800"/>
              </a:spcAft>
              <a:buNone/>
            </a:pPr>
            <a:r>
              <a:rPr lang="en-US" sz="1300" dirty="0">
                <a:solidFill>
                  <a:schemeClr val="tx1"/>
                </a:solidFill>
              </a:rPr>
              <a:t>Fischer, P. M. et al. (1991). Brand logo recognition by children aged 3 to 6 years: Mickey Mouse and Old Joe the Camel. JAMA 266(22).</a:t>
            </a:r>
            <a:endParaRPr lang="en-US" sz="1300" dirty="0"/>
          </a:p>
        </p:txBody>
      </p:sp>
      <p:sp>
        <p:nvSpPr>
          <p:cNvPr id="5" name="Text 3"/>
          <p:cNvSpPr txBox="1"/>
          <p:nvPr/>
        </p:nvSpPr>
        <p:spPr>
          <a:xfrm>
            <a:off x="6391656" y="1325880"/>
            <a:ext cx="5111496" cy="4892040"/>
          </a:xfrm>
          <a:prstGeom prst="rect">
            <a:avLst/>
          </a:prstGeom>
          <a:noFill/>
          <a:ln/>
        </p:spPr>
        <p:txBody>
          <a:bodyPr wrap="square" lIns="0" tIns="0" rIns="0" bIns="0" rtlCol="0" anchor="t"/>
          <a:lstStyle/>
          <a:p>
            <a:pPr indent="0" marL="0">
              <a:spcAft>
                <a:spcPts val="800"/>
              </a:spcAft>
              <a:buNone/>
            </a:pPr>
            <a:r>
              <a:rPr lang="en-US" sz="1300" dirty="0">
                <a:solidFill>
                  <a:schemeClr val="tx1"/>
                </a:solidFill>
              </a:rPr>
              <a:t>GOV.UK (2026). Tobacco and Vapes Bill becomes law, 29 April 2026.</a:t>
            </a:r>
            <a:endParaRPr lang="en-US" sz="1300" dirty="0"/>
          </a:p>
          <a:p>
            <a:pPr indent="0" marL="0">
              <a:spcAft>
                <a:spcPts val="800"/>
              </a:spcAft>
              <a:buNone/>
            </a:pPr>
            <a:r>
              <a:rPr lang="en-US" sz="1300" dirty="0">
                <a:solidFill>
                  <a:schemeClr val="tx1"/>
                </a:solidFill>
              </a:rPr>
              <a:t>Keegan, W. J., &amp; Green, M. C. (2020). Global Marketing, 10th ed. Pearson.</a:t>
            </a:r>
            <a:endParaRPr lang="en-US" sz="1300" dirty="0"/>
          </a:p>
          <a:p>
            <a:pPr indent="0" marL="0">
              <a:spcAft>
                <a:spcPts val="800"/>
              </a:spcAft>
              <a:buNone/>
            </a:pPr>
            <a:r>
              <a:rPr lang="en-US" sz="1300" dirty="0">
                <a:solidFill>
                  <a:schemeClr val="tx1"/>
                </a:solidFill>
              </a:rPr>
              <a:t>NPR (2022). How the tobacco industry targeted Black Americans with menthol smokes.</a:t>
            </a:r>
            <a:endParaRPr lang="en-US" sz="1300" dirty="0"/>
          </a:p>
          <a:p>
            <a:pPr indent="0" marL="0">
              <a:spcAft>
                <a:spcPts val="800"/>
              </a:spcAft>
              <a:buNone/>
            </a:pPr>
            <a:r>
              <a:rPr lang="en-US" sz="1300" dirty="0">
                <a:solidFill>
                  <a:schemeClr val="tx1"/>
                </a:solidFill>
              </a:rPr>
              <a:t>Tobacco Control Laws (2025). Kyrgyzstan: packaging and labeling; 24.kg (2024). E-cigarettes banned in Kyrgyzstan from July 2025.</a:t>
            </a:r>
            <a:endParaRPr lang="en-US" sz="1300" dirty="0"/>
          </a:p>
          <a:p>
            <a:pPr indent="0" marL="0">
              <a:spcAft>
                <a:spcPts val="800"/>
              </a:spcAft>
              <a:buNone/>
            </a:pPr>
            <a:r>
              <a:rPr lang="en-US" sz="1300" dirty="0">
                <a:solidFill>
                  <a:schemeClr val="tx1"/>
                </a:solidFill>
              </a:rPr>
              <a:t>WHO (2024). Hooking the next generation: how the tobacco industry captures young customers.</a:t>
            </a:r>
            <a:endParaRPr lang="en-US" sz="1300" dirty="0"/>
          </a:p>
          <a:p>
            <a:pPr indent="0" marL="0">
              <a:spcAft>
                <a:spcPts val="800"/>
              </a:spcAft>
              <a:buNone/>
            </a:pPr>
            <a:r>
              <a:rPr lang="en-US" sz="1300" dirty="0">
                <a:solidFill>
                  <a:schemeClr val="tx1"/>
                </a:solidFill>
              </a:rPr>
              <a:t>WHO (2025). Global report on trends in prevalence of tobacco use 2000–2024.</a:t>
            </a:r>
            <a:endParaRPr lang="en-US" sz="1300" dirty="0"/>
          </a:p>
          <a:p>
            <a:pPr indent="0" marL="0">
              <a:spcAft>
                <a:spcPts val="800"/>
              </a:spcAft>
              <a:buNone/>
            </a:pPr>
            <a:r>
              <a:rPr lang="en-US" sz="1300" dirty="0">
                <a:solidFill>
                  <a:schemeClr val="tx1"/>
                </a:solidFill>
              </a:rPr>
              <a:t>New York Attorney General (2023). JUUL settlement with six states and DC.</a:t>
            </a:r>
            <a:endParaRPr lang="en-US" sz="13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orvinus Seminar">
  <a:themeElements>
    <a:clrScheme name="Corvinus Seminar">
      <a:dk1>
        <a:srgbClr val="1A1A1A"/>
      </a:dk1>
      <a:lt1>
        <a:srgbClr val="FFFFFF"/>
      </a:lt1>
      <a:dk2>
        <a:srgbClr val="0E2841"/>
      </a:dk2>
      <a:lt2>
        <a:srgbClr val="F3F4F6"/>
      </a:lt2>
      <a:accent1>
        <a:srgbClr val="0E2841"/>
      </a:accent1>
      <a:accent2>
        <a:srgbClr val="C00000"/>
      </a:accent2>
      <a:accent3>
        <a:srgbClr val="7F7F7F"/>
      </a:accent3>
      <a:accent4>
        <a:srgbClr val="D1D1D1"/>
      </a:accent4>
      <a:accent5>
        <a:srgbClr val="0080CC"/>
      </a:accent5>
      <a:accent6>
        <a:srgbClr val="404040"/>
      </a:accent6>
      <a:hlink>
        <a:srgbClr val="0080CC"/>
      </a:hlink>
      <a:folHlink>
        <a:srgbClr val="7F7F7F"/>
      </a:folHlink>
    </a:clrScheme>
    <a:fontScheme name="Corvinus Seminar">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Tobacco Marketing on International Markets</dc:title>
  <dc:subject>PptxGenJS Presentation</dc:subject>
  <dc:creator>Amir Kenenbaev</dc:creator>
  <cp:lastModifiedBy>Amir Kenenbaev</cp:lastModifiedBy>
  <cp:revision>1</cp:revision>
  <dcterms:created xsi:type="dcterms:W3CDTF">2026-10-14T20:39:05Z</dcterms:created>
  <dcterms:modified xsi:type="dcterms:W3CDTF">2026-10-14T20:39:05Z</dcterms:modified>
</cp:coreProperties>
</file>