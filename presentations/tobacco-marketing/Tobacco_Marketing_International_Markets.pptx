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841"/>
                </a:solidFill>
                <a:latin typeface="+mn-lt"/>
              </a:defRPr>
            </a:pPr>
            <a:r>
              <a:rPr sz="1400" b="0" i="0" u="none" strike="noStrike">
                <a:solidFill>
                  <a:srgbClr val="0E2841"/>
                </a:solidFill>
                <a:latin typeface="+mn-lt"/>
              </a:rPr>
              <a:t>US high-school students who smoke cigarettes, %</a:t>
            </a:r>
          </a:p>
        </c:rich>
      </c:tx>
      <c:layout/>
      <c:overlay val="0"/>
    </c:title>
    <c:autoTitleDeleted val="0"/>
    <c:plotArea>
      <c:layout/>
      <c:barChart>
        <c:barDir val="col"/>
        <c:grouping val="clustered"/>
        <c:varyColors val="0"/>
        <c:ser>
          <c:idx val="0"/>
          <c:order val="0"/>
          <c:tx>
            <c:strRef>
              <c:f>Sheet1!$B$1</c:f>
              <c:strCache>
                <c:ptCount val="1"/>
                <c:pt idx="0">
                  <c:v>Smokers</c:v>
                </c:pt>
              </c:strCache>
            </c:strRef>
          </c:tx>
          <c:spPr>
            <a:solidFill>
              <a:srgbClr val="0E2841"/>
            </a:solidFill>
            <a:effectLst/>
          </c:spPr>
          <c:invertIfNegative val="0"/>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1999</c:v>
                  </c:pt>
                  <c:pt idx="1">
                    <c:v>2011</c:v>
                  </c:pt>
                  <c:pt idx="2">
                    <c:v>2014</c:v>
                  </c:pt>
                  <c:pt idx="3">
                    <c:v>2019</c:v>
                  </c:pt>
                </c:lvl>
              </c:multiLvlStrCache>
            </c:multiLvlStrRef>
          </c:cat>
          <c:val>
            <c:numRef>
              <c:f>Sheet1!$B$2:$B$5</c:f>
              <c:numCache>
                <c:formatCode>General</c:formatCode>
                <c:ptCount val="4"/>
                <c:pt idx="0">
                  <c:v>28.5</c:v>
                </c:pt>
                <c:pt idx="1">
                  <c:v>15.8</c:v>
                </c:pt>
                <c:pt idx="2">
                  <c:v>9.2</c:v>
                </c:pt>
                <c:pt idx="3">
                  <c:v>5.8</c:v>
                </c:pt>
              </c:numCache>
            </c:numRef>
          </c:val>
        </c:ser>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1D1D1"/>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5E5E5"/>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7F7F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841"/>
                </a:solidFill>
                <a:latin typeface="+mn-lt"/>
              </a:defRPr>
            </a:pPr>
            <a:r>
              <a:rPr sz="1400" b="0" i="0" u="none" strike="noStrike">
                <a:solidFill>
                  <a:srgbClr val="0E2841"/>
                </a:solidFill>
                <a:latin typeface="+mn-lt"/>
              </a:rPr>
              <a:t>US high-school students who vape, %</a:t>
            </a:r>
          </a:p>
        </c:rich>
      </c:tx>
      <c:layout/>
      <c:overlay val="0"/>
    </c:title>
    <c:autoTitleDeleted val="0"/>
    <c:plotArea>
      <c:layout/>
      <c:barChart>
        <c:barDir val="col"/>
        <c:grouping val="clustered"/>
        <c:varyColors val="0"/>
        <c:ser>
          <c:idx val="0"/>
          <c:order val="0"/>
          <c:tx>
            <c:strRef>
              <c:f>Sheet1!$B$1</c:f>
              <c:strCache>
                <c:ptCount val="1"/>
                <c:pt idx="0">
                  <c:v>Vapers</c:v>
                </c:pt>
              </c:strCache>
            </c:strRef>
          </c:tx>
          <c:spPr>
            <a:solidFill>
              <a:srgbClr val="0E2841"/>
            </a:solidFill>
            <a:effectLst/>
          </c:spPr>
          <c:invertIfNegative val="0"/>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E2841"/>
              </a:solidFill>
              <a:effectLst/>
            </c:spPr>
          </c:dPt>
          <c:dPt>
            <c:idx val="1"/>
            <c:invertIfNegative val="0"/>
            <c:bubble3D val="0"/>
            <c:spPr>
              <a:solidFill>
                <a:srgbClr val="0E2841"/>
              </a:solidFill>
              <a:effectLst/>
            </c:spPr>
          </c:dPt>
          <c:dPt>
            <c:idx val="2"/>
            <c:invertIfNegative val="0"/>
            <c:bubble3D val="0"/>
            <c:spPr>
              <a:solidFill>
                <a:srgbClr val="0E2841"/>
              </a:solidFill>
              <a:effectLst/>
            </c:spPr>
          </c:dPt>
          <c:dPt>
            <c:idx val="3"/>
            <c:invertIfNegative val="0"/>
            <c:bubble3D val="0"/>
            <c:spPr>
              <a:solidFill>
                <a:srgbClr val="C00000"/>
              </a:solidFill>
              <a:effectLst/>
            </c:spPr>
          </c:dPt>
          <c:dPt>
            <c:idx val="4"/>
            <c:invertIfNegative val="0"/>
            <c:bubble3D val="0"/>
            <c:spPr>
              <a:solidFill>
                <a:srgbClr val="0E2841"/>
              </a:solidFill>
              <a:effectLst/>
            </c:spPr>
          </c:dPt>
          <c:dPt>
            <c:idx val="5"/>
            <c:invertIfNegative val="0"/>
            <c:bubble3D val="0"/>
            <c:spPr>
              <a:solidFill>
                <a:srgbClr val="0E2841"/>
              </a:solidFill>
              <a:effectLst/>
            </c:spPr>
          </c:dPt>
          <c:cat>
            <c:multiLvlStrRef>
              <c:f>Sheet1!$A$2:$A$7</c:f>
              <c:multiLvlStrCache>
                <c:ptCount val="6"/>
                <c:lvl>
                  <c:pt idx="0">
                    <c:v>2011</c:v>
                  </c:pt>
                  <c:pt idx="1">
                    <c:v>2014</c:v>
                  </c:pt>
                  <c:pt idx="2">
                    <c:v>2018</c:v>
                  </c:pt>
                  <c:pt idx="3">
                    <c:v>2019</c:v>
                  </c:pt>
                  <c:pt idx="4">
                    <c:v>2022</c:v>
                  </c:pt>
                  <c:pt idx="5">
                    <c:v>2024</c:v>
                  </c:pt>
                </c:lvl>
              </c:multiLvlStrCache>
            </c:multiLvlStrRef>
          </c:cat>
          <c:val>
            <c:numRef>
              <c:f>Sheet1!$B$2:$B$7</c:f>
              <c:numCache>
                <c:formatCode>General</c:formatCode>
                <c:ptCount val="6"/>
                <c:pt idx="0">
                  <c:v>1.5</c:v>
                </c:pt>
                <c:pt idx="1">
                  <c:v>13.4</c:v>
                </c:pt>
                <c:pt idx="2">
                  <c:v>20.8</c:v>
                </c:pt>
                <c:pt idx="3">
                  <c:v>27.5</c:v>
                </c:pt>
                <c:pt idx="4">
                  <c:v>14.1</c:v>
                </c:pt>
                <c:pt idx="5">
                  <c:v>7.8</c:v>
                </c:pt>
              </c:numCache>
            </c:numRef>
          </c:val>
        </c:ser>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1D1D1"/>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E5E5E5"/>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7F7F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Good afternoon. I'm Amir, and my topic is tobacco marketing on international markets. But before I say anything about marketing, I want to show you some packs.
Photo circle: right-click the circle &gt; Format Shape &gt; Fill &gt; Picture fill to insert a portrait.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Here are four cigarette packs from four countries. Which country is each one from? And what is different about them? Take a few seconds and shout out your guesses.
PHOTOS TO INSERT (ideally the same brand, e.g. Marlboro, so only the rules differ):
A = USA: full brand design, small text-only warning on the side.
B = Hungary (EU): plain pack + 65% picture warning in Hungarian.
C = Indonesia: kretek pack (e.g. Dji Sam Soe / Gudang Garam), 40% picture warning.
D = Australia: plain drab dark brown pack, 75% warning on the front.
Click the picture icon in each box to insert a photo; it fills and crops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 is the USA: the brand still owns the pack. B is Hungary, the pack you see in every Nemzeti Dohánybolt. C is Indonesia, home of clove cigarettes. D is Australia, the first country with plain packs. Same product, often the same company, but four completely different rulebooks. And that is the story I want to tell today: how the industry keeps selling when, one by one, the doors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Imagine you are the marketing manager. Your product has 1.2 billion customers, most of them in developing countries. But almost every country in the world has signed a treaty that says: you may not advertise. So how do you market it? Let me tell this story in three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Chapter one: the doors close. In 2003 the WHO treaty bans advertising. In 2009 the US bans flavoured cigarettes, except menthol. In 2012 Australia takes the logo off the pack. In 2020 the EU bans menthol. And this year the UK passed a law that nobody born after 2008 can ever legally buy tobacco. Every time a door closed, marketers looked for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Did it work? Look at American high-school students. In 1999, almost 3 in 10 smoked. By 2019 it was under 6 in 100: five times fewer. Researchers found that the 2009 flavour ban alone cut the chance that a teenager smokes by about 17%. So the cigarette lost the teenagers. But, and this is the twist, nicotine didn't. Before we get there, let's look at what happened to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When there is no TV, no billboard and no magazine, the pack itself is the last billboard. That's why regulators fight over it. In the EU, two-thirds of the pack is a warning, and in Hungary the logo is gone too. In the US, the brand still owns the pack: just a small text warning on the side, and the picture warnings have been stuck in court since 2020. The record holders are Türkiye and Timor-Leste, where 92.5% of the pack is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Chapter two: the sweet door. If you can't change the advertising, you change the product. In Indonesia people smoke clove kretek, so when Philip Morris came in, it bought the local leader Sampoerna instead of pushing Marlboro. In Japan menthol is mainstream. In Latin America, capsule cigarettes let you click a ball in the filter and change the taste. And in the US, menthol was advertised so heavily in Black neighbourhoods that today about 85% of Black smokers use menthol.
Picture suggestion: a capsule ('click') pack or an Indonesian kretek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Why do governments ban flavours? Menthol numbs the throat, so the first cigarette doesn't hurt. Sweet flavours make perfect starter products. And they were used to target specific groups. Here's my favourite story. In 2009 the US banned clove cigarettes, but kept menthol. Who makes clove cigarettes? Indonesia. Who makes menthol? American companies. Indonesia sued at the WTO and won in 2012. Health policy became trade policy, which is exactly why international marketers must watch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Chapter three: the new door. Just as teenagers stopped smoking, the vape arrived. In 2011 only 1.5% of American high-schoolers vaped. In 2014 vapes overtook cigarettes. By 2019, more than one in four high-schoolers vaped. That is more than ever smoked cigarettes in the last decade. Then regulators reacted: in 2020 the FDA restricted flavoured cartridges, and use fell to under 8% by 2024. But even today about nine in ten young vapers use flavours, and worldwide 15 million children aged 13 to 15 vape.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Why did vapes reach kids so fast? Four reasons, and they are pure marketing. Flavours: bubblegum, mango, cotton candy. Design: colourful, looks like a USB stick, easy to hide from parents and teachers. Social media: influencers and TikTok, where tobacco ad bans were never written for. And price: cheap disposables at every kiosk. The companies say vapes are for adult smokers who want to quit. But JUUL paid 462 million dollars to six US states over marketing to young people, and the head of the WHO called it a 'candy-flavoured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So what did marketers learn? When mass media is closed, the other three Ps do the work. Product: new formats. Price: single sticks and cheap disposables. Place: kiosks and online. Promotion: sponsorships, influencers and the pack. And the big companies are not losing this game: Philip Morris already earns 41.5% of its revenue from heated tobacco and nicotine pouches.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So, three chapters. First, the doors closed, and teenagers stopped smoking. Second, flavours became the sweet door, until governments closed that too. Third, vapes opened a new door straight into teenagers' phones. My conclusion: tobacco marketing didn't disappear, it moved. And my question for you: should vapes be treated like cigarettes, with plain packs and no flavours?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02920" y="0"/>
            <a:ext cx="274320" cy="987552"/>
          </a:xfrm>
          <a:prstGeom prst="rect">
            <a:avLst/>
          </a:prstGeom>
          <a:solidFill>
            <a:schemeClr val="accent5"/>
          </a:solidFill>
          <a:ln w="12700">
            <a:solidFill>
              <a:schemeClr val="accent5"/>
            </a:solidFill>
            <a:prstDash val="solid"/>
          </a:ln>
        </p:spPr>
      </p:sp>
      <p:sp>
        <p:nvSpPr>
          <p:cNvPr id="3" name="Text 1"/>
          <p:cNvSpPr/>
          <p:nvPr>
            <p:ph idx="101" type="body" hasCustomPrompt="1"/>
          </p:nvPr>
        </p:nvSpPr>
        <p:spPr>
          <a:xfrm>
            <a:off x="914400" y="182880"/>
            <a:ext cx="8778240" cy="329184"/>
          </a:xfrm>
          <a:prstGeom prst="rect">
            <a:avLst/>
          </a:prstGeom>
          <a:noFill/>
          <a:ln/>
        </p:spPr>
        <p:txBody>
          <a:bodyPr wrap="square" rtlCol="0"/>
          <a:lstStyle>
            <a:lvl1pPr algn="l" indent="0" marL="0">
              <a:buNone/>
              <a:defRPr lang="en-US" sz="1400" b="1" dirty="0">
                <a:solidFill>
                  <a:schemeClr val="accent3"/>
                </a:solidFill>
              </a:defRPr>
            </a:lvl1pPr>
          </a:lstStyle>
          <a:p>
            <a:pPr algn="l" indent="0" marL="0">
              <a:buNone/>
            </a:pPr>
            <a:endParaRPr lang="en-US" sz="1400" dirty="0"/>
          </a:p>
        </p:txBody>
      </p:sp>
      <p:sp>
        <p:nvSpPr>
          <p:cNvPr id="4" name="Text 1"/>
          <p:cNvSpPr/>
          <p:nvPr>
            <p:ph idx="102" type="title" hasCustomPrompt="1"/>
          </p:nvPr>
        </p:nvSpPr>
        <p:spPr>
          <a:xfrm>
            <a:off x="914400" y="475488"/>
            <a:ext cx="10241280" cy="548640"/>
          </a:xfrm>
          <a:prstGeom prst="rect">
            <a:avLst/>
          </a:prstGeom>
          <a:noFill/>
          <a:ln/>
        </p:spPr>
        <p:txBody>
          <a:bodyPr wrap="square" rtlCol="0"/>
          <a:lstStyle>
            <a:lvl1pPr algn="l" indent="0" marL="0">
              <a:buNone/>
              <a:defRPr lang="en-US" sz="2600" b="1" dirty="0">
                <a:solidFill>
                  <a:schemeClr val="accent1"/>
                </a:solidFill>
              </a:defRPr>
            </a:lvl1pPr>
          </a:lstStyle>
          <a:p>
            <a:pPr algn="l" indent="0" marL="0">
              <a:buNone/>
            </a:pPr>
            <a:endParaRPr lang="en-US" sz="2600" dirty="0"/>
          </a:p>
        </p:txBody>
      </p:sp>
      <p:sp>
        <p:nvSpPr>
          <p:cNvPr id="5" name="Text 1"/>
          <p:cNvSpPr/>
          <p:nvPr/>
        </p:nvSpPr>
        <p:spPr>
          <a:xfrm>
            <a:off x="914400" y="6382512"/>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Tobacco Marketing on International Markets</a:t>
            </a:r>
            <a:endParaRPr lang="en-US" sz="1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PICTUR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02920" y="0"/>
            <a:ext cx="274320" cy="987552"/>
          </a:xfrm>
          <a:prstGeom prst="rect">
            <a:avLst/>
          </a:prstGeom>
          <a:solidFill>
            <a:schemeClr val="accent5"/>
          </a:solidFill>
          <a:ln w="12700">
            <a:solidFill>
              <a:schemeClr val="accent5"/>
            </a:solidFill>
            <a:prstDash val="solid"/>
          </a:ln>
        </p:spPr>
      </p:sp>
      <p:sp>
        <p:nvSpPr>
          <p:cNvPr id="3" name="Text 1"/>
          <p:cNvSpPr/>
          <p:nvPr>
            <p:ph idx="101" type="body" hasCustomPrompt="1"/>
          </p:nvPr>
        </p:nvSpPr>
        <p:spPr>
          <a:xfrm>
            <a:off x="914400" y="182880"/>
            <a:ext cx="8778240" cy="329184"/>
          </a:xfrm>
          <a:prstGeom prst="rect">
            <a:avLst/>
          </a:prstGeom>
          <a:noFill/>
          <a:ln/>
        </p:spPr>
        <p:txBody>
          <a:bodyPr wrap="square" rtlCol="0"/>
          <a:lstStyle>
            <a:lvl1pPr algn="l" indent="0" marL="0">
              <a:buNone/>
              <a:defRPr lang="en-US" sz="1400" b="1" dirty="0">
                <a:solidFill>
                  <a:schemeClr val="accent3"/>
                </a:solidFill>
              </a:defRPr>
            </a:lvl1pPr>
          </a:lstStyle>
          <a:p>
            <a:pPr algn="l" indent="0" marL="0">
              <a:buNone/>
            </a:pPr>
            <a:endParaRPr lang="en-US" sz="1400" dirty="0"/>
          </a:p>
        </p:txBody>
      </p:sp>
      <p:sp>
        <p:nvSpPr>
          <p:cNvPr id="4" name="Text 1"/>
          <p:cNvSpPr/>
          <p:nvPr>
            <p:ph idx="102" type="title" hasCustomPrompt="1"/>
          </p:nvPr>
        </p:nvSpPr>
        <p:spPr>
          <a:xfrm>
            <a:off x="914400" y="475488"/>
            <a:ext cx="10241280" cy="548640"/>
          </a:xfrm>
          <a:prstGeom prst="rect">
            <a:avLst/>
          </a:prstGeom>
          <a:noFill/>
          <a:ln/>
        </p:spPr>
        <p:txBody>
          <a:bodyPr wrap="square" rtlCol="0"/>
          <a:lstStyle>
            <a:lvl1pPr algn="l" indent="0" marL="0">
              <a:buNone/>
              <a:defRPr lang="en-US" sz="2600" b="1" dirty="0">
                <a:solidFill>
                  <a:schemeClr val="accent1"/>
                </a:solidFill>
              </a:defRPr>
            </a:lvl1pPr>
          </a:lstStyle>
          <a:p>
            <a:pPr algn="l" indent="0" marL="0">
              <a:buNone/>
            </a:pPr>
            <a:endParaRPr lang="en-US" sz="2600" dirty="0"/>
          </a:p>
        </p:txBody>
      </p:sp>
      <p:sp>
        <p:nvSpPr>
          <p:cNvPr id="5" name="Text 1"/>
          <p:cNvSpPr/>
          <p:nvPr/>
        </p:nvSpPr>
        <p:spPr>
          <a:xfrm>
            <a:off x="914400" y="6382512"/>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Tobacco Marketing on International Markets</a:t>
            </a:r>
            <a:endParaRPr lang="en-US" sz="1000" dirty="0"/>
          </a:p>
        </p:txBody>
      </p:sp>
      <p:sp>
        <p:nvSpPr>
          <p:cNvPr id="6" name="Text 2"/>
          <p:cNvSpPr/>
          <p:nvPr>
            <p:ph type="pic" idx="104" hasCustomPrompt="1"/>
          </p:nvPr>
        </p:nvSpPr>
        <p:spPr>
          <a:xfrm>
            <a:off x="8549640" y="1417320"/>
            <a:ext cx="2953512" cy="466344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picture</a:t>
            </a: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CK_QUIZ">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02920" y="0"/>
            <a:ext cx="274320" cy="987552"/>
          </a:xfrm>
          <a:prstGeom prst="rect">
            <a:avLst/>
          </a:prstGeom>
          <a:solidFill>
            <a:schemeClr val="accent5"/>
          </a:solidFill>
          <a:ln w="12700">
            <a:solidFill>
              <a:schemeClr val="accent5"/>
            </a:solidFill>
            <a:prstDash val="solid"/>
          </a:ln>
        </p:spPr>
      </p:sp>
      <p:sp>
        <p:nvSpPr>
          <p:cNvPr id="3" name="Text 1"/>
          <p:cNvSpPr/>
          <p:nvPr>
            <p:ph idx="101" type="body" hasCustomPrompt="1"/>
          </p:nvPr>
        </p:nvSpPr>
        <p:spPr>
          <a:xfrm>
            <a:off x="914400" y="182880"/>
            <a:ext cx="8778240" cy="329184"/>
          </a:xfrm>
          <a:prstGeom prst="rect">
            <a:avLst/>
          </a:prstGeom>
          <a:noFill/>
          <a:ln/>
        </p:spPr>
        <p:txBody>
          <a:bodyPr wrap="square" rtlCol="0"/>
          <a:lstStyle>
            <a:lvl1pPr algn="l" indent="0" marL="0">
              <a:buNone/>
              <a:defRPr lang="en-US" sz="1400" b="1" dirty="0">
                <a:solidFill>
                  <a:schemeClr val="accent3"/>
                </a:solidFill>
              </a:defRPr>
            </a:lvl1pPr>
          </a:lstStyle>
          <a:p>
            <a:pPr algn="l" indent="0" marL="0">
              <a:buNone/>
            </a:pPr>
            <a:endParaRPr lang="en-US" sz="1400" dirty="0"/>
          </a:p>
        </p:txBody>
      </p:sp>
      <p:sp>
        <p:nvSpPr>
          <p:cNvPr id="4" name="Text 1"/>
          <p:cNvSpPr/>
          <p:nvPr>
            <p:ph idx="102" type="title" hasCustomPrompt="1"/>
          </p:nvPr>
        </p:nvSpPr>
        <p:spPr>
          <a:xfrm>
            <a:off x="914400" y="475488"/>
            <a:ext cx="10241280" cy="548640"/>
          </a:xfrm>
          <a:prstGeom prst="rect">
            <a:avLst/>
          </a:prstGeom>
          <a:noFill/>
          <a:ln/>
        </p:spPr>
        <p:txBody>
          <a:bodyPr wrap="square" rtlCol="0"/>
          <a:lstStyle>
            <a:lvl1pPr algn="l" indent="0" marL="0">
              <a:buNone/>
              <a:defRPr lang="en-US" sz="2600" b="1" dirty="0">
                <a:solidFill>
                  <a:schemeClr val="accent1"/>
                </a:solidFill>
              </a:defRPr>
            </a:lvl1pPr>
          </a:lstStyle>
          <a:p>
            <a:pPr algn="l" indent="0" marL="0">
              <a:buNone/>
            </a:pPr>
            <a:endParaRPr lang="en-US" sz="2600" dirty="0"/>
          </a:p>
        </p:txBody>
      </p:sp>
      <p:sp>
        <p:nvSpPr>
          <p:cNvPr id="5" name="Text 1"/>
          <p:cNvSpPr/>
          <p:nvPr/>
        </p:nvSpPr>
        <p:spPr>
          <a:xfrm>
            <a:off x="914400" y="6382512"/>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Tobacco Marketing on International Markets</a:t>
            </a:r>
            <a:endParaRPr lang="en-US" sz="1000" dirty="0"/>
          </a:p>
        </p:txBody>
      </p:sp>
      <p:sp>
        <p:nvSpPr>
          <p:cNvPr id="6" name="Text 2"/>
          <p:cNvSpPr/>
          <p:nvPr>
            <p:ph type="pic" idx="104" hasCustomPrompt="1"/>
          </p:nvPr>
        </p:nvSpPr>
        <p:spPr>
          <a:xfrm>
            <a:off x="914400" y="1691640"/>
            <a:ext cx="2331720" cy="356616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pack A</a:t>
            </a:r>
            <a:endParaRPr lang="en-US" sz="1200" dirty="0"/>
          </a:p>
        </p:txBody>
      </p:sp>
      <p:sp>
        <p:nvSpPr>
          <p:cNvPr id="7" name="Text 2"/>
          <p:cNvSpPr/>
          <p:nvPr>
            <p:ph type="pic" idx="105" hasCustomPrompt="1"/>
          </p:nvPr>
        </p:nvSpPr>
        <p:spPr>
          <a:xfrm>
            <a:off x="3666744" y="1691640"/>
            <a:ext cx="2331720" cy="356616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pack B</a:t>
            </a:r>
            <a:endParaRPr lang="en-US" sz="1200" dirty="0"/>
          </a:p>
        </p:txBody>
      </p:sp>
      <p:sp>
        <p:nvSpPr>
          <p:cNvPr id="8" name="Text 2"/>
          <p:cNvSpPr/>
          <p:nvPr>
            <p:ph type="pic" idx="106" hasCustomPrompt="1"/>
          </p:nvPr>
        </p:nvSpPr>
        <p:spPr>
          <a:xfrm>
            <a:off x="6419088" y="1691640"/>
            <a:ext cx="2331720" cy="356616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pack C</a:t>
            </a:r>
            <a:endParaRPr lang="en-US" sz="1200" dirty="0"/>
          </a:p>
        </p:txBody>
      </p:sp>
      <p:sp>
        <p:nvSpPr>
          <p:cNvPr id="9" name="Text 2"/>
          <p:cNvSpPr/>
          <p:nvPr>
            <p:ph type="pic" idx="107" hasCustomPrompt="1"/>
          </p:nvPr>
        </p:nvSpPr>
        <p:spPr>
          <a:xfrm>
            <a:off x="9171432" y="1691640"/>
            <a:ext cx="2331720" cy="356616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pack D</a:t>
            </a: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CK_REVEAL">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02920" y="0"/>
            <a:ext cx="274320" cy="987552"/>
          </a:xfrm>
          <a:prstGeom prst="rect">
            <a:avLst/>
          </a:prstGeom>
          <a:solidFill>
            <a:schemeClr val="accent5"/>
          </a:solidFill>
          <a:ln w="12700">
            <a:solidFill>
              <a:schemeClr val="accent5"/>
            </a:solidFill>
            <a:prstDash val="solid"/>
          </a:ln>
        </p:spPr>
      </p:sp>
      <p:sp>
        <p:nvSpPr>
          <p:cNvPr id="3" name="Text 1"/>
          <p:cNvSpPr/>
          <p:nvPr>
            <p:ph idx="101" type="body" hasCustomPrompt="1"/>
          </p:nvPr>
        </p:nvSpPr>
        <p:spPr>
          <a:xfrm>
            <a:off x="914400" y="182880"/>
            <a:ext cx="8778240" cy="329184"/>
          </a:xfrm>
          <a:prstGeom prst="rect">
            <a:avLst/>
          </a:prstGeom>
          <a:noFill/>
          <a:ln/>
        </p:spPr>
        <p:txBody>
          <a:bodyPr wrap="square" rtlCol="0"/>
          <a:lstStyle>
            <a:lvl1pPr algn="l" indent="0" marL="0">
              <a:buNone/>
              <a:defRPr lang="en-US" sz="1400" b="1" dirty="0">
                <a:solidFill>
                  <a:schemeClr val="accent3"/>
                </a:solidFill>
              </a:defRPr>
            </a:lvl1pPr>
          </a:lstStyle>
          <a:p>
            <a:pPr algn="l" indent="0" marL="0">
              <a:buNone/>
            </a:pPr>
            <a:endParaRPr lang="en-US" sz="1400" dirty="0"/>
          </a:p>
        </p:txBody>
      </p:sp>
      <p:sp>
        <p:nvSpPr>
          <p:cNvPr id="4" name="Text 1"/>
          <p:cNvSpPr/>
          <p:nvPr>
            <p:ph idx="102" type="title" hasCustomPrompt="1"/>
          </p:nvPr>
        </p:nvSpPr>
        <p:spPr>
          <a:xfrm>
            <a:off x="914400" y="475488"/>
            <a:ext cx="10241280" cy="548640"/>
          </a:xfrm>
          <a:prstGeom prst="rect">
            <a:avLst/>
          </a:prstGeom>
          <a:noFill/>
          <a:ln/>
        </p:spPr>
        <p:txBody>
          <a:bodyPr wrap="square" rtlCol="0"/>
          <a:lstStyle>
            <a:lvl1pPr algn="l" indent="0" marL="0">
              <a:buNone/>
              <a:defRPr lang="en-US" sz="2600" b="1" dirty="0">
                <a:solidFill>
                  <a:schemeClr val="accent1"/>
                </a:solidFill>
              </a:defRPr>
            </a:lvl1pPr>
          </a:lstStyle>
          <a:p>
            <a:pPr algn="l" indent="0" marL="0">
              <a:buNone/>
            </a:pPr>
            <a:endParaRPr lang="en-US" sz="2600" dirty="0"/>
          </a:p>
        </p:txBody>
      </p:sp>
      <p:sp>
        <p:nvSpPr>
          <p:cNvPr id="5" name="Text 1"/>
          <p:cNvSpPr/>
          <p:nvPr/>
        </p:nvSpPr>
        <p:spPr>
          <a:xfrm>
            <a:off x="914400" y="6382512"/>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Tobacco Marketing on International Markets</a:t>
            </a:r>
            <a:endParaRPr lang="en-US" sz="1000" dirty="0"/>
          </a:p>
        </p:txBody>
      </p:sp>
      <p:sp>
        <p:nvSpPr>
          <p:cNvPr id="6" name="Text 2"/>
          <p:cNvSpPr/>
          <p:nvPr>
            <p:ph type="pic" idx="104" hasCustomPrompt="1"/>
          </p:nvPr>
        </p:nvSpPr>
        <p:spPr>
          <a:xfrm>
            <a:off x="914400" y="1325880"/>
            <a:ext cx="2441448" cy="205740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USA pack</a:t>
            </a:r>
            <a:endParaRPr lang="en-US" sz="1200" dirty="0"/>
          </a:p>
        </p:txBody>
      </p:sp>
      <p:sp>
        <p:nvSpPr>
          <p:cNvPr id="7" name="Text 2"/>
          <p:cNvSpPr/>
          <p:nvPr>
            <p:ph type="pic" idx="105" hasCustomPrompt="1"/>
          </p:nvPr>
        </p:nvSpPr>
        <p:spPr>
          <a:xfrm>
            <a:off x="3630168" y="1325880"/>
            <a:ext cx="2441448" cy="205740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Hungary pack</a:t>
            </a:r>
            <a:endParaRPr lang="en-US" sz="1200" dirty="0"/>
          </a:p>
        </p:txBody>
      </p:sp>
      <p:sp>
        <p:nvSpPr>
          <p:cNvPr id="8" name="Text 2"/>
          <p:cNvSpPr/>
          <p:nvPr>
            <p:ph type="pic" idx="106" hasCustomPrompt="1"/>
          </p:nvPr>
        </p:nvSpPr>
        <p:spPr>
          <a:xfrm>
            <a:off x="6345936" y="1325880"/>
            <a:ext cx="2441448" cy="205740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Indonesia pack</a:t>
            </a:r>
            <a:endParaRPr lang="en-US" sz="1200" dirty="0"/>
          </a:p>
        </p:txBody>
      </p:sp>
      <p:sp>
        <p:nvSpPr>
          <p:cNvPr id="9" name="Text 2"/>
          <p:cNvSpPr/>
          <p:nvPr>
            <p:ph type="pic" idx="107" hasCustomPrompt="1"/>
          </p:nvPr>
        </p:nvSpPr>
        <p:spPr>
          <a:xfrm>
            <a:off x="9061704" y="1325880"/>
            <a:ext cx="2441448" cy="2057400"/>
          </a:xfrm>
          <a:prstGeom prst="rect">
            <a:avLst/>
          </a:prstGeom>
          <a:noFill/>
          <a:ln/>
        </p:spPr>
        <p:txBody>
          <a:bodyPr wrap="square" rtlCol="0"/>
          <a:lstStyle>
            <a:lvl1pPr indent="0" marL="0">
              <a:buNone/>
              <a:defRPr lang="en-US" sz="1200" dirty="0">
                <a:solidFill>
                  <a:schemeClr val="accent3"/>
                </a:solidFill>
              </a:defRPr>
            </a:lvl1pPr>
          </a:lstStyle>
          <a:p>
            <a:pPr indent="0" marL="0">
              <a:buNone/>
            </a:pPr>
            <a:r>
              <a:rPr lang="en-US" sz="1200" dirty="0">
                <a:solidFill>
                  <a:schemeClr val="accent3"/>
                </a:solidFill>
              </a:rPr>
              <a:t>Insert photo: Australia pack</a:t>
            </a: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7680960" cy="365760"/>
          </a:xfrm>
          <a:prstGeom prst="rect">
            <a:avLst/>
          </a:prstGeom>
          <a:noFill/>
          <a:ln/>
        </p:spPr>
        <p:txBody>
          <a:bodyPr wrap="square" lIns="0" tIns="0" rIns="0" bIns="0" rtlCol="0" anchor="t"/>
          <a:lstStyle/>
          <a:p>
            <a:pPr indent="0" marL="0">
              <a:buNone/>
            </a:pPr>
            <a:r>
              <a:rPr lang="en-US" sz="1400" b="1" spc="100" kern="0" dirty="0">
                <a:solidFill>
                  <a:schemeClr val="accent4"/>
                </a:solidFill>
              </a:rPr>
              <a:t>International Marketing  ·  Individual presentation</a:t>
            </a:r>
            <a:endParaRPr lang="en-US" sz="1400" dirty="0"/>
          </a:p>
        </p:txBody>
      </p:sp>
      <p:sp>
        <p:nvSpPr>
          <p:cNvPr id="3" name="Text 1"/>
          <p:cNvSpPr txBox="1"/>
          <p:nvPr/>
        </p:nvSpPr>
        <p:spPr>
          <a:xfrm>
            <a:off x="731520" y="1554480"/>
            <a:ext cx="7498080" cy="2103120"/>
          </a:xfrm>
          <a:prstGeom prst="rect">
            <a:avLst/>
          </a:prstGeom>
          <a:noFill/>
          <a:ln/>
        </p:spPr>
        <p:txBody>
          <a:bodyPr wrap="square" lIns="0" tIns="0" rIns="0" bIns="0" rtlCol="0" anchor="t"/>
          <a:lstStyle/>
          <a:p>
            <a:pPr indent="0" marL="0">
              <a:buNone/>
            </a:pPr>
            <a:r>
              <a:rPr lang="en-US" sz="4000" b="1" dirty="0">
                <a:solidFill>
                  <a:schemeClr val="bg1"/>
                </a:solidFill>
              </a:rPr>
              <a:t>Tobacco Marketing on International Markets</a:t>
            </a:r>
            <a:endParaRPr lang="en-US" sz="4000" dirty="0"/>
          </a:p>
        </p:txBody>
      </p:sp>
      <p:sp>
        <p:nvSpPr>
          <p:cNvPr id="4" name="Text 2"/>
          <p:cNvSpPr txBox="1"/>
          <p:nvPr/>
        </p:nvSpPr>
        <p:spPr>
          <a:xfrm>
            <a:off x="731520" y="3794760"/>
            <a:ext cx="7315200" cy="822960"/>
          </a:xfrm>
          <a:prstGeom prst="rect">
            <a:avLst/>
          </a:prstGeom>
          <a:noFill/>
          <a:ln/>
        </p:spPr>
        <p:txBody>
          <a:bodyPr wrap="square" lIns="0" tIns="0" rIns="0" bIns="0" rtlCol="0" anchor="t"/>
          <a:lstStyle/>
          <a:p>
            <a:pPr indent="0" marL="0">
              <a:buNone/>
            </a:pPr>
            <a:r>
              <a:rPr lang="en-US" sz="2200" dirty="0">
                <a:solidFill>
                  <a:schemeClr val="accent4"/>
                </a:solidFill>
              </a:rPr>
              <a:t>How to sell a product nobody lets you advertise</a:t>
            </a:r>
            <a:endParaRPr lang="en-US" sz="2200" dirty="0"/>
          </a:p>
        </p:txBody>
      </p:sp>
      <p:sp>
        <p:nvSpPr>
          <p:cNvPr id="5" name="Text 3"/>
          <p:cNvSpPr txBox="1"/>
          <p:nvPr/>
        </p:nvSpPr>
        <p:spPr>
          <a:xfrm>
            <a:off x="731520" y="5806440"/>
            <a:ext cx="6766560" cy="365760"/>
          </a:xfrm>
          <a:prstGeom prst="rect">
            <a:avLst/>
          </a:prstGeom>
          <a:noFill/>
          <a:ln/>
        </p:spPr>
        <p:txBody>
          <a:bodyPr wrap="square" lIns="0" tIns="0" rIns="0" bIns="0" rtlCol="0" anchor="t"/>
          <a:lstStyle/>
          <a:p>
            <a:pPr indent="0" marL="0">
              <a:buNone/>
            </a:pPr>
            <a:r>
              <a:rPr lang="en-US" sz="1400" dirty="0">
                <a:solidFill>
                  <a:schemeClr val="accent4"/>
                </a:solidFill>
              </a:rPr>
              <a:t>Corvinus University of Budapest  ·  Fall 2026</a:t>
            </a:r>
            <a:endParaRPr lang="en-US" sz="1400" dirty="0"/>
          </a:p>
        </p:txBody>
      </p:sp>
      <p:sp>
        <p:nvSpPr>
          <p:cNvPr id="6" name="Photo Amir Kenenbaev"/>
          <p:cNvSpPr/>
          <p:nvPr/>
        </p:nvSpPr>
        <p:spPr>
          <a:xfrm>
            <a:off x="9098280" y="1828800"/>
            <a:ext cx="1828800" cy="1828800"/>
          </a:xfrm>
          <a:prstGeom prst="ellipse">
            <a:avLst/>
          </a:prstGeom>
          <a:solidFill>
            <a:srgbClr val="1B3A5C"/>
          </a:solidFill>
          <a:ln w="19050">
            <a:solidFill>
              <a:schemeClr val="bg1"/>
            </a:solidFill>
            <a:prstDash val="solid"/>
          </a:ln>
        </p:spPr>
      </p:sp>
      <p:sp>
        <p:nvSpPr>
          <p:cNvPr id="7" name="Text 5"/>
          <p:cNvSpPr txBox="1"/>
          <p:nvPr/>
        </p:nvSpPr>
        <p:spPr>
          <a:xfrm>
            <a:off x="8823960" y="3840480"/>
            <a:ext cx="2377440" cy="365760"/>
          </a:xfrm>
          <a:prstGeom prst="rect">
            <a:avLst/>
          </a:prstGeom>
          <a:noFill/>
          <a:ln/>
        </p:spPr>
        <p:txBody>
          <a:bodyPr wrap="square" lIns="0" tIns="0" rIns="0" bIns="0" rtlCol="0" anchor="t"/>
          <a:lstStyle/>
          <a:p>
            <a:pPr algn="ctr" indent="0" marL="0">
              <a:buNone/>
            </a:pPr>
            <a:r>
              <a:rPr lang="en-US" sz="1500" b="1" dirty="0">
                <a:solidFill>
                  <a:schemeClr val="bg1"/>
                </a:solidFill>
              </a:rPr>
              <a:t>Amir Kenenbaev</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Prologue</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Guess the country</a:t>
            </a:r>
            <a:endParaRPr lang="en-US" sz="2600" dirty="0"/>
          </a:p>
        </p:txBody>
      </p:sp>
      <p:sp>
        <p:nvSpPr>
          <p:cNvPr id="4" name="Text 2"/>
          <p:cNvSpPr txBox="1"/>
          <p:nvPr/>
        </p:nvSpPr>
        <p:spPr>
          <a:xfrm>
            <a:off x="914400" y="1188720"/>
            <a:ext cx="10588752" cy="365760"/>
          </a:xfrm>
          <a:prstGeom prst="rect">
            <a:avLst/>
          </a:prstGeom>
          <a:noFill/>
          <a:ln/>
        </p:spPr>
        <p:txBody>
          <a:bodyPr wrap="square" lIns="0" tIns="0" rIns="0" bIns="0" rtlCol="0" anchor="t"/>
          <a:lstStyle/>
          <a:p>
            <a:pPr indent="0" marL="0">
              <a:buNone/>
            </a:pPr>
            <a:r>
              <a:rPr lang="en-US" sz="1800" dirty="0">
                <a:solidFill>
                  <a:schemeClr val="accent6"/>
                </a:solidFill>
              </a:rPr>
              <a:t>Four packs, four countries. What is different?</a:t>
            </a:r>
            <a:endParaRPr lang="en-US" sz="1800" dirty="0"/>
          </a:p>
        </p:txBody>
      </p:sp>
      <p:sp>
        <p:nvSpPr>
          <p:cNvPr id="5" name="Text 3"/>
          <p:cNvSpPr txBox="1"/>
          <p:nvPr/>
        </p:nvSpPr>
        <p:spPr>
          <a:xfrm>
            <a:off x="914400" y="54406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6" name="Text 4"/>
          <p:cNvSpPr txBox="1"/>
          <p:nvPr/>
        </p:nvSpPr>
        <p:spPr>
          <a:xfrm>
            <a:off x="1508760" y="5513832"/>
            <a:ext cx="1737360" cy="329184"/>
          </a:xfrm>
          <a:prstGeom prst="rect">
            <a:avLst/>
          </a:prstGeom>
          <a:noFill/>
          <a:ln/>
        </p:spPr>
        <p:txBody>
          <a:bodyPr wrap="square" lIns="0" tIns="0" rIns="0" bIns="0" rtlCol="0" anchor="t"/>
          <a:lstStyle/>
          <a:p>
            <a:pPr indent="0" marL="0">
              <a:buNone/>
            </a:pPr>
            <a:r>
              <a:rPr lang="en-US" sz="1500" dirty="0">
                <a:solidFill>
                  <a:schemeClr val="accent3"/>
                </a:solidFill>
              </a:rPr>
              <a:t>Which country?</a:t>
            </a:r>
            <a:endParaRPr lang="en-US" sz="1500" dirty="0"/>
          </a:p>
        </p:txBody>
      </p:sp>
      <p:sp>
        <p:nvSpPr>
          <p:cNvPr id="7" name="Text 5"/>
          <p:cNvSpPr txBox="1"/>
          <p:nvPr/>
        </p:nvSpPr>
        <p:spPr>
          <a:xfrm>
            <a:off x="3666744" y="54406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8" name="Text 6"/>
          <p:cNvSpPr txBox="1"/>
          <p:nvPr/>
        </p:nvSpPr>
        <p:spPr>
          <a:xfrm>
            <a:off x="4261104" y="5513832"/>
            <a:ext cx="1737360" cy="329184"/>
          </a:xfrm>
          <a:prstGeom prst="rect">
            <a:avLst/>
          </a:prstGeom>
          <a:noFill/>
          <a:ln/>
        </p:spPr>
        <p:txBody>
          <a:bodyPr wrap="square" lIns="0" tIns="0" rIns="0" bIns="0" rtlCol="0" anchor="t"/>
          <a:lstStyle/>
          <a:p>
            <a:pPr indent="0" marL="0">
              <a:buNone/>
            </a:pPr>
            <a:r>
              <a:rPr lang="en-US" sz="1500" dirty="0">
                <a:solidFill>
                  <a:schemeClr val="accent3"/>
                </a:solidFill>
              </a:rPr>
              <a:t>Which country?</a:t>
            </a:r>
            <a:endParaRPr lang="en-US" sz="1500" dirty="0"/>
          </a:p>
        </p:txBody>
      </p:sp>
      <p:sp>
        <p:nvSpPr>
          <p:cNvPr id="9" name="Text 7"/>
          <p:cNvSpPr txBox="1"/>
          <p:nvPr/>
        </p:nvSpPr>
        <p:spPr>
          <a:xfrm>
            <a:off x="6419088" y="54406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0" name="Text 8"/>
          <p:cNvSpPr txBox="1"/>
          <p:nvPr/>
        </p:nvSpPr>
        <p:spPr>
          <a:xfrm>
            <a:off x="7013448" y="5513832"/>
            <a:ext cx="1737360" cy="329184"/>
          </a:xfrm>
          <a:prstGeom prst="rect">
            <a:avLst/>
          </a:prstGeom>
          <a:noFill/>
          <a:ln/>
        </p:spPr>
        <p:txBody>
          <a:bodyPr wrap="square" lIns="0" tIns="0" rIns="0" bIns="0" rtlCol="0" anchor="t"/>
          <a:lstStyle/>
          <a:p>
            <a:pPr indent="0" marL="0">
              <a:buNone/>
            </a:pPr>
            <a:r>
              <a:rPr lang="en-US" sz="1500" dirty="0">
                <a:solidFill>
                  <a:schemeClr val="accent3"/>
                </a:solidFill>
              </a:rPr>
              <a:t>Which country?</a:t>
            </a:r>
            <a:endParaRPr lang="en-US" sz="1500" dirty="0"/>
          </a:p>
        </p:txBody>
      </p:sp>
      <p:sp>
        <p:nvSpPr>
          <p:cNvPr id="11" name="Text 9"/>
          <p:cNvSpPr txBox="1"/>
          <p:nvPr/>
        </p:nvSpPr>
        <p:spPr>
          <a:xfrm>
            <a:off x="9171432" y="54406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2" name="Text 10"/>
          <p:cNvSpPr txBox="1"/>
          <p:nvPr/>
        </p:nvSpPr>
        <p:spPr>
          <a:xfrm>
            <a:off x="9765792" y="5513832"/>
            <a:ext cx="1737360" cy="329184"/>
          </a:xfrm>
          <a:prstGeom prst="rect">
            <a:avLst/>
          </a:prstGeom>
          <a:noFill/>
          <a:ln/>
        </p:spPr>
        <p:txBody>
          <a:bodyPr wrap="square" lIns="0" tIns="0" rIns="0" bIns="0" rtlCol="0" anchor="t"/>
          <a:lstStyle/>
          <a:p>
            <a:pPr indent="0" marL="0">
              <a:buNone/>
            </a:pPr>
            <a:r>
              <a:rPr lang="en-US" sz="1500" dirty="0">
                <a:solidFill>
                  <a:schemeClr val="accent3"/>
                </a:solidFill>
              </a:rPr>
              <a:t>Which country?</a:t>
            </a:r>
            <a:endParaRPr lang="en-US" sz="1500" dirty="0"/>
          </a:p>
        </p:txBody>
      </p:sp>
      <p:sp>
        <p:nvSpPr>
          <p:cNvPr id="14" name="Text 2"/>
          <p:cNvSpPr/>
          <p:nvPr>
            <p:ph type="pic" idx="104" hasCustomPrompt="1"/>
          </p:nvPr>
        </p:nvSpPr>
        <p:spPr>
          <a:xfrm>
            <a:off x="914400" y="1691640"/>
            <a:ext cx="2331720" cy="3566160"/>
          </a:xfrm>
          <a:prstGeom prst="rect">
            <a:avLst/>
          </a:prstGeom>
          <a:noFill/>
          <a:ln/>
        </p:spPr>
        <p:txBody>
          <a:bodyPr wrap="square" rtlCol="0"/>
          <a:lstStyle/>
          <a:p>
            <a:pPr indent="0" marL="0">
              <a:buNone/>
            </a:pPr>
            <a:endParaRPr lang="en-US" sz="1200" dirty="0"/>
          </a:p>
        </p:txBody>
      </p:sp>
      <p:sp>
        <p:nvSpPr>
          <p:cNvPr id="15" name="Text 2"/>
          <p:cNvSpPr/>
          <p:nvPr>
            <p:ph type="pic" idx="105" hasCustomPrompt="1"/>
          </p:nvPr>
        </p:nvSpPr>
        <p:spPr>
          <a:xfrm>
            <a:off x="3666744" y="1691640"/>
            <a:ext cx="2331720" cy="3566160"/>
          </a:xfrm>
          <a:prstGeom prst="rect">
            <a:avLst/>
          </a:prstGeom>
          <a:noFill/>
          <a:ln/>
        </p:spPr>
        <p:txBody>
          <a:bodyPr wrap="square" rtlCol="0"/>
          <a:lstStyle/>
          <a:p>
            <a:pPr indent="0" marL="0">
              <a:buNone/>
            </a:pPr>
            <a:endParaRPr lang="en-US" sz="1200" dirty="0"/>
          </a:p>
        </p:txBody>
      </p:sp>
      <p:sp>
        <p:nvSpPr>
          <p:cNvPr id="16" name="Text 2"/>
          <p:cNvSpPr/>
          <p:nvPr>
            <p:ph type="pic" idx="106" hasCustomPrompt="1"/>
          </p:nvPr>
        </p:nvSpPr>
        <p:spPr>
          <a:xfrm>
            <a:off x="6419088" y="1691640"/>
            <a:ext cx="2331720" cy="3566160"/>
          </a:xfrm>
          <a:prstGeom prst="rect">
            <a:avLst/>
          </a:prstGeom>
          <a:noFill/>
          <a:ln/>
        </p:spPr>
        <p:txBody>
          <a:bodyPr wrap="square" rtlCol="0"/>
          <a:lstStyle/>
          <a:p>
            <a:pPr indent="0" marL="0">
              <a:buNone/>
            </a:pPr>
            <a:endParaRPr lang="en-US" sz="1200" dirty="0"/>
          </a:p>
        </p:txBody>
      </p:sp>
      <p:sp>
        <p:nvSpPr>
          <p:cNvPr id="17" name="Text 2"/>
          <p:cNvSpPr/>
          <p:nvPr>
            <p:ph type="pic" idx="107" hasCustomPrompt="1"/>
          </p:nvPr>
        </p:nvSpPr>
        <p:spPr>
          <a:xfrm>
            <a:off x="9171432" y="1691640"/>
            <a:ext cx="2331720" cy="3566160"/>
          </a:xfrm>
          <a:prstGeom prst="rect">
            <a:avLst/>
          </a:prstGeom>
          <a:noFill/>
          <a:ln/>
        </p:spPr>
        <p:txBody>
          <a:bodyPr wrap="square" rtlCol="0"/>
          <a:lstStyle/>
          <a:p>
            <a:pPr indent="0" marL="0">
              <a:buNone/>
            </a:pP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Prologue</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Same cigarettes, four different rulebooks</a:t>
            </a:r>
            <a:endParaRPr lang="en-US" sz="2600" dirty="0"/>
          </a:p>
        </p:txBody>
      </p:sp>
      <p:sp>
        <p:nvSpPr>
          <p:cNvPr id="4" name="Text 2"/>
          <p:cNvSpPr txBox="1"/>
          <p:nvPr/>
        </p:nvSpPr>
        <p:spPr>
          <a:xfrm>
            <a:off x="914400" y="3611880"/>
            <a:ext cx="2441448" cy="320040"/>
          </a:xfrm>
          <a:prstGeom prst="rect">
            <a:avLst/>
          </a:prstGeom>
          <a:noFill/>
          <a:ln/>
        </p:spPr>
        <p:txBody>
          <a:bodyPr wrap="square" lIns="0" tIns="0" rIns="0" bIns="0" rtlCol="0" anchor="t"/>
          <a:lstStyle/>
          <a:p>
            <a:pPr indent="0" marL="0">
              <a:buNone/>
            </a:pPr>
            <a:r>
              <a:rPr lang="en-US" sz="1600" b="1" dirty="0">
                <a:solidFill>
                  <a:schemeClr val="accent2"/>
                </a:solidFill>
              </a:rPr>
              <a:t>A  ·  USA</a:t>
            </a:r>
            <a:endParaRPr lang="en-US" sz="1600" dirty="0"/>
          </a:p>
        </p:txBody>
      </p:sp>
      <p:sp>
        <p:nvSpPr>
          <p:cNvPr id="5" name="Text 3"/>
          <p:cNvSpPr txBox="1"/>
          <p:nvPr/>
        </p:nvSpPr>
        <p:spPr>
          <a:xfrm>
            <a:off x="914400" y="3977640"/>
            <a:ext cx="2441448" cy="640080"/>
          </a:xfrm>
          <a:prstGeom prst="rect">
            <a:avLst/>
          </a:prstGeom>
          <a:noFill/>
          <a:ln/>
        </p:spPr>
        <p:txBody>
          <a:bodyPr wrap="square" lIns="0" tIns="0" rIns="0" bIns="0" rtlCol="0" anchor="t"/>
          <a:lstStyle/>
          <a:p>
            <a:pPr indent="0" marL="0">
              <a:buNone/>
            </a:pPr>
            <a:r>
              <a:rPr lang="en-US" sz="3600" b="1" dirty="0">
                <a:solidFill>
                  <a:schemeClr val="accent1"/>
                </a:solidFill>
              </a:rPr>
              <a:t>Text only</a:t>
            </a:r>
            <a:endParaRPr lang="en-US" sz="3600" dirty="0"/>
          </a:p>
        </p:txBody>
      </p:sp>
      <p:sp>
        <p:nvSpPr>
          <p:cNvPr id="6" name="Text 4"/>
          <p:cNvSpPr txBox="1"/>
          <p:nvPr/>
        </p:nvSpPr>
        <p:spPr>
          <a:xfrm>
            <a:off x="914400" y="4709160"/>
            <a:ext cx="2441448" cy="822960"/>
          </a:xfrm>
          <a:prstGeom prst="rect">
            <a:avLst/>
          </a:prstGeom>
          <a:noFill/>
          <a:ln/>
        </p:spPr>
        <p:txBody>
          <a:bodyPr wrap="square" lIns="0" tIns="0" rIns="0" bIns="0" rtlCol="0" anchor="t"/>
          <a:lstStyle/>
          <a:p>
            <a:pPr indent="0" marL="0">
              <a:buNone/>
            </a:pPr>
            <a:r>
              <a:rPr lang="en-US" sz="1500" dirty="0">
                <a:solidFill>
                  <a:schemeClr val="accent6"/>
                </a:solidFill>
              </a:rPr>
              <a:t>Small warning on the side. The brand owns the front.</a:t>
            </a:r>
            <a:endParaRPr lang="en-US" sz="1500" dirty="0"/>
          </a:p>
        </p:txBody>
      </p:sp>
      <p:sp>
        <p:nvSpPr>
          <p:cNvPr id="7" name="Text 5"/>
          <p:cNvSpPr txBox="1"/>
          <p:nvPr/>
        </p:nvSpPr>
        <p:spPr>
          <a:xfrm>
            <a:off x="3630168" y="3611880"/>
            <a:ext cx="2441448" cy="320040"/>
          </a:xfrm>
          <a:prstGeom prst="rect">
            <a:avLst/>
          </a:prstGeom>
          <a:noFill/>
          <a:ln/>
        </p:spPr>
        <p:txBody>
          <a:bodyPr wrap="square" lIns="0" tIns="0" rIns="0" bIns="0" rtlCol="0" anchor="t"/>
          <a:lstStyle/>
          <a:p>
            <a:pPr indent="0" marL="0">
              <a:buNone/>
            </a:pPr>
            <a:r>
              <a:rPr lang="en-US" sz="1600" b="1" dirty="0">
                <a:solidFill>
                  <a:schemeClr val="accent2"/>
                </a:solidFill>
              </a:rPr>
              <a:t>B  ·  Hungary</a:t>
            </a:r>
            <a:endParaRPr lang="en-US" sz="1600" dirty="0"/>
          </a:p>
        </p:txBody>
      </p:sp>
      <p:sp>
        <p:nvSpPr>
          <p:cNvPr id="8" name="Text 6"/>
          <p:cNvSpPr txBox="1"/>
          <p:nvPr/>
        </p:nvSpPr>
        <p:spPr>
          <a:xfrm>
            <a:off x="3630168" y="3977640"/>
            <a:ext cx="2441448" cy="640080"/>
          </a:xfrm>
          <a:prstGeom prst="rect">
            <a:avLst/>
          </a:prstGeom>
          <a:noFill/>
          <a:ln/>
        </p:spPr>
        <p:txBody>
          <a:bodyPr wrap="square" lIns="0" tIns="0" rIns="0" bIns="0" rtlCol="0" anchor="t"/>
          <a:lstStyle/>
          <a:p>
            <a:pPr indent="0" marL="0">
              <a:buNone/>
            </a:pPr>
            <a:r>
              <a:rPr lang="en-US" sz="3600" b="1" dirty="0">
                <a:solidFill>
                  <a:schemeClr val="accent1"/>
                </a:solidFill>
              </a:rPr>
              <a:t>65%</a:t>
            </a:r>
            <a:endParaRPr lang="en-US" sz="3600" dirty="0"/>
          </a:p>
        </p:txBody>
      </p:sp>
      <p:sp>
        <p:nvSpPr>
          <p:cNvPr id="9" name="Text 7"/>
          <p:cNvSpPr txBox="1"/>
          <p:nvPr/>
        </p:nvSpPr>
        <p:spPr>
          <a:xfrm>
            <a:off x="3630168" y="4709160"/>
            <a:ext cx="2441448" cy="822960"/>
          </a:xfrm>
          <a:prstGeom prst="rect">
            <a:avLst/>
          </a:prstGeom>
          <a:noFill/>
          <a:ln/>
        </p:spPr>
        <p:txBody>
          <a:bodyPr wrap="square" lIns="0" tIns="0" rIns="0" bIns="0" rtlCol="0" anchor="t"/>
          <a:lstStyle/>
          <a:p>
            <a:pPr indent="0" marL="0">
              <a:buNone/>
            </a:pPr>
            <a:r>
              <a:rPr lang="en-US" sz="1500" dirty="0">
                <a:solidFill>
                  <a:schemeClr val="accent6"/>
                </a:solidFill>
              </a:rPr>
              <a:t>Picture warnings and a plain pack since 2022.</a:t>
            </a:r>
            <a:endParaRPr lang="en-US" sz="1500" dirty="0"/>
          </a:p>
        </p:txBody>
      </p:sp>
      <p:sp>
        <p:nvSpPr>
          <p:cNvPr id="10" name="Text 8"/>
          <p:cNvSpPr txBox="1"/>
          <p:nvPr/>
        </p:nvSpPr>
        <p:spPr>
          <a:xfrm>
            <a:off x="6345936" y="3611880"/>
            <a:ext cx="2441448" cy="320040"/>
          </a:xfrm>
          <a:prstGeom prst="rect">
            <a:avLst/>
          </a:prstGeom>
          <a:noFill/>
          <a:ln/>
        </p:spPr>
        <p:txBody>
          <a:bodyPr wrap="square" lIns="0" tIns="0" rIns="0" bIns="0" rtlCol="0" anchor="t"/>
          <a:lstStyle/>
          <a:p>
            <a:pPr indent="0" marL="0">
              <a:buNone/>
            </a:pPr>
            <a:r>
              <a:rPr lang="en-US" sz="1600" b="1" dirty="0">
                <a:solidFill>
                  <a:schemeClr val="accent2"/>
                </a:solidFill>
              </a:rPr>
              <a:t>C  ·  Indonesia</a:t>
            </a:r>
            <a:endParaRPr lang="en-US" sz="1600" dirty="0"/>
          </a:p>
        </p:txBody>
      </p:sp>
      <p:sp>
        <p:nvSpPr>
          <p:cNvPr id="11" name="Text 9"/>
          <p:cNvSpPr txBox="1"/>
          <p:nvPr/>
        </p:nvSpPr>
        <p:spPr>
          <a:xfrm>
            <a:off x="6345936" y="3977640"/>
            <a:ext cx="2441448" cy="640080"/>
          </a:xfrm>
          <a:prstGeom prst="rect">
            <a:avLst/>
          </a:prstGeom>
          <a:noFill/>
          <a:ln/>
        </p:spPr>
        <p:txBody>
          <a:bodyPr wrap="square" lIns="0" tIns="0" rIns="0" bIns="0" rtlCol="0" anchor="t"/>
          <a:lstStyle/>
          <a:p>
            <a:pPr indent="0" marL="0">
              <a:buNone/>
            </a:pPr>
            <a:r>
              <a:rPr lang="en-US" sz="3600" b="1" dirty="0">
                <a:solidFill>
                  <a:schemeClr val="accent1"/>
                </a:solidFill>
              </a:rPr>
              <a:t>40%</a:t>
            </a:r>
            <a:endParaRPr lang="en-US" sz="3600" dirty="0"/>
          </a:p>
        </p:txBody>
      </p:sp>
      <p:sp>
        <p:nvSpPr>
          <p:cNvPr id="12" name="Text 10"/>
          <p:cNvSpPr txBox="1"/>
          <p:nvPr/>
        </p:nvSpPr>
        <p:spPr>
          <a:xfrm>
            <a:off x="6345936" y="4709160"/>
            <a:ext cx="2441448" cy="822960"/>
          </a:xfrm>
          <a:prstGeom prst="rect">
            <a:avLst/>
          </a:prstGeom>
          <a:noFill/>
          <a:ln/>
        </p:spPr>
        <p:txBody>
          <a:bodyPr wrap="square" lIns="0" tIns="0" rIns="0" bIns="0" rtlCol="0" anchor="t"/>
          <a:lstStyle/>
          <a:p>
            <a:pPr indent="0" marL="0">
              <a:buNone/>
            </a:pPr>
            <a:r>
              <a:rPr lang="en-US" sz="1500" dirty="0">
                <a:solidFill>
                  <a:schemeClr val="accent6"/>
                </a:solidFill>
              </a:rPr>
              <a:t>Small picture warning. Clove kretek culture.</a:t>
            </a:r>
            <a:endParaRPr lang="en-US" sz="1500" dirty="0"/>
          </a:p>
        </p:txBody>
      </p:sp>
      <p:sp>
        <p:nvSpPr>
          <p:cNvPr id="13" name="Text 11"/>
          <p:cNvSpPr txBox="1"/>
          <p:nvPr/>
        </p:nvSpPr>
        <p:spPr>
          <a:xfrm>
            <a:off x="9061704" y="3611880"/>
            <a:ext cx="2441448" cy="320040"/>
          </a:xfrm>
          <a:prstGeom prst="rect">
            <a:avLst/>
          </a:prstGeom>
          <a:noFill/>
          <a:ln/>
        </p:spPr>
        <p:txBody>
          <a:bodyPr wrap="square" lIns="0" tIns="0" rIns="0" bIns="0" rtlCol="0" anchor="t"/>
          <a:lstStyle/>
          <a:p>
            <a:pPr indent="0" marL="0">
              <a:buNone/>
            </a:pPr>
            <a:r>
              <a:rPr lang="en-US" sz="1600" b="1" dirty="0">
                <a:solidFill>
                  <a:schemeClr val="accent2"/>
                </a:solidFill>
              </a:rPr>
              <a:t>D  ·  Australia</a:t>
            </a:r>
            <a:endParaRPr lang="en-US" sz="1600" dirty="0"/>
          </a:p>
        </p:txBody>
      </p:sp>
      <p:sp>
        <p:nvSpPr>
          <p:cNvPr id="14" name="Text 12"/>
          <p:cNvSpPr txBox="1"/>
          <p:nvPr/>
        </p:nvSpPr>
        <p:spPr>
          <a:xfrm>
            <a:off x="9061704" y="3977640"/>
            <a:ext cx="2441448" cy="640080"/>
          </a:xfrm>
          <a:prstGeom prst="rect">
            <a:avLst/>
          </a:prstGeom>
          <a:noFill/>
          <a:ln/>
        </p:spPr>
        <p:txBody>
          <a:bodyPr wrap="square" lIns="0" tIns="0" rIns="0" bIns="0" rtlCol="0" anchor="t"/>
          <a:lstStyle/>
          <a:p>
            <a:pPr indent="0" marL="0">
              <a:buNone/>
            </a:pPr>
            <a:r>
              <a:rPr lang="en-US" sz="3600" b="1" dirty="0">
                <a:solidFill>
                  <a:schemeClr val="accent1"/>
                </a:solidFill>
              </a:rPr>
              <a:t>75%</a:t>
            </a:r>
            <a:endParaRPr lang="en-US" sz="3600" dirty="0"/>
          </a:p>
        </p:txBody>
      </p:sp>
      <p:sp>
        <p:nvSpPr>
          <p:cNvPr id="15" name="Text 13"/>
          <p:cNvSpPr txBox="1"/>
          <p:nvPr/>
        </p:nvSpPr>
        <p:spPr>
          <a:xfrm>
            <a:off x="9061704" y="4709160"/>
            <a:ext cx="2441448" cy="822960"/>
          </a:xfrm>
          <a:prstGeom prst="rect">
            <a:avLst/>
          </a:prstGeom>
          <a:noFill/>
          <a:ln/>
        </p:spPr>
        <p:txBody>
          <a:bodyPr wrap="square" lIns="0" tIns="0" rIns="0" bIns="0" rtlCol="0" anchor="t"/>
          <a:lstStyle/>
          <a:p>
            <a:pPr indent="0" marL="0">
              <a:buNone/>
            </a:pPr>
            <a:r>
              <a:rPr lang="en-US" sz="1500" dirty="0">
                <a:solidFill>
                  <a:schemeClr val="accent6"/>
                </a:solidFill>
              </a:rPr>
              <a:t>The world’s first plain packs (2012).</a:t>
            </a:r>
            <a:endParaRPr lang="en-US" sz="1500" dirty="0"/>
          </a:p>
        </p:txBody>
      </p:sp>
      <p:sp>
        <p:nvSpPr>
          <p:cNvPr id="16" name="Text 14"/>
          <p:cNvSpPr txBox="1"/>
          <p:nvPr/>
        </p:nvSpPr>
        <p:spPr>
          <a:xfrm>
            <a:off x="914400" y="6053328"/>
            <a:ext cx="10588752" cy="256032"/>
          </a:xfrm>
          <a:prstGeom prst="rect">
            <a:avLst/>
          </a:prstGeom>
          <a:noFill/>
          <a:ln/>
        </p:spPr>
        <p:txBody>
          <a:bodyPr wrap="square" lIns="0" tIns="0" rIns="0" bIns="0" rtlCol="0" anchor="t"/>
          <a:lstStyle/>
          <a:p>
            <a:pPr indent="0" marL="0">
              <a:buNone/>
            </a:pPr>
            <a:r>
              <a:rPr lang="en-US" sz="1000" i="1" dirty="0">
                <a:solidFill>
                  <a:schemeClr val="accent3"/>
                </a:solidFill>
              </a:rPr>
              <a:t>Warning size = share of the pack front. Sources: Canadian Cancer Society (2025); TPackSS (2023).</a:t>
            </a:r>
            <a:endParaRPr lang="en-US" sz="1000" dirty="0"/>
          </a:p>
        </p:txBody>
      </p:sp>
      <p:sp>
        <p:nvSpPr>
          <p:cNvPr id="18" name="Text 2"/>
          <p:cNvSpPr/>
          <p:nvPr>
            <p:ph type="pic" idx="104" hasCustomPrompt="1"/>
          </p:nvPr>
        </p:nvSpPr>
        <p:spPr>
          <a:xfrm>
            <a:off x="914400" y="1325880"/>
            <a:ext cx="2441448" cy="2057400"/>
          </a:xfrm>
          <a:prstGeom prst="rect">
            <a:avLst/>
          </a:prstGeom>
          <a:noFill/>
          <a:ln/>
        </p:spPr>
        <p:txBody>
          <a:bodyPr wrap="square" rtlCol="0"/>
          <a:lstStyle/>
          <a:p>
            <a:pPr indent="0" marL="0">
              <a:buNone/>
            </a:pPr>
            <a:endParaRPr lang="en-US" sz="1200" dirty="0"/>
          </a:p>
        </p:txBody>
      </p:sp>
      <p:sp>
        <p:nvSpPr>
          <p:cNvPr id="19" name="Text 2"/>
          <p:cNvSpPr/>
          <p:nvPr>
            <p:ph type="pic" idx="105" hasCustomPrompt="1"/>
          </p:nvPr>
        </p:nvSpPr>
        <p:spPr>
          <a:xfrm>
            <a:off x="3630168" y="1325880"/>
            <a:ext cx="2441448" cy="2057400"/>
          </a:xfrm>
          <a:prstGeom prst="rect">
            <a:avLst/>
          </a:prstGeom>
          <a:noFill/>
          <a:ln/>
        </p:spPr>
        <p:txBody>
          <a:bodyPr wrap="square" rtlCol="0"/>
          <a:lstStyle/>
          <a:p>
            <a:pPr indent="0" marL="0">
              <a:buNone/>
            </a:pPr>
            <a:endParaRPr lang="en-US" sz="1200" dirty="0"/>
          </a:p>
        </p:txBody>
      </p:sp>
      <p:sp>
        <p:nvSpPr>
          <p:cNvPr id="20" name="Text 2"/>
          <p:cNvSpPr/>
          <p:nvPr>
            <p:ph type="pic" idx="106" hasCustomPrompt="1"/>
          </p:nvPr>
        </p:nvSpPr>
        <p:spPr>
          <a:xfrm>
            <a:off x="6345936" y="1325880"/>
            <a:ext cx="2441448" cy="2057400"/>
          </a:xfrm>
          <a:prstGeom prst="rect">
            <a:avLst/>
          </a:prstGeom>
          <a:noFill/>
          <a:ln/>
        </p:spPr>
        <p:txBody>
          <a:bodyPr wrap="square" rtlCol="0"/>
          <a:lstStyle/>
          <a:p>
            <a:pPr indent="0" marL="0">
              <a:buNone/>
            </a:pPr>
            <a:endParaRPr lang="en-US" sz="1200" dirty="0"/>
          </a:p>
        </p:txBody>
      </p:sp>
      <p:sp>
        <p:nvSpPr>
          <p:cNvPr id="21" name="Text 2"/>
          <p:cNvSpPr/>
          <p:nvPr>
            <p:ph type="pic" idx="107" hasCustomPrompt="1"/>
          </p:nvPr>
        </p:nvSpPr>
        <p:spPr>
          <a:xfrm>
            <a:off x="9061704" y="1325880"/>
            <a:ext cx="2441448" cy="2057400"/>
          </a:xfrm>
          <a:prstGeom prst="rect">
            <a:avLst/>
          </a:prstGeom>
          <a:noFill/>
          <a:ln/>
        </p:spPr>
        <p:txBody>
          <a:bodyPr wrap="square" rtlCol="0"/>
          <a:lstStyle/>
          <a:p>
            <a:pPr indent="0" marL="0">
              <a:buNone/>
            </a:pP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Prologue</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The marketer’s problem</a:t>
            </a:r>
            <a:endParaRPr lang="en-US" sz="2600" dirty="0"/>
          </a:p>
        </p:txBody>
      </p:sp>
      <p:sp>
        <p:nvSpPr>
          <p:cNvPr id="4" name="Text 2"/>
          <p:cNvSpPr txBox="1"/>
          <p:nvPr/>
        </p:nvSpPr>
        <p:spPr>
          <a:xfrm>
            <a:off x="914400" y="1554480"/>
            <a:ext cx="10588752" cy="1463040"/>
          </a:xfrm>
          <a:prstGeom prst="rect">
            <a:avLst/>
          </a:prstGeom>
          <a:noFill/>
          <a:ln/>
        </p:spPr>
        <p:txBody>
          <a:bodyPr wrap="square" lIns="0" tIns="0" rIns="0" bIns="0" rtlCol="0" anchor="t"/>
          <a:lstStyle/>
          <a:p>
            <a:pPr indent="0" marL="0">
              <a:buNone/>
            </a:pPr>
            <a:r>
              <a:rPr lang="en-US" sz="3200" b="1" dirty="0">
                <a:solidFill>
                  <a:schemeClr val="accent1"/>
                </a:solidFill>
              </a:rPr>
              <a:t>How do you sell a product to 1.2 billion people when most of the world won’t let you advertise it?</a:t>
            </a:r>
            <a:endParaRPr lang="en-US" sz="3200" dirty="0"/>
          </a:p>
        </p:txBody>
      </p:sp>
      <p:sp>
        <p:nvSpPr>
          <p:cNvPr id="5" name="Shape 3"/>
          <p:cNvSpPr/>
          <p:nvPr/>
        </p:nvSpPr>
        <p:spPr>
          <a:xfrm>
            <a:off x="914400" y="3566160"/>
            <a:ext cx="3346704" cy="2103120"/>
          </a:xfrm>
          <a:prstGeom prst="rect">
            <a:avLst/>
          </a:prstGeom>
          <a:solidFill>
            <a:schemeClr val="bg2"/>
          </a:solidFill>
          <a:ln w="12700">
            <a:solidFill>
              <a:schemeClr val="bg2"/>
            </a:solidFill>
            <a:prstDash val="solid"/>
          </a:ln>
        </p:spPr>
      </p:sp>
      <p:sp>
        <p:nvSpPr>
          <p:cNvPr id="6" name="Text 4"/>
          <p:cNvSpPr txBox="1"/>
          <p:nvPr/>
        </p:nvSpPr>
        <p:spPr>
          <a:xfrm>
            <a:off x="1234440" y="3749040"/>
            <a:ext cx="2706624" cy="777240"/>
          </a:xfrm>
          <a:prstGeom prst="rect">
            <a:avLst/>
          </a:prstGeom>
          <a:noFill/>
          <a:ln/>
        </p:spPr>
        <p:txBody>
          <a:bodyPr wrap="square" lIns="0" tIns="0" rIns="0" bIns="0" rtlCol="0" anchor="t"/>
          <a:lstStyle/>
          <a:p>
            <a:pPr indent="0" marL="0">
              <a:buNone/>
            </a:pPr>
            <a:r>
              <a:rPr lang="en-US" sz="4400" b="1" dirty="0">
                <a:solidFill>
                  <a:schemeClr val="accent2"/>
                </a:solidFill>
              </a:rPr>
              <a:t>1.2 bn</a:t>
            </a:r>
            <a:endParaRPr lang="en-US" sz="4400" dirty="0"/>
          </a:p>
        </p:txBody>
      </p:sp>
      <p:sp>
        <p:nvSpPr>
          <p:cNvPr id="7" name="Text 5"/>
          <p:cNvSpPr txBox="1"/>
          <p:nvPr/>
        </p:nvSpPr>
        <p:spPr>
          <a:xfrm>
            <a:off x="1234440" y="4572000"/>
            <a:ext cx="2706624" cy="685800"/>
          </a:xfrm>
          <a:prstGeom prst="rect">
            <a:avLst/>
          </a:prstGeom>
          <a:noFill/>
          <a:ln/>
        </p:spPr>
        <p:txBody>
          <a:bodyPr wrap="square" lIns="0" tIns="0" rIns="0" bIns="0" rtlCol="0" anchor="t"/>
          <a:lstStyle/>
          <a:p>
            <a:pPr indent="0" marL="0">
              <a:buNone/>
            </a:pPr>
            <a:r>
              <a:rPr lang="en-US" sz="1600" dirty="0">
                <a:solidFill>
                  <a:schemeClr val="accent6"/>
                </a:solidFill>
              </a:rPr>
              <a:t>people use tobacco: about 1 adult in 5</a:t>
            </a:r>
            <a:endParaRPr lang="en-US" sz="1600" dirty="0"/>
          </a:p>
        </p:txBody>
      </p:sp>
      <p:sp>
        <p:nvSpPr>
          <p:cNvPr id="8" name="Text 6"/>
          <p:cNvSpPr txBox="1"/>
          <p:nvPr/>
        </p:nvSpPr>
        <p:spPr>
          <a:xfrm>
            <a:off x="1234440" y="5303520"/>
            <a:ext cx="2706624" cy="228600"/>
          </a:xfrm>
          <a:prstGeom prst="rect">
            <a:avLst/>
          </a:prstGeom>
          <a:noFill/>
          <a:ln/>
        </p:spPr>
        <p:txBody>
          <a:bodyPr wrap="square" lIns="0" tIns="0" rIns="0" bIns="0" rtlCol="0" anchor="t"/>
          <a:lstStyle/>
          <a:p>
            <a:pPr indent="0" marL="0">
              <a:buNone/>
            </a:pPr>
            <a:r>
              <a:rPr lang="en-US" sz="1000" i="1" dirty="0">
                <a:solidFill>
                  <a:schemeClr val="accent3"/>
                </a:solidFill>
              </a:rPr>
              <a:t>WHO, 2025</a:t>
            </a:r>
            <a:endParaRPr lang="en-US" sz="1000" dirty="0"/>
          </a:p>
        </p:txBody>
      </p:sp>
      <p:sp>
        <p:nvSpPr>
          <p:cNvPr id="9" name="Shape 7"/>
          <p:cNvSpPr/>
          <p:nvPr/>
        </p:nvSpPr>
        <p:spPr>
          <a:xfrm>
            <a:off x="4535424" y="3566160"/>
            <a:ext cx="3346704" cy="2103120"/>
          </a:xfrm>
          <a:prstGeom prst="rect">
            <a:avLst/>
          </a:prstGeom>
          <a:solidFill>
            <a:schemeClr val="bg2"/>
          </a:solidFill>
          <a:ln w="12700">
            <a:solidFill>
              <a:schemeClr val="bg2"/>
            </a:solidFill>
            <a:prstDash val="solid"/>
          </a:ln>
        </p:spPr>
      </p:sp>
      <p:sp>
        <p:nvSpPr>
          <p:cNvPr id="10" name="Text 8"/>
          <p:cNvSpPr txBox="1"/>
          <p:nvPr/>
        </p:nvSpPr>
        <p:spPr>
          <a:xfrm>
            <a:off x="4855464" y="3749040"/>
            <a:ext cx="2706624" cy="777240"/>
          </a:xfrm>
          <a:prstGeom prst="rect">
            <a:avLst/>
          </a:prstGeom>
          <a:noFill/>
          <a:ln/>
        </p:spPr>
        <p:txBody>
          <a:bodyPr wrap="square" lIns="0" tIns="0" rIns="0" bIns="0" rtlCol="0" anchor="t"/>
          <a:lstStyle/>
          <a:p>
            <a:pPr indent="0" marL="0">
              <a:buNone/>
            </a:pPr>
            <a:r>
              <a:rPr lang="en-US" sz="4400" b="1" dirty="0">
                <a:solidFill>
                  <a:schemeClr val="accent2"/>
                </a:solidFill>
              </a:rPr>
              <a:t>80%</a:t>
            </a:r>
            <a:endParaRPr lang="en-US" sz="4400" dirty="0"/>
          </a:p>
        </p:txBody>
      </p:sp>
      <p:sp>
        <p:nvSpPr>
          <p:cNvPr id="11" name="Text 9"/>
          <p:cNvSpPr txBox="1"/>
          <p:nvPr/>
        </p:nvSpPr>
        <p:spPr>
          <a:xfrm>
            <a:off x="4855464" y="4572000"/>
            <a:ext cx="2706624" cy="685800"/>
          </a:xfrm>
          <a:prstGeom prst="rect">
            <a:avLst/>
          </a:prstGeom>
          <a:noFill/>
          <a:ln/>
        </p:spPr>
        <p:txBody>
          <a:bodyPr wrap="square" lIns="0" tIns="0" rIns="0" bIns="0" rtlCol="0" anchor="t"/>
          <a:lstStyle/>
          <a:p>
            <a:pPr indent="0" marL="0">
              <a:buNone/>
            </a:pPr>
            <a:r>
              <a:rPr lang="en-US" sz="1600" dirty="0">
                <a:solidFill>
                  <a:schemeClr val="accent6"/>
                </a:solidFill>
              </a:rPr>
              <a:t>of them live in low- and middle-income countries</a:t>
            </a:r>
            <a:endParaRPr lang="en-US" sz="1600" dirty="0"/>
          </a:p>
        </p:txBody>
      </p:sp>
      <p:sp>
        <p:nvSpPr>
          <p:cNvPr id="12" name="Text 10"/>
          <p:cNvSpPr txBox="1"/>
          <p:nvPr/>
        </p:nvSpPr>
        <p:spPr>
          <a:xfrm>
            <a:off x="4855464" y="5303520"/>
            <a:ext cx="2706624" cy="228600"/>
          </a:xfrm>
          <a:prstGeom prst="rect">
            <a:avLst/>
          </a:prstGeom>
          <a:noFill/>
          <a:ln/>
        </p:spPr>
        <p:txBody>
          <a:bodyPr wrap="square" lIns="0" tIns="0" rIns="0" bIns="0" rtlCol="0" anchor="t"/>
          <a:lstStyle/>
          <a:p>
            <a:pPr indent="0" marL="0">
              <a:buNone/>
            </a:pPr>
            <a:r>
              <a:rPr lang="en-US" sz="1000" i="1" dirty="0">
                <a:solidFill>
                  <a:schemeClr val="accent3"/>
                </a:solidFill>
              </a:rPr>
              <a:t>WHO</a:t>
            </a:r>
            <a:endParaRPr lang="en-US" sz="1000" dirty="0"/>
          </a:p>
        </p:txBody>
      </p:sp>
      <p:sp>
        <p:nvSpPr>
          <p:cNvPr id="13" name="Shape 11"/>
          <p:cNvSpPr/>
          <p:nvPr/>
        </p:nvSpPr>
        <p:spPr>
          <a:xfrm>
            <a:off x="8156448" y="3566160"/>
            <a:ext cx="3346704" cy="2103120"/>
          </a:xfrm>
          <a:prstGeom prst="rect">
            <a:avLst/>
          </a:prstGeom>
          <a:solidFill>
            <a:schemeClr val="bg2"/>
          </a:solidFill>
          <a:ln w="12700">
            <a:solidFill>
              <a:schemeClr val="bg2"/>
            </a:solidFill>
            <a:prstDash val="solid"/>
          </a:ln>
        </p:spPr>
      </p:sp>
      <p:sp>
        <p:nvSpPr>
          <p:cNvPr id="14" name="Text 12"/>
          <p:cNvSpPr txBox="1"/>
          <p:nvPr/>
        </p:nvSpPr>
        <p:spPr>
          <a:xfrm>
            <a:off x="8476488" y="3749040"/>
            <a:ext cx="2706624" cy="777240"/>
          </a:xfrm>
          <a:prstGeom prst="rect">
            <a:avLst/>
          </a:prstGeom>
          <a:noFill/>
          <a:ln/>
        </p:spPr>
        <p:txBody>
          <a:bodyPr wrap="square" lIns="0" tIns="0" rIns="0" bIns="0" rtlCol="0" anchor="t"/>
          <a:lstStyle/>
          <a:p>
            <a:pPr indent="0" marL="0">
              <a:buNone/>
            </a:pPr>
            <a:r>
              <a:rPr lang="en-US" sz="4400" b="1" dirty="0">
                <a:solidFill>
                  <a:schemeClr val="accent2"/>
                </a:solidFill>
              </a:rPr>
              <a:t>183</a:t>
            </a:r>
            <a:endParaRPr lang="en-US" sz="4400" dirty="0"/>
          </a:p>
        </p:txBody>
      </p:sp>
      <p:sp>
        <p:nvSpPr>
          <p:cNvPr id="15" name="Text 13"/>
          <p:cNvSpPr txBox="1"/>
          <p:nvPr/>
        </p:nvSpPr>
        <p:spPr>
          <a:xfrm>
            <a:off x="8476488" y="4572000"/>
            <a:ext cx="2706624" cy="685800"/>
          </a:xfrm>
          <a:prstGeom prst="rect">
            <a:avLst/>
          </a:prstGeom>
          <a:noFill/>
          <a:ln/>
        </p:spPr>
        <p:txBody>
          <a:bodyPr wrap="square" lIns="0" tIns="0" rIns="0" bIns="0" rtlCol="0" anchor="t"/>
          <a:lstStyle/>
          <a:p>
            <a:pPr indent="0" marL="0">
              <a:buNone/>
            </a:pPr>
            <a:r>
              <a:rPr lang="en-US" sz="1600" dirty="0">
                <a:solidFill>
                  <a:schemeClr val="accent6"/>
                </a:solidFill>
              </a:rPr>
              <a:t>parties to the WHO treaty that bans tobacco ads</a:t>
            </a:r>
            <a:endParaRPr lang="en-US" sz="1600" dirty="0"/>
          </a:p>
        </p:txBody>
      </p:sp>
      <p:sp>
        <p:nvSpPr>
          <p:cNvPr id="16" name="Text 14"/>
          <p:cNvSpPr txBox="1"/>
          <p:nvPr/>
        </p:nvSpPr>
        <p:spPr>
          <a:xfrm>
            <a:off x="8476488" y="5303520"/>
            <a:ext cx="2706624" cy="228600"/>
          </a:xfrm>
          <a:prstGeom prst="rect">
            <a:avLst/>
          </a:prstGeom>
          <a:noFill/>
          <a:ln/>
        </p:spPr>
        <p:txBody>
          <a:bodyPr wrap="square" lIns="0" tIns="0" rIns="0" bIns="0" rtlCol="0" anchor="t"/>
          <a:lstStyle/>
          <a:p>
            <a:pPr indent="0" marL="0">
              <a:buNone/>
            </a:pPr>
            <a:r>
              <a:rPr lang="en-US" sz="1000" i="1" dirty="0">
                <a:solidFill>
                  <a:schemeClr val="accent3"/>
                </a:solidFill>
              </a:rPr>
              <a:t>WHO FCTC</a:t>
            </a:r>
            <a:endParaRPr lang="en-US" sz="1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1  ·  Closing the doors</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One by one, the doors closed</a:t>
            </a:r>
            <a:endParaRPr lang="en-US" sz="2600" dirty="0"/>
          </a:p>
        </p:txBody>
      </p:sp>
      <p:sp>
        <p:nvSpPr>
          <p:cNvPr id="4" name="Shape 2"/>
          <p:cNvSpPr/>
          <p:nvPr/>
        </p:nvSpPr>
        <p:spPr>
          <a:xfrm>
            <a:off x="1828800" y="2651760"/>
            <a:ext cx="8778240" cy="0"/>
          </a:xfrm>
          <a:prstGeom prst="line">
            <a:avLst/>
          </a:prstGeom>
          <a:noFill/>
          <a:ln w="38100">
            <a:solidFill>
              <a:schemeClr val="accent4"/>
            </a:solidFill>
            <a:prstDash val="solid"/>
          </a:ln>
        </p:spPr>
      </p:sp>
      <p:sp>
        <p:nvSpPr>
          <p:cNvPr id="5" name="Shape 3"/>
          <p:cNvSpPr/>
          <p:nvPr/>
        </p:nvSpPr>
        <p:spPr>
          <a:xfrm>
            <a:off x="1655064" y="2478024"/>
            <a:ext cx="347472" cy="347472"/>
          </a:xfrm>
          <a:prstGeom prst="ellipse">
            <a:avLst/>
          </a:prstGeom>
          <a:solidFill>
            <a:schemeClr val="accent1"/>
          </a:solidFill>
          <a:ln w="25400">
            <a:solidFill>
              <a:schemeClr val="bg1"/>
            </a:solidFill>
            <a:prstDash val="solid"/>
          </a:ln>
        </p:spPr>
      </p:sp>
      <p:sp>
        <p:nvSpPr>
          <p:cNvPr id="6" name="Text 4"/>
          <p:cNvSpPr txBox="1"/>
          <p:nvPr/>
        </p:nvSpPr>
        <p:spPr>
          <a:xfrm>
            <a:off x="822960" y="1737360"/>
            <a:ext cx="2011680" cy="502920"/>
          </a:xfrm>
          <a:prstGeom prst="rect">
            <a:avLst/>
          </a:prstGeom>
          <a:noFill/>
          <a:ln/>
        </p:spPr>
        <p:txBody>
          <a:bodyPr wrap="square" lIns="0" tIns="0" rIns="0" bIns="0" rtlCol="0" anchor="t"/>
          <a:lstStyle/>
          <a:p>
            <a:pPr algn="ctr" indent="0" marL="0">
              <a:buNone/>
            </a:pPr>
            <a:r>
              <a:rPr lang="en-US" sz="2600" b="1" dirty="0">
                <a:solidFill>
                  <a:schemeClr val="accent1"/>
                </a:solidFill>
              </a:rPr>
              <a:t>2003</a:t>
            </a:r>
            <a:endParaRPr lang="en-US" sz="2600" dirty="0"/>
          </a:p>
        </p:txBody>
      </p:sp>
      <p:sp>
        <p:nvSpPr>
          <p:cNvPr id="7" name="Text 5"/>
          <p:cNvSpPr txBox="1"/>
          <p:nvPr/>
        </p:nvSpPr>
        <p:spPr>
          <a:xfrm>
            <a:off x="822960" y="3063240"/>
            <a:ext cx="2011680" cy="365760"/>
          </a:xfrm>
          <a:prstGeom prst="rect">
            <a:avLst/>
          </a:prstGeom>
          <a:noFill/>
          <a:ln/>
        </p:spPr>
        <p:txBody>
          <a:bodyPr wrap="square" lIns="0" tIns="0" rIns="0" bIns="0" rtlCol="0" anchor="t"/>
          <a:lstStyle/>
          <a:p>
            <a:pPr algn="ctr" indent="0" marL="0">
              <a:buNone/>
            </a:pPr>
            <a:r>
              <a:rPr lang="en-US" sz="1700" b="1" dirty="0">
                <a:solidFill>
                  <a:schemeClr val="accent1"/>
                </a:solidFill>
              </a:rPr>
              <a:t>WHO treaty</a:t>
            </a:r>
            <a:endParaRPr lang="en-US" sz="1700" dirty="0"/>
          </a:p>
        </p:txBody>
      </p:sp>
      <p:sp>
        <p:nvSpPr>
          <p:cNvPr id="8" name="Text 6"/>
          <p:cNvSpPr txBox="1"/>
          <p:nvPr/>
        </p:nvSpPr>
        <p:spPr>
          <a:xfrm>
            <a:off x="822960" y="3474720"/>
            <a:ext cx="2011680" cy="777240"/>
          </a:xfrm>
          <a:prstGeom prst="rect">
            <a:avLst/>
          </a:prstGeom>
          <a:noFill/>
          <a:ln/>
        </p:spPr>
        <p:txBody>
          <a:bodyPr wrap="square" lIns="0" tIns="0" rIns="0" bIns="0" rtlCol="0" anchor="t"/>
          <a:lstStyle/>
          <a:p>
            <a:pPr algn="ctr" indent="0" marL="0">
              <a:buNone/>
            </a:pPr>
            <a:r>
              <a:rPr lang="en-US" sz="1500" dirty="0">
                <a:solidFill>
                  <a:schemeClr val="accent6"/>
                </a:solidFill>
              </a:rPr>
              <a:t>Tobacco ads banned</a:t>
            </a:r>
            <a:endParaRPr lang="en-US" sz="1500" dirty="0"/>
          </a:p>
        </p:txBody>
      </p:sp>
      <p:sp>
        <p:nvSpPr>
          <p:cNvPr id="9" name="Shape 7"/>
          <p:cNvSpPr/>
          <p:nvPr/>
        </p:nvSpPr>
        <p:spPr>
          <a:xfrm>
            <a:off x="3849624" y="2478024"/>
            <a:ext cx="347472" cy="347472"/>
          </a:xfrm>
          <a:prstGeom prst="ellipse">
            <a:avLst/>
          </a:prstGeom>
          <a:solidFill>
            <a:schemeClr val="accent1"/>
          </a:solidFill>
          <a:ln w="25400">
            <a:solidFill>
              <a:schemeClr val="bg1"/>
            </a:solidFill>
            <a:prstDash val="solid"/>
          </a:ln>
        </p:spPr>
      </p:sp>
      <p:sp>
        <p:nvSpPr>
          <p:cNvPr id="10" name="Text 8"/>
          <p:cNvSpPr txBox="1"/>
          <p:nvPr/>
        </p:nvSpPr>
        <p:spPr>
          <a:xfrm>
            <a:off x="3017520" y="1737360"/>
            <a:ext cx="2011680" cy="502920"/>
          </a:xfrm>
          <a:prstGeom prst="rect">
            <a:avLst/>
          </a:prstGeom>
          <a:noFill/>
          <a:ln/>
        </p:spPr>
        <p:txBody>
          <a:bodyPr wrap="square" lIns="0" tIns="0" rIns="0" bIns="0" rtlCol="0" anchor="t"/>
          <a:lstStyle/>
          <a:p>
            <a:pPr algn="ctr" indent="0" marL="0">
              <a:buNone/>
            </a:pPr>
            <a:r>
              <a:rPr lang="en-US" sz="2600" b="1" dirty="0">
                <a:solidFill>
                  <a:schemeClr val="accent1"/>
                </a:solidFill>
              </a:rPr>
              <a:t>2009</a:t>
            </a:r>
            <a:endParaRPr lang="en-US" sz="2600" dirty="0"/>
          </a:p>
        </p:txBody>
      </p:sp>
      <p:sp>
        <p:nvSpPr>
          <p:cNvPr id="11" name="Text 9"/>
          <p:cNvSpPr txBox="1"/>
          <p:nvPr/>
        </p:nvSpPr>
        <p:spPr>
          <a:xfrm>
            <a:off x="3017520" y="3063240"/>
            <a:ext cx="2011680" cy="365760"/>
          </a:xfrm>
          <a:prstGeom prst="rect">
            <a:avLst/>
          </a:prstGeom>
          <a:noFill/>
          <a:ln/>
        </p:spPr>
        <p:txBody>
          <a:bodyPr wrap="square" lIns="0" tIns="0" rIns="0" bIns="0" rtlCol="0" anchor="t"/>
          <a:lstStyle/>
          <a:p>
            <a:pPr algn="ctr" indent="0" marL="0">
              <a:buNone/>
            </a:pPr>
            <a:r>
              <a:rPr lang="en-US" sz="1700" b="1" dirty="0">
                <a:solidFill>
                  <a:schemeClr val="accent1"/>
                </a:solidFill>
              </a:rPr>
              <a:t>USA</a:t>
            </a:r>
            <a:endParaRPr lang="en-US" sz="1700" dirty="0"/>
          </a:p>
        </p:txBody>
      </p:sp>
      <p:sp>
        <p:nvSpPr>
          <p:cNvPr id="12" name="Text 10"/>
          <p:cNvSpPr txBox="1"/>
          <p:nvPr/>
        </p:nvSpPr>
        <p:spPr>
          <a:xfrm>
            <a:off x="3017520" y="3474720"/>
            <a:ext cx="2011680" cy="777240"/>
          </a:xfrm>
          <a:prstGeom prst="rect">
            <a:avLst/>
          </a:prstGeom>
          <a:noFill/>
          <a:ln/>
        </p:spPr>
        <p:txBody>
          <a:bodyPr wrap="square" lIns="0" tIns="0" rIns="0" bIns="0" rtlCol="0" anchor="t"/>
          <a:lstStyle/>
          <a:p>
            <a:pPr algn="ctr" indent="0" marL="0">
              <a:buNone/>
            </a:pPr>
            <a:r>
              <a:rPr lang="en-US" sz="1500" dirty="0">
                <a:solidFill>
                  <a:schemeClr val="accent6"/>
                </a:solidFill>
              </a:rPr>
              <a:t>Flavoured cigarettes banned (not menthol)</a:t>
            </a:r>
            <a:endParaRPr lang="en-US" sz="1500" dirty="0"/>
          </a:p>
        </p:txBody>
      </p:sp>
      <p:sp>
        <p:nvSpPr>
          <p:cNvPr id="13" name="Shape 11"/>
          <p:cNvSpPr/>
          <p:nvPr/>
        </p:nvSpPr>
        <p:spPr>
          <a:xfrm>
            <a:off x="6044184" y="2478024"/>
            <a:ext cx="347472" cy="347472"/>
          </a:xfrm>
          <a:prstGeom prst="ellipse">
            <a:avLst/>
          </a:prstGeom>
          <a:solidFill>
            <a:schemeClr val="accent1"/>
          </a:solidFill>
          <a:ln w="25400">
            <a:solidFill>
              <a:schemeClr val="bg1"/>
            </a:solidFill>
            <a:prstDash val="solid"/>
          </a:ln>
        </p:spPr>
      </p:sp>
      <p:sp>
        <p:nvSpPr>
          <p:cNvPr id="14" name="Text 12"/>
          <p:cNvSpPr txBox="1"/>
          <p:nvPr/>
        </p:nvSpPr>
        <p:spPr>
          <a:xfrm>
            <a:off x="5212080" y="1737360"/>
            <a:ext cx="2011680" cy="502920"/>
          </a:xfrm>
          <a:prstGeom prst="rect">
            <a:avLst/>
          </a:prstGeom>
          <a:noFill/>
          <a:ln/>
        </p:spPr>
        <p:txBody>
          <a:bodyPr wrap="square" lIns="0" tIns="0" rIns="0" bIns="0" rtlCol="0" anchor="t"/>
          <a:lstStyle/>
          <a:p>
            <a:pPr algn="ctr" indent="0" marL="0">
              <a:buNone/>
            </a:pPr>
            <a:r>
              <a:rPr lang="en-US" sz="2600" b="1" dirty="0">
                <a:solidFill>
                  <a:schemeClr val="accent1"/>
                </a:solidFill>
              </a:rPr>
              <a:t>2012</a:t>
            </a:r>
            <a:endParaRPr lang="en-US" sz="2600" dirty="0"/>
          </a:p>
        </p:txBody>
      </p:sp>
      <p:sp>
        <p:nvSpPr>
          <p:cNvPr id="15" name="Text 13"/>
          <p:cNvSpPr txBox="1"/>
          <p:nvPr/>
        </p:nvSpPr>
        <p:spPr>
          <a:xfrm>
            <a:off x="5212080" y="3063240"/>
            <a:ext cx="2011680" cy="365760"/>
          </a:xfrm>
          <a:prstGeom prst="rect">
            <a:avLst/>
          </a:prstGeom>
          <a:noFill/>
          <a:ln/>
        </p:spPr>
        <p:txBody>
          <a:bodyPr wrap="square" lIns="0" tIns="0" rIns="0" bIns="0" rtlCol="0" anchor="t"/>
          <a:lstStyle/>
          <a:p>
            <a:pPr algn="ctr" indent="0" marL="0">
              <a:buNone/>
            </a:pPr>
            <a:r>
              <a:rPr lang="en-US" sz="1700" b="1" dirty="0">
                <a:solidFill>
                  <a:schemeClr val="accent1"/>
                </a:solidFill>
              </a:rPr>
              <a:t>Australia</a:t>
            </a:r>
            <a:endParaRPr lang="en-US" sz="1700" dirty="0"/>
          </a:p>
        </p:txBody>
      </p:sp>
      <p:sp>
        <p:nvSpPr>
          <p:cNvPr id="16" name="Text 14"/>
          <p:cNvSpPr txBox="1"/>
          <p:nvPr/>
        </p:nvSpPr>
        <p:spPr>
          <a:xfrm>
            <a:off x="5212080" y="3474720"/>
            <a:ext cx="2011680" cy="777240"/>
          </a:xfrm>
          <a:prstGeom prst="rect">
            <a:avLst/>
          </a:prstGeom>
          <a:noFill/>
          <a:ln/>
        </p:spPr>
        <p:txBody>
          <a:bodyPr wrap="square" lIns="0" tIns="0" rIns="0" bIns="0" rtlCol="0" anchor="t"/>
          <a:lstStyle/>
          <a:p>
            <a:pPr algn="ctr" indent="0" marL="0">
              <a:buNone/>
            </a:pPr>
            <a:r>
              <a:rPr lang="en-US" sz="1500" dirty="0">
                <a:solidFill>
                  <a:schemeClr val="accent6"/>
                </a:solidFill>
              </a:rPr>
              <a:t>World’s first plain packs</a:t>
            </a:r>
            <a:endParaRPr lang="en-US" sz="1500" dirty="0"/>
          </a:p>
        </p:txBody>
      </p:sp>
      <p:sp>
        <p:nvSpPr>
          <p:cNvPr id="17" name="Shape 15"/>
          <p:cNvSpPr/>
          <p:nvPr/>
        </p:nvSpPr>
        <p:spPr>
          <a:xfrm>
            <a:off x="8238744" y="2478024"/>
            <a:ext cx="347472" cy="347472"/>
          </a:xfrm>
          <a:prstGeom prst="ellipse">
            <a:avLst/>
          </a:prstGeom>
          <a:solidFill>
            <a:schemeClr val="accent1"/>
          </a:solidFill>
          <a:ln w="25400">
            <a:solidFill>
              <a:schemeClr val="bg1"/>
            </a:solidFill>
            <a:prstDash val="solid"/>
          </a:ln>
        </p:spPr>
      </p:sp>
      <p:sp>
        <p:nvSpPr>
          <p:cNvPr id="18" name="Text 16"/>
          <p:cNvSpPr txBox="1"/>
          <p:nvPr/>
        </p:nvSpPr>
        <p:spPr>
          <a:xfrm>
            <a:off x="7406640" y="1737360"/>
            <a:ext cx="2011680" cy="502920"/>
          </a:xfrm>
          <a:prstGeom prst="rect">
            <a:avLst/>
          </a:prstGeom>
          <a:noFill/>
          <a:ln/>
        </p:spPr>
        <p:txBody>
          <a:bodyPr wrap="square" lIns="0" tIns="0" rIns="0" bIns="0" rtlCol="0" anchor="t"/>
          <a:lstStyle/>
          <a:p>
            <a:pPr algn="ctr" indent="0" marL="0">
              <a:buNone/>
            </a:pPr>
            <a:r>
              <a:rPr lang="en-US" sz="2600" b="1" dirty="0">
                <a:solidFill>
                  <a:schemeClr val="accent1"/>
                </a:solidFill>
              </a:rPr>
              <a:t>2020</a:t>
            </a:r>
            <a:endParaRPr lang="en-US" sz="2600" dirty="0"/>
          </a:p>
        </p:txBody>
      </p:sp>
      <p:sp>
        <p:nvSpPr>
          <p:cNvPr id="19" name="Text 17"/>
          <p:cNvSpPr txBox="1"/>
          <p:nvPr/>
        </p:nvSpPr>
        <p:spPr>
          <a:xfrm>
            <a:off x="7406640" y="3063240"/>
            <a:ext cx="2011680" cy="365760"/>
          </a:xfrm>
          <a:prstGeom prst="rect">
            <a:avLst/>
          </a:prstGeom>
          <a:noFill/>
          <a:ln/>
        </p:spPr>
        <p:txBody>
          <a:bodyPr wrap="square" lIns="0" tIns="0" rIns="0" bIns="0" rtlCol="0" anchor="t"/>
          <a:lstStyle/>
          <a:p>
            <a:pPr algn="ctr" indent="0" marL="0">
              <a:buNone/>
            </a:pPr>
            <a:r>
              <a:rPr lang="en-US" sz="1700" b="1" dirty="0">
                <a:solidFill>
                  <a:schemeClr val="accent1"/>
                </a:solidFill>
              </a:rPr>
              <a:t>European Union</a:t>
            </a:r>
            <a:endParaRPr lang="en-US" sz="1700" dirty="0"/>
          </a:p>
        </p:txBody>
      </p:sp>
      <p:sp>
        <p:nvSpPr>
          <p:cNvPr id="20" name="Text 18"/>
          <p:cNvSpPr txBox="1"/>
          <p:nvPr/>
        </p:nvSpPr>
        <p:spPr>
          <a:xfrm>
            <a:off x="7406640" y="3474720"/>
            <a:ext cx="2011680" cy="777240"/>
          </a:xfrm>
          <a:prstGeom prst="rect">
            <a:avLst/>
          </a:prstGeom>
          <a:noFill/>
          <a:ln/>
        </p:spPr>
        <p:txBody>
          <a:bodyPr wrap="square" lIns="0" tIns="0" rIns="0" bIns="0" rtlCol="0" anchor="t"/>
          <a:lstStyle/>
          <a:p>
            <a:pPr algn="ctr" indent="0" marL="0">
              <a:buNone/>
            </a:pPr>
            <a:r>
              <a:rPr lang="en-US" sz="1500" dirty="0">
                <a:solidFill>
                  <a:schemeClr val="accent6"/>
                </a:solidFill>
              </a:rPr>
              <a:t>Menthol banned</a:t>
            </a:r>
            <a:endParaRPr lang="en-US" sz="1500" dirty="0"/>
          </a:p>
        </p:txBody>
      </p:sp>
      <p:sp>
        <p:nvSpPr>
          <p:cNvPr id="21" name="Shape 19"/>
          <p:cNvSpPr/>
          <p:nvPr/>
        </p:nvSpPr>
        <p:spPr>
          <a:xfrm>
            <a:off x="10433304" y="2478024"/>
            <a:ext cx="347472" cy="347472"/>
          </a:xfrm>
          <a:prstGeom prst="ellipse">
            <a:avLst/>
          </a:prstGeom>
          <a:solidFill>
            <a:schemeClr val="accent2"/>
          </a:solidFill>
          <a:ln w="25400">
            <a:solidFill>
              <a:schemeClr val="bg1"/>
            </a:solidFill>
            <a:prstDash val="solid"/>
          </a:ln>
        </p:spPr>
      </p:sp>
      <p:sp>
        <p:nvSpPr>
          <p:cNvPr id="22" name="Text 20"/>
          <p:cNvSpPr txBox="1"/>
          <p:nvPr/>
        </p:nvSpPr>
        <p:spPr>
          <a:xfrm>
            <a:off x="9601200" y="1737360"/>
            <a:ext cx="2011680" cy="502920"/>
          </a:xfrm>
          <a:prstGeom prst="rect">
            <a:avLst/>
          </a:prstGeom>
          <a:noFill/>
          <a:ln/>
        </p:spPr>
        <p:txBody>
          <a:bodyPr wrap="square" lIns="0" tIns="0" rIns="0" bIns="0" rtlCol="0" anchor="t"/>
          <a:lstStyle/>
          <a:p>
            <a:pPr algn="ctr" indent="0" marL="0">
              <a:buNone/>
            </a:pPr>
            <a:r>
              <a:rPr lang="en-US" sz="2600" b="1" dirty="0">
                <a:solidFill>
                  <a:schemeClr val="accent2"/>
                </a:solidFill>
              </a:rPr>
              <a:t>2026</a:t>
            </a:r>
            <a:endParaRPr lang="en-US" sz="2600" dirty="0"/>
          </a:p>
        </p:txBody>
      </p:sp>
      <p:sp>
        <p:nvSpPr>
          <p:cNvPr id="23" name="Text 21"/>
          <p:cNvSpPr txBox="1"/>
          <p:nvPr/>
        </p:nvSpPr>
        <p:spPr>
          <a:xfrm>
            <a:off x="9601200" y="3063240"/>
            <a:ext cx="2011680" cy="365760"/>
          </a:xfrm>
          <a:prstGeom prst="rect">
            <a:avLst/>
          </a:prstGeom>
          <a:noFill/>
          <a:ln/>
        </p:spPr>
        <p:txBody>
          <a:bodyPr wrap="square" lIns="0" tIns="0" rIns="0" bIns="0" rtlCol="0" anchor="t"/>
          <a:lstStyle/>
          <a:p>
            <a:pPr algn="ctr" indent="0" marL="0">
              <a:buNone/>
            </a:pPr>
            <a:r>
              <a:rPr lang="en-US" sz="1700" b="1" dirty="0">
                <a:solidFill>
                  <a:schemeClr val="accent2"/>
                </a:solidFill>
              </a:rPr>
              <a:t>United Kingdom</a:t>
            </a:r>
            <a:endParaRPr lang="en-US" sz="1700" dirty="0"/>
          </a:p>
        </p:txBody>
      </p:sp>
      <p:sp>
        <p:nvSpPr>
          <p:cNvPr id="24" name="Text 22"/>
          <p:cNvSpPr txBox="1"/>
          <p:nvPr/>
        </p:nvSpPr>
        <p:spPr>
          <a:xfrm>
            <a:off x="9601200" y="3474720"/>
            <a:ext cx="2011680" cy="777240"/>
          </a:xfrm>
          <a:prstGeom prst="rect">
            <a:avLst/>
          </a:prstGeom>
          <a:noFill/>
          <a:ln/>
        </p:spPr>
        <p:txBody>
          <a:bodyPr wrap="square" lIns="0" tIns="0" rIns="0" bIns="0" rtlCol="0" anchor="t"/>
          <a:lstStyle/>
          <a:p>
            <a:pPr algn="ctr" indent="0" marL="0">
              <a:buNone/>
            </a:pPr>
            <a:r>
              <a:rPr lang="en-US" sz="1500" dirty="0">
                <a:solidFill>
                  <a:schemeClr val="accent6"/>
                </a:solidFill>
              </a:rPr>
              <a:t>Nobody born after 2008 can ever buy</a:t>
            </a:r>
            <a:endParaRPr lang="en-US" sz="1500" dirty="0"/>
          </a:p>
        </p:txBody>
      </p:sp>
      <p:sp>
        <p:nvSpPr>
          <p:cNvPr id="25" name="Text 23"/>
          <p:cNvSpPr txBox="1"/>
          <p:nvPr/>
        </p:nvSpPr>
        <p:spPr>
          <a:xfrm>
            <a:off x="914400" y="5074920"/>
            <a:ext cx="10588752" cy="777240"/>
          </a:xfrm>
          <a:prstGeom prst="rect">
            <a:avLst/>
          </a:prstGeom>
          <a:solidFill>
            <a:schemeClr val="accent1"/>
          </a:solidFill>
          <a:ln/>
        </p:spPr>
        <p:txBody>
          <a:bodyPr wrap="square" lIns="203200" tIns="203200" rIns="203200" bIns="203200" rtlCol="0" anchor="ctr"/>
          <a:lstStyle/>
          <a:p>
            <a:pPr indent="0" marL="0">
              <a:buNone/>
            </a:pPr>
            <a:r>
              <a:rPr lang="en-US" sz="2000" b="1" dirty="0">
                <a:solidFill>
                  <a:schemeClr val="bg1"/>
                </a:solidFill>
              </a:rPr>
              <a:t>Every closed door pushed marketers to look for another one.</a:t>
            </a:r>
            <a:endParaRPr lang="en-US" sz="2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1  ·  Closing the doors</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Did it work? Teenagers stopped smoking</a:t>
            </a:r>
            <a:endParaRPr lang="en-US" sz="2600" dirty="0"/>
          </a:p>
        </p:txBody>
      </p:sp>
      <p:graphicFrame>
        <p:nvGraphicFramePr>
          <p:cNvPr id="4" name="Chart 0" descr=""/>
          <p:cNvGraphicFramePr/>
          <p:nvPr/>
        </p:nvGraphicFramePr>
        <p:xfrm>
          <a:off x="822960" y="1280160"/>
          <a:ext cx="6309360" cy="3520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914400" y="4846320"/>
            <a:ext cx="6217920" cy="256032"/>
          </a:xfrm>
          <a:prstGeom prst="rect">
            <a:avLst/>
          </a:prstGeom>
          <a:noFill/>
          <a:ln/>
        </p:spPr>
        <p:txBody>
          <a:bodyPr wrap="square" lIns="0" tIns="0" rIns="0" bIns="0" rtlCol="0" anchor="t"/>
          <a:lstStyle/>
          <a:p>
            <a:pPr indent="0" marL="0">
              <a:buNone/>
            </a:pPr>
            <a:r>
              <a:rPr lang="en-US" sz="1000" i="1" dirty="0">
                <a:solidFill>
                  <a:schemeClr val="accent3"/>
                </a:solidFill>
              </a:rPr>
              <a:t>CDC / FDA National Youth Tobacco Survey (past-30-day use).</a:t>
            </a:r>
            <a:endParaRPr lang="en-US" sz="1000" dirty="0"/>
          </a:p>
        </p:txBody>
      </p:sp>
      <p:sp>
        <p:nvSpPr>
          <p:cNvPr id="6" name="Text 3"/>
          <p:cNvSpPr txBox="1"/>
          <p:nvPr/>
        </p:nvSpPr>
        <p:spPr>
          <a:xfrm>
            <a:off x="7589520" y="1463040"/>
            <a:ext cx="3913632" cy="731520"/>
          </a:xfrm>
          <a:prstGeom prst="rect">
            <a:avLst/>
          </a:prstGeom>
          <a:noFill/>
          <a:ln/>
        </p:spPr>
        <p:txBody>
          <a:bodyPr wrap="square" lIns="0" tIns="0" rIns="0" bIns="0" rtlCol="0" anchor="t"/>
          <a:lstStyle/>
          <a:p>
            <a:pPr indent="0" marL="0">
              <a:buNone/>
            </a:pPr>
            <a:r>
              <a:rPr lang="en-US" sz="4400" b="1" dirty="0">
                <a:solidFill>
                  <a:schemeClr val="accent2"/>
                </a:solidFill>
              </a:rPr>
              <a:t>÷5</a:t>
            </a:r>
            <a:endParaRPr lang="en-US" sz="4400" dirty="0"/>
          </a:p>
        </p:txBody>
      </p:sp>
      <p:sp>
        <p:nvSpPr>
          <p:cNvPr id="7" name="Text 4"/>
          <p:cNvSpPr txBox="1"/>
          <p:nvPr/>
        </p:nvSpPr>
        <p:spPr>
          <a:xfrm>
            <a:off x="7589520" y="2194560"/>
            <a:ext cx="3913632" cy="640080"/>
          </a:xfrm>
          <a:prstGeom prst="rect">
            <a:avLst/>
          </a:prstGeom>
          <a:noFill/>
          <a:ln/>
        </p:spPr>
        <p:txBody>
          <a:bodyPr wrap="square" lIns="0" tIns="0" rIns="0" bIns="0" rtlCol="0" anchor="t"/>
          <a:lstStyle/>
          <a:p>
            <a:pPr indent="0" marL="0">
              <a:buNone/>
            </a:pPr>
            <a:r>
              <a:rPr lang="en-US" sz="1600" dirty="0">
                <a:solidFill>
                  <a:schemeClr val="accent6"/>
                </a:solidFill>
              </a:rPr>
              <a:t>five times fewer teenage smokers in 20 years</a:t>
            </a:r>
            <a:endParaRPr lang="en-US" sz="1600" dirty="0"/>
          </a:p>
        </p:txBody>
      </p:sp>
      <p:sp>
        <p:nvSpPr>
          <p:cNvPr id="8" name="Text 5"/>
          <p:cNvSpPr txBox="1"/>
          <p:nvPr/>
        </p:nvSpPr>
        <p:spPr>
          <a:xfrm>
            <a:off x="7589520" y="3017520"/>
            <a:ext cx="3913632" cy="731520"/>
          </a:xfrm>
          <a:prstGeom prst="rect">
            <a:avLst/>
          </a:prstGeom>
          <a:noFill/>
          <a:ln/>
        </p:spPr>
        <p:txBody>
          <a:bodyPr wrap="square" lIns="0" tIns="0" rIns="0" bIns="0" rtlCol="0" anchor="t"/>
          <a:lstStyle/>
          <a:p>
            <a:pPr indent="0" marL="0">
              <a:buNone/>
            </a:pPr>
            <a:r>
              <a:rPr lang="en-US" sz="4400" b="1" dirty="0">
                <a:solidFill>
                  <a:schemeClr val="accent2"/>
                </a:solidFill>
              </a:rPr>
              <a:t>−17%</a:t>
            </a:r>
            <a:endParaRPr lang="en-US" sz="4400" dirty="0"/>
          </a:p>
        </p:txBody>
      </p:sp>
      <p:sp>
        <p:nvSpPr>
          <p:cNvPr id="9" name="Text 6"/>
          <p:cNvSpPr txBox="1"/>
          <p:nvPr/>
        </p:nvSpPr>
        <p:spPr>
          <a:xfrm>
            <a:off x="7589520" y="3749040"/>
            <a:ext cx="3913632" cy="640080"/>
          </a:xfrm>
          <a:prstGeom prst="rect">
            <a:avLst/>
          </a:prstGeom>
          <a:noFill/>
          <a:ln/>
        </p:spPr>
        <p:txBody>
          <a:bodyPr wrap="square" lIns="0" tIns="0" rIns="0" bIns="0" rtlCol="0" anchor="t"/>
          <a:lstStyle/>
          <a:p>
            <a:pPr indent="0" marL="0">
              <a:buNone/>
            </a:pPr>
            <a:r>
              <a:rPr lang="en-US" sz="1600" dirty="0">
                <a:solidFill>
                  <a:schemeClr val="accent6"/>
                </a:solidFill>
              </a:rPr>
              <a:t>lower chance that a teenager smokes after the 2009 US flavour ban</a:t>
            </a:r>
            <a:endParaRPr lang="en-US" sz="1600" dirty="0"/>
          </a:p>
        </p:txBody>
      </p:sp>
      <p:sp>
        <p:nvSpPr>
          <p:cNvPr id="10" name="Text 7"/>
          <p:cNvSpPr txBox="1"/>
          <p:nvPr/>
        </p:nvSpPr>
        <p:spPr>
          <a:xfrm>
            <a:off x="7589520" y="4434840"/>
            <a:ext cx="3913632" cy="228600"/>
          </a:xfrm>
          <a:prstGeom prst="rect">
            <a:avLst/>
          </a:prstGeom>
          <a:noFill/>
          <a:ln/>
        </p:spPr>
        <p:txBody>
          <a:bodyPr wrap="square" lIns="0" tIns="0" rIns="0" bIns="0" rtlCol="0" anchor="t"/>
          <a:lstStyle/>
          <a:p>
            <a:pPr indent="0" marL="0">
              <a:buNone/>
            </a:pPr>
            <a:r>
              <a:rPr lang="en-US" sz="1000" i="1" dirty="0">
                <a:solidFill>
                  <a:schemeClr val="accent3"/>
                </a:solidFill>
              </a:rPr>
              <a:t>Courtemanche, Palmer &amp; Pesko (2017)</a:t>
            </a:r>
            <a:endParaRPr lang="en-US" sz="1000" dirty="0"/>
          </a:p>
        </p:txBody>
      </p:sp>
      <p:sp>
        <p:nvSpPr>
          <p:cNvPr id="11" name="Text 8"/>
          <p:cNvSpPr txBox="1"/>
          <p:nvPr/>
        </p:nvSpPr>
        <p:spPr>
          <a:xfrm>
            <a:off x="914400" y="5257800"/>
            <a:ext cx="10588752" cy="731520"/>
          </a:xfrm>
          <a:prstGeom prst="rect">
            <a:avLst/>
          </a:prstGeom>
          <a:solidFill>
            <a:schemeClr val="accent1"/>
          </a:solidFill>
          <a:ln/>
        </p:spPr>
        <p:txBody>
          <a:bodyPr wrap="square" lIns="203200" tIns="203200" rIns="203200" bIns="203200" rtlCol="0" anchor="ctr"/>
          <a:lstStyle/>
          <a:p>
            <a:pPr indent="0" marL="0">
              <a:buNone/>
            </a:pPr>
            <a:r>
              <a:rPr lang="en-US" sz="2000" b="1" dirty="0">
                <a:solidFill>
                  <a:schemeClr val="bg1"/>
                </a:solidFill>
              </a:rPr>
              <a:t>Cigarettes lost the teenagers.  </a:t>
            </a:r>
            <a:pPr indent="0" marL="0">
              <a:buNone/>
            </a:pPr>
            <a:r>
              <a:rPr lang="en-US" sz="2000" b="1" dirty="0">
                <a:solidFill>
                  <a:srgbClr val="F2B8B8"/>
                </a:solidFill>
              </a:rPr>
              <a:t>But nicotine didn’t.</a:t>
            </a:r>
            <a:endParaRPr lang="en-US" sz="2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1  ·  Closing the doors</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The pack became the last billboard</a:t>
            </a:r>
            <a:endParaRPr lang="en-US" sz="2600" dirty="0"/>
          </a:p>
        </p:txBody>
      </p:sp>
      <p:sp>
        <p:nvSpPr>
          <p:cNvPr id="4" name="Text 2"/>
          <p:cNvSpPr txBox="1"/>
          <p:nvPr/>
        </p:nvSpPr>
        <p:spPr>
          <a:xfrm>
            <a:off x="914400" y="1371600"/>
            <a:ext cx="5111496" cy="548640"/>
          </a:xfrm>
          <a:prstGeom prst="rect">
            <a:avLst/>
          </a:prstGeom>
          <a:solidFill>
            <a:schemeClr val="accent1"/>
          </a:solidFill>
          <a:ln/>
        </p:spPr>
        <p:txBody>
          <a:bodyPr wrap="square" lIns="203200" tIns="203200" rIns="203200" bIns="203200" rtlCol="0" anchor="ctr"/>
          <a:lstStyle/>
          <a:p>
            <a:pPr indent="0" marL="0">
              <a:buNone/>
            </a:pPr>
            <a:r>
              <a:rPr lang="en-US" sz="2000" b="1" dirty="0">
                <a:solidFill>
                  <a:schemeClr val="bg1"/>
                </a:solidFill>
              </a:rPr>
              <a:t>European Union</a:t>
            </a:r>
            <a:endParaRPr lang="en-US" sz="2000" dirty="0"/>
          </a:p>
        </p:txBody>
      </p:sp>
      <p:sp>
        <p:nvSpPr>
          <p:cNvPr id="5" name="Shape 3"/>
          <p:cNvSpPr/>
          <p:nvPr/>
        </p:nvSpPr>
        <p:spPr>
          <a:xfrm>
            <a:off x="914400" y="1920240"/>
            <a:ext cx="5111496" cy="2697480"/>
          </a:xfrm>
          <a:prstGeom prst="rect">
            <a:avLst/>
          </a:prstGeom>
          <a:solidFill>
            <a:schemeClr val="bg1"/>
          </a:solidFill>
          <a:ln w="12700">
            <a:solidFill>
              <a:schemeClr val="accent4"/>
            </a:solidFill>
            <a:prstDash val="solid"/>
          </a:ln>
        </p:spPr>
      </p:sp>
      <p:sp>
        <p:nvSpPr>
          <p:cNvPr id="6" name="Text 4"/>
          <p:cNvSpPr txBox="1"/>
          <p:nvPr/>
        </p:nvSpPr>
        <p:spPr>
          <a:xfrm>
            <a:off x="1280160" y="2148840"/>
            <a:ext cx="4379976" cy="822960"/>
          </a:xfrm>
          <a:prstGeom prst="rect">
            <a:avLst/>
          </a:prstGeom>
          <a:noFill/>
          <a:ln/>
        </p:spPr>
        <p:txBody>
          <a:bodyPr wrap="square" lIns="0" tIns="0" rIns="0" bIns="0" rtlCol="0" anchor="t"/>
          <a:lstStyle/>
          <a:p>
            <a:pPr indent="0" marL="0">
              <a:buNone/>
            </a:pPr>
            <a:r>
              <a:rPr lang="en-US" sz="4800" b="1" dirty="0">
                <a:solidFill>
                  <a:schemeClr val="accent1"/>
                </a:solidFill>
              </a:rPr>
              <a:t>65%</a:t>
            </a:r>
            <a:endParaRPr lang="en-US" sz="4800" dirty="0"/>
          </a:p>
        </p:txBody>
      </p:sp>
      <p:sp>
        <p:nvSpPr>
          <p:cNvPr id="7" name="Text 5"/>
          <p:cNvSpPr txBox="1"/>
          <p:nvPr/>
        </p:nvSpPr>
        <p:spPr>
          <a:xfrm>
            <a:off x="1280160" y="2971800"/>
            <a:ext cx="4379976" cy="365760"/>
          </a:xfrm>
          <a:prstGeom prst="rect">
            <a:avLst/>
          </a:prstGeom>
          <a:noFill/>
          <a:ln/>
        </p:spPr>
        <p:txBody>
          <a:bodyPr wrap="square" lIns="0" tIns="0" rIns="0" bIns="0" rtlCol="0" anchor="t"/>
          <a:lstStyle/>
          <a:p>
            <a:pPr indent="0" marL="0">
              <a:buNone/>
            </a:pPr>
            <a:r>
              <a:rPr lang="en-US" sz="1700" dirty="0">
                <a:solidFill>
                  <a:schemeClr val="accent6"/>
                </a:solidFill>
              </a:rPr>
              <a:t>of the pack is a picture warning</a:t>
            </a:r>
            <a:endParaRPr lang="en-US" sz="1700" dirty="0"/>
          </a:p>
        </p:txBody>
      </p:sp>
      <p:sp>
        <p:nvSpPr>
          <p:cNvPr id="8" name="Text 6"/>
          <p:cNvSpPr txBox="1"/>
          <p:nvPr/>
        </p:nvSpPr>
        <p:spPr>
          <a:xfrm>
            <a:off x="1280160" y="3611880"/>
            <a:ext cx="4379976" cy="1188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6"/>
                </a:solidFill>
              </a:rPr>
              <a:t>Plain packs in France, Ireland, Hungary…</a:t>
            </a:r>
            <a:endParaRPr lang="en-US" sz="1600" dirty="0"/>
          </a:p>
          <a:p>
            <a:pPr marL="342900" indent="-342900">
              <a:spcAft>
                <a:spcPts val="800"/>
              </a:spcAft>
              <a:buSzPct val="100000"/>
              <a:buChar char="•"/>
            </a:pPr>
            <a:r>
              <a:rPr lang="en-US" sz="1600" dirty="0">
                <a:solidFill>
                  <a:schemeClr val="accent6"/>
                </a:solidFill>
              </a:rPr>
              <a:t>No flavours at all, menthol included</a:t>
            </a:r>
            <a:endParaRPr lang="en-US" sz="1600" dirty="0"/>
          </a:p>
        </p:txBody>
      </p:sp>
      <p:sp>
        <p:nvSpPr>
          <p:cNvPr id="9" name="Text 7"/>
          <p:cNvSpPr txBox="1"/>
          <p:nvPr/>
        </p:nvSpPr>
        <p:spPr>
          <a:xfrm>
            <a:off x="6391656" y="1371600"/>
            <a:ext cx="5111496" cy="548640"/>
          </a:xfrm>
          <a:prstGeom prst="rect">
            <a:avLst/>
          </a:prstGeom>
          <a:solidFill>
            <a:schemeClr val="accent2"/>
          </a:solidFill>
          <a:ln/>
        </p:spPr>
        <p:txBody>
          <a:bodyPr wrap="square" lIns="203200" tIns="203200" rIns="203200" bIns="203200" rtlCol="0" anchor="ctr"/>
          <a:lstStyle/>
          <a:p>
            <a:pPr indent="0" marL="0">
              <a:buNone/>
            </a:pPr>
            <a:r>
              <a:rPr lang="en-US" sz="2000" b="1" dirty="0">
                <a:solidFill>
                  <a:schemeClr val="bg1"/>
                </a:solidFill>
              </a:rPr>
              <a:t>United States</a:t>
            </a:r>
            <a:endParaRPr lang="en-US" sz="2000" dirty="0"/>
          </a:p>
        </p:txBody>
      </p:sp>
      <p:sp>
        <p:nvSpPr>
          <p:cNvPr id="10" name="Shape 8"/>
          <p:cNvSpPr/>
          <p:nvPr/>
        </p:nvSpPr>
        <p:spPr>
          <a:xfrm>
            <a:off x="6391656" y="1920240"/>
            <a:ext cx="5111496" cy="2697480"/>
          </a:xfrm>
          <a:prstGeom prst="rect">
            <a:avLst/>
          </a:prstGeom>
          <a:solidFill>
            <a:schemeClr val="bg1"/>
          </a:solidFill>
          <a:ln w="12700">
            <a:solidFill>
              <a:schemeClr val="accent4"/>
            </a:solidFill>
            <a:prstDash val="solid"/>
          </a:ln>
        </p:spPr>
      </p:sp>
      <p:sp>
        <p:nvSpPr>
          <p:cNvPr id="11" name="Text 9"/>
          <p:cNvSpPr txBox="1"/>
          <p:nvPr/>
        </p:nvSpPr>
        <p:spPr>
          <a:xfrm>
            <a:off x="6757416" y="2148840"/>
            <a:ext cx="4379976" cy="822960"/>
          </a:xfrm>
          <a:prstGeom prst="rect">
            <a:avLst/>
          </a:prstGeom>
          <a:noFill/>
          <a:ln/>
        </p:spPr>
        <p:txBody>
          <a:bodyPr wrap="square" lIns="0" tIns="0" rIns="0" bIns="0" rtlCol="0" anchor="t"/>
          <a:lstStyle/>
          <a:p>
            <a:pPr indent="0" marL="0">
              <a:buNone/>
            </a:pPr>
            <a:r>
              <a:rPr lang="en-US" sz="4800" b="1" dirty="0">
                <a:solidFill>
                  <a:schemeClr val="accent2"/>
                </a:solidFill>
              </a:rPr>
              <a:t>Text only</a:t>
            </a:r>
            <a:endParaRPr lang="en-US" sz="4800" dirty="0"/>
          </a:p>
        </p:txBody>
      </p:sp>
      <p:sp>
        <p:nvSpPr>
          <p:cNvPr id="12" name="Text 10"/>
          <p:cNvSpPr txBox="1"/>
          <p:nvPr/>
        </p:nvSpPr>
        <p:spPr>
          <a:xfrm>
            <a:off x="6757416" y="2971800"/>
            <a:ext cx="4379976" cy="365760"/>
          </a:xfrm>
          <a:prstGeom prst="rect">
            <a:avLst/>
          </a:prstGeom>
          <a:noFill/>
          <a:ln/>
        </p:spPr>
        <p:txBody>
          <a:bodyPr wrap="square" lIns="0" tIns="0" rIns="0" bIns="0" rtlCol="0" anchor="t"/>
          <a:lstStyle/>
          <a:p>
            <a:pPr indent="0" marL="0">
              <a:buNone/>
            </a:pPr>
            <a:r>
              <a:rPr lang="en-US" sz="1700" dirty="0">
                <a:solidFill>
                  <a:schemeClr val="accent6"/>
                </a:solidFill>
              </a:rPr>
              <a:t>a small warning on the side</a:t>
            </a:r>
            <a:endParaRPr lang="en-US" sz="1700" dirty="0"/>
          </a:p>
        </p:txBody>
      </p:sp>
      <p:sp>
        <p:nvSpPr>
          <p:cNvPr id="13" name="Text 11"/>
          <p:cNvSpPr txBox="1"/>
          <p:nvPr/>
        </p:nvSpPr>
        <p:spPr>
          <a:xfrm>
            <a:off x="6757416" y="3611880"/>
            <a:ext cx="4379976" cy="1188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6"/>
                </a:solidFill>
              </a:rPr>
              <a:t>Graphic warnings stuck in court since 2020</a:t>
            </a:r>
            <a:endParaRPr lang="en-US" sz="1600" dirty="0"/>
          </a:p>
          <a:p>
            <a:pPr marL="342900" indent="-342900">
              <a:spcAft>
                <a:spcPts val="800"/>
              </a:spcAft>
              <a:buSzPct val="100000"/>
              <a:buChar char="•"/>
            </a:pPr>
            <a:r>
              <a:rPr lang="en-US" sz="1600" dirty="0">
                <a:solidFill>
                  <a:schemeClr val="accent6"/>
                </a:solidFill>
              </a:rPr>
              <a:t>Menthol is still allowed</a:t>
            </a:r>
            <a:endParaRPr lang="en-US" sz="1600" dirty="0"/>
          </a:p>
        </p:txBody>
      </p:sp>
      <p:sp>
        <p:nvSpPr>
          <p:cNvPr id="14" name="Text 12"/>
          <p:cNvSpPr txBox="1"/>
          <p:nvPr/>
        </p:nvSpPr>
        <p:spPr>
          <a:xfrm>
            <a:off x="914400" y="4937760"/>
            <a:ext cx="10588752" cy="365760"/>
          </a:xfrm>
          <a:prstGeom prst="rect">
            <a:avLst/>
          </a:prstGeom>
          <a:noFill/>
          <a:ln/>
        </p:spPr>
        <p:txBody>
          <a:bodyPr wrap="square" lIns="0" tIns="0" rIns="0" bIns="0" rtlCol="0" anchor="t"/>
          <a:lstStyle/>
          <a:p>
            <a:pPr indent="0" marL="0">
              <a:buNone/>
            </a:pPr>
            <a:r>
              <a:rPr lang="en-US" sz="1600" i="1" dirty="0">
                <a:solidFill>
                  <a:schemeClr val="accent3"/>
                </a:solidFill>
              </a:rPr>
              <a:t>World record: in Türkiye and Timor-Leste, 92.5% of the pack is warning.</a:t>
            </a:r>
            <a:endParaRPr lang="en-US" sz="1600" dirty="0"/>
          </a:p>
        </p:txBody>
      </p:sp>
      <p:sp>
        <p:nvSpPr>
          <p:cNvPr id="15" name="Text 13"/>
          <p:cNvSpPr txBox="1"/>
          <p:nvPr/>
        </p:nvSpPr>
        <p:spPr>
          <a:xfrm>
            <a:off x="914400" y="6053328"/>
            <a:ext cx="10588752" cy="256032"/>
          </a:xfrm>
          <a:prstGeom prst="rect">
            <a:avLst/>
          </a:prstGeom>
          <a:noFill/>
          <a:ln/>
        </p:spPr>
        <p:txBody>
          <a:bodyPr wrap="square" lIns="0" tIns="0" rIns="0" bIns="0" rtlCol="0" anchor="t"/>
          <a:lstStyle/>
          <a:p>
            <a:pPr indent="0" marL="0">
              <a:buNone/>
            </a:pPr>
            <a:r>
              <a:rPr lang="en-US" sz="1000" i="1" dirty="0">
                <a:solidFill>
                  <a:schemeClr val="accent3"/>
                </a:solidFill>
              </a:rPr>
              <a:t>Sources: EU Directive 2014/40/EU; US FDA; Canadian Cancer Society (2025).</a:t>
            </a:r>
            <a:endParaRPr lang="en-US" sz="1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2  ·  The sweet door</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Every country has its own taste</a:t>
            </a:r>
            <a:endParaRPr lang="en-US" sz="2600" dirty="0"/>
          </a:p>
        </p:txBody>
      </p:sp>
      <p:sp>
        <p:nvSpPr>
          <p:cNvPr id="4" name="Shape 2"/>
          <p:cNvSpPr/>
          <p:nvPr/>
        </p:nvSpPr>
        <p:spPr>
          <a:xfrm>
            <a:off x="914400" y="1417320"/>
            <a:ext cx="7315200" cy="1005840"/>
          </a:xfrm>
          <a:prstGeom prst="rect">
            <a:avLst/>
          </a:prstGeom>
          <a:solidFill>
            <a:schemeClr val="bg2"/>
          </a:solidFill>
          <a:ln w="12700">
            <a:solidFill>
              <a:schemeClr val="bg2"/>
            </a:solidFill>
            <a:prstDash val="solid"/>
          </a:ln>
        </p:spPr>
      </p:sp>
      <p:sp>
        <p:nvSpPr>
          <p:cNvPr id="5" name="Text 3"/>
          <p:cNvSpPr txBox="1"/>
          <p:nvPr/>
        </p:nvSpPr>
        <p:spPr>
          <a:xfrm>
            <a:off x="1188720" y="1508760"/>
            <a:ext cx="1920240" cy="822960"/>
          </a:xfrm>
          <a:prstGeom prst="rect">
            <a:avLst/>
          </a:prstGeom>
          <a:noFill/>
          <a:ln/>
        </p:spPr>
        <p:txBody>
          <a:bodyPr wrap="square" lIns="0" tIns="0" rIns="0" bIns="0" rtlCol="0" anchor="ctr"/>
          <a:lstStyle/>
          <a:p>
            <a:pPr indent="0" marL="0">
              <a:buNone/>
            </a:pPr>
            <a:r>
              <a:rPr lang="en-US" sz="1800" b="1" dirty="0">
                <a:solidFill>
                  <a:schemeClr val="accent2"/>
                </a:solidFill>
              </a:rPr>
              <a:t>Indonesia</a:t>
            </a:r>
            <a:endParaRPr lang="en-US" sz="1800" dirty="0"/>
          </a:p>
        </p:txBody>
      </p:sp>
      <p:sp>
        <p:nvSpPr>
          <p:cNvPr id="6" name="Text 4"/>
          <p:cNvSpPr txBox="1"/>
          <p:nvPr/>
        </p:nvSpPr>
        <p:spPr>
          <a:xfrm>
            <a:off x="3154680" y="1508760"/>
            <a:ext cx="4846320" cy="822960"/>
          </a:xfrm>
          <a:prstGeom prst="rect">
            <a:avLst/>
          </a:prstGeom>
          <a:noFill/>
          <a:ln/>
        </p:spPr>
        <p:txBody>
          <a:bodyPr wrap="square" lIns="0" tIns="0" rIns="0" bIns="0" rtlCol="0" anchor="ctr"/>
          <a:lstStyle/>
          <a:p>
            <a:pPr indent="0" marL="0">
              <a:buNone/>
            </a:pPr>
            <a:r>
              <a:rPr lang="en-US" sz="1600" dirty="0">
                <a:solidFill>
                  <a:schemeClr val="accent6"/>
                </a:solidFill>
              </a:rPr>
              <a:t>Clove kretek. PMI bought local Sampoerna instead of pushing Marlboro.</a:t>
            </a:r>
            <a:endParaRPr lang="en-US" sz="1600" dirty="0"/>
          </a:p>
        </p:txBody>
      </p:sp>
      <p:sp>
        <p:nvSpPr>
          <p:cNvPr id="7" name="Shape 5"/>
          <p:cNvSpPr/>
          <p:nvPr/>
        </p:nvSpPr>
        <p:spPr>
          <a:xfrm>
            <a:off x="914400" y="2578608"/>
            <a:ext cx="7315200" cy="1005840"/>
          </a:xfrm>
          <a:prstGeom prst="rect">
            <a:avLst/>
          </a:prstGeom>
          <a:solidFill>
            <a:schemeClr val="bg1"/>
          </a:solidFill>
          <a:ln w="12700">
            <a:solidFill>
              <a:schemeClr val="accent4"/>
            </a:solidFill>
            <a:prstDash val="solid"/>
          </a:ln>
        </p:spPr>
      </p:sp>
      <p:sp>
        <p:nvSpPr>
          <p:cNvPr id="8" name="Text 6"/>
          <p:cNvSpPr txBox="1"/>
          <p:nvPr/>
        </p:nvSpPr>
        <p:spPr>
          <a:xfrm>
            <a:off x="1188720" y="2670048"/>
            <a:ext cx="1920240" cy="822960"/>
          </a:xfrm>
          <a:prstGeom prst="rect">
            <a:avLst/>
          </a:prstGeom>
          <a:noFill/>
          <a:ln/>
        </p:spPr>
        <p:txBody>
          <a:bodyPr wrap="square" lIns="0" tIns="0" rIns="0" bIns="0" rtlCol="0" anchor="ctr"/>
          <a:lstStyle/>
          <a:p>
            <a:pPr indent="0" marL="0">
              <a:buNone/>
            </a:pPr>
            <a:r>
              <a:rPr lang="en-US" sz="1800" b="1" dirty="0">
                <a:solidFill>
                  <a:schemeClr val="accent2"/>
                </a:solidFill>
              </a:rPr>
              <a:t>Japan</a:t>
            </a:r>
            <a:endParaRPr lang="en-US" sz="1800" dirty="0"/>
          </a:p>
        </p:txBody>
      </p:sp>
      <p:sp>
        <p:nvSpPr>
          <p:cNvPr id="9" name="Text 7"/>
          <p:cNvSpPr txBox="1"/>
          <p:nvPr/>
        </p:nvSpPr>
        <p:spPr>
          <a:xfrm>
            <a:off x="3154680" y="2670048"/>
            <a:ext cx="4846320" cy="822960"/>
          </a:xfrm>
          <a:prstGeom prst="rect">
            <a:avLst/>
          </a:prstGeom>
          <a:noFill/>
          <a:ln/>
        </p:spPr>
        <p:txBody>
          <a:bodyPr wrap="square" lIns="0" tIns="0" rIns="0" bIns="0" rtlCol="0" anchor="ctr"/>
          <a:lstStyle/>
          <a:p>
            <a:pPr indent="0" marL="0">
              <a:buNone/>
            </a:pPr>
            <a:r>
              <a:rPr lang="en-US" sz="1600" dirty="0">
                <a:solidFill>
                  <a:schemeClr val="accent6"/>
                </a:solidFill>
              </a:rPr>
              <a:t>Menthol and “ice” flavours are mainstream.</a:t>
            </a:r>
            <a:endParaRPr lang="en-US" sz="1600" dirty="0"/>
          </a:p>
        </p:txBody>
      </p:sp>
      <p:sp>
        <p:nvSpPr>
          <p:cNvPr id="10" name="Shape 8"/>
          <p:cNvSpPr/>
          <p:nvPr/>
        </p:nvSpPr>
        <p:spPr>
          <a:xfrm>
            <a:off x="914400" y="3739896"/>
            <a:ext cx="7315200" cy="1005840"/>
          </a:xfrm>
          <a:prstGeom prst="rect">
            <a:avLst/>
          </a:prstGeom>
          <a:solidFill>
            <a:schemeClr val="bg2"/>
          </a:solidFill>
          <a:ln w="12700">
            <a:solidFill>
              <a:schemeClr val="bg2"/>
            </a:solidFill>
            <a:prstDash val="solid"/>
          </a:ln>
        </p:spPr>
      </p:sp>
      <p:sp>
        <p:nvSpPr>
          <p:cNvPr id="11" name="Text 9"/>
          <p:cNvSpPr txBox="1"/>
          <p:nvPr/>
        </p:nvSpPr>
        <p:spPr>
          <a:xfrm>
            <a:off x="1188720" y="3831336"/>
            <a:ext cx="1920240" cy="822960"/>
          </a:xfrm>
          <a:prstGeom prst="rect">
            <a:avLst/>
          </a:prstGeom>
          <a:noFill/>
          <a:ln/>
        </p:spPr>
        <p:txBody>
          <a:bodyPr wrap="square" lIns="0" tIns="0" rIns="0" bIns="0" rtlCol="0" anchor="ctr"/>
          <a:lstStyle/>
          <a:p>
            <a:pPr indent="0" marL="0">
              <a:buNone/>
            </a:pPr>
            <a:r>
              <a:rPr lang="en-US" sz="1800" b="1" dirty="0">
                <a:solidFill>
                  <a:schemeClr val="accent2"/>
                </a:solidFill>
              </a:rPr>
              <a:t>Latin America</a:t>
            </a:r>
            <a:endParaRPr lang="en-US" sz="1800" dirty="0"/>
          </a:p>
        </p:txBody>
      </p:sp>
      <p:sp>
        <p:nvSpPr>
          <p:cNvPr id="12" name="Text 10"/>
          <p:cNvSpPr txBox="1"/>
          <p:nvPr/>
        </p:nvSpPr>
        <p:spPr>
          <a:xfrm>
            <a:off x="3154680" y="3831336"/>
            <a:ext cx="4846320" cy="822960"/>
          </a:xfrm>
          <a:prstGeom prst="rect">
            <a:avLst/>
          </a:prstGeom>
          <a:noFill/>
          <a:ln/>
        </p:spPr>
        <p:txBody>
          <a:bodyPr wrap="square" lIns="0" tIns="0" rIns="0" bIns="0" rtlCol="0" anchor="ctr"/>
          <a:lstStyle/>
          <a:p>
            <a:pPr indent="0" marL="0">
              <a:buNone/>
            </a:pPr>
            <a:r>
              <a:rPr lang="en-US" sz="1600" dirty="0">
                <a:solidFill>
                  <a:schemeClr val="accent6"/>
                </a:solidFill>
              </a:rPr>
              <a:t>Capsules: click the filter, change the flavour.</a:t>
            </a:r>
            <a:endParaRPr lang="en-US" sz="1600" dirty="0"/>
          </a:p>
        </p:txBody>
      </p:sp>
      <p:sp>
        <p:nvSpPr>
          <p:cNvPr id="13" name="Shape 11"/>
          <p:cNvSpPr/>
          <p:nvPr/>
        </p:nvSpPr>
        <p:spPr>
          <a:xfrm>
            <a:off x="914400" y="4901184"/>
            <a:ext cx="7315200" cy="1005840"/>
          </a:xfrm>
          <a:prstGeom prst="rect">
            <a:avLst/>
          </a:prstGeom>
          <a:solidFill>
            <a:schemeClr val="bg1"/>
          </a:solidFill>
          <a:ln w="12700">
            <a:solidFill>
              <a:schemeClr val="accent4"/>
            </a:solidFill>
            <a:prstDash val="solid"/>
          </a:ln>
        </p:spPr>
      </p:sp>
      <p:sp>
        <p:nvSpPr>
          <p:cNvPr id="14" name="Text 12"/>
          <p:cNvSpPr txBox="1"/>
          <p:nvPr/>
        </p:nvSpPr>
        <p:spPr>
          <a:xfrm>
            <a:off x="1188720" y="4992624"/>
            <a:ext cx="1920240" cy="822960"/>
          </a:xfrm>
          <a:prstGeom prst="rect">
            <a:avLst/>
          </a:prstGeom>
          <a:noFill/>
          <a:ln/>
        </p:spPr>
        <p:txBody>
          <a:bodyPr wrap="square" lIns="0" tIns="0" rIns="0" bIns="0" rtlCol="0" anchor="ctr"/>
          <a:lstStyle/>
          <a:p>
            <a:pPr indent="0" marL="0">
              <a:buNone/>
            </a:pPr>
            <a:r>
              <a:rPr lang="en-US" sz="1800" b="1" dirty="0">
                <a:solidFill>
                  <a:schemeClr val="accent2"/>
                </a:solidFill>
              </a:rPr>
              <a:t>USA</a:t>
            </a:r>
            <a:endParaRPr lang="en-US" sz="1800" dirty="0"/>
          </a:p>
        </p:txBody>
      </p:sp>
      <p:sp>
        <p:nvSpPr>
          <p:cNvPr id="15" name="Text 13"/>
          <p:cNvSpPr txBox="1"/>
          <p:nvPr/>
        </p:nvSpPr>
        <p:spPr>
          <a:xfrm>
            <a:off x="3154680" y="4992624"/>
            <a:ext cx="4846320" cy="822960"/>
          </a:xfrm>
          <a:prstGeom prst="rect">
            <a:avLst/>
          </a:prstGeom>
          <a:noFill/>
          <a:ln/>
        </p:spPr>
        <p:txBody>
          <a:bodyPr wrap="square" lIns="0" tIns="0" rIns="0" bIns="0" rtlCol="0" anchor="ctr"/>
          <a:lstStyle/>
          <a:p>
            <a:pPr indent="0" marL="0">
              <a:buNone/>
            </a:pPr>
            <a:r>
              <a:rPr lang="en-US" sz="1600" dirty="0">
                <a:solidFill>
                  <a:schemeClr val="accent6"/>
                </a:solidFill>
              </a:rPr>
              <a:t>Menthol: used by ~85% of Black smokers after years of targeted ads.</a:t>
            </a:r>
            <a:endParaRPr lang="en-US" sz="1600" dirty="0"/>
          </a:p>
        </p:txBody>
      </p:sp>
      <p:sp>
        <p:nvSpPr>
          <p:cNvPr id="16" name="Text 14"/>
          <p:cNvSpPr txBox="1"/>
          <p:nvPr/>
        </p:nvSpPr>
        <p:spPr>
          <a:xfrm>
            <a:off x="914400" y="6035040"/>
            <a:ext cx="7315200" cy="274320"/>
          </a:xfrm>
          <a:prstGeom prst="rect">
            <a:avLst/>
          </a:prstGeom>
          <a:noFill/>
          <a:ln/>
        </p:spPr>
        <p:txBody>
          <a:bodyPr wrap="square" lIns="0" tIns="0" rIns="0" bIns="0" rtlCol="0" anchor="t"/>
          <a:lstStyle/>
          <a:p>
            <a:pPr indent="0" marL="0">
              <a:buNone/>
            </a:pPr>
            <a:r>
              <a:rPr lang="en-US" sz="1400" i="1" dirty="0">
                <a:solidFill>
                  <a:schemeClr val="accent3"/>
                </a:solidFill>
              </a:rPr>
              <a:t>Flavour is the easiest way to adapt the product to a culture.</a:t>
            </a:r>
            <a:endParaRPr lang="en-US" sz="1400" dirty="0"/>
          </a:p>
        </p:txBody>
      </p:sp>
      <p:sp>
        <p:nvSpPr>
          <p:cNvPr id="18" name="Text 2"/>
          <p:cNvSpPr/>
          <p:nvPr>
            <p:ph type="pic" idx="104" hasCustomPrompt="1"/>
          </p:nvPr>
        </p:nvSpPr>
        <p:spPr>
          <a:xfrm>
            <a:off x="8549640" y="1417320"/>
            <a:ext cx="2953512" cy="4663440"/>
          </a:xfrm>
          <a:prstGeom prst="rect">
            <a:avLst/>
          </a:prstGeom>
          <a:noFill/>
          <a:ln/>
        </p:spPr>
        <p:txBody>
          <a:bodyPr wrap="square" rtlCol="0"/>
          <a:lstStyle/>
          <a:p>
            <a:pPr indent="0" marL="0">
              <a:buNone/>
            </a:pPr>
            <a:endParaRPr lang="en-US" sz="12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2  ·  The sweet door</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Why governments ban flavours</a:t>
            </a:r>
            <a:endParaRPr lang="en-US" sz="2600" dirty="0"/>
          </a:p>
        </p:txBody>
      </p:sp>
      <p:sp>
        <p:nvSpPr>
          <p:cNvPr id="4" name="Shape 2"/>
          <p:cNvSpPr/>
          <p:nvPr/>
        </p:nvSpPr>
        <p:spPr>
          <a:xfrm>
            <a:off x="914400" y="1417320"/>
            <a:ext cx="5669280" cy="1280160"/>
          </a:xfrm>
          <a:prstGeom prst="rect">
            <a:avLst/>
          </a:prstGeom>
          <a:solidFill>
            <a:schemeClr val="bg2"/>
          </a:solidFill>
          <a:ln w="12700">
            <a:solidFill>
              <a:schemeClr val="bg2"/>
            </a:solidFill>
            <a:prstDash val="solid"/>
          </a:ln>
        </p:spPr>
      </p:sp>
      <p:sp>
        <p:nvSpPr>
          <p:cNvPr id="5" name="Shape 3"/>
          <p:cNvSpPr/>
          <p:nvPr/>
        </p:nvSpPr>
        <p:spPr>
          <a:xfrm>
            <a:off x="1188720" y="1773936"/>
            <a:ext cx="566928" cy="566928"/>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330452" y="1915668"/>
            <a:ext cx="283464" cy="283464"/>
          </a:xfrm>
          <a:prstGeom prst="rect">
            <a:avLst/>
          </a:prstGeom>
        </p:spPr>
      </p:pic>
      <p:sp>
        <p:nvSpPr>
          <p:cNvPr id="7" name="Text 4"/>
          <p:cNvSpPr txBox="1"/>
          <p:nvPr/>
        </p:nvSpPr>
        <p:spPr>
          <a:xfrm>
            <a:off x="2011680" y="1618488"/>
            <a:ext cx="4389120" cy="365760"/>
          </a:xfrm>
          <a:prstGeom prst="rect">
            <a:avLst/>
          </a:prstGeom>
          <a:noFill/>
          <a:ln/>
        </p:spPr>
        <p:txBody>
          <a:bodyPr wrap="square" lIns="0" tIns="0" rIns="0" bIns="0" rtlCol="0" anchor="t"/>
          <a:lstStyle/>
          <a:p>
            <a:pPr indent="0" marL="0">
              <a:buNone/>
            </a:pPr>
            <a:r>
              <a:rPr lang="en-US" sz="1900" b="1" dirty="0">
                <a:solidFill>
                  <a:schemeClr val="accent1"/>
                </a:solidFill>
              </a:rPr>
              <a:t>They hide the harshness</a:t>
            </a:r>
            <a:endParaRPr lang="en-US" sz="1900" dirty="0"/>
          </a:p>
        </p:txBody>
      </p:sp>
      <p:sp>
        <p:nvSpPr>
          <p:cNvPr id="8" name="Text 5"/>
          <p:cNvSpPr txBox="1"/>
          <p:nvPr/>
        </p:nvSpPr>
        <p:spPr>
          <a:xfrm>
            <a:off x="2011680" y="2020824"/>
            <a:ext cx="4389120" cy="548640"/>
          </a:xfrm>
          <a:prstGeom prst="rect">
            <a:avLst/>
          </a:prstGeom>
          <a:noFill/>
          <a:ln/>
        </p:spPr>
        <p:txBody>
          <a:bodyPr wrap="square" lIns="0" tIns="0" rIns="0" bIns="0" rtlCol="0" anchor="t"/>
          <a:lstStyle/>
          <a:p>
            <a:pPr indent="0" marL="0">
              <a:buNone/>
            </a:pPr>
            <a:r>
              <a:rPr lang="en-US" sz="1500" dirty="0">
                <a:solidFill>
                  <a:schemeClr val="accent6"/>
                </a:solidFill>
              </a:rPr>
              <a:t>Menthol numbs the throat. The first cigarette doesn’t hurt.</a:t>
            </a:r>
            <a:endParaRPr lang="en-US" sz="1500" dirty="0"/>
          </a:p>
        </p:txBody>
      </p:sp>
      <p:sp>
        <p:nvSpPr>
          <p:cNvPr id="9" name="Shape 6"/>
          <p:cNvSpPr/>
          <p:nvPr/>
        </p:nvSpPr>
        <p:spPr>
          <a:xfrm>
            <a:off x="914400" y="2880360"/>
            <a:ext cx="5669280" cy="1280160"/>
          </a:xfrm>
          <a:prstGeom prst="rect">
            <a:avLst/>
          </a:prstGeom>
          <a:solidFill>
            <a:schemeClr val="bg2"/>
          </a:solidFill>
          <a:ln w="12700">
            <a:solidFill>
              <a:schemeClr val="bg2"/>
            </a:solidFill>
            <a:prstDash val="solid"/>
          </a:ln>
        </p:spPr>
      </p:sp>
      <p:sp>
        <p:nvSpPr>
          <p:cNvPr id="10" name="Shape 7"/>
          <p:cNvSpPr/>
          <p:nvPr/>
        </p:nvSpPr>
        <p:spPr>
          <a:xfrm>
            <a:off x="1188720" y="3236976"/>
            <a:ext cx="566928" cy="566928"/>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1330452" y="3378708"/>
            <a:ext cx="283464" cy="283464"/>
          </a:xfrm>
          <a:prstGeom prst="rect">
            <a:avLst/>
          </a:prstGeom>
        </p:spPr>
      </p:pic>
      <p:sp>
        <p:nvSpPr>
          <p:cNvPr id="12" name="Text 8"/>
          <p:cNvSpPr txBox="1"/>
          <p:nvPr/>
        </p:nvSpPr>
        <p:spPr>
          <a:xfrm>
            <a:off x="2011680" y="3081528"/>
            <a:ext cx="4389120" cy="365760"/>
          </a:xfrm>
          <a:prstGeom prst="rect">
            <a:avLst/>
          </a:prstGeom>
          <a:noFill/>
          <a:ln/>
        </p:spPr>
        <p:txBody>
          <a:bodyPr wrap="square" lIns="0" tIns="0" rIns="0" bIns="0" rtlCol="0" anchor="t"/>
          <a:lstStyle/>
          <a:p>
            <a:pPr indent="0" marL="0">
              <a:buNone/>
            </a:pPr>
            <a:r>
              <a:rPr lang="en-US" sz="1900" b="1" dirty="0">
                <a:solidFill>
                  <a:schemeClr val="accent1"/>
                </a:solidFill>
              </a:rPr>
              <a:t>They attract beginners</a:t>
            </a:r>
            <a:endParaRPr lang="en-US" sz="1900" dirty="0"/>
          </a:p>
        </p:txBody>
      </p:sp>
      <p:sp>
        <p:nvSpPr>
          <p:cNvPr id="13" name="Text 9"/>
          <p:cNvSpPr txBox="1"/>
          <p:nvPr/>
        </p:nvSpPr>
        <p:spPr>
          <a:xfrm>
            <a:off x="2011680" y="3483864"/>
            <a:ext cx="4389120" cy="548640"/>
          </a:xfrm>
          <a:prstGeom prst="rect">
            <a:avLst/>
          </a:prstGeom>
          <a:noFill/>
          <a:ln/>
        </p:spPr>
        <p:txBody>
          <a:bodyPr wrap="square" lIns="0" tIns="0" rIns="0" bIns="0" rtlCol="0" anchor="t"/>
          <a:lstStyle/>
          <a:p>
            <a:pPr indent="0" marL="0">
              <a:buNone/>
            </a:pPr>
            <a:r>
              <a:rPr lang="en-US" sz="1500" dirty="0">
                <a:solidFill>
                  <a:schemeClr val="accent6"/>
                </a:solidFill>
              </a:rPr>
              <a:t>Sweet tastes make perfect starter products.</a:t>
            </a:r>
            <a:endParaRPr lang="en-US" sz="1500" dirty="0"/>
          </a:p>
        </p:txBody>
      </p:sp>
      <p:sp>
        <p:nvSpPr>
          <p:cNvPr id="14" name="Shape 10"/>
          <p:cNvSpPr/>
          <p:nvPr/>
        </p:nvSpPr>
        <p:spPr>
          <a:xfrm>
            <a:off x="914400" y="4343400"/>
            <a:ext cx="5669280" cy="1280160"/>
          </a:xfrm>
          <a:prstGeom prst="rect">
            <a:avLst/>
          </a:prstGeom>
          <a:solidFill>
            <a:schemeClr val="bg2"/>
          </a:solidFill>
          <a:ln w="12700">
            <a:solidFill>
              <a:schemeClr val="bg2"/>
            </a:solidFill>
            <a:prstDash val="solid"/>
          </a:ln>
        </p:spPr>
      </p:sp>
      <p:sp>
        <p:nvSpPr>
          <p:cNvPr id="15" name="Shape 11"/>
          <p:cNvSpPr/>
          <p:nvPr/>
        </p:nvSpPr>
        <p:spPr>
          <a:xfrm>
            <a:off x="1188720" y="4700016"/>
            <a:ext cx="566928" cy="566928"/>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1330452" y="4841748"/>
            <a:ext cx="283464" cy="283464"/>
          </a:xfrm>
          <a:prstGeom prst="rect">
            <a:avLst/>
          </a:prstGeom>
        </p:spPr>
      </p:pic>
      <p:sp>
        <p:nvSpPr>
          <p:cNvPr id="17" name="Text 12"/>
          <p:cNvSpPr txBox="1"/>
          <p:nvPr/>
        </p:nvSpPr>
        <p:spPr>
          <a:xfrm>
            <a:off x="2011680" y="4544568"/>
            <a:ext cx="4389120" cy="365760"/>
          </a:xfrm>
          <a:prstGeom prst="rect">
            <a:avLst/>
          </a:prstGeom>
          <a:noFill/>
          <a:ln/>
        </p:spPr>
        <p:txBody>
          <a:bodyPr wrap="square" lIns="0" tIns="0" rIns="0" bIns="0" rtlCol="0" anchor="t"/>
          <a:lstStyle/>
          <a:p>
            <a:pPr indent="0" marL="0">
              <a:buNone/>
            </a:pPr>
            <a:r>
              <a:rPr lang="en-US" sz="1900" b="1" dirty="0">
                <a:solidFill>
                  <a:schemeClr val="accent1"/>
                </a:solidFill>
              </a:rPr>
              <a:t>They target groups</a:t>
            </a:r>
            <a:endParaRPr lang="en-US" sz="1900" dirty="0"/>
          </a:p>
        </p:txBody>
      </p:sp>
      <p:sp>
        <p:nvSpPr>
          <p:cNvPr id="18" name="Text 13"/>
          <p:cNvSpPr txBox="1"/>
          <p:nvPr/>
        </p:nvSpPr>
        <p:spPr>
          <a:xfrm>
            <a:off x="2011680" y="4946904"/>
            <a:ext cx="4389120" cy="548640"/>
          </a:xfrm>
          <a:prstGeom prst="rect">
            <a:avLst/>
          </a:prstGeom>
          <a:noFill/>
          <a:ln/>
        </p:spPr>
        <p:txBody>
          <a:bodyPr wrap="square" lIns="0" tIns="0" rIns="0" bIns="0" rtlCol="0" anchor="t"/>
          <a:lstStyle/>
          <a:p>
            <a:pPr indent="0" marL="0">
              <a:buNone/>
            </a:pPr>
            <a:r>
              <a:rPr lang="en-US" sz="1500" dirty="0">
                <a:solidFill>
                  <a:schemeClr val="accent6"/>
                </a:solidFill>
              </a:rPr>
              <a:t>Flavours were aimed at specific communities.</a:t>
            </a:r>
            <a:endParaRPr lang="en-US" sz="1500" dirty="0"/>
          </a:p>
        </p:txBody>
      </p:sp>
      <p:sp>
        <p:nvSpPr>
          <p:cNvPr id="19" name="Shape 14"/>
          <p:cNvSpPr/>
          <p:nvPr/>
        </p:nvSpPr>
        <p:spPr>
          <a:xfrm>
            <a:off x="6949440" y="1417320"/>
            <a:ext cx="4553712" cy="4206240"/>
          </a:xfrm>
          <a:prstGeom prst="rect">
            <a:avLst/>
          </a:prstGeom>
          <a:solidFill>
            <a:schemeClr val="bg1"/>
          </a:solidFill>
          <a:ln w="15875">
            <a:solidFill>
              <a:schemeClr val="accent2"/>
            </a:solidFill>
            <a:prstDash val="solid"/>
          </a:ln>
        </p:spPr>
      </p:sp>
      <p:sp>
        <p:nvSpPr>
          <p:cNvPr id="20" name="Text 15"/>
          <p:cNvSpPr txBox="1"/>
          <p:nvPr/>
        </p:nvSpPr>
        <p:spPr>
          <a:xfrm>
            <a:off x="7269480" y="1600200"/>
            <a:ext cx="3913632" cy="411480"/>
          </a:xfrm>
          <a:prstGeom prst="rect">
            <a:avLst/>
          </a:prstGeom>
          <a:noFill/>
          <a:ln/>
        </p:spPr>
        <p:txBody>
          <a:bodyPr wrap="square" lIns="0" tIns="0" rIns="0" bIns="0" rtlCol="0" anchor="t"/>
          <a:lstStyle/>
          <a:p>
            <a:pPr indent="0" marL="0">
              <a:buNone/>
            </a:pPr>
            <a:r>
              <a:rPr lang="en-US" sz="2200" b="1" dirty="0">
                <a:solidFill>
                  <a:schemeClr val="accent2"/>
                </a:solidFill>
              </a:rPr>
              <a:t>The clove war</a:t>
            </a:r>
            <a:endParaRPr lang="en-US" sz="2200" dirty="0"/>
          </a:p>
        </p:txBody>
      </p:sp>
      <p:sp>
        <p:nvSpPr>
          <p:cNvPr id="21" name="Text 16"/>
          <p:cNvSpPr txBox="1"/>
          <p:nvPr/>
        </p:nvSpPr>
        <p:spPr>
          <a:xfrm>
            <a:off x="7269480" y="2286000"/>
            <a:ext cx="914400" cy="411480"/>
          </a:xfrm>
          <a:prstGeom prst="rect">
            <a:avLst/>
          </a:prstGeom>
          <a:noFill/>
          <a:ln/>
        </p:spPr>
        <p:txBody>
          <a:bodyPr wrap="square" lIns="0" tIns="0" rIns="0" bIns="0" rtlCol="0" anchor="t"/>
          <a:lstStyle/>
          <a:p>
            <a:pPr indent="0" marL="0">
              <a:buNone/>
            </a:pPr>
            <a:r>
              <a:rPr lang="en-US" sz="2000" b="1" dirty="0">
                <a:solidFill>
                  <a:schemeClr val="accent1"/>
                </a:solidFill>
              </a:rPr>
              <a:t>2009</a:t>
            </a:r>
            <a:endParaRPr lang="en-US" sz="2000" dirty="0"/>
          </a:p>
        </p:txBody>
      </p:sp>
      <p:sp>
        <p:nvSpPr>
          <p:cNvPr id="22" name="Text 17"/>
          <p:cNvSpPr txBox="1"/>
          <p:nvPr/>
        </p:nvSpPr>
        <p:spPr>
          <a:xfrm>
            <a:off x="8229600" y="2313432"/>
            <a:ext cx="2953512" cy="777240"/>
          </a:xfrm>
          <a:prstGeom prst="rect">
            <a:avLst/>
          </a:prstGeom>
          <a:noFill/>
          <a:ln/>
        </p:spPr>
        <p:txBody>
          <a:bodyPr wrap="square" lIns="0" tIns="0" rIns="0" bIns="0" rtlCol="0" anchor="t"/>
          <a:lstStyle/>
          <a:p>
            <a:pPr indent="0" marL="0">
              <a:buNone/>
            </a:pPr>
            <a:r>
              <a:rPr lang="en-US" sz="1600" dirty="0">
                <a:solidFill>
                  <a:schemeClr val="accent6"/>
                </a:solidFill>
              </a:rPr>
              <a:t>USA bans clove cigarettes, but keeps menthol</a:t>
            </a:r>
            <a:endParaRPr lang="en-US" sz="1600" dirty="0"/>
          </a:p>
        </p:txBody>
      </p:sp>
      <p:sp>
        <p:nvSpPr>
          <p:cNvPr id="23" name="Text 18"/>
          <p:cNvSpPr txBox="1"/>
          <p:nvPr/>
        </p:nvSpPr>
        <p:spPr>
          <a:xfrm>
            <a:off x="7269480" y="3337560"/>
            <a:ext cx="914400" cy="411480"/>
          </a:xfrm>
          <a:prstGeom prst="rect">
            <a:avLst/>
          </a:prstGeom>
          <a:noFill/>
          <a:ln/>
        </p:spPr>
        <p:txBody>
          <a:bodyPr wrap="square" lIns="0" tIns="0" rIns="0" bIns="0" rtlCol="0" anchor="t"/>
          <a:lstStyle/>
          <a:p>
            <a:pPr indent="0" marL="0">
              <a:buNone/>
            </a:pPr>
            <a:r>
              <a:rPr lang="en-US" sz="2000" b="1" dirty="0">
                <a:solidFill>
                  <a:schemeClr val="accent1"/>
                </a:solidFill>
              </a:rPr>
              <a:t>2010</a:t>
            </a:r>
            <a:endParaRPr lang="en-US" sz="2000" dirty="0"/>
          </a:p>
        </p:txBody>
      </p:sp>
      <p:sp>
        <p:nvSpPr>
          <p:cNvPr id="24" name="Text 19"/>
          <p:cNvSpPr txBox="1"/>
          <p:nvPr/>
        </p:nvSpPr>
        <p:spPr>
          <a:xfrm>
            <a:off x="8229600" y="3364992"/>
            <a:ext cx="2953512" cy="777240"/>
          </a:xfrm>
          <a:prstGeom prst="rect">
            <a:avLst/>
          </a:prstGeom>
          <a:noFill/>
          <a:ln/>
        </p:spPr>
        <p:txBody>
          <a:bodyPr wrap="square" lIns="0" tIns="0" rIns="0" bIns="0" rtlCol="0" anchor="t"/>
          <a:lstStyle/>
          <a:p>
            <a:pPr indent="0" marL="0">
              <a:buNone/>
            </a:pPr>
            <a:r>
              <a:rPr lang="en-US" sz="1600" dirty="0">
                <a:solidFill>
                  <a:schemeClr val="accent6"/>
                </a:solidFill>
              </a:rPr>
              <a:t>Indonesia sues the USA at the WTO</a:t>
            </a:r>
            <a:endParaRPr lang="en-US" sz="1600" dirty="0"/>
          </a:p>
        </p:txBody>
      </p:sp>
      <p:sp>
        <p:nvSpPr>
          <p:cNvPr id="25" name="Text 20"/>
          <p:cNvSpPr txBox="1"/>
          <p:nvPr/>
        </p:nvSpPr>
        <p:spPr>
          <a:xfrm>
            <a:off x="7269480" y="4389120"/>
            <a:ext cx="914400" cy="411480"/>
          </a:xfrm>
          <a:prstGeom prst="rect">
            <a:avLst/>
          </a:prstGeom>
          <a:noFill/>
          <a:ln/>
        </p:spPr>
        <p:txBody>
          <a:bodyPr wrap="square" lIns="0" tIns="0" rIns="0" bIns="0" rtlCol="0" anchor="t"/>
          <a:lstStyle/>
          <a:p>
            <a:pPr indent="0" marL="0">
              <a:buNone/>
            </a:pPr>
            <a:r>
              <a:rPr lang="en-US" sz="2000" b="1" dirty="0">
                <a:solidFill>
                  <a:schemeClr val="accent1"/>
                </a:solidFill>
              </a:rPr>
              <a:t>2012</a:t>
            </a:r>
            <a:endParaRPr lang="en-US" sz="2000" dirty="0"/>
          </a:p>
        </p:txBody>
      </p:sp>
      <p:sp>
        <p:nvSpPr>
          <p:cNvPr id="26" name="Text 21"/>
          <p:cNvSpPr txBox="1"/>
          <p:nvPr/>
        </p:nvSpPr>
        <p:spPr>
          <a:xfrm>
            <a:off x="8229600" y="4416552"/>
            <a:ext cx="2953512" cy="777240"/>
          </a:xfrm>
          <a:prstGeom prst="rect">
            <a:avLst/>
          </a:prstGeom>
          <a:noFill/>
          <a:ln/>
        </p:spPr>
        <p:txBody>
          <a:bodyPr wrap="square" lIns="0" tIns="0" rIns="0" bIns="0" rtlCol="0" anchor="t"/>
          <a:lstStyle/>
          <a:p>
            <a:pPr indent="0" marL="0">
              <a:buNone/>
            </a:pPr>
            <a:r>
              <a:rPr lang="en-US" sz="1600" dirty="0">
                <a:solidFill>
                  <a:schemeClr val="accent6"/>
                </a:solidFill>
              </a:rPr>
              <a:t>Indonesia wins: it was discrimination</a:t>
            </a:r>
            <a:endParaRPr lang="en-US" sz="1600" dirty="0"/>
          </a:p>
        </p:txBody>
      </p:sp>
      <p:sp>
        <p:nvSpPr>
          <p:cNvPr id="27" name="Text 22"/>
          <p:cNvSpPr txBox="1"/>
          <p:nvPr/>
        </p:nvSpPr>
        <p:spPr>
          <a:xfrm>
            <a:off x="7269480" y="5120640"/>
            <a:ext cx="3913632" cy="320040"/>
          </a:xfrm>
          <a:prstGeom prst="rect">
            <a:avLst/>
          </a:prstGeom>
          <a:noFill/>
          <a:ln/>
        </p:spPr>
        <p:txBody>
          <a:bodyPr wrap="square" lIns="0" tIns="0" rIns="0" bIns="0" rtlCol="0" anchor="t"/>
          <a:lstStyle/>
          <a:p>
            <a:pPr indent="0" marL="0">
              <a:buNone/>
            </a:pPr>
            <a:r>
              <a:rPr lang="en-US" sz="1500" i="1" dirty="0">
                <a:solidFill>
                  <a:schemeClr val="accent3"/>
                </a:solidFill>
              </a:rPr>
              <a:t>Health policy became trade policy.</a:t>
            </a:r>
            <a:endParaRPr lang="en-US" sz="15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3  ·  The new door</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Then came the vape</a:t>
            </a:r>
            <a:endParaRPr lang="en-US" sz="2600" dirty="0"/>
          </a:p>
        </p:txBody>
      </p:sp>
      <p:graphicFrame>
        <p:nvGraphicFramePr>
          <p:cNvPr id="4" name="Chart 0" descr=""/>
          <p:cNvGraphicFramePr/>
          <p:nvPr/>
        </p:nvGraphicFramePr>
        <p:xfrm>
          <a:off x="822960" y="128016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914400" y="4983480"/>
            <a:ext cx="6675120" cy="256032"/>
          </a:xfrm>
          <a:prstGeom prst="rect">
            <a:avLst/>
          </a:prstGeom>
          <a:noFill/>
          <a:ln/>
        </p:spPr>
        <p:txBody>
          <a:bodyPr wrap="square" lIns="0" tIns="0" rIns="0" bIns="0" rtlCol="0" anchor="t"/>
          <a:lstStyle/>
          <a:p>
            <a:pPr indent="0" marL="0">
              <a:buNone/>
            </a:pPr>
            <a:r>
              <a:rPr lang="en-US" sz="1000" i="1" dirty="0">
                <a:solidFill>
                  <a:schemeClr val="accent3"/>
                </a:solidFill>
              </a:rPr>
              <a:t>CDC / FDA National Youth Tobacco Survey. The 2019 survey moved to tablets, which may raise estimates.</a:t>
            </a:r>
            <a:endParaRPr lang="en-US" sz="1000" dirty="0"/>
          </a:p>
        </p:txBody>
      </p:sp>
      <p:sp>
        <p:nvSpPr>
          <p:cNvPr id="6" name="Text 3"/>
          <p:cNvSpPr txBox="1"/>
          <p:nvPr/>
        </p:nvSpPr>
        <p:spPr>
          <a:xfrm>
            <a:off x="8046720" y="1417320"/>
            <a:ext cx="3456432" cy="457200"/>
          </a:xfrm>
          <a:prstGeom prst="rect">
            <a:avLst/>
          </a:prstGeom>
          <a:noFill/>
          <a:ln/>
        </p:spPr>
        <p:txBody>
          <a:bodyPr wrap="square" lIns="0" tIns="0" rIns="0" bIns="0" rtlCol="0" anchor="t"/>
          <a:lstStyle/>
          <a:p>
            <a:pPr indent="0" marL="0">
              <a:buNone/>
            </a:pPr>
            <a:r>
              <a:rPr lang="en-US" sz="2400" b="1" dirty="0">
                <a:solidFill>
                  <a:schemeClr val="accent1"/>
                </a:solidFill>
              </a:rPr>
              <a:t>2014</a:t>
            </a:r>
            <a:endParaRPr lang="en-US" sz="2400" dirty="0"/>
          </a:p>
        </p:txBody>
      </p:sp>
      <p:sp>
        <p:nvSpPr>
          <p:cNvPr id="7" name="Text 4"/>
          <p:cNvSpPr txBox="1"/>
          <p:nvPr/>
        </p:nvSpPr>
        <p:spPr>
          <a:xfrm>
            <a:off x="8046720" y="1874520"/>
            <a:ext cx="3456432" cy="594360"/>
          </a:xfrm>
          <a:prstGeom prst="rect">
            <a:avLst/>
          </a:prstGeom>
          <a:noFill/>
          <a:ln/>
        </p:spPr>
        <p:txBody>
          <a:bodyPr wrap="square" lIns="0" tIns="0" rIns="0" bIns="0" rtlCol="0" anchor="t"/>
          <a:lstStyle/>
          <a:p>
            <a:pPr indent="0" marL="0">
              <a:buNone/>
            </a:pPr>
            <a:r>
              <a:rPr lang="en-US" sz="1500" dirty="0">
                <a:solidFill>
                  <a:schemeClr val="accent6"/>
                </a:solidFill>
              </a:rPr>
              <a:t>Vapes overtake cigarettes among US teens</a:t>
            </a:r>
            <a:endParaRPr lang="en-US" sz="1500" dirty="0"/>
          </a:p>
        </p:txBody>
      </p:sp>
      <p:sp>
        <p:nvSpPr>
          <p:cNvPr id="8" name="Text 5"/>
          <p:cNvSpPr txBox="1"/>
          <p:nvPr/>
        </p:nvSpPr>
        <p:spPr>
          <a:xfrm>
            <a:off x="8046720" y="2560320"/>
            <a:ext cx="3456432" cy="457200"/>
          </a:xfrm>
          <a:prstGeom prst="rect">
            <a:avLst/>
          </a:prstGeom>
          <a:noFill/>
          <a:ln/>
        </p:spPr>
        <p:txBody>
          <a:bodyPr wrap="square" lIns="0" tIns="0" rIns="0" bIns="0" rtlCol="0" anchor="t"/>
          <a:lstStyle/>
          <a:p>
            <a:pPr indent="0" marL="0">
              <a:buNone/>
            </a:pPr>
            <a:r>
              <a:rPr lang="en-US" sz="2400" b="1" dirty="0">
                <a:solidFill>
                  <a:schemeClr val="accent2"/>
                </a:solidFill>
              </a:rPr>
              <a:t>2019</a:t>
            </a:r>
            <a:endParaRPr lang="en-US" sz="2400" dirty="0"/>
          </a:p>
        </p:txBody>
      </p:sp>
      <p:sp>
        <p:nvSpPr>
          <p:cNvPr id="9" name="Text 6"/>
          <p:cNvSpPr txBox="1"/>
          <p:nvPr/>
        </p:nvSpPr>
        <p:spPr>
          <a:xfrm>
            <a:off x="8046720" y="3017520"/>
            <a:ext cx="3456432" cy="594360"/>
          </a:xfrm>
          <a:prstGeom prst="rect">
            <a:avLst/>
          </a:prstGeom>
          <a:noFill/>
          <a:ln/>
        </p:spPr>
        <p:txBody>
          <a:bodyPr wrap="square" lIns="0" tIns="0" rIns="0" bIns="0" rtlCol="0" anchor="t"/>
          <a:lstStyle/>
          <a:p>
            <a:pPr indent="0" marL="0">
              <a:buNone/>
            </a:pPr>
            <a:r>
              <a:rPr lang="en-US" sz="1500" dirty="0">
                <a:solidFill>
                  <a:schemeClr val="accent6"/>
                </a:solidFill>
              </a:rPr>
              <a:t>Peak: more than 1 in 4 high-schoolers vape</a:t>
            </a:r>
            <a:endParaRPr lang="en-US" sz="1500" dirty="0"/>
          </a:p>
        </p:txBody>
      </p:sp>
      <p:sp>
        <p:nvSpPr>
          <p:cNvPr id="10" name="Text 7"/>
          <p:cNvSpPr txBox="1"/>
          <p:nvPr/>
        </p:nvSpPr>
        <p:spPr>
          <a:xfrm>
            <a:off x="8046720" y="3703320"/>
            <a:ext cx="3456432" cy="457200"/>
          </a:xfrm>
          <a:prstGeom prst="rect">
            <a:avLst/>
          </a:prstGeom>
          <a:noFill/>
          <a:ln/>
        </p:spPr>
        <p:txBody>
          <a:bodyPr wrap="square" lIns="0" tIns="0" rIns="0" bIns="0" rtlCol="0" anchor="t"/>
          <a:lstStyle/>
          <a:p>
            <a:pPr indent="0" marL="0">
              <a:buNone/>
            </a:pPr>
            <a:r>
              <a:rPr lang="en-US" sz="2400" b="1" dirty="0">
                <a:solidFill>
                  <a:schemeClr val="accent1"/>
                </a:solidFill>
              </a:rPr>
              <a:t>2020</a:t>
            </a:r>
            <a:endParaRPr lang="en-US" sz="2400" dirty="0"/>
          </a:p>
        </p:txBody>
      </p:sp>
      <p:sp>
        <p:nvSpPr>
          <p:cNvPr id="11" name="Text 8"/>
          <p:cNvSpPr txBox="1"/>
          <p:nvPr/>
        </p:nvSpPr>
        <p:spPr>
          <a:xfrm>
            <a:off x="8046720" y="4160520"/>
            <a:ext cx="3456432" cy="594360"/>
          </a:xfrm>
          <a:prstGeom prst="rect">
            <a:avLst/>
          </a:prstGeom>
          <a:noFill/>
          <a:ln/>
        </p:spPr>
        <p:txBody>
          <a:bodyPr wrap="square" lIns="0" tIns="0" rIns="0" bIns="0" rtlCol="0" anchor="t"/>
          <a:lstStyle/>
          <a:p>
            <a:pPr indent="0" marL="0">
              <a:buNone/>
            </a:pPr>
            <a:r>
              <a:rPr lang="en-US" sz="1500" dirty="0">
                <a:solidFill>
                  <a:schemeClr val="accent6"/>
                </a:solidFill>
              </a:rPr>
              <a:t>FDA restricts flavoured cartridges, and use falls</a:t>
            </a:r>
            <a:endParaRPr lang="en-US" sz="1500" dirty="0"/>
          </a:p>
        </p:txBody>
      </p:sp>
      <p:sp>
        <p:nvSpPr>
          <p:cNvPr id="12" name="Text 9"/>
          <p:cNvSpPr txBox="1"/>
          <p:nvPr/>
        </p:nvSpPr>
        <p:spPr>
          <a:xfrm>
            <a:off x="914400" y="5349240"/>
            <a:ext cx="10588752" cy="731520"/>
          </a:xfrm>
          <a:prstGeom prst="rect">
            <a:avLst/>
          </a:prstGeom>
          <a:solidFill>
            <a:schemeClr val="accent1"/>
          </a:solidFill>
          <a:ln/>
        </p:spPr>
        <p:txBody>
          <a:bodyPr wrap="square" lIns="203200" tIns="203200" rIns="203200" bIns="203200" rtlCol="0" anchor="ctr"/>
          <a:lstStyle/>
          <a:p>
            <a:pPr indent="0" marL="0">
              <a:buNone/>
            </a:pPr>
            <a:r>
              <a:rPr lang="en-US" sz="1700" b="1" dirty="0">
                <a:solidFill>
                  <a:schemeClr val="bg1"/>
                </a:solidFill>
              </a:rPr>
              <a:t>Today: </a:t>
            </a:r>
            <a:pPr indent="0" marL="0">
              <a:buNone/>
            </a:pPr>
            <a:r>
              <a:rPr lang="en-US" sz="1700" b="1" dirty="0">
                <a:solidFill>
                  <a:srgbClr val="F2B8B8"/>
                </a:solidFill>
              </a:rPr>
              <a:t>~9 in 10 young vapers use flavours.</a:t>
            </a:r>
            <a:pPr indent="0" marL="0">
              <a:buNone/>
            </a:pPr>
            <a:r>
              <a:rPr lang="en-US" sz="1700" b="1" dirty="0">
                <a:solidFill>
                  <a:schemeClr val="bg1"/>
                </a:solidFill>
              </a:rPr>
              <a:t>  Worldwide, 15 million kids aged 13–15 vape.</a:t>
            </a:r>
            <a:endParaRPr lang="en-US" sz="17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Chapter 3  ·  The new door</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Why vapes speak to kids</a:t>
            </a:r>
            <a:endParaRPr lang="en-US" sz="2600" dirty="0"/>
          </a:p>
        </p:txBody>
      </p:sp>
      <p:sp>
        <p:nvSpPr>
          <p:cNvPr id="4" name="Shape 2"/>
          <p:cNvSpPr/>
          <p:nvPr/>
        </p:nvSpPr>
        <p:spPr>
          <a:xfrm>
            <a:off x="914400" y="1417320"/>
            <a:ext cx="2441448" cy="2743200"/>
          </a:xfrm>
          <a:prstGeom prst="rect">
            <a:avLst/>
          </a:prstGeom>
          <a:solidFill>
            <a:schemeClr val="bg1"/>
          </a:solidFill>
          <a:ln w="12700">
            <a:solidFill>
              <a:schemeClr val="accent4"/>
            </a:solidFill>
            <a:prstDash val="solid"/>
          </a:ln>
        </p:spPr>
      </p:sp>
      <p:sp>
        <p:nvSpPr>
          <p:cNvPr id="5" name="Shape 3"/>
          <p:cNvSpPr/>
          <p:nvPr/>
        </p:nvSpPr>
        <p:spPr>
          <a:xfrm>
            <a:off x="1234440" y="1691640"/>
            <a:ext cx="685800" cy="68580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1405890" y="1863090"/>
            <a:ext cx="342900" cy="342900"/>
          </a:xfrm>
          <a:prstGeom prst="rect">
            <a:avLst/>
          </a:prstGeom>
        </p:spPr>
      </p:pic>
      <p:sp>
        <p:nvSpPr>
          <p:cNvPr id="7" name="Text 4"/>
          <p:cNvSpPr txBox="1"/>
          <p:nvPr/>
        </p:nvSpPr>
        <p:spPr>
          <a:xfrm>
            <a:off x="1234440" y="2560320"/>
            <a:ext cx="1801368" cy="411480"/>
          </a:xfrm>
          <a:prstGeom prst="rect">
            <a:avLst/>
          </a:prstGeom>
          <a:noFill/>
          <a:ln/>
        </p:spPr>
        <p:txBody>
          <a:bodyPr wrap="square" lIns="0" tIns="0" rIns="0" bIns="0" rtlCol="0" anchor="t"/>
          <a:lstStyle/>
          <a:p>
            <a:pPr indent="0" marL="0">
              <a:buNone/>
            </a:pPr>
            <a:r>
              <a:rPr lang="en-US" sz="2000" b="1" dirty="0">
                <a:solidFill>
                  <a:schemeClr val="accent2"/>
                </a:solidFill>
              </a:rPr>
              <a:t>Flavours</a:t>
            </a:r>
            <a:endParaRPr lang="en-US" sz="2000" dirty="0"/>
          </a:p>
        </p:txBody>
      </p:sp>
      <p:sp>
        <p:nvSpPr>
          <p:cNvPr id="8" name="Text 5"/>
          <p:cNvSpPr txBox="1"/>
          <p:nvPr/>
        </p:nvSpPr>
        <p:spPr>
          <a:xfrm>
            <a:off x="1234440"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Bubblegum, mango, cotton candy</a:t>
            </a:r>
            <a:endParaRPr lang="en-US" sz="1600" dirty="0"/>
          </a:p>
        </p:txBody>
      </p:sp>
      <p:sp>
        <p:nvSpPr>
          <p:cNvPr id="9" name="Shape 6"/>
          <p:cNvSpPr/>
          <p:nvPr/>
        </p:nvSpPr>
        <p:spPr>
          <a:xfrm>
            <a:off x="3630168" y="1417320"/>
            <a:ext cx="2441448" cy="2743200"/>
          </a:xfrm>
          <a:prstGeom prst="rect">
            <a:avLst/>
          </a:prstGeom>
          <a:solidFill>
            <a:schemeClr val="bg1"/>
          </a:solidFill>
          <a:ln w="12700">
            <a:solidFill>
              <a:schemeClr val="accent4"/>
            </a:solidFill>
            <a:prstDash val="solid"/>
          </a:ln>
        </p:spPr>
      </p:sp>
      <p:sp>
        <p:nvSpPr>
          <p:cNvPr id="10" name="Shape 7"/>
          <p:cNvSpPr/>
          <p:nvPr/>
        </p:nvSpPr>
        <p:spPr>
          <a:xfrm>
            <a:off x="3950208" y="1691640"/>
            <a:ext cx="685800" cy="6858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121658" y="1863090"/>
            <a:ext cx="342900" cy="342900"/>
          </a:xfrm>
          <a:prstGeom prst="rect">
            <a:avLst/>
          </a:prstGeom>
        </p:spPr>
      </p:pic>
      <p:sp>
        <p:nvSpPr>
          <p:cNvPr id="12" name="Text 8"/>
          <p:cNvSpPr txBox="1"/>
          <p:nvPr/>
        </p:nvSpPr>
        <p:spPr>
          <a:xfrm>
            <a:off x="3950208"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Design</a:t>
            </a:r>
            <a:endParaRPr lang="en-US" sz="2000" dirty="0"/>
          </a:p>
        </p:txBody>
      </p:sp>
      <p:sp>
        <p:nvSpPr>
          <p:cNvPr id="13" name="Text 9"/>
          <p:cNvSpPr txBox="1"/>
          <p:nvPr/>
        </p:nvSpPr>
        <p:spPr>
          <a:xfrm>
            <a:off x="3950208"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Colourful, looks like a USB stick, easy to hide</a:t>
            </a:r>
            <a:endParaRPr lang="en-US" sz="1600" dirty="0"/>
          </a:p>
        </p:txBody>
      </p:sp>
      <p:sp>
        <p:nvSpPr>
          <p:cNvPr id="14" name="Shape 10"/>
          <p:cNvSpPr/>
          <p:nvPr/>
        </p:nvSpPr>
        <p:spPr>
          <a:xfrm>
            <a:off x="6345936" y="1417320"/>
            <a:ext cx="2441448" cy="2743200"/>
          </a:xfrm>
          <a:prstGeom prst="rect">
            <a:avLst/>
          </a:prstGeom>
          <a:solidFill>
            <a:schemeClr val="bg1"/>
          </a:solidFill>
          <a:ln w="12700">
            <a:solidFill>
              <a:schemeClr val="accent4"/>
            </a:solidFill>
            <a:prstDash val="solid"/>
          </a:ln>
        </p:spPr>
      </p:sp>
      <p:sp>
        <p:nvSpPr>
          <p:cNvPr id="15" name="Shape 11"/>
          <p:cNvSpPr/>
          <p:nvPr/>
        </p:nvSpPr>
        <p:spPr>
          <a:xfrm>
            <a:off x="6665976" y="1691640"/>
            <a:ext cx="685800" cy="6858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837426" y="1863090"/>
            <a:ext cx="342900" cy="342900"/>
          </a:xfrm>
          <a:prstGeom prst="rect">
            <a:avLst/>
          </a:prstGeom>
        </p:spPr>
      </p:pic>
      <p:sp>
        <p:nvSpPr>
          <p:cNvPr id="17" name="Text 12"/>
          <p:cNvSpPr txBox="1"/>
          <p:nvPr/>
        </p:nvSpPr>
        <p:spPr>
          <a:xfrm>
            <a:off x="6665976"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Social media</a:t>
            </a:r>
            <a:endParaRPr lang="en-US" sz="2000" dirty="0"/>
          </a:p>
        </p:txBody>
      </p:sp>
      <p:sp>
        <p:nvSpPr>
          <p:cNvPr id="18" name="Text 13"/>
          <p:cNvSpPr txBox="1"/>
          <p:nvPr/>
        </p:nvSpPr>
        <p:spPr>
          <a:xfrm>
            <a:off x="6665976"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Influencers and TikTok, not TV</a:t>
            </a:r>
            <a:endParaRPr lang="en-US" sz="1600" dirty="0"/>
          </a:p>
        </p:txBody>
      </p:sp>
      <p:sp>
        <p:nvSpPr>
          <p:cNvPr id="19" name="Shape 14"/>
          <p:cNvSpPr/>
          <p:nvPr/>
        </p:nvSpPr>
        <p:spPr>
          <a:xfrm>
            <a:off x="9061704" y="1417320"/>
            <a:ext cx="2441448" cy="2743200"/>
          </a:xfrm>
          <a:prstGeom prst="rect">
            <a:avLst/>
          </a:prstGeom>
          <a:solidFill>
            <a:schemeClr val="bg1"/>
          </a:solidFill>
          <a:ln w="12700">
            <a:solidFill>
              <a:schemeClr val="accent4"/>
            </a:solidFill>
            <a:prstDash val="solid"/>
          </a:ln>
        </p:spPr>
      </p:sp>
      <p:sp>
        <p:nvSpPr>
          <p:cNvPr id="20" name="Shape 15"/>
          <p:cNvSpPr/>
          <p:nvPr/>
        </p:nvSpPr>
        <p:spPr>
          <a:xfrm>
            <a:off x="9381744" y="1691640"/>
            <a:ext cx="685800" cy="6858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553194" y="1863090"/>
            <a:ext cx="342900" cy="342900"/>
          </a:xfrm>
          <a:prstGeom prst="rect">
            <a:avLst/>
          </a:prstGeom>
        </p:spPr>
      </p:pic>
      <p:sp>
        <p:nvSpPr>
          <p:cNvPr id="22" name="Text 16"/>
          <p:cNvSpPr txBox="1"/>
          <p:nvPr/>
        </p:nvSpPr>
        <p:spPr>
          <a:xfrm>
            <a:off x="9381744"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Price</a:t>
            </a:r>
            <a:endParaRPr lang="en-US" sz="2000" dirty="0"/>
          </a:p>
        </p:txBody>
      </p:sp>
      <p:sp>
        <p:nvSpPr>
          <p:cNvPr id="23" name="Text 17"/>
          <p:cNvSpPr txBox="1"/>
          <p:nvPr/>
        </p:nvSpPr>
        <p:spPr>
          <a:xfrm>
            <a:off x="9381744"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Cheap disposables sold at every kiosk</a:t>
            </a:r>
            <a:endParaRPr lang="en-US" sz="1600" dirty="0"/>
          </a:p>
        </p:txBody>
      </p:sp>
      <p:sp>
        <p:nvSpPr>
          <p:cNvPr id="24" name="Text 18"/>
          <p:cNvSpPr txBox="1"/>
          <p:nvPr/>
        </p:nvSpPr>
        <p:spPr>
          <a:xfrm>
            <a:off x="914400" y="4434840"/>
            <a:ext cx="10588752" cy="914400"/>
          </a:xfrm>
          <a:prstGeom prst="rect">
            <a:avLst/>
          </a:prstGeom>
          <a:solidFill>
            <a:schemeClr val="accent1"/>
          </a:solidFill>
          <a:ln/>
        </p:spPr>
        <p:txBody>
          <a:bodyPr wrap="square" lIns="203200" tIns="203200" rIns="203200" bIns="203200" rtlCol="0" anchor="ctr"/>
          <a:lstStyle/>
          <a:p>
            <a:pPr indent="0" marL="0">
              <a:buNone/>
            </a:pPr>
            <a:r>
              <a:rPr lang="en-US" sz="3000" b="1" dirty="0">
                <a:solidFill>
                  <a:schemeClr val="bg1"/>
                </a:solidFill>
              </a:rPr>
              <a:t>$462 million</a:t>
            </a:r>
            <a:pPr indent="0" marL="0">
              <a:buNone/>
            </a:pPr>
            <a:r>
              <a:rPr lang="en-US" sz="1700" dirty="0">
                <a:solidFill>
                  <a:schemeClr val="bg1"/>
                </a:solidFill>
              </a:rPr>
              <a:t>   paid by JUUL (2023) to US states over marketing to young people</a:t>
            </a:r>
            <a:endParaRPr lang="en-US" sz="3000" dirty="0"/>
          </a:p>
        </p:txBody>
      </p:sp>
      <p:sp>
        <p:nvSpPr>
          <p:cNvPr id="25" name="Text 19"/>
          <p:cNvSpPr txBox="1"/>
          <p:nvPr/>
        </p:nvSpPr>
        <p:spPr>
          <a:xfrm>
            <a:off x="914400" y="5532120"/>
            <a:ext cx="10588752" cy="365760"/>
          </a:xfrm>
          <a:prstGeom prst="rect">
            <a:avLst/>
          </a:prstGeom>
          <a:noFill/>
          <a:ln/>
        </p:spPr>
        <p:txBody>
          <a:bodyPr wrap="square" lIns="0" tIns="0" rIns="0" bIns="0" rtlCol="0" anchor="t"/>
          <a:lstStyle/>
          <a:p>
            <a:pPr indent="0" marL="0">
              <a:buNone/>
            </a:pPr>
            <a:r>
              <a:rPr lang="en-US" sz="1600" b="1" i="1" dirty="0">
                <a:solidFill>
                  <a:schemeClr val="accent2"/>
                </a:solidFill>
              </a:rPr>
              <a:t>“A candy-flavoured trap.”  — WHO Director-General, 2024</a:t>
            </a:r>
            <a:endParaRPr lang="en-US" sz="16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What marketers learned</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Marketing without advertising: the 4Ps</a:t>
            </a:r>
            <a:endParaRPr lang="en-US" sz="2600" dirty="0"/>
          </a:p>
        </p:txBody>
      </p:sp>
      <p:sp>
        <p:nvSpPr>
          <p:cNvPr id="4" name="Shape 2"/>
          <p:cNvSpPr/>
          <p:nvPr/>
        </p:nvSpPr>
        <p:spPr>
          <a:xfrm>
            <a:off x="914400" y="1417320"/>
            <a:ext cx="2441448" cy="2743200"/>
          </a:xfrm>
          <a:prstGeom prst="rect">
            <a:avLst/>
          </a:prstGeom>
          <a:solidFill>
            <a:schemeClr val="bg2"/>
          </a:solidFill>
          <a:ln w="12700">
            <a:solidFill>
              <a:schemeClr val="bg2"/>
            </a:solidFill>
            <a:prstDash val="solid"/>
          </a:ln>
        </p:spPr>
      </p:sp>
      <p:sp>
        <p:nvSpPr>
          <p:cNvPr id="5" name="Shape 3"/>
          <p:cNvSpPr/>
          <p:nvPr/>
        </p:nvSpPr>
        <p:spPr>
          <a:xfrm>
            <a:off x="1234440" y="1691640"/>
            <a:ext cx="685800" cy="6858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405890" y="1863090"/>
            <a:ext cx="342900" cy="342900"/>
          </a:xfrm>
          <a:prstGeom prst="rect">
            <a:avLst/>
          </a:prstGeom>
        </p:spPr>
      </p:pic>
      <p:sp>
        <p:nvSpPr>
          <p:cNvPr id="7" name="Text 4"/>
          <p:cNvSpPr txBox="1"/>
          <p:nvPr/>
        </p:nvSpPr>
        <p:spPr>
          <a:xfrm>
            <a:off x="1234440"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Product</a:t>
            </a:r>
            <a:endParaRPr lang="en-US" sz="2000" dirty="0"/>
          </a:p>
        </p:txBody>
      </p:sp>
      <p:sp>
        <p:nvSpPr>
          <p:cNvPr id="8" name="Text 5"/>
          <p:cNvSpPr txBox="1"/>
          <p:nvPr/>
        </p:nvSpPr>
        <p:spPr>
          <a:xfrm>
            <a:off x="1234440"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New formats: capsules, vapes, pouches</a:t>
            </a:r>
            <a:endParaRPr lang="en-US" sz="1600" dirty="0"/>
          </a:p>
        </p:txBody>
      </p:sp>
      <p:sp>
        <p:nvSpPr>
          <p:cNvPr id="9" name="Shape 6"/>
          <p:cNvSpPr/>
          <p:nvPr/>
        </p:nvSpPr>
        <p:spPr>
          <a:xfrm>
            <a:off x="3630168" y="1417320"/>
            <a:ext cx="2441448" cy="2743200"/>
          </a:xfrm>
          <a:prstGeom prst="rect">
            <a:avLst/>
          </a:prstGeom>
          <a:solidFill>
            <a:schemeClr val="bg2"/>
          </a:solidFill>
          <a:ln w="12700">
            <a:solidFill>
              <a:schemeClr val="bg2"/>
            </a:solidFill>
            <a:prstDash val="solid"/>
          </a:ln>
        </p:spPr>
      </p:sp>
      <p:sp>
        <p:nvSpPr>
          <p:cNvPr id="10" name="Shape 7"/>
          <p:cNvSpPr/>
          <p:nvPr/>
        </p:nvSpPr>
        <p:spPr>
          <a:xfrm>
            <a:off x="3950208" y="1691640"/>
            <a:ext cx="685800" cy="6858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121658" y="1863090"/>
            <a:ext cx="342900" cy="342900"/>
          </a:xfrm>
          <a:prstGeom prst="rect">
            <a:avLst/>
          </a:prstGeom>
        </p:spPr>
      </p:pic>
      <p:sp>
        <p:nvSpPr>
          <p:cNvPr id="12" name="Text 8"/>
          <p:cNvSpPr txBox="1"/>
          <p:nvPr/>
        </p:nvSpPr>
        <p:spPr>
          <a:xfrm>
            <a:off x="3950208"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Price</a:t>
            </a:r>
            <a:endParaRPr lang="en-US" sz="2000" dirty="0"/>
          </a:p>
        </p:txBody>
      </p:sp>
      <p:sp>
        <p:nvSpPr>
          <p:cNvPr id="13" name="Text 9"/>
          <p:cNvSpPr txBox="1"/>
          <p:nvPr/>
        </p:nvSpPr>
        <p:spPr>
          <a:xfrm>
            <a:off x="3950208"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Single sticks and cheap disposables</a:t>
            </a:r>
            <a:endParaRPr lang="en-US" sz="1600" dirty="0"/>
          </a:p>
        </p:txBody>
      </p:sp>
      <p:sp>
        <p:nvSpPr>
          <p:cNvPr id="14" name="Shape 10"/>
          <p:cNvSpPr/>
          <p:nvPr/>
        </p:nvSpPr>
        <p:spPr>
          <a:xfrm>
            <a:off x="6345936" y="1417320"/>
            <a:ext cx="2441448" cy="2743200"/>
          </a:xfrm>
          <a:prstGeom prst="rect">
            <a:avLst/>
          </a:prstGeom>
          <a:solidFill>
            <a:schemeClr val="bg2"/>
          </a:solidFill>
          <a:ln w="12700">
            <a:solidFill>
              <a:schemeClr val="bg2"/>
            </a:solidFill>
            <a:prstDash val="solid"/>
          </a:ln>
        </p:spPr>
      </p:sp>
      <p:sp>
        <p:nvSpPr>
          <p:cNvPr id="15" name="Shape 11"/>
          <p:cNvSpPr/>
          <p:nvPr/>
        </p:nvSpPr>
        <p:spPr>
          <a:xfrm>
            <a:off x="6665976" y="1691640"/>
            <a:ext cx="685800" cy="6858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837426" y="1863090"/>
            <a:ext cx="342900" cy="342900"/>
          </a:xfrm>
          <a:prstGeom prst="rect">
            <a:avLst/>
          </a:prstGeom>
        </p:spPr>
      </p:pic>
      <p:sp>
        <p:nvSpPr>
          <p:cNvPr id="17" name="Text 12"/>
          <p:cNvSpPr txBox="1"/>
          <p:nvPr/>
        </p:nvSpPr>
        <p:spPr>
          <a:xfrm>
            <a:off x="6665976"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Place</a:t>
            </a:r>
            <a:endParaRPr lang="en-US" sz="2000" dirty="0"/>
          </a:p>
        </p:txBody>
      </p:sp>
      <p:sp>
        <p:nvSpPr>
          <p:cNvPr id="18" name="Text 13"/>
          <p:cNvSpPr txBox="1"/>
          <p:nvPr/>
        </p:nvSpPr>
        <p:spPr>
          <a:xfrm>
            <a:off x="6665976"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Kiosks, warungs, duty-free, online</a:t>
            </a:r>
            <a:endParaRPr lang="en-US" sz="1600" dirty="0"/>
          </a:p>
        </p:txBody>
      </p:sp>
      <p:sp>
        <p:nvSpPr>
          <p:cNvPr id="19" name="Shape 14"/>
          <p:cNvSpPr/>
          <p:nvPr/>
        </p:nvSpPr>
        <p:spPr>
          <a:xfrm>
            <a:off x="9061704" y="1417320"/>
            <a:ext cx="2441448" cy="2743200"/>
          </a:xfrm>
          <a:prstGeom prst="rect">
            <a:avLst/>
          </a:prstGeom>
          <a:solidFill>
            <a:schemeClr val="bg2"/>
          </a:solidFill>
          <a:ln w="12700">
            <a:solidFill>
              <a:schemeClr val="bg2"/>
            </a:solidFill>
            <a:prstDash val="solid"/>
          </a:ln>
        </p:spPr>
      </p:sp>
      <p:sp>
        <p:nvSpPr>
          <p:cNvPr id="20" name="Shape 15"/>
          <p:cNvSpPr/>
          <p:nvPr/>
        </p:nvSpPr>
        <p:spPr>
          <a:xfrm>
            <a:off x="9381744" y="1691640"/>
            <a:ext cx="685800" cy="6858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553194" y="1863090"/>
            <a:ext cx="342900" cy="342900"/>
          </a:xfrm>
          <a:prstGeom prst="rect">
            <a:avLst/>
          </a:prstGeom>
        </p:spPr>
      </p:pic>
      <p:sp>
        <p:nvSpPr>
          <p:cNvPr id="22" name="Text 16"/>
          <p:cNvSpPr txBox="1"/>
          <p:nvPr/>
        </p:nvSpPr>
        <p:spPr>
          <a:xfrm>
            <a:off x="9381744" y="2560320"/>
            <a:ext cx="1801368" cy="411480"/>
          </a:xfrm>
          <a:prstGeom prst="rect">
            <a:avLst/>
          </a:prstGeom>
          <a:noFill/>
          <a:ln/>
        </p:spPr>
        <p:txBody>
          <a:bodyPr wrap="square" lIns="0" tIns="0" rIns="0" bIns="0" rtlCol="0" anchor="t"/>
          <a:lstStyle/>
          <a:p>
            <a:pPr indent="0" marL="0">
              <a:buNone/>
            </a:pPr>
            <a:r>
              <a:rPr lang="en-US" sz="2000" b="1" dirty="0">
                <a:solidFill>
                  <a:schemeClr val="accent1"/>
                </a:solidFill>
              </a:rPr>
              <a:t>Promotion</a:t>
            </a:r>
            <a:endParaRPr lang="en-US" sz="2000" dirty="0"/>
          </a:p>
        </p:txBody>
      </p:sp>
      <p:sp>
        <p:nvSpPr>
          <p:cNvPr id="23" name="Text 17"/>
          <p:cNvSpPr txBox="1"/>
          <p:nvPr/>
        </p:nvSpPr>
        <p:spPr>
          <a:xfrm>
            <a:off x="9381744" y="3017520"/>
            <a:ext cx="1801368" cy="1005840"/>
          </a:xfrm>
          <a:prstGeom prst="rect">
            <a:avLst/>
          </a:prstGeom>
          <a:noFill/>
          <a:ln/>
        </p:spPr>
        <p:txBody>
          <a:bodyPr wrap="square" lIns="0" tIns="0" rIns="0" bIns="0" rtlCol="0" anchor="t"/>
          <a:lstStyle/>
          <a:p>
            <a:pPr indent="0" marL="0">
              <a:buNone/>
            </a:pPr>
            <a:r>
              <a:rPr lang="en-US" sz="1600" dirty="0">
                <a:solidFill>
                  <a:schemeClr val="accent6"/>
                </a:solidFill>
              </a:rPr>
              <a:t>Sponsorships, influencers, the pack</a:t>
            </a:r>
            <a:endParaRPr lang="en-US" sz="1600" dirty="0"/>
          </a:p>
        </p:txBody>
      </p:sp>
      <p:sp>
        <p:nvSpPr>
          <p:cNvPr id="24" name="Text 18"/>
          <p:cNvSpPr txBox="1"/>
          <p:nvPr/>
        </p:nvSpPr>
        <p:spPr>
          <a:xfrm>
            <a:off x="914400" y="4480560"/>
            <a:ext cx="10588752" cy="365760"/>
          </a:xfrm>
          <a:prstGeom prst="rect">
            <a:avLst/>
          </a:prstGeom>
          <a:noFill/>
          <a:ln/>
        </p:spPr>
        <p:txBody>
          <a:bodyPr wrap="square" lIns="0" tIns="0" rIns="0" bIns="0" rtlCol="0" anchor="t"/>
          <a:lstStyle/>
          <a:p>
            <a:pPr indent="0" marL="0">
              <a:buNone/>
            </a:pPr>
            <a:r>
              <a:rPr lang="en-US" sz="1800" b="1" dirty="0">
                <a:solidFill>
                  <a:schemeClr val="accent1"/>
                </a:solidFill>
              </a:rPr>
              <a:t>Big Tobacco now owns the new door too</a:t>
            </a:r>
            <a:endParaRPr lang="en-US" sz="1800" dirty="0"/>
          </a:p>
        </p:txBody>
      </p:sp>
      <p:sp>
        <p:nvSpPr>
          <p:cNvPr id="25" name="Text 19"/>
          <p:cNvSpPr txBox="1"/>
          <p:nvPr/>
        </p:nvSpPr>
        <p:spPr>
          <a:xfrm>
            <a:off x="914400" y="4892040"/>
            <a:ext cx="10588752" cy="822960"/>
          </a:xfrm>
          <a:prstGeom prst="rect">
            <a:avLst/>
          </a:prstGeom>
          <a:noFill/>
          <a:ln/>
        </p:spPr>
        <p:txBody>
          <a:bodyPr wrap="square" lIns="0" tIns="0" rIns="0" bIns="0" rtlCol="0" anchor="ctr"/>
          <a:lstStyle/>
          <a:p>
            <a:pPr indent="0" marL="0">
              <a:buNone/>
            </a:pPr>
            <a:r>
              <a:rPr lang="en-US" sz="3000" b="1" dirty="0">
                <a:solidFill>
                  <a:schemeClr val="accent2"/>
                </a:solidFill>
              </a:rPr>
              <a:t>41.5%</a:t>
            </a:r>
            <a:pPr indent="0" marL="0">
              <a:buNone/>
            </a:pPr>
            <a:r>
              <a:rPr lang="en-US" sz="1600" dirty="0">
                <a:solidFill>
                  <a:schemeClr val="accent6"/>
                </a:solidFill>
              </a:rPr>
              <a:t>  of Philip Morris revenue now comes from smoke-free products (IQOS, ZYN)</a:t>
            </a:r>
            <a:endParaRPr lang="en-US" sz="1600" dirty="0"/>
          </a:p>
        </p:txBody>
      </p:sp>
      <p:sp>
        <p:nvSpPr>
          <p:cNvPr id="26" name="Text 20"/>
          <p:cNvSpPr txBox="1"/>
          <p:nvPr/>
        </p:nvSpPr>
        <p:spPr>
          <a:xfrm>
            <a:off x="914400" y="6053328"/>
            <a:ext cx="10588752" cy="256032"/>
          </a:xfrm>
          <a:prstGeom prst="rect">
            <a:avLst/>
          </a:prstGeom>
          <a:noFill/>
          <a:ln/>
        </p:spPr>
        <p:txBody>
          <a:bodyPr wrap="square" lIns="0" tIns="0" rIns="0" bIns="0" rtlCol="0" anchor="t"/>
          <a:lstStyle/>
          <a:p>
            <a:pPr indent="0" marL="0">
              <a:buNone/>
            </a:pPr>
            <a:r>
              <a:rPr lang="en-US" sz="1000" i="1" dirty="0">
                <a:solidFill>
                  <a:schemeClr val="accent3"/>
                </a:solidFill>
              </a:rPr>
              <a:t>PMI 2025 full-year results.</a:t>
            </a:r>
            <a:endParaRPr lang="en-US" sz="10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Epilogue</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The story in three chapters</a:t>
            </a:r>
            <a:endParaRPr lang="en-US" sz="2600" dirty="0"/>
          </a:p>
        </p:txBody>
      </p:sp>
      <p:sp>
        <p:nvSpPr>
          <p:cNvPr id="4" name="Shape 2"/>
          <p:cNvSpPr/>
          <p:nvPr/>
        </p:nvSpPr>
        <p:spPr>
          <a:xfrm>
            <a:off x="914400" y="1417320"/>
            <a:ext cx="3346704" cy="2377440"/>
          </a:xfrm>
          <a:prstGeom prst="rect">
            <a:avLst/>
          </a:prstGeom>
          <a:solidFill>
            <a:schemeClr val="bg1"/>
          </a:solidFill>
          <a:ln w="12700">
            <a:solidFill>
              <a:schemeClr val="accent4"/>
            </a:solidFill>
            <a:prstDash val="solid"/>
          </a:ln>
        </p:spPr>
      </p:sp>
      <p:sp>
        <p:nvSpPr>
          <p:cNvPr id="5" name="Text 3"/>
          <p:cNvSpPr txBox="1"/>
          <p:nvPr/>
        </p:nvSpPr>
        <p:spPr>
          <a:xfrm>
            <a:off x="1234440" y="155448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1</a:t>
            </a:r>
            <a:endParaRPr lang="en-US" sz="4000" dirty="0"/>
          </a:p>
        </p:txBody>
      </p:sp>
      <p:sp>
        <p:nvSpPr>
          <p:cNvPr id="6" name="Text 4"/>
          <p:cNvSpPr txBox="1"/>
          <p:nvPr/>
        </p:nvSpPr>
        <p:spPr>
          <a:xfrm>
            <a:off x="1234440" y="2286000"/>
            <a:ext cx="2706624" cy="411480"/>
          </a:xfrm>
          <a:prstGeom prst="rect">
            <a:avLst/>
          </a:prstGeom>
          <a:noFill/>
          <a:ln/>
        </p:spPr>
        <p:txBody>
          <a:bodyPr wrap="square" lIns="0" tIns="0" rIns="0" bIns="0" rtlCol="0" anchor="t"/>
          <a:lstStyle/>
          <a:p>
            <a:pPr indent="0" marL="0">
              <a:buNone/>
            </a:pPr>
            <a:r>
              <a:rPr lang="en-US" sz="2000" b="1" dirty="0">
                <a:solidFill>
                  <a:schemeClr val="accent1"/>
                </a:solidFill>
              </a:rPr>
              <a:t>The doors closed</a:t>
            </a:r>
            <a:endParaRPr lang="en-US" sz="2000" dirty="0"/>
          </a:p>
        </p:txBody>
      </p:sp>
      <p:sp>
        <p:nvSpPr>
          <p:cNvPr id="7" name="Text 5"/>
          <p:cNvSpPr txBox="1"/>
          <p:nvPr/>
        </p:nvSpPr>
        <p:spPr>
          <a:xfrm>
            <a:off x="1234440" y="2743200"/>
            <a:ext cx="2706624" cy="914400"/>
          </a:xfrm>
          <a:prstGeom prst="rect">
            <a:avLst/>
          </a:prstGeom>
          <a:noFill/>
          <a:ln/>
        </p:spPr>
        <p:txBody>
          <a:bodyPr wrap="square" lIns="0" tIns="0" rIns="0" bIns="0" rtlCol="0" anchor="t"/>
          <a:lstStyle/>
          <a:p>
            <a:pPr indent="0" marL="0">
              <a:buNone/>
            </a:pPr>
            <a:r>
              <a:rPr lang="en-US" sz="1500" dirty="0">
                <a:solidFill>
                  <a:schemeClr val="accent6"/>
                </a:solidFill>
              </a:rPr>
              <a:t>Ad bans and plain packs: teenage smoking fell five times.</a:t>
            </a:r>
            <a:endParaRPr lang="en-US" sz="1500" dirty="0"/>
          </a:p>
        </p:txBody>
      </p:sp>
      <p:sp>
        <p:nvSpPr>
          <p:cNvPr id="8" name="Shape 6"/>
          <p:cNvSpPr/>
          <p:nvPr/>
        </p:nvSpPr>
        <p:spPr>
          <a:xfrm>
            <a:off x="4535424" y="1417320"/>
            <a:ext cx="3346704" cy="2377440"/>
          </a:xfrm>
          <a:prstGeom prst="rect">
            <a:avLst/>
          </a:prstGeom>
          <a:solidFill>
            <a:schemeClr val="bg1"/>
          </a:solidFill>
          <a:ln w="12700">
            <a:solidFill>
              <a:schemeClr val="accent4"/>
            </a:solidFill>
            <a:prstDash val="solid"/>
          </a:ln>
        </p:spPr>
      </p:sp>
      <p:sp>
        <p:nvSpPr>
          <p:cNvPr id="9" name="Text 7"/>
          <p:cNvSpPr txBox="1"/>
          <p:nvPr/>
        </p:nvSpPr>
        <p:spPr>
          <a:xfrm>
            <a:off x="4855464" y="155448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2</a:t>
            </a:r>
            <a:endParaRPr lang="en-US" sz="4000" dirty="0"/>
          </a:p>
        </p:txBody>
      </p:sp>
      <p:sp>
        <p:nvSpPr>
          <p:cNvPr id="10" name="Text 8"/>
          <p:cNvSpPr txBox="1"/>
          <p:nvPr/>
        </p:nvSpPr>
        <p:spPr>
          <a:xfrm>
            <a:off x="4855464" y="2286000"/>
            <a:ext cx="2706624" cy="411480"/>
          </a:xfrm>
          <a:prstGeom prst="rect">
            <a:avLst/>
          </a:prstGeom>
          <a:noFill/>
          <a:ln/>
        </p:spPr>
        <p:txBody>
          <a:bodyPr wrap="square" lIns="0" tIns="0" rIns="0" bIns="0" rtlCol="0" anchor="t"/>
          <a:lstStyle/>
          <a:p>
            <a:pPr indent="0" marL="0">
              <a:buNone/>
            </a:pPr>
            <a:r>
              <a:rPr lang="en-US" sz="2000" b="1" dirty="0">
                <a:solidFill>
                  <a:schemeClr val="accent1"/>
                </a:solidFill>
              </a:rPr>
              <a:t>The sweet door</a:t>
            </a:r>
            <a:endParaRPr lang="en-US" sz="2000" dirty="0"/>
          </a:p>
        </p:txBody>
      </p:sp>
      <p:sp>
        <p:nvSpPr>
          <p:cNvPr id="11" name="Text 9"/>
          <p:cNvSpPr txBox="1"/>
          <p:nvPr/>
        </p:nvSpPr>
        <p:spPr>
          <a:xfrm>
            <a:off x="4855464" y="2743200"/>
            <a:ext cx="2706624" cy="914400"/>
          </a:xfrm>
          <a:prstGeom prst="rect">
            <a:avLst/>
          </a:prstGeom>
          <a:noFill/>
          <a:ln/>
        </p:spPr>
        <p:txBody>
          <a:bodyPr wrap="square" lIns="0" tIns="0" rIns="0" bIns="0" rtlCol="0" anchor="t"/>
          <a:lstStyle/>
          <a:p>
            <a:pPr indent="0" marL="0">
              <a:buNone/>
            </a:pPr>
            <a:r>
              <a:rPr lang="en-US" sz="1500" dirty="0">
                <a:solidFill>
                  <a:schemeClr val="accent6"/>
                </a:solidFill>
              </a:rPr>
              <a:t>Flavours adapted the product to every culture, until they were banned.</a:t>
            </a:r>
            <a:endParaRPr lang="en-US" sz="1500" dirty="0"/>
          </a:p>
        </p:txBody>
      </p:sp>
      <p:sp>
        <p:nvSpPr>
          <p:cNvPr id="12" name="Shape 10"/>
          <p:cNvSpPr/>
          <p:nvPr/>
        </p:nvSpPr>
        <p:spPr>
          <a:xfrm>
            <a:off x="8156448" y="1417320"/>
            <a:ext cx="3346704" cy="2377440"/>
          </a:xfrm>
          <a:prstGeom prst="rect">
            <a:avLst/>
          </a:prstGeom>
          <a:solidFill>
            <a:schemeClr val="bg1"/>
          </a:solidFill>
          <a:ln w="12700">
            <a:solidFill>
              <a:schemeClr val="accent4"/>
            </a:solidFill>
            <a:prstDash val="solid"/>
          </a:ln>
        </p:spPr>
      </p:sp>
      <p:sp>
        <p:nvSpPr>
          <p:cNvPr id="13" name="Text 11"/>
          <p:cNvSpPr txBox="1"/>
          <p:nvPr/>
        </p:nvSpPr>
        <p:spPr>
          <a:xfrm>
            <a:off x="8476488" y="1554480"/>
            <a:ext cx="914400" cy="685800"/>
          </a:xfrm>
          <a:prstGeom prst="rect">
            <a:avLst/>
          </a:prstGeom>
          <a:noFill/>
          <a:ln/>
        </p:spPr>
        <p:txBody>
          <a:bodyPr wrap="square" lIns="0" tIns="0" rIns="0" bIns="0" rtlCol="0" anchor="t"/>
          <a:lstStyle/>
          <a:p>
            <a:pPr indent="0" marL="0">
              <a:buNone/>
            </a:pPr>
            <a:r>
              <a:rPr lang="en-US" sz="4000" b="1" dirty="0">
                <a:solidFill>
                  <a:schemeClr val="accent2"/>
                </a:solidFill>
              </a:rPr>
              <a:t>3</a:t>
            </a:r>
            <a:endParaRPr lang="en-US" sz="4000" dirty="0"/>
          </a:p>
        </p:txBody>
      </p:sp>
      <p:sp>
        <p:nvSpPr>
          <p:cNvPr id="14" name="Text 12"/>
          <p:cNvSpPr txBox="1"/>
          <p:nvPr/>
        </p:nvSpPr>
        <p:spPr>
          <a:xfrm>
            <a:off x="8476488" y="2286000"/>
            <a:ext cx="2706624" cy="411480"/>
          </a:xfrm>
          <a:prstGeom prst="rect">
            <a:avLst/>
          </a:prstGeom>
          <a:noFill/>
          <a:ln/>
        </p:spPr>
        <p:txBody>
          <a:bodyPr wrap="square" lIns="0" tIns="0" rIns="0" bIns="0" rtlCol="0" anchor="t"/>
          <a:lstStyle/>
          <a:p>
            <a:pPr indent="0" marL="0">
              <a:buNone/>
            </a:pPr>
            <a:r>
              <a:rPr lang="en-US" sz="2000" b="1" dirty="0">
                <a:solidFill>
                  <a:schemeClr val="accent1"/>
                </a:solidFill>
              </a:rPr>
              <a:t>The new door</a:t>
            </a:r>
            <a:endParaRPr lang="en-US" sz="2000" dirty="0"/>
          </a:p>
        </p:txBody>
      </p:sp>
      <p:sp>
        <p:nvSpPr>
          <p:cNvPr id="15" name="Text 13"/>
          <p:cNvSpPr txBox="1"/>
          <p:nvPr/>
        </p:nvSpPr>
        <p:spPr>
          <a:xfrm>
            <a:off x="8476488" y="2743200"/>
            <a:ext cx="2706624" cy="914400"/>
          </a:xfrm>
          <a:prstGeom prst="rect">
            <a:avLst/>
          </a:prstGeom>
          <a:noFill/>
          <a:ln/>
        </p:spPr>
        <p:txBody>
          <a:bodyPr wrap="square" lIns="0" tIns="0" rIns="0" bIns="0" rtlCol="0" anchor="t"/>
          <a:lstStyle/>
          <a:p>
            <a:pPr indent="0" marL="0">
              <a:buNone/>
            </a:pPr>
            <a:r>
              <a:rPr lang="en-US" sz="1500" dirty="0">
                <a:solidFill>
                  <a:schemeClr val="accent6"/>
                </a:solidFill>
              </a:rPr>
              <a:t>Vapes reached kids through flavour, design and social media.</a:t>
            </a:r>
            <a:endParaRPr lang="en-US" sz="1500" dirty="0"/>
          </a:p>
        </p:txBody>
      </p:sp>
      <p:sp>
        <p:nvSpPr>
          <p:cNvPr id="16" name="Text 14"/>
          <p:cNvSpPr txBox="1"/>
          <p:nvPr/>
        </p:nvSpPr>
        <p:spPr>
          <a:xfrm>
            <a:off x="914400" y="4023360"/>
            <a:ext cx="10588752" cy="822960"/>
          </a:xfrm>
          <a:prstGeom prst="rect">
            <a:avLst/>
          </a:prstGeom>
          <a:noFill/>
          <a:ln/>
        </p:spPr>
        <p:txBody>
          <a:bodyPr wrap="square" lIns="0" tIns="0" rIns="0" bIns="0" rtlCol="0" anchor="t"/>
          <a:lstStyle/>
          <a:p>
            <a:pPr indent="0" marL="0">
              <a:buNone/>
            </a:pPr>
            <a:r>
              <a:rPr lang="en-US" sz="2200" b="1" i="1" dirty="0">
                <a:solidFill>
                  <a:schemeClr val="accent2"/>
                </a:solidFill>
              </a:rPr>
              <a:t>“Tobacco marketing didn’t disappear. It moved: into the pack, the flavour and the phone.”</a:t>
            </a:r>
            <a:endParaRPr lang="en-US" sz="2200" dirty="0"/>
          </a:p>
        </p:txBody>
      </p:sp>
      <p:sp>
        <p:nvSpPr>
          <p:cNvPr id="17" name="Text 15"/>
          <p:cNvSpPr txBox="1"/>
          <p:nvPr/>
        </p:nvSpPr>
        <p:spPr>
          <a:xfrm>
            <a:off x="914400" y="4983480"/>
            <a:ext cx="10588752" cy="1097280"/>
          </a:xfrm>
          <a:prstGeom prst="rect">
            <a:avLst/>
          </a:prstGeom>
          <a:solidFill>
            <a:schemeClr val="accent1"/>
          </a:solidFill>
          <a:ln/>
        </p:spPr>
        <p:txBody>
          <a:bodyPr wrap="square" lIns="228600" tIns="228600" rIns="228600" bIns="228600" rtlCol="0" anchor="ctr"/>
          <a:lstStyle/>
          <a:p>
            <a:pPr indent="0" marL="0">
              <a:spcAft>
                <a:spcPts val="400"/>
              </a:spcAft>
              <a:buNone/>
            </a:pPr>
            <a:r>
              <a:rPr lang="en-US" sz="1400" b="1" dirty="0">
                <a:solidFill>
                  <a:schemeClr val="accent4"/>
                </a:solidFill>
              </a:rPr>
              <a:t>Question for you</a:t>
            </a:r>
            <a:endParaRPr lang="en-US" sz="1400" dirty="0"/>
          </a:p>
          <a:p>
            <a:pPr indent="0" marL="0">
              <a:spcAft>
                <a:spcPts val="400"/>
              </a:spcAft>
              <a:buNone/>
            </a:pPr>
            <a:r>
              <a:rPr lang="en-US" sz="2000" b="1" dirty="0">
                <a:solidFill>
                  <a:schemeClr val="bg1"/>
                </a:solidFill>
              </a:rPr>
              <a:t>Should vapes be sold only in plain packs and only in tobacco flavour?</a:t>
            </a:r>
            <a:endParaRPr lang="en-US" sz="14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914400" y="182880"/>
            <a:ext cx="8778240" cy="329184"/>
          </a:xfrm>
          <a:prstGeom prst="rect">
            <a:avLst/>
          </a:prstGeom>
          <a:noFill/>
          <a:ln/>
        </p:spPr>
        <p:txBody>
          <a:bodyPr wrap="square" lIns="0" tIns="0" rIns="0" bIns="0" rtlCol="0" anchor="ctr"/>
          <a:lstStyle/>
          <a:p>
            <a:pPr algn="l" indent="0" marL="0">
              <a:buNone/>
            </a:pPr>
            <a:r>
              <a:rPr lang="en-US" sz="1400" b="1" dirty="0">
                <a:solidFill>
                  <a:schemeClr val="accent3"/>
                </a:solidFill>
              </a:rPr>
              <a:t>Sources</a:t>
            </a:r>
            <a:endParaRPr lang="en-US" sz="1400" dirty="0"/>
          </a:p>
        </p:txBody>
      </p:sp>
      <p:sp>
        <p:nvSpPr>
          <p:cNvPr id="3" name="Text 1"/>
          <p:cNvSpPr/>
          <p:nvPr>
            <p:ph idx="102" type="title" hasCustomPrompt="1"/>
          </p:nvPr>
        </p:nvSpPr>
        <p:spPr>
          <a:xfrm>
            <a:off x="914400" y="475488"/>
            <a:ext cx="10241280" cy="548640"/>
          </a:xfrm>
          <a:prstGeom prst="rect">
            <a:avLst/>
          </a:prstGeom>
          <a:noFill/>
          <a:ln/>
        </p:spPr>
        <p:txBody>
          <a:bodyPr wrap="square" lIns="0" tIns="0" rIns="0" bIns="0" rtlCol="0" anchor="ctr"/>
          <a:lstStyle/>
          <a:p>
            <a:pPr algn="l" indent="0" marL="0">
              <a:buNone/>
            </a:pPr>
            <a:r>
              <a:rPr lang="en-US" sz="2600" b="1" dirty="0">
                <a:solidFill>
                  <a:schemeClr val="accent1"/>
                </a:solidFill>
              </a:rPr>
              <a:t>Bibliography</a:t>
            </a:r>
            <a:endParaRPr lang="en-US" sz="2600" dirty="0"/>
          </a:p>
        </p:txBody>
      </p:sp>
      <p:sp>
        <p:nvSpPr>
          <p:cNvPr id="4" name="Text 2"/>
          <p:cNvSpPr txBox="1"/>
          <p:nvPr/>
        </p:nvSpPr>
        <p:spPr>
          <a:xfrm>
            <a:off x="914400" y="1325880"/>
            <a:ext cx="5111496" cy="489204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Canadian Cancer Society (2025). Cigarette Package Health Warnings: International Status Report, 9th ed.</a:t>
            </a:r>
            <a:endParaRPr lang="en-US" sz="1300" dirty="0"/>
          </a:p>
          <a:p>
            <a:pPr indent="0" marL="0">
              <a:spcAft>
                <a:spcPts val="800"/>
              </a:spcAft>
              <a:buNone/>
            </a:pPr>
            <a:r>
              <a:rPr lang="en-US" sz="1300" dirty="0">
                <a:solidFill>
                  <a:schemeClr val="tx1"/>
                </a:solidFill>
              </a:rPr>
              <a:t>CDC (2015). Tobacco use among middle and high school students, 2011–2014. MMWR 64(14).</a:t>
            </a:r>
            <a:endParaRPr lang="en-US" sz="1300" dirty="0"/>
          </a:p>
          <a:p>
            <a:pPr indent="0" marL="0">
              <a:spcAft>
                <a:spcPts val="800"/>
              </a:spcAft>
              <a:buNone/>
            </a:pPr>
            <a:r>
              <a:rPr lang="en-US" sz="1300" dirty="0">
                <a:solidFill>
                  <a:schemeClr val="tx1"/>
                </a:solidFill>
              </a:rPr>
              <a:t>CDC (2019). Tobacco product use among middle and high school students, 2019. MMWR 68(SS-12).</a:t>
            </a:r>
            <a:endParaRPr lang="en-US" sz="1300" dirty="0"/>
          </a:p>
          <a:p>
            <a:pPr indent="0" marL="0">
              <a:spcAft>
                <a:spcPts val="800"/>
              </a:spcAft>
              <a:buNone/>
            </a:pPr>
            <a:r>
              <a:rPr lang="en-US" sz="1300" dirty="0">
                <a:solidFill>
                  <a:schemeClr val="tx1"/>
                </a:solidFill>
              </a:rPr>
              <a:t>CDC / FDA (2024). Tobacco product use among middle and high school students, 2024. MMWR 73(41).</a:t>
            </a:r>
            <a:endParaRPr lang="en-US" sz="1300" dirty="0"/>
          </a:p>
          <a:p>
            <a:pPr indent="0" marL="0">
              <a:spcAft>
                <a:spcPts val="800"/>
              </a:spcAft>
              <a:buNone/>
            </a:pPr>
            <a:r>
              <a:rPr lang="en-US" sz="1300" dirty="0">
                <a:solidFill>
                  <a:schemeClr val="tx1"/>
                </a:solidFill>
              </a:rPr>
              <a:t>Courtemanche, C., Palmer, M., Pesko, M. (2017). Influence of the flavored cigarette ban on adolescent tobacco use. American Journal of Preventive Medicine.</a:t>
            </a:r>
            <a:endParaRPr lang="en-US" sz="1300" dirty="0"/>
          </a:p>
          <a:p>
            <a:pPr indent="0" marL="0">
              <a:spcAft>
                <a:spcPts val="800"/>
              </a:spcAft>
              <a:buNone/>
            </a:pPr>
            <a:r>
              <a:rPr lang="en-US" sz="1300" dirty="0">
                <a:solidFill>
                  <a:schemeClr val="tx1"/>
                </a:solidFill>
              </a:rPr>
              <a:t>Directive 2014/40/EU (Tobacco Products Directive). Official Journal of the EU.</a:t>
            </a:r>
            <a:endParaRPr lang="en-US" sz="1300" dirty="0"/>
          </a:p>
          <a:p>
            <a:pPr indent="0" marL="0">
              <a:spcAft>
                <a:spcPts val="800"/>
              </a:spcAft>
              <a:buNone/>
            </a:pPr>
            <a:r>
              <a:rPr lang="en-US" sz="1300" dirty="0">
                <a:solidFill>
                  <a:schemeClr val="tx1"/>
                </a:solidFill>
              </a:rPr>
              <a:t>FDA (2026). 2025 National Youth Tobacco Survey findings.</a:t>
            </a:r>
            <a:endParaRPr lang="en-US" sz="1300" dirty="0"/>
          </a:p>
        </p:txBody>
      </p:sp>
      <p:sp>
        <p:nvSpPr>
          <p:cNvPr id="5" name="Text 3"/>
          <p:cNvSpPr txBox="1"/>
          <p:nvPr/>
        </p:nvSpPr>
        <p:spPr>
          <a:xfrm>
            <a:off x="6391656" y="1325880"/>
            <a:ext cx="5111496" cy="489204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GOV.UK (2026). Tobacco and Vapes Bill becomes law, 29 April 2026.</a:t>
            </a:r>
            <a:endParaRPr lang="en-US" sz="1300" dirty="0"/>
          </a:p>
          <a:p>
            <a:pPr indent="0" marL="0">
              <a:spcAft>
                <a:spcPts val="800"/>
              </a:spcAft>
              <a:buNone/>
            </a:pPr>
            <a:r>
              <a:rPr lang="en-US" sz="1300" dirty="0">
                <a:solidFill>
                  <a:schemeClr val="tx1"/>
                </a:solidFill>
              </a:rPr>
              <a:t>Keegan, W. J., &amp; Green, M. C. (2020). Global Marketing, 10th ed. Pearson.</a:t>
            </a:r>
            <a:endParaRPr lang="en-US" sz="1300" dirty="0"/>
          </a:p>
          <a:p>
            <a:pPr indent="0" marL="0">
              <a:spcAft>
                <a:spcPts val="800"/>
              </a:spcAft>
              <a:buNone/>
            </a:pPr>
            <a:r>
              <a:rPr lang="en-US" sz="1300" dirty="0">
                <a:solidFill>
                  <a:schemeClr val="tx1"/>
                </a:solidFill>
              </a:rPr>
              <a:t>Philip Morris International (2026). 2025 Fourth-Quarter &amp; Full-Year Results.</a:t>
            </a:r>
            <a:endParaRPr lang="en-US" sz="1300" dirty="0"/>
          </a:p>
          <a:p>
            <a:pPr indent="0" marL="0">
              <a:spcAft>
                <a:spcPts val="800"/>
              </a:spcAft>
              <a:buNone/>
            </a:pPr>
            <a:r>
              <a:rPr lang="en-US" sz="1300" dirty="0">
                <a:solidFill>
                  <a:schemeClr val="tx1"/>
                </a:solidFill>
              </a:rPr>
              <a:t>TPackSS, Johns Hopkins (2023). Indonesia: health warning label compliance.</a:t>
            </a:r>
            <a:endParaRPr lang="en-US" sz="1300" dirty="0"/>
          </a:p>
          <a:p>
            <a:pPr indent="0" marL="0">
              <a:spcAft>
                <a:spcPts val="800"/>
              </a:spcAft>
              <a:buNone/>
            </a:pPr>
            <a:r>
              <a:rPr lang="en-US" sz="1300" dirty="0">
                <a:solidFill>
                  <a:schemeClr val="tx1"/>
                </a:solidFill>
              </a:rPr>
              <a:t>WHO (2024). Hooking the next generation: how the tobacco industry captures young customers.</a:t>
            </a:r>
            <a:endParaRPr lang="en-US" sz="1300" dirty="0"/>
          </a:p>
          <a:p>
            <a:pPr indent="0" marL="0">
              <a:spcAft>
                <a:spcPts val="800"/>
              </a:spcAft>
              <a:buNone/>
            </a:pPr>
            <a:r>
              <a:rPr lang="en-US" sz="1300" dirty="0">
                <a:solidFill>
                  <a:schemeClr val="tx1"/>
                </a:solidFill>
              </a:rPr>
              <a:t>WHO (2025). Global report on trends in prevalence of tobacco use 2000–2024.</a:t>
            </a:r>
            <a:endParaRPr lang="en-US" sz="1300" dirty="0"/>
          </a:p>
          <a:p>
            <a:pPr indent="0" marL="0">
              <a:spcAft>
                <a:spcPts val="800"/>
              </a:spcAft>
              <a:buNone/>
            </a:pPr>
            <a:r>
              <a:rPr lang="en-US" sz="1300" dirty="0">
                <a:solidFill>
                  <a:schemeClr val="tx1"/>
                </a:solidFill>
              </a:rPr>
              <a:t>WTO (2012). US — Clove Cigarettes (DS406); New York AG (2023). JUUL settlement.</a:t>
            </a:r>
            <a:endParaRPr lang="en-US" sz="1300" dirty="0"/>
          </a:p>
        </p:txBody>
      </p:sp>
      <p:sp>
        <p:nvSpPr>
          <p:cNvPr id="25" name="Slide Number Placeholder 0"/>
          <p:cNvSpPr>
            <a:spLocks noGrp="1"/>
          </p:cNvSpPr>
          <p:nvPr>
            <p:ph type="sldNum" sz="quarter" idx="4294967295"/>
          </p:nvPr>
        </p:nvSpPr>
        <p:spPr>
          <a:xfrm>
            <a:off x="1095451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orvinus Seminar">
  <a:themeElements>
    <a:clrScheme name="Corvinus Seminar">
      <a:dk1>
        <a:srgbClr val="1A1A1A"/>
      </a:dk1>
      <a:lt1>
        <a:srgbClr val="FFFFFF"/>
      </a:lt1>
      <a:dk2>
        <a:srgbClr val="0E2841"/>
      </a:dk2>
      <a:lt2>
        <a:srgbClr val="F3F4F6"/>
      </a:lt2>
      <a:accent1>
        <a:srgbClr val="0E2841"/>
      </a:accent1>
      <a:accent2>
        <a:srgbClr val="C00000"/>
      </a:accent2>
      <a:accent3>
        <a:srgbClr val="7F7F7F"/>
      </a:accent3>
      <a:accent4>
        <a:srgbClr val="D1D1D1"/>
      </a:accent4>
      <a:accent5>
        <a:srgbClr val="0080CC"/>
      </a:accent5>
      <a:accent6>
        <a:srgbClr val="404040"/>
      </a:accent6>
      <a:hlink>
        <a:srgbClr val="0080CC"/>
      </a:hlink>
      <a:folHlink>
        <a:srgbClr val="7F7F7F"/>
      </a:folHlink>
    </a:clrScheme>
    <a:fontScheme name="Corvinus Seminar">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Tobacco Marketing on International Markets</dc:title>
  <dc:subject>PptxGenJS Presentation</dc:subject>
  <dc:creator>Amir Kenenbaev</dc:creator>
  <cp:lastModifiedBy>Amir Kenenbaev</cp:lastModifiedBy>
  <cp:revision>1</cp:revision>
  <dcterms:created xsi:type="dcterms:W3CDTF">2026-10-14T20:11:34Z</dcterms:created>
  <dcterms:modified xsi:type="dcterms:W3CDTF">2026-10-14T20:11:34Z</dcterms:modified>
</cp:coreProperties>
</file>