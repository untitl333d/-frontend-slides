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Volume share</c:v>
                </c:pt>
              </c:strCache>
            </c:strRef>
          </c:tx>
          <c:spPr>
            <a:solidFill>
              <a:schemeClr val="accent1"/>
            </a:solidFill>
            <a:ln w="9525" cap="flat">
              <a:solidFill>
                <a:srgbClr val="F9F9F9"/>
              </a:solidFill>
              <a:prstDash val="solid"/>
              <a:round/>
            </a:ln>
            <a:effectLst/>
          </c:spPr>
          <c:dPt>
            <c:idx val="0"/>
            <c:bubble3D val="0"/>
            <c:spPr>
              <a:solidFill>
                <a:srgbClr val="C00000"/>
              </a:solidFill>
              <a:ln w="12700" cap="flat">
                <a:solidFill>
                  <a:srgbClr val="FFFFFF"/>
                </a:solidFill>
                <a:prstDash val="solid"/>
                <a:round/>
              </a:ln>
              <a:effectLst/>
            </c:spPr>
          </c:dPt>
          <c:dPt>
            <c:idx val="1"/>
            <c:bubble3D val="0"/>
            <c:spPr>
              <a:solidFill>
                <a:srgbClr val="0E2841"/>
              </a:solidFill>
              <a:ln w="12700" cap="flat">
                <a:solidFill>
                  <a:srgbClr val="FFFFFF"/>
                </a:solidFill>
                <a:prstDash val="solid"/>
                <a:round/>
              </a:ln>
              <a:effectLst/>
            </c:spPr>
          </c:dPt>
          <c:dPt>
            <c:idx val="2"/>
            <c:bubble3D val="0"/>
            <c:spPr>
              <a:solidFill>
                <a:srgbClr val="D1D1D1"/>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China National Tobacco</c:v>
                </c:pt>
                <c:pt idx="1">
                  <c:v>Big Four (PMI, BAT, JTI, Imperial)</c:v>
                </c:pt>
                <c:pt idx="2">
                  <c:v>Others</c:v>
                </c:pt>
              </c:strCache>
            </c:strRef>
          </c:cat>
          <c:val>
            <c:numRef>
              <c:f>Sheet1!$B$2:$B$4</c:f>
              <c:numCache>
                <c:ptCount val="3"/>
                <c:pt idx="0">
                  <c:v>47</c:v>
                </c:pt>
                <c:pt idx="1">
                  <c:v>34</c:v>
                </c:pt>
                <c:pt idx="2">
                  <c:v>19</c:v>
                </c:pt>
              </c:numCache>
            </c:numRef>
          </c:val>
        </c:ser>
        <c:firstSliceAng val="0"/>
        <c:holeSize val="64"/>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E2841"/>
                </a:solidFill>
                <a:latin typeface="+mn-lt"/>
              </a:defRPr>
            </a:pPr>
            <a:r>
              <a:rPr sz="1400" b="0" i="0" u="none" strike="noStrike">
                <a:solidFill>
                  <a:srgbClr val="0E2841"/>
                </a:solidFill>
                <a:latin typeface="+mn-lt"/>
              </a:rPr>
              <a:t>Philip Morris International: smoke-free share of net revenue, %</a:t>
            </a:r>
          </a:p>
        </c:rich>
      </c:tx>
      <c:layout/>
      <c:overlay val="0"/>
    </c:title>
    <c:autoTitleDeleted val="0"/>
    <c:plotArea>
      <c:layout/>
      <c:barChart>
        <c:barDir val="col"/>
        <c:grouping val="clustered"/>
        <c:varyColors val="0"/>
        <c:ser>
          <c:idx val="0"/>
          <c:order val="0"/>
          <c:tx>
            <c:strRef>
              <c:f>Sheet1!$B$1</c:f>
              <c:strCache>
                <c:ptCount val="1"/>
                <c:pt idx="0">
                  <c:v>Smoke-free share</c:v>
                </c:pt>
              </c:strCache>
            </c:strRef>
          </c:tx>
          <c:spPr>
            <a:solidFill>
              <a:srgbClr val="0E2841"/>
            </a:solidFill>
            <a:effectLst/>
          </c:spPr>
          <c:invertIfNegative val="0"/>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0E2841"/>
              </a:solidFill>
              <a:effectLst/>
            </c:spPr>
          </c:dPt>
          <c:dPt>
            <c:idx val="1"/>
            <c:invertIfNegative val="0"/>
            <c:bubble3D val="0"/>
            <c:spPr>
              <a:solidFill>
                <a:srgbClr val="0E2841"/>
              </a:solidFill>
              <a:effectLst/>
            </c:spPr>
          </c:dPt>
          <c:dPt>
            <c:idx val="2"/>
            <c:invertIfNegative val="0"/>
            <c:bubble3D val="0"/>
            <c:spPr>
              <a:solidFill>
                <a:srgbClr val="D1D1D1"/>
              </a:solidFill>
              <a:effectLst/>
            </c:spPr>
          </c:dPt>
          <c:cat>
            <c:multiLvlStrRef>
              <c:f>Sheet1!$A$2:$A$4</c:f>
              <c:multiLvlStrCache>
                <c:ptCount val="3"/>
                <c:lvl>
                  <c:pt idx="0">
                    <c:v>2024</c:v>
                  </c:pt>
                  <c:pt idx="1">
                    <c:v>2025</c:v>
                  </c:pt>
                  <c:pt idx="2">
                    <c:v>2030 target</c:v>
                  </c:pt>
                </c:lvl>
              </c:multiLvlStrCache>
            </c:multiLvlStrRef>
          </c:cat>
          <c:val>
            <c:numRef>
              <c:f>Sheet1!$B$2:$B$4</c:f>
              <c:numCache>
                <c:formatCode>General</c:formatCode>
                <c:ptCount val="3"/>
                <c:pt idx="0">
                  <c:v>38.7</c:v>
                </c:pt>
                <c:pt idx="1">
                  <c:v>41.5</c:v>
                </c:pt>
                <c:pt idx="2">
                  <c:v>67</c:v>
                </c:pt>
              </c:numCache>
            </c:numRef>
          </c:val>
        </c:ser>
        <c:dLbls>
          <c:numFmt formatCode="0.0" sourceLinked="0"/>
          <c:txPr>
            <a:bodyPr/>
            <a:lstStyle/>
            <a:p>
              <a:pPr>
                <a:defRPr b="1" i="0" strike="noStrike" sz="1200" u="none">
                  <a:solidFill>
                    <a:srgbClr val="1A1A1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1D1D1"/>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5E5E5"/>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7F7F7F"/>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Good afternoon. My name is Amir Kenenbaev, and today I'll talk about tobacco marketing on international markets. Before I explain anything, let's start with a small game.
Photo circle: right-click the circle &gt; Format Shape &gt; Fill &gt; Picture fill to insert a portrait.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Here are four cigarette packs from four countries. Two questions: which country is each pack from, and what is different about the packaging? Take 20 seconds and shout out your guesses.
PHOTOS TO INSERT (ideally the same brand, e.g. Marlboro, so only the rules differ):
A = USA: full brand design, small text-only Surgeon General warning on the side.
B = Hungary (EU): plain pack + 65% picture-and-text warning in Hungarian.
C = Indonesia: kretek pack (e.g. Dji Sam Soe / Gudang Garam) with a 40% picture warning.
D = Australia: plain drab dark brown pack, 75% warning on the front.
Click the picture icon in each box to insert a photo; it fills and crops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Here are the answers. A is the USA: the brand still owns the front of the pack. B is Hungary: 65% warnings and, since 2022, plain packaging, which is what you see in every Nemzeti Dohánybolt. C is Indonesia, home of clove kretek cigarettes, with only 40% warnings. D is Australia, the first country with plain packs in 2012, with a colour chosen because smokers found it the least attractive. Same product, same companies, four completely different rulebooks. That is exactly what international marketing is about: the environment shapes the marketing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is tobacco such an interesting case? 1.2 billion people use it, and 80% of them live in low- and middle-income countries, so this industry is international by necessity. China National Tobacco makes almost half of all cigarettes but sells them at home. So when we say 'international tobacco marketing', we really mean four companies: Philip Morris International, BAT, Japan Tobacco and Imperial. And they face a paradox: the product is legal, but in most countries they are not allowed to promote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rules come mainly from one treaty: the WHO Framework Convention on Tobacco Control from 2003, with 183 parties. It requires bans on advertising, promotion and sponsorship. Then came packaging: Australia introduced plain packs in 2012. Philip Morris sued Uruguay and lost in 2016; several countries took Australia to the WTO and lost in 2020. The EU banned menthol in 2020, and this year the UK passed a generational ban. Two big exceptions: the USA and Indonesia never joined the treaty, and we'll see both again when we talk about flavours.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When advertising is banned, the pack becomes the last billboard, and that is why regulators fight over it. In the EU, 65% of the front and back is a picture-and-text warning, and many countries, including Hungary, add plain packaging. In the US it is the opposite: only a small text warning on the side, and the FDA's graphic warnings from 2020 are still stuck in court. Flavours too: the EU banned everything including menthol; the US banned flavours in 2009 but kept menthol. Elsewhere it goes even further: in Türkiye 92.5% of the pack is warning, and Canada and Australia now print warnings on every single cigarette.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Taste is local, so the product itself is adapted. In Indonesia clove kretek cigarettes are part of the culture; when Philip Morris entered, it bought the local leader Sampoerna instead of pushing Marlboro. In Japan and the Philippines menthol is mainstream. In Latin America and Asia, capsule cigarettes let you click a flavour ball in the filter: product innovation as entertainment. In the Middle East it's flavoured shisha. In the US, menthol was marketed so heavily to Black communities that today about 85% of Black smokers use menthol. And in the EU: no flavours at all.
Picture suggestion: a capsule ('click') pack or an Indonesian kretek pack.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Why do governments ban flavours? Three reasons: menthol numbs the throat so the first cigarette doesn't hurt; sweet flavours attract beginners; and flavours were used to target specific groups. The most interesting fight: in 2009 the US banned clove cigarettes but kept menthol. Indonesia, the home of clove kretek, went to the WTO and won in 2012, because protecting the American flavour while banning the Indonesian one was discrimination. Health policy became trade policy. The EU banned menthol in 2020, while the US withdrew its menthol ban proposal in 2025.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So how do you market without advertising? You adapt the 4Ps. Product: capsules, slim packs for women, heated tobacco, nicotine pouches. Price: in poorer markets cigarettes are sold one stick at a time, so the price fits a daily income. Place: dense informal retail like warungs and spaza shops; here in Hungary the state took control of retail in 2013 with the National Tobacco Shops, where you can't even see the products from outside. Promotion: sponsorships like Ferrari's 'Mission Winnow' and influencers on social media.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industry's answer to all these rules is the so-called smoke-free pivot. Philip Morris already earns 41.5% of its revenue from heated tobacco and nicotine pouches, and wants more than two-thirds by 2030. IQOS has three quarters of the heated-tobacco category, and Japan was its breakthrough market. Is this a real strategy or just rebranding? The industry says it is moving away from cigarettes. Critics say it is the same nicotine with new flavours, new devices and new young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To conclude: regulation shapes strategy country by country; the brands are global but the execution is local; and when advertising is banned, the pack, the price and the shop do the selling. My answer: tobacco marketing didn't disappear, it moved. And a question for you: should a global company follow its strictest home-market rules in every country it sells in, or is it fair to use weaker rules where they exist?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PICTURE">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8549640" y="1417320"/>
            <a:ext cx="2953512" cy="466344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picture</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ACK_QUIZ">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A</a:t>
            </a:r>
            <a:endParaRPr lang="en-US" sz="1200" dirty="0"/>
          </a:p>
        </p:txBody>
      </p:sp>
      <p:sp>
        <p:nvSpPr>
          <p:cNvPr id="7" name="Text 2"/>
          <p:cNvSpPr/>
          <p:nvPr>
            <p:ph type="pic" idx="105" hasCustomPrompt="1"/>
          </p:nvPr>
        </p:nvSpPr>
        <p:spPr>
          <a:xfrm>
            <a:off x="3666744"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B</a:t>
            </a:r>
            <a:endParaRPr lang="en-US" sz="1200" dirty="0"/>
          </a:p>
        </p:txBody>
      </p:sp>
      <p:sp>
        <p:nvSpPr>
          <p:cNvPr id="8" name="Text 2"/>
          <p:cNvSpPr/>
          <p:nvPr>
            <p:ph type="pic" idx="106" hasCustomPrompt="1"/>
          </p:nvPr>
        </p:nvSpPr>
        <p:spPr>
          <a:xfrm>
            <a:off x="6419088"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C</a:t>
            </a:r>
            <a:endParaRPr lang="en-US" sz="1200" dirty="0"/>
          </a:p>
        </p:txBody>
      </p:sp>
      <p:sp>
        <p:nvSpPr>
          <p:cNvPr id="9" name="Text 2"/>
          <p:cNvSpPr/>
          <p:nvPr>
            <p:ph type="pic" idx="107" hasCustomPrompt="1"/>
          </p:nvPr>
        </p:nvSpPr>
        <p:spPr>
          <a:xfrm>
            <a:off x="9171432" y="1691640"/>
            <a:ext cx="2331720" cy="356616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pack D</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CK_REVEAL">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502920" y="0"/>
            <a:ext cx="274320" cy="987552"/>
          </a:xfrm>
          <a:prstGeom prst="rect">
            <a:avLst/>
          </a:prstGeom>
          <a:solidFill>
            <a:schemeClr val="accent5"/>
          </a:solidFill>
          <a:ln w="12700">
            <a:solidFill>
              <a:schemeClr val="accent5"/>
            </a:solidFill>
            <a:prstDash val="solid"/>
          </a:ln>
        </p:spPr>
      </p:sp>
      <p:sp>
        <p:nvSpPr>
          <p:cNvPr id="3" name="Text 1"/>
          <p:cNvSpPr/>
          <p:nvPr>
            <p:ph idx="101" type="body" hasCustomPrompt="1"/>
          </p:nvPr>
        </p:nvSpPr>
        <p:spPr>
          <a:xfrm>
            <a:off x="914400" y="182880"/>
            <a:ext cx="8778240" cy="329184"/>
          </a:xfrm>
          <a:prstGeom prst="rect">
            <a:avLst/>
          </a:prstGeom>
          <a:noFill/>
          <a:ln/>
        </p:spPr>
        <p:txBody>
          <a:bodyPr wrap="square" rtlCol="0"/>
          <a:lstStyle>
            <a:lvl1pPr algn="l" indent="0" marL="0">
              <a:buNone/>
              <a:defRPr lang="en-US" sz="1400" b="1" dirty="0">
                <a:solidFill>
                  <a:schemeClr val="accent3"/>
                </a:solidFill>
              </a:defRPr>
            </a:lvl1pPr>
          </a:lstStyle>
          <a:p>
            <a:pPr algn="l" indent="0" marL="0">
              <a:buNone/>
            </a:pPr>
            <a:endParaRPr lang="en-US" sz="1400" dirty="0"/>
          </a:p>
        </p:txBody>
      </p:sp>
      <p:sp>
        <p:nvSpPr>
          <p:cNvPr id="4" name="Text 1"/>
          <p:cNvSpPr/>
          <p:nvPr>
            <p:ph idx="102" type="title" hasCustomPrompt="1"/>
          </p:nvPr>
        </p:nvSpPr>
        <p:spPr>
          <a:xfrm>
            <a:off x="914400" y="475488"/>
            <a:ext cx="10241280" cy="548640"/>
          </a:xfrm>
          <a:prstGeom prst="rect">
            <a:avLst/>
          </a:prstGeom>
          <a:noFill/>
          <a:ln/>
        </p:spPr>
        <p:txBody>
          <a:bodyPr wrap="square" rtlCol="0"/>
          <a:lstStyle>
            <a:lvl1pPr algn="l" indent="0" marL="0">
              <a:buNone/>
              <a:defRPr lang="en-US" sz="2600" b="1" dirty="0">
                <a:solidFill>
                  <a:schemeClr val="accent1"/>
                </a:solidFill>
              </a:defRPr>
            </a:lvl1pPr>
          </a:lstStyle>
          <a:p>
            <a:pPr algn="l" indent="0" marL="0">
              <a:buNone/>
            </a:pPr>
            <a:endParaRPr lang="en-US" sz="2600" dirty="0"/>
          </a:p>
        </p:txBody>
      </p:sp>
      <p:sp>
        <p:nvSpPr>
          <p:cNvPr id="5" name="Text 1"/>
          <p:cNvSpPr/>
          <p:nvPr/>
        </p:nvSpPr>
        <p:spPr>
          <a:xfrm>
            <a:off x="914400" y="6382512"/>
            <a:ext cx="7315200" cy="274320"/>
          </a:xfrm>
          <a:prstGeom prst="rect">
            <a:avLst/>
          </a:prstGeom>
          <a:noFill/>
          <a:ln/>
        </p:spPr>
        <p:txBody>
          <a:bodyPr wrap="square" lIns="0" tIns="0" rIns="0" bIns="0" rtlCol="0" anchor="ctr"/>
          <a:lstStyle/>
          <a:p>
            <a:pPr indent="0" marL="0">
              <a:buNone/>
            </a:pPr>
            <a:r>
              <a:rPr lang="en-US" sz="1000" dirty="0">
                <a:solidFill>
                  <a:schemeClr val="accent3"/>
                </a:solidFill>
              </a:rPr>
              <a:t>Tobacco Marketing on International Markets</a:t>
            </a:r>
            <a:endParaRPr lang="en-US" sz="1000" dirty="0"/>
          </a:p>
        </p:txBody>
      </p:sp>
      <p:sp>
        <p:nvSpPr>
          <p:cNvPr id="6" name="Text 2"/>
          <p:cNvSpPr/>
          <p:nvPr>
            <p:ph type="pic" idx="104" hasCustomPrompt="1"/>
          </p:nvPr>
        </p:nvSpPr>
        <p:spPr>
          <a:xfrm>
            <a:off x="914400"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USA pack</a:t>
            </a:r>
            <a:endParaRPr lang="en-US" sz="1200" dirty="0"/>
          </a:p>
        </p:txBody>
      </p:sp>
      <p:sp>
        <p:nvSpPr>
          <p:cNvPr id="7" name="Text 2"/>
          <p:cNvSpPr/>
          <p:nvPr>
            <p:ph type="pic" idx="105" hasCustomPrompt="1"/>
          </p:nvPr>
        </p:nvSpPr>
        <p:spPr>
          <a:xfrm>
            <a:off x="3630168"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Hungary pack</a:t>
            </a:r>
            <a:endParaRPr lang="en-US" sz="1200" dirty="0"/>
          </a:p>
        </p:txBody>
      </p:sp>
      <p:sp>
        <p:nvSpPr>
          <p:cNvPr id="8" name="Text 2"/>
          <p:cNvSpPr/>
          <p:nvPr>
            <p:ph type="pic" idx="106" hasCustomPrompt="1"/>
          </p:nvPr>
        </p:nvSpPr>
        <p:spPr>
          <a:xfrm>
            <a:off x="6345936"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Indonesia pack</a:t>
            </a:r>
            <a:endParaRPr lang="en-US" sz="1200" dirty="0"/>
          </a:p>
        </p:txBody>
      </p:sp>
      <p:sp>
        <p:nvSpPr>
          <p:cNvPr id="9" name="Text 2"/>
          <p:cNvSpPr/>
          <p:nvPr>
            <p:ph type="pic" idx="107" hasCustomPrompt="1"/>
          </p:nvPr>
        </p:nvSpPr>
        <p:spPr>
          <a:xfrm>
            <a:off x="9061704" y="1325880"/>
            <a:ext cx="2441448" cy="2057400"/>
          </a:xfrm>
          <a:prstGeom prst="rect">
            <a:avLst/>
          </a:prstGeom>
          <a:noFill/>
          <a:ln/>
        </p:spPr>
        <p:txBody>
          <a:bodyPr wrap="square" rtlCol="0"/>
          <a:lstStyle>
            <a:lvl1pPr indent="0" marL="0">
              <a:buNone/>
              <a:defRPr lang="en-US" sz="1200" dirty="0">
                <a:solidFill>
                  <a:schemeClr val="accent3"/>
                </a:solidFill>
              </a:defRPr>
            </a:lvl1pPr>
          </a:lstStyle>
          <a:p>
            <a:pPr indent="0" marL="0">
              <a:buNone/>
            </a:pPr>
            <a:r>
              <a:rPr lang="en-US" sz="1200" dirty="0">
                <a:solidFill>
                  <a:schemeClr val="accent3"/>
                </a:solidFill>
              </a:rPr>
              <a:t>Insert photo: Australia pack</a:t>
            </a: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ITLE">
    <p:bg>
      <p:bgPr>
        <a:solidFill>
          <a:schemeClr val="accent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051560"/>
            <a:ext cx="7680960" cy="365760"/>
          </a:xfrm>
          <a:prstGeom prst="rect">
            <a:avLst/>
          </a:prstGeom>
          <a:noFill/>
          <a:ln/>
        </p:spPr>
        <p:txBody>
          <a:bodyPr wrap="square" lIns="0" tIns="0" rIns="0" bIns="0" rtlCol="0" anchor="t"/>
          <a:lstStyle/>
          <a:p>
            <a:pPr indent="0" marL="0">
              <a:buNone/>
            </a:pPr>
            <a:r>
              <a:rPr lang="en-US" sz="1400" b="1" spc="100" kern="0" dirty="0">
                <a:solidFill>
                  <a:schemeClr val="accent4"/>
                </a:solidFill>
              </a:rPr>
              <a:t>International Marketing  ·  Individual presentation</a:t>
            </a:r>
            <a:endParaRPr lang="en-US" sz="1400" dirty="0"/>
          </a:p>
        </p:txBody>
      </p:sp>
      <p:sp>
        <p:nvSpPr>
          <p:cNvPr id="3" name="Text 1"/>
          <p:cNvSpPr txBox="1"/>
          <p:nvPr/>
        </p:nvSpPr>
        <p:spPr>
          <a:xfrm>
            <a:off x="731520" y="1554480"/>
            <a:ext cx="7498080" cy="2103120"/>
          </a:xfrm>
          <a:prstGeom prst="rect">
            <a:avLst/>
          </a:prstGeom>
          <a:noFill/>
          <a:ln/>
        </p:spPr>
        <p:txBody>
          <a:bodyPr wrap="square" lIns="0" tIns="0" rIns="0" bIns="0" rtlCol="0" anchor="t"/>
          <a:lstStyle/>
          <a:p>
            <a:pPr indent="0" marL="0">
              <a:buNone/>
            </a:pPr>
            <a:r>
              <a:rPr lang="en-US" sz="4000" b="1" dirty="0">
                <a:solidFill>
                  <a:schemeClr val="bg1"/>
                </a:solidFill>
              </a:rPr>
              <a:t>Tobacco Marketing on International Markets</a:t>
            </a:r>
            <a:endParaRPr lang="en-US" sz="4000" dirty="0"/>
          </a:p>
        </p:txBody>
      </p:sp>
      <p:sp>
        <p:nvSpPr>
          <p:cNvPr id="4" name="Text 2"/>
          <p:cNvSpPr txBox="1"/>
          <p:nvPr/>
        </p:nvSpPr>
        <p:spPr>
          <a:xfrm>
            <a:off x="731520" y="3794760"/>
            <a:ext cx="7315200" cy="822960"/>
          </a:xfrm>
          <a:prstGeom prst="rect">
            <a:avLst/>
          </a:prstGeom>
          <a:noFill/>
          <a:ln/>
        </p:spPr>
        <p:txBody>
          <a:bodyPr wrap="square" lIns="0" tIns="0" rIns="0" bIns="0" rtlCol="0" anchor="t"/>
          <a:lstStyle/>
          <a:p>
            <a:pPr indent="0" marL="0">
              <a:buNone/>
            </a:pPr>
            <a:r>
              <a:rPr lang="en-US" sz="2200" dirty="0">
                <a:solidFill>
                  <a:schemeClr val="accent4"/>
                </a:solidFill>
              </a:rPr>
              <a:t>One product, many rulebooks: how the industry sells where it can’t advertise</a:t>
            </a:r>
            <a:endParaRPr lang="en-US" sz="2200" dirty="0"/>
          </a:p>
        </p:txBody>
      </p:sp>
      <p:sp>
        <p:nvSpPr>
          <p:cNvPr id="5" name="Text 3"/>
          <p:cNvSpPr txBox="1"/>
          <p:nvPr/>
        </p:nvSpPr>
        <p:spPr>
          <a:xfrm>
            <a:off x="731520" y="5806440"/>
            <a:ext cx="6766560" cy="365760"/>
          </a:xfrm>
          <a:prstGeom prst="rect">
            <a:avLst/>
          </a:prstGeom>
          <a:noFill/>
          <a:ln/>
        </p:spPr>
        <p:txBody>
          <a:bodyPr wrap="square" lIns="0" tIns="0" rIns="0" bIns="0" rtlCol="0" anchor="t"/>
          <a:lstStyle/>
          <a:p>
            <a:pPr indent="0" marL="0">
              <a:buNone/>
            </a:pPr>
            <a:r>
              <a:rPr lang="en-US" sz="1400" dirty="0">
                <a:solidFill>
                  <a:schemeClr val="accent4"/>
                </a:solidFill>
              </a:rPr>
              <a:t>Corvinus University of Budapest  ·  Fall 2026</a:t>
            </a:r>
            <a:endParaRPr lang="en-US" sz="1400" dirty="0"/>
          </a:p>
        </p:txBody>
      </p:sp>
      <p:sp>
        <p:nvSpPr>
          <p:cNvPr id="6" name="Photo Amir Kenenbaev"/>
          <p:cNvSpPr/>
          <p:nvPr/>
        </p:nvSpPr>
        <p:spPr>
          <a:xfrm>
            <a:off x="9098280" y="1828800"/>
            <a:ext cx="1828800" cy="1828800"/>
          </a:xfrm>
          <a:prstGeom prst="ellipse">
            <a:avLst/>
          </a:prstGeom>
          <a:solidFill>
            <a:srgbClr val="1B3A5C"/>
          </a:solidFill>
          <a:ln w="19050">
            <a:solidFill>
              <a:schemeClr val="bg1"/>
            </a:solidFill>
            <a:prstDash val="solid"/>
          </a:ln>
        </p:spPr>
      </p:sp>
      <p:sp>
        <p:nvSpPr>
          <p:cNvPr id="7" name="Text 5"/>
          <p:cNvSpPr txBox="1"/>
          <p:nvPr/>
        </p:nvSpPr>
        <p:spPr>
          <a:xfrm>
            <a:off x="8823960" y="3840480"/>
            <a:ext cx="2377440" cy="365760"/>
          </a:xfrm>
          <a:prstGeom prst="rect">
            <a:avLst/>
          </a:prstGeom>
          <a:noFill/>
          <a:ln/>
        </p:spPr>
        <p:txBody>
          <a:bodyPr wrap="square" lIns="0" tIns="0" rIns="0" bIns="0" rtlCol="0" anchor="t"/>
          <a:lstStyle/>
          <a:p>
            <a:pPr algn="ctr" indent="0" marL="0">
              <a:buNone/>
            </a:pPr>
            <a:r>
              <a:rPr lang="en-US" sz="1500" b="1" dirty="0">
                <a:solidFill>
                  <a:schemeClr val="bg1"/>
                </a:solidFill>
              </a:rPr>
              <a:t>Amir Kenenbaev</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Warm-up</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Guess the country: what is different about these packs?</a:t>
            </a:r>
            <a:endParaRPr lang="en-US" sz="2600" dirty="0"/>
          </a:p>
        </p:txBody>
      </p:sp>
      <p:sp>
        <p:nvSpPr>
          <p:cNvPr id="4" name="Text 2"/>
          <p:cNvSpPr txBox="1"/>
          <p:nvPr/>
        </p:nvSpPr>
        <p:spPr>
          <a:xfrm>
            <a:off x="914400" y="1188720"/>
            <a:ext cx="10588752" cy="365760"/>
          </a:xfrm>
          <a:prstGeom prst="rect">
            <a:avLst/>
          </a:prstGeom>
          <a:noFill/>
          <a:ln/>
        </p:spPr>
        <p:txBody>
          <a:bodyPr wrap="square" lIns="0" tIns="0" rIns="0" bIns="0" rtlCol="0" anchor="t"/>
          <a:lstStyle/>
          <a:p>
            <a:pPr indent="0" marL="0">
              <a:buNone/>
            </a:pPr>
            <a:r>
              <a:rPr lang="en-US" sz="1600" dirty="0">
                <a:solidFill>
                  <a:schemeClr val="accent6"/>
                </a:solidFill>
              </a:rPr>
              <a:t>Look at the warning size, the pictures, the logo and colours, and the flavour.</a:t>
            </a:r>
            <a:endParaRPr lang="en-US" sz="1600" dirty="0"/>
          </a:p>
        </p:txBody>
      </p:sp>
      <p:sp>
        <p:nvSpPr>
          <p:cNvPr id="5" name="Text 3"/>
          <p:cNvSpPr txBox="1"/>
          <p:nvPr/>
        </p:nvSpPr>
        <p:spPr>
          <a:xfrm>
            <a:off x="914400"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6" name="Text 4"/>
          <p:cNvSpPr txBox="1"/>
          <p:nvPr/>
        </p:nvSpPr>
        <p:spPr>
          <a:xfrm>
            <a:off x="1508760"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7" name="Text 5"/>
          <p:cNvSpPr txBox="1"/>
          <p:nvPr/>
        </p:nvSpPr>
        <p:spPr>
          <a:xfrm>
            <a:off x="3666744"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8" name="Text 6"/>
          <p:cNvSpPr txBox="1"/>
          <p:nvPr/>
        </p:nvSpPr>
        <p:spPr>
          <a:xfrm>
            <a:off x="4261104"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9" name="Text 7"/>
          <p:cNvSpPr txBox="1"/>
          <p:nvPr/>
        </p:nvSpPr>
        <p:spPr>
          <a:xfrm>
            <a:off x="6419088"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C</a:t>
            </a:r>
            <a:endParaRPr lang="en-US" sz="1800" dirty="0"/>
          </a:p>
        </p:txBody>
      </p:sp>
      <p:sp>
        <p:nvSpPr>
          <p:cNvPr id="10" name="Text 8"/>
          <p:cNvSpPr txBox="1"/>
          <p:nvPr/>
        </p:nvSpPr>
        <p:spPr>
          <a:xfrm>
            <a:off x="7013448"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11" name="Text 9"/>
          <p:cNvSpPr txBox="1"/>
          <p:nvPr/>
        </p:nvSpPr>
        <p:spPr>
          <a:xfrm>
            <a:off x="9171432" y="5440680"/>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rPr>
              <a:t>D</a:t>
            </a:r>
            <a:endParaRPr lang="en-US" sz="1800" dirty="0"/>
          </a:p>
        </p:txBody>
      </p:sp>
      <p:sp>
        <p:nvSpPr>
          <p:cNvPr id="12" name="Text 10"/>
          <p:cNvSpPr txBox="1"/>
          <p:nvPr/>
        </p:nvSpPr>
        <p:spPr>
          <a:xfrm>
            <a:off x="9765792" y="5513832"/>
            <a:ext cx="1737360" cy="329184"/>
          </a:xfrm>
          <a:prstGeom prst="rect">
            <a:avLst/>
          </a:prstGeom>
          <a:noFill/>
          <a:ln/>
        </p:spPr>
        <p:txBody>
          <a:bodyPr wrap="square" lIns="0" tIns="0" rIns="0" bIns="0" rtlCol="0" anchor="t"/>
          <a:lstStyle/>
          <a:p>
            <a:pPr indent="0" marL="0">
              <a:buNone/>
            </a:pPr>
            <a:r>
              <a:rPr lang="en-US" sz="1500" dirty="0">
                <a:solidFill>
                  <a:schemeClr val="accent3"/>
                </a:solidFill>
              </a:rPr>
              <a:t>Which country?</a:t>
            </a:r>
            <a:endParaRPr lang="en-US" sz="1500" dirty="0"/>
          </a:p>
        </p:txBody>
      </p:sp>
      <p:sp>
        <p:nvSpPr>
          <p:cNvPr id="14" name="Text 2"/>
          <p:cNvSpPr/>
          <p:nvPr>
            <p:ph type="pic" idx="104" hasCustomPrompt="1"/>
          </p:nvPr>
        </p:nvSpPr>
        <p:spPr>
          <a:xfrm>
            <a:off x="914400" y="1691640"/>
            <a:ext cx="2331720" cy="3566160"/>
          </a:xfrm>
          <a:prstGeom prst="rect">
            <a:avLst/>
          </a:prstGeom>
          <a:noFill/>
          <a:ln/>
        </p:spPr>
        <p:txBody>
          <a:bodyPr wrap="square" rtlCol="0"/>
          <a:lstStyle/>
          <a:p>
            <a:pPr indent="0" marL="0">
              <a:buNone/>
            </a:pPr>
            <a:endParaRPr lang="en-US" sz="1200" dirty="0"/>
          </a:p>
        </p:txBody>
      </p:sp>
      <p:sp>
        <p:nvSpPr>
          <p:cNvPr id="15" name="Text 2"/>
          <p:cNvSpPr/>
          <p:nvPr>
            <p:ph type="pic" idx="105" hasCustomPrompt="1"/>
          </p:nvPr>
        </p:nvSpPr>
        <p:spPr>
          <a:xfrm>
            <a:off x="3666744" y="1691640"/>
            <a:ext cx="2331720" cy="3566160"/>
          </a:xfrm>
          <a:prstGeom prst="rect">
            <a:avLst/>
          </a:prstGeom>
          <a:noFill/>
          <a:ln/>
        </p:spPr>
        <p:txBody>
          <a:bodyPr wrap="square" rtlCol="0"/>
          <a:lstStyle/>
          <a:p>
            <a:pPr indent="0" marL="0">
              <a:buNone/>
            </a:pPr>
            <a:endParaRPr lang="en-US" sz="1200" dirty="0"/>
          </a:p>
        </p:txBody>
      </p:sp>
      <p:sp>
        <p:nvSpPr>
          <p:cNvPr id="16" name="Text 2"/>
          <p:cNvSpPr/>
          <p:nvPr>
            <p:ph type="pic" idx="106" hasCustomPrompt="1"/>
          </p:nvPr>
        </p:nvSpPr>
        <p:spPr>
          <a:xfrm>
            <a:off x="6419088" y="1691640"/>
            <a:ext cx="2331720" cy="3566160"/>
          </a:xfrm>
          <a:prstGeom prst="rect">
            <a:avLst/>
          </a:prstGeom>
          <a:noFill/>
          <a:ln/>
        </p:spPr>
        <p:txBody>
          <a:bodyPr wrap="square" rtlCol="0"/>
          <a:lstStyle/>
          <a:p>
            <a:pPr indent="0" marL="0">
              <a:buNone/>
            </a:pPr>
            <a:endParaRPr lang="en-US" sz="1200" dirty="0"/>
          </a:p>
        </p:txBody>
      </p:sp>
      <p:sp>
        <p:nvSpPr>
          <p:cNvPr id="17" name="Text 2"/>
          <p:cNvSpPr/>
          <p:nvPr>
            <p:ph type="pic" idx="107" hasCustomPrompt="1"/>
          </p:nvPr>
        </p:nvSpPr>
        <p:spPr>
          <a:xfrm>
            <a:off x="9171432" y="1691640"/>
            <a:ext cx="2331720" cy="356616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Warm-up: the answer</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Same product, four different rulebooks</a:t>
            </a:r>
            <a:endParaRPr lang="en-US" sz="2600" dirty="0"/>
          </a:p>
        </p:txBody>
      </p:sp>
      <p:sp>
        <p:nvSpPr>
          <p:cNvPr id="4" name="Text 2"/>
          <p:cNvSpPr txBox="1"/>
          <p:nvPr/>
        </p:nvSpPr>
        <p:spPr>
          <a:xfrm>
            <a:off x="914400" y="3566160"/>
            <a:ext cx="2441448" cy="320040"/>
          </a:xfrm>
          <a:prstGeom prst="rect">
            <a:avLst/>
          </a:prstGeom>
          <a:noFill/>
          <a:ln/>
        </p:spPr>
        <p:txBody>
          <a:bodyPr wrap="square" lIns="0" tIns="0" rIns="0" bIns="0" rtlCol="0" anchor="t"/>
          <a:lstStyle/>
          <a:p>
            <a:pPr indent="0" marL="0">
              <a:buNone/>
            </a:pPr>
            <a:r>
              <a:rPr lang="en-US" sz="1500" b="1" dirty="0">
                <a:solidFill>
                  <a:schemeClr val="accent2"/>
                </a:solidFill>
              </a:rPr>
              <a:t>A  ·  USA</a:t>
            </a:r>
            <a:endParaRPr lang="en-US" sz="1500" dirty="0"/>
          </a:p>
        </p:txBody>
      </p:sp>
      <p:sp>
        <p:nvSpPr>
          <p:cNvPr id="5" name="Text 3"/>
          <p:cNvSpPr txBox="1"/>
          <p:nvPr/>
        </p:nvSpPr>
        <p:spPr>
          <a:xfrm>
            <a:off x="914400" y="3904488"/>
            <a:ext cx="2441448" cy="548640"/>
          </a:xfrm>
          <a:prstGeom prst="rect">
            <a:avLst/>
          </a:prstGeom>
          <a:noFill/>
          <a:ln/>
        </p:spPr>
        <p:txBody>
          <a:bodyPr wrap="square" lIns="0" tIns="0" rIns="0" bIns="0" rtlCol="0" anchor="t"/>
          <a:lstStyle/>
          <a:p>
            <a:pPr indent="0" marL="0">
              <a:buNone/>
            </a:pPr>
            <a:r>
              <a:rPr lang="en-US" sz="3000" b="1" dirty="0">
                <a:solidFill>
                  <a:schemeClr val="accent1"/>
                </a:solidFill>
              </a:rPr>
              <a:t>Text only</a:t>
            </a:r>
            <a:endParaRPr lang="en-US" sz="3000" dirty="0"/>
          </a:p>
        </p:txBody>
      </p:sp>
      <p:sp>
        <p:nvSpPr>
          <p:cNvPr id="6" name="Text 4"/>
          <p:cNvSpPr txBox="1"/>
          <p:nvPr/>
        </p:nvSpPr>
        <p:spPr>
          <a:xfrm>
            <a:off x="914400" y="4526280"/>
            <a:ext cx="2441448" cy="1371600"/>
          </a:xfrm>
          <a:prstGeom prst="rect">
            <a:avLst/>
          </a:prstGeom>
          <a:noFill/>
          <a:ln/>
        </p:spPr>
        <p:txBody>
          <a:bodyPr wrap="square" lIns="0" tIns="0" rIns="0" bIns="0" rtlCol="0" anchor="t"/>
          <a:lstStyle/>
          <a:p>
            <a:pPr indent="0" marL="0">
              <a:buNone/>
            </a:pPr>
            <a:r>
              <a:rPr lang="en-US" sz="1300" dirty="0">
                <a:solidFill>
                  <a:schemeClr val="accent6"/>
                </a:solidFill>
              </a:rPr>
              <a:t>Small Surgeon General warning on the side. The front is pure brand. Graphic warnings (FDA, 2020) are still blocked in court.</a:t>
            </a:r>
            <a:endParaRPr lang="en-US" sz="1300" dirty="0"/>
          </a:p>
        </p:txBody>
      </p:sp>
      <p:sp>
        <p:nvSpPr>
          <p:cNvPr id="7" name="Text 5"/>
          <p:cNvSpPr txBox="1"/>
          <p:nvPr/>
        </p:nvSpPr>
        <p:spPr>
          <a:xfrm>
            <a:off x="3630168" y="3566160"/>
            <a:ext cx="2441448" cy="320040"/>
          </a:xfrm>
          <a:prstGeom prst="rect">
            <a:avLst/>
          </a:prstGeom>
          <a:noFill/>
          <a:ln/>
        </p:spPr>
        <p:txBody>
          <a:bodyPr wrap="square" lIns="0" tIns="0" rIns="0" bIns="0" rtlCol="0" anchor="t"/>
          <a:lstStyle/>
          <a:p>
            <a:pPr indent="0" marL="0">
              <a:buNone/>
            </a:pPr>
            <a:r>
              <a:rPr lang="en-US" sz="1500" b="1" dirty="0">
                <a:solidFill>
                  <a:schemeClr val="accent2"/>
                </a:solidFill>
              </a:rPr>
              <a:t>B  ·  Hungary (EU)</a:t>
            </a:r>
            <a:endParaRPr lang="en-US" sz="1500" dirty="0"/>
          </a:p>
        </p:txBody>
      </p:sp>
      <p:sp>
        <p:nvSpPr>
          <p:cNvPr id="8" name="Text 6"/>
          <p:cNvSpPr txBox="1"/>
          <p:nvPr/>
        </p:nvSpPr>
        <p:spPr>
          <a:xfrm>
            <a:off x="3630168" y="3904488"/>
            <a:ext cx="2441448" cy="548640"/>
          </a:xfrm>
          <a:prstGeom prst="rect">
            <a:avLst/>
          </a:prstGeom>
          <a:noFill/>
          <a:ln/>
        </p:spPr>
        <p:txBody>
          <a:bodyPr wrap="square" lIns="0" tIns="0" rIns="0" bIns="0" rtlCol="0" anchor="t"/>
          <a:lstStyle/>
          <a:p>
            <a:pPr indent="0" marL="0">
              <a:buNone/>
            </a:pPr>
            <a:r>
              <a:rPr lang="en-US" sz="3000" b="1" dirty="0">
                <a:solidFill>
                  <a:schemeClr val="accent1"/>
                </a:solidFill>
              </a:rPr>
              <a:t>65%</a:t>
            </a:r>
            <a:endParaRPr lang="en-US" sz="3000" dirty="0"/>
          </a:p>
        </p:txBody>
      </p:sp>
      <p:sp>
        <p:nvSpPr>
          <p:cNvPr id="9" name="Text 7"/>
          <p:cNvSpPr txBox="1"/>
          <p:nvPr/>
        </p:nvSpPr>
        <p:spPr>
          <a:xfrm>
            <a:off x="3630168" y="4526280"/>
            <a:ext cx="2441448" cy="1371600"/>
          </a:xfrm>
          <a:prstGeom prst="rect">
            <a:avLst/>
          </a:prstGeom>
          <a:noFill/>
          <a:ln/>
        </p:spPr>
        <p:txBody>
          <a:bodyPr wrap="square" lIns="0" tIns="0" rIns="0" bIns="0" rtlCol="0" anchor="t"/>
          <a:lstStyle/>
          <a:p>
            <a:pPr indent="0" marL="0">
              <a:buNone/>
            </a:pPr>
            <a:r>
              <a:rPr lang="en-US" sz="1300" dirty="0">
                <a:solidFill>
                  <a:schemeClr val="accent6"/>
                </a:solidFill>
              </a:rPr>
              <a:t>Picture + text warning on front and back. Plain packaging for all brands since 2022. No menthol.</a:t>
            </a:r>
            <a:endParaRPr lang="en-US" sz="1300" dirty="0"/>
          </a:p>
        </p:txBody>
      </p:sp>
      <p:sp>
        <p:nvSpPr>
          <p:cNvPr id="10" name="Text 8"/>
          <p:cNvSpPr txBox="1"/>
          <p:nvPr/>
        </p:nvSpPr>
        <p:spPr>
          <a:xfrm>
            <a:off x="6345936" y="3566160"/>
            <a:ext cx="2441448" cy="320040"/>
          </a:xfrm>
          <a:prstGeom prst="rect">
            <a:avLst/>
          </a:prstGeom>
          <a:noFill/>
          <a:ln/>
        </p:spPr>
        <p:txBody>
          <a:bodyPr wrap="square" lIns="0" tIns="0" rIns="0" bIns="0" rtlCol="0" anchor="t"/>
          <a:lstStyle/>
          <a:p>
            <a:pPr indent="0" marL="0">
              <a:buNone/>
            </a:pPr>
            <a:r>
              <a:rPr lang="en-US" sz="1500" b="1" dirty="0">
                <a:solidFill>
                  <a:schemeClr val="accent2"/>
                </a:solidFill>
              </a:rPr>
              <a:t>C  ·  Indonesia</a:t>
            </a:r>
            <a:endParaRPr lang="en-US" sz="1500" dirty="0"/>
          </a:p>
        </p:txBody>
      </p:sp>
      <p:sp>
        <p:nvSpPr>
          <p:cNvPr id="11" name="Text 9"/>
          <p:cNvSpPr txBox="1"/>
          <p:nvPr/>
        </p:nvSpPr>
        <p:spPr>
          <a:xfrm>
            <a:off x="6345936" y="3904488"/>
            <a:ext cx="2441448" cy="548640"/>
          </a:xfrm>
          <a:prstGeom prst="rect">
            <a:avLst/>
          </a:prstGeom>
          <a:noFill/>
          <a:ln/>
        </p:spPr>
        <p:txBody>
          <a:bodyPr wrap="square" lIns="0" tIns="0" rIns="0" bIns="0" rtlCol="0" anchor="t"/>
          <a:lstStyle/>
          <a:p>
            <a:pPr indent="0" marL="0">
              <a:buNone/>
            </a:pPr>
            <a:r>
              <a:rPr lang="en-US" sz="3000" b="1" dirty="0">
                <a:solidFill>
                  <a:schemeClr val="accent1"/>
                </a:solidFill>
              </a:rPr>
              <a:t>40%</a:t>
            </a:r>
            <a:endParaRPr lang="en-US" sz="3000" dirty="0"/>
          </a:p>
        </p:txBody>
      </p:sp>
      <p:sp>
        <p:nvSpPr>
          <p:cNvPr id="12" name="Text 10"/>
          <p:cNvSpPr txBox="1"/>
          <p:nvPr/>
        </p:nvSpPr>
        <p:spPr>
          <a:xfrm>
            <a:off x="6345936" y="4526280"/>
            <a:ext cx="2441448" cy="1371600"/>
          </a:xfrm>
          <a:prstGeom prst="rect">
            <a:avLst/>
          </a:prstGeom>
          <a:noFill/>
          <a:ln/>
        </p:spPr>
        <p:txBody>
          <a:bodyPr wrap="square" lIns="0" tIns="0" rIns="0" bIns="0" rtlCol="0" anchor="t"/>
          <a:lstStyle/>
          <a:p>
            <a:pPr indent="0" marL="0">
              <a:buNone/>
            </a:pPr>
            <a:r>
              <a:rPr lang="en-US" sz="1300" dirty="0">
                <a:solidFill>
                  <a:schemeClr val="accent6"/>
                </a:solidFill>
              </a:rPr>
              <a:t>Picture warning, below the WHO-recommended 50%. Never signed the WHO tobacco treaty. Clove kretek culture.</a:t>
            </a:r>
            <a:endParaRPr lang="en-US" sz="1300" dirty="0"/>
          </a:p>
        </p:txBody>
      </p:sp>
      <p:sp>
        <p:nvSpPr>
          <p:cNvPr id="13" name="Text 11"/>
          <p:cNvSpPr txBox="1"/>
          <p:nvPr/>
        </p:nvSpPr>
        <p:spPr>
          <a:xfrm>
            <a:off x="9061704" y="3566160"/>
            <a:ext cx="2441448" cy="320040"/>
          </a:xfrm>
          <a:prstGeom prst="rect">
            <a:avLst/>
          </a:prstGeom>
          <a:noFill/>
          <a:ln/>
        </p:spPr>
        <p:txBody>
          <a:bodyPr wrap="square" lIns="0" tIns="0" rIns="0" bIns="0" rtlCol="0" anchor="t"/>
          <a:lstStyle/>
          <a:p>
            <a:pPr indent="0" marL="0">
              <a:buNone/>
            </a:pPr>
            <a:r>
              <a:rPr lang="en-US" sz="1500" b="1" dirty="0">
                <a:solidFill>
                  <a:schemeClr val="accent2"/>
                </a:solidFill>
              </a:rPr>
              <a:t>D  ·  Australia</a:t>
            </a:r>
            <a:endParaRPr lang="en-US" sz="1500" dirty="0"/>
          </a:p>
        </p:txBody>
      </p:sp>
      <p:sp>
        <p:nvSpPr>
          <p:cNvPr id="14" name="Text 12"/>
          <p:cNvSpPr txBox="1"/>
          <p:nvPr/>
        </p:nvSpPr>
        <p:spPr>
          <a:xfrm>
            <a:off x="9061704" y="3904488"/>
            <a:ext cx="2441448" cy="548640"/>
          </a:xfrm>
          <a:prstGeom prst="rect">
            <a:avLst/>
          </a:prstGeom>
          <a:noFill/>
          <a:ln/>
        </p:spPr>
        <p:txBody>
          <a:bodyPr wrap="square" lIns="0" tIns="0" rIns="0" bIns="0" rtlCol="0" anchor="t"/>
          <a:lstStyle/>
          <a:p>
            <a:pPr indent="0" marL="0">
              <a:buNone/>
            </a:pPr>
            <a:r>
              <a:rPr lang="en-US" sz="3000" b="1" dirty="0">
                <a:solidFill>
                  <a:schemeClr val="accent1"/>
                </a:solidFill>
              </a:rPr>
              <a:t>75% / 90%</a:t>
            </a:r>
            <a:endParaRPr lang="en-US" sz="3000" dirty="0"/>
          </a:p>
        </p:txBody>
      </p:sp>
      <p:sp>
        <p:nvSpPr>
          <p:cNvPr id="15" name="Text 13"/>
          <p:cNvSpPr txBox="1"/>
          <p:nvPr/>
        </p:nvSpPr>
        <p:spPr>
          <a:xfrm>
            <a:off x="9061704" y="4526280"/>
            <a:ext cx="2441448" cy="1371600"/>
          </a:xfrm>
          <a:prstGeom prst="rect">
            <a:avLst/>
          </a:prstGeom>
          <a:noFill/>
          <a:ln/>
        </p:spPr>
        <p:txBody>
          <a:bodyPr wrap="square" lIns="0" tIns="0" rIns="0" bIns="0" rtlCol="0" anchor="t"/>
          <a:lstStyle/>
          <a:p>
            <a:pPr indent="0" marL="0">
              <a:buNone/>
            </a:pPr>
            <a:r>
              <a:rPr lang="en-US" sz="1300" dirty="0">
                <a:solidFill>
                  <a:schemeClr val="accent6"/>
                </a:solidFill>
              </a:rPr>
              <a:t>World’s first plain packs (2012) in drab dark brown, nicknamed “the ugliest colour in the world”.</a:t>
            </a:r>
            <a:endParaRPr lang="en-US" sz="1300" dirty="0"/>
          </a:p>
        </p:txBody>
      </p:sp>
      <p:sp>
        <p:nvSpPr>
          <p:cNvPr id="16" name="Text 14"/>
          <p:cNvSpPr txBox="1"/>
          <p:nvPr/>
        </p:nvSpPr>
        <p:spPr>
          <a:xfrm>
            <a:off x="914400" y="6053328"/>
            <a:ext cx="10588752" cy="256032"/>
          </a:xfrm>
          <a:prstGeom prst="rect">
            <a:avLst/>
          </a:prstGeom>
          <a:noFill/>
          <a:ln/>
        </p:spPr>
        <p:txBody>
          <a:bodyPr wrap="square" lIns="0" tIns="0" rIns="0" bIns="0" rtlCol="0" anchor="t"/>
          <a:lstStyle/>
          <a:p>
            <a:pPr indent="0" marL="0">
              <a:buNone/>
            </a:pPr>
            <a:r>
              <a:rPr lang="en-US" sz="1000" i="1" dirty="0">
                <a:solidFill>
                  <a:schemeClr val="accent3"/>
                </a:solidFill>
              </a:rPr>
              <a:t>Warning size = share of the front and back of the pack. Sources: Canadian Cancer Society (2025); TPackSS (2023); Australian Dept. of Health.</a:t>
            </a:r>
            <a:endParaRPr lang="en-US" sz="1000" dirty="0"/>
          </a:p>
        </p:txBody>
      </p:sp>
      <p:sp>
        <p:nvSpPr>
          <p:cNvPr id="18" name="Text 2"/>
          <p:cNvSpPr/>
          <p:nvPr>
            <p:ph type="pic" idx="104" hasCustomPrompt="1"/>
          </p:nvPr>
        </p:nvSpPr>
        <p:spPr>
          <a:xfrm>
            <a:off x="914400" y="1325880"/>
            <a:ext cx="2441448" cy="2057400"/>
          </a:xfrm>
          <a:prstGeom prst="rect">
            <a:avLst/>
          </a:prstGeom>
          <a:noFill/>
          <a:ln/>
        </p:spPr>
        <p:txBody>
          <a:bodyPr wrap="square" rtlCol="0"/>
          <a:lstStyle/>
          <a:p>
            <a:pPr indent="0" marL="0">
              <a:buNone/>
            </a:pPr>
            <a:endParaRPr lang="en-US" sz="1200" dirty="0"/>
          </a:p>
        </p:txBody>
      </p:sp>
      <p:sp>
        <p:nvSpPr>
          <p:cNvPr id="19" name="Text 2"/>
          <p:cNvSpPr/>
          <p:nvPr>
            <p:ph type="pic" idx="105" hasCustomPrompt="1"/>
          </p:nvPr>
        </p:nvSpPr>
        <p:spPr>
          <a:xfrm>
            <a:off x="3630168" y="1325880"/>
            <a:ext cx="2441448" cy="2057400"/>
          </a:xfrm>
          <a:prstGeom prst="rect">
            <a:avLst/>
          </a:prstGeom>
          <a:noFill/>
          <a:ln/>
        </p:spPr>
        <p:txBody>
          <a:bodyPr wrap="square" rtlCol="0"/>
          <a:lstStyle/>
          <a:p>
            <a:pPr indent="0" marL="0">
              <a:buNone/>
            </a:pPr>
            <a:endParaRPr lang="en-US" sz="1200" dirty="0"/>
          </a:p>
        </p:txBody>
      </p:sp>
      <p:sp>
        <p:nvSpPr>
          <p:cNvPr id="20" name="Text 2"/>
          <p:cNvSpPr/>
          <p:nvPr>
            <p:ph type="pic" idx="106" hasCustomPrompt="1"/>
          </p:nvPr>
        </p:nvSpPr>
        <p:spPr>
          <a:xfrm>
            <a:off x="6345936" y="1325880"/>
            <a:ext cx="2441448" cy="2057400"/>
          </a:xfrm>
          <a:prstGeom prst="rect">
            <a:avLst/>
          </a:prstGeom>
          <a:noFill/>
          <a:ln/>
        </p:spPr>
        <p:txBody>
          <a:bodyPr wrap="square" rtlCol="0"/>
          <a:lstStyle/>
          <a:p>
            <a:pPr indent="0" marL="0">
              <a:buNone/>
            </a:pPr>
            <a:endParaRPr lang="en-US" sz="1200" dirty="0"/>
          </a:p>
        </p:txBody>
      </p:sp>
      <p:sp>
        <p:nvSpPr>
          <p:cNvPr id="21" name="Text 2"/>
          <p:cNvSpPr/>
          <p:nvPr>
            <p:ph type="pic" idx="107" hasCustomPrompt="1"/>
          </p:nvPr>
        </p:nvSpPr>
        <p:spPr>
          <a:xfrm>
            <a:off x="9061704" y="1325880"/>
            <a:ext cx="2441448" cy="205740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Why this topic</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tobacco is a unique international marketing case</a:t>
            </a:r>
            <a:endParaRPr lang="en-US" sz="2600" dirty="0"/>
          </a:p>
        </p:txBody>
      </p:sp>
      <p:sp>
        <p:nvSpPr>
          <p:cNvPr id="4" name="Text 2"/>
          <p:cNvSpPr txBox="1"/>
          <p:nvPr/>
        </p:nvSpPr>
        <p:spPr>
          <a:xfrm>
            <a:off x="914400" y="1325880"/>
            <a:ext cx="2377440" cy="685800"/>
          </a:xfrm>
          <a:prstGeom prst="rect">
            <a:avLst/>
          </a:prstGeom>
          <a:noFill/>
          <a:ln/>
        </p:spPr>
        <p:txBody>
          <a:bodyPr wrap="square" lIns="0" tIns="0" rIns="0" bIns="0" rtlCol="0" anchor="t"/>
          <a:lstStyle/>
          <a:p>
            <a:pPr indent="0" marL="0">
              <a:buNone/>
            </a:pPr>
            <a:r>
              <a:rPr lang="en-US" sz="3600" b="1" dirty="0">
                <a:solidFill>
                  <a:schemeClr val="accent2"/>
                </a:solidFill>
              </a:rPr>
              <a:t>1.2 bn</a:t>
            </a:r>
            <a:endParaRPr lang="en-US" sz="3600" dirty="0"/>
          </a:p>
        </p:txBody>
      </p:sp>
      <p:sp>
        <p:nvSpPr>
          <p:cNvPr id="5" name="Text 3"/>
          <p:cNvSpPr txBox="1"/>
          <p:nvPr/>
        </p:nvSpPr>
        <p:spPr>
          <a:xfrm>
            <a:off x="3429000" y="1435608"/>
            <a:ext cx="3474720" cy="640080"/>
          </a:xfrm>
          <a:prstGeom prst="rect">
            <a:avLst/>
          </a:prstGeom>
          <a:noFill/>
          <a:ln/>
        </p:spPr>
        <p:txBody>
          <a:bodyPr wrap="square" lIns="0" tIns="0" rIns="0" bIns="0" rtlCol="0" anchor="t"/>
          <a:lstStyle/>
          <a:p>
            <a:pPr indent="0" marL="0">
              <a:buNone/>
            </a:pPr>
            <a:r>
              <a:rPr lang="en-US" sz="1500" dirty="0">
                <a:solidFill>
                  <a:schemeClr val="accent6"/>
                </a:solidFill>
              </a:rPr>
              <a:t>tobacco users worldwide in 2024, about 1 adult in 5</a:t>
            </a:r>
            <a:endParaRPr lang="en-US" sz="1500" dirty="0"/>
          </a:p>
        </p:txBody>
      </p:sp>
      <p:sp>
        <p:nvSpPr>
          <p:cNvPr id="6" name="Text 4"/>
          <p:cNvSpPr txBox="1"/>
          <p:nvPr/>
        </p:nvSpPr>
        <p:spPr>
          <a:xfrm>
            <a:off x="3429000" y="2103120"/>
            <a:ext cx="3474720" cy="228600"/>
          </a:xfrm>
          <a:prstGeom prst="rect">
            <a:avLst/>
          </a:prstGeom>
          <a:noFill/>
          <a:ln/>
        </p:spPr>
        <p:txBody>
          <a:bodyPr wrap="square" lIns="0" tIns="0" rIns="0" bIns="0" rtlCol="0" anchor="t"/>
          <a:lstStyle/>
          <a:p>
            <a:pPr indent="0" marL="0">
              <a:buNone/>
            </a:pPr>
            <a:r>
              <a:rPr lang="en-US" sz="1000" i="1" dirty="0">
                <a:solidFill>
                  <a:schemeClr val="accent3"/>
                </a:solidFill>
              </a:rPr>
              <a:t>WHO, 2025</a:t>
            </a:r>
            <a:endParaRPr lang="en-US" sz="1000" dirty="0"/>
          </a:p>
        </p:txBody>
      </p:sp>
      <p:sp>
        <p:nvSpPr>
          <p:cNvPr id="7" name="Text 5"/>
          <p:cNvSpPr txBox="1"/>
          <p:nvPr/>
        </p:nvSpPr>
        <p:spPr>
          <a:xfrm>
            <a:off x="914400" y="2697480"/>
            <a:ext cx="2377440" cy="685800"/>
          </a:xfrm>
          <a:prstGeom prst="rect">
            <a:avLst/>
          </a:prstGeom>
          <a:noFill/>
          <a:ln/>
        </p:spPr>
        <p:txBody>
          <a:bodyPr wrap="square" lIns="0" tIns="0" rIns="0" bIns="0" rtlCol="0" anchor="t"/>
          <a:lstStyle/>
          <a:p>
            <a:pPr indent="0" marL="0">
              <a:buNone/>
            </a:pPr>
            <a:r>
              <a:rPr lang="en-US" sz="3600" b="1" dirty="0">
                <a:solidFill>
                  <a:schemeClr val="accent2"/>
                </a:solidFill>
              </a:rPr>
              <a:t>80%</a:t>
            </a:r>
            <a:endParaRPr lang="en-US" sz="3600" dirty="0"/>
          </a:p>
        </p:txBody>
      </p:sp>
      <p:sp>
        <p:nvSpPr>
          <p:cNvPr id="8" name="Text 6"/>
          <p:cNvSpPr txBox="1"/>
          <p:nvPr/>
        </p:nvSpPr>
        <p:spPr>
          <a:xfrm>
            <a:off x="3429000" y="2807208"/>
            <a:ext cx="3474720" cy="640080"/>
          </a:xfrm>
          <a:prstGeom prst="rect">
            <a:avLst/>
          </a:prstGeom>
          <a:noFill/>
          <a:ln/>
        </p:spPr>
        <p:txBody>
          <a:bodyPr wrap="square" lIns="0" tIns="0" rIns="0" bIns="0" rtlCol="0" anchor="t"/>
          <a:lstStyle/>
          <a:p>
            <a:pPr indent="0" marL="0">
              <a:buNone/>
            </a:pPr>
            <a:r>
              <a:rPr lang="en-US" sz="1500" dirty="0">
                <a:solidFill>
                  <a:schemeClr val="accent6"/>
                </a:solidFill>
              </a:rPr>
              <a:t>of them live in low- and middle-income countries</a:t>
            </a:r>
            <a:endParaRPr lang="en-US" sz="1500" dirty="0"/>
          </a:p>
        </p:txBody>
      </p:sp>
      <p:sp>
        <p:nvSpPr>
          <p:cNvPr id="9" name="Text 7"/>
          <p:cNvSpPr txBox="1"/>
          <p:nvPr/>
        </p:nvSpPr>
        <p:spPr>
          <a:xfrm>
            <a:off x="3429000" y="3474720"/>
            <a:ext cx="3474720" cy="228600"/>
          </a:xfrm>
          <a:prstGeom prst="rect">
            <a:avLst/>
          </a:prstGeom>
          <a:noFill/>
          <a:ln/>
        </p:spPr>
        <p:txBody>
          <a:bodyPr wrap="square" lIns="0" tIns="0" rIns="0" bIns="0" rtlCol="0" anchor="t"/>
          <a:lstStyle/>
          <a:p>
            <a:pPr indent="0" marL="0">
              <a:buNone/>
            </a:pPr>
            <a:r>
              <a:rPr lang="en-US" sz="1000" i="1" dirty="0">
                <a:solidFill>
                  <a:schemeClr val="accent3"/>
                </a:solidFill>
              </a:rPr>
              <a:t>WHO</a:t>
            </a:r>
            <a:endParaRPr lang="en-US" sz="1000" dirty="0"/>
          </a:p>
        </p:txBody>
      </p:sp>
      <p:sp>
        <p:nvSpPr>
          <p:cNvPr id="10" name="Text 8"/>
          <p:cNvSpPr txBox="1"/>
          <p:nvPr/>
        </p:nvSpPr>
        <p:spPr>
          <a:xfrm>
            <a:off x="914400" y="4069080"/>
            <a:ext cx="2377440" cy="685800"/>
          </a:xfrm>
          <a:prstGeom prst="rect">
            <a:avLst/>
          </a:prstGeom>
          <a:noFill/>
          <a:ln/>
        </p:spPr>
        <p:txBody>
          <a:bodyPr wrap="square" lIns="0" tIns="0" rIns="0" bIns="0" rtlCol="0" anchor="t"/>
          <a:lstStyle/>
          <a:p>
            <a:pPr indent="0" marL="0">
              <a:buNone/>
            </a:pPr>
            <a:r>
              <a:rPr lang="en-US" sz="3600" b="1" dirty="0">
                <a:solidFill>
                  <a:schemeClr val="accent2"/>
                </a:solidFill>
              </a:rPr>
              <a:t>100 m+</a:t>
            </a:r>
            <a:endParaRPr lang="en-US" sz="3600" dirty="0"/>
          </a:p>
        </p:txBody>
      </p:sp>
      <p:sp>
        <p:nvSpPr>
          <p:cNvPr id="11" name="Text 9"/>
          <p:cNvSpPr txBox="1"/>
          <p:nvPr/>
        </p:nvSpPr>
        <p:spPr>
          <a:xfrm>
            <a:off x="3429000" y="4178808"/>
            <a:ext cx="3474720" cy="640080"/>
          </a:xfrm>
          <a:prstGeom prst="rect">
            <a:avLst/>
          </a:prstGeom>
          <a:noFill/>
          <a:ln/>
        </p:spPr>
        <p:txBody>
          <a:bodyPr wrap="square" lIns="0" tIns="0" rIns="0" bIns="0" rtlCol="0" anchor="t"/>
          <a:lstStyle/>
          <a:p>
            <a:pPr indent="0" marL="0">
              <a:buNone/>
            </a:pPr>
            <a:r>
              <a:rPr lang="en-US" sz="1500" dirty="0">
                <a:solidFill>
                  <a:schemeClr val="accent6"/>
                </a:solidFill>
              </a:rPr>
              <a:t>people vape, including 15 million children aged 13–15</a:t>
            </a:r>
            <a:endParaRPr lang="en-US" sz="1500" dirty="0"/>
          </a:p>
        </p:txBody>
      </p:sp>
      <p:sp>
        <p:nvSpPr>
          <p:cNvPr id="12" name="Text 10"/>
          <p:cNvSpPr txBox="1"/>
          <p:nvPr/>
        </p:nvSpPr>
        <p:spPr>
          <a:xfrm>
            <a:off x="3429000" y="4846320"/>
            <a:ext cx="3474720" cy="228600"/>
          </a:xfrm>
          <a:prstGeom prst="rect">
            <a:avLst/>
          </a:prstGeom>
          <a:noFill/>
          <a:ln/>
        </p:spPr>
        <p:txBody>
          <a:bodyPr wrap="square" lIns="0" tIns="0" rIns="0" bIns="0" rtlCol="0" anchor="t"/>
          <a:lstStyle/>
          <a:p>
            <a:pPr indent="0" marL="0">
              <a:buNone/>
            </a:pPr>
            <a:r>
              <a:rPr lang="en-US" sz="1000" i="1" dirty="0">
                <a:solidFill>
                  <a:schemeClr val="accent3"/>
                </a:solidFill>
              </a:rPr>
              <a:t>WHO, 2025</a:t>
            </a:r>
            <a:endParaRPr lang="en-US" sz="1000" dirty="0"/>
          </a:p>
        </p:txBody>
      </p:sp>
      <p:sp>
        <p:nvSpPr>
          <p:cNvPr id="13" name="Text 11"/>
          <p:cNvSpPr txBox="1"/>
          <p:nvPr/>
        </p:nvSpPr>
        <p:spPr>
          <a:xfrm>
            <a:off x="7086600" y="1325880"/>
            <a:ext cx="4416552" cy="320040"/>
          </a:xfrm>
          <a:prstGeom prst="rect">
            <a:avLst/>
          </a:prstGeom>
          <a:noFill/>
          <a:ln/>
        </p:spPr>
        <p:txBody>
          <a:bodyPr wrap="square" lIns="0" tIns="0" rIns="0" bIns="0" rtlCol="0" anchor="t"/>
          <a:lstStyle/>
          <a:p>
            <a:pPr algn="ctr" indent="0" marL="0">
              <a:buNone/>
            </a:pPr>
            <a:r>
              <a:rPr lang="en-US" sz="1400" b="1" dirty="0">
                <a:solidFill>
                  <a:schemeClr val="accent1"/>
                </a:solidFill>
              </a:rPr>
              <a:t>Who makes the world’s cigarettes (volume, 2025)</a:t>
            </a:r>
            <a:endParaRPr lang="en-US" sz="1400" dirty="0"/>
          </a:p>
        </p:txBody>
      </p:sp>
      <p:graphicFrame>
        <p:nvGraphicFramePr>
          <p:cNvPr id="14" name="Chart 0" descr=""/>
          <p:cNvGraphicFramePr/>
          <p:nvPr/>
        </p:nvGraphicFramePr>
        <p:xfrm>
          <a:off x="7635240" y="1645920"/>
          <a:ext cx="3319272" cy="23774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86600" y="2514600"/>
            <a:ext cx="4416552" cy="640080"/>
          </a:xfrm>
          <a:prstGeom prst="rect">
            <a:avLst/>
          </a:prstGeom>
          <a:noFill/>
          <a:ln/>
        </p:spPr>
        <p:txBody>
          <a:bodyPr wrap="square" lIns="0" tIns="0" rIns="0" bIns="0" rtlCol="0" anchor="ctr"/>
          <a:lstStyle/>
          <a:p>
            <a:pPr algn="ctr" indent="0" marL="0">
              <a:buNone/>
            </a:pPr>
            <a:r>
              <a:rPr lang="en-US" sz="2800" b="1" dirty="0">
                <a:solidFill>
                  <a:schemeClr val="accent2"/>
                </a:solidFill>
              </a:rPr>
              <a:t>47%</a:t>
            </a:r>
            <a:endParaRPr lang="en-US" sz="2800" dirty="0"/>
          </a:p>
        </p:txBody>
      </p:sp>
      <p:sp>
        <p:nvSpPr>
          <p:cNvPr id="16" name="Shape 13"/>
          <p:cNvSpPr/>
          <p:nvPr/>
        </p:nvSpPr>
        <p:spPr>
          <a:xfrm>
            <a:off x="7178040" y="4233672"/>
            <a:ext cx="182880" cy="182880"/>
          </a:xfrm>
          <a:prstGeom prst="rect">
            <a:avLst/>
          </a:prstGeom>
          <a:solidFill>
            <a:schemeClr val="accent2"/>
          </a:solidFill>
          <a:ln w="12700">
            <a:solidFill>
              <a:schemeClr val="accent2"/>
            </a:solidFill>
            <a:prstDash val="solid"/>
          </a:ln>
        </p:spPr>
      </p:sp>
      <p:sp>
        <p:nvSpPr>
          <p:cNvPr id="17" name="Text 14"/>
          <p:cNvSpPr txBox="1"/>
          <p:nvPr/>
        </p:nvSpPr>
        <p:spPr>
          <a:xfrm>
            <a:off x="7498080" y="4160520"/>
            <a:ext cx="4005072" cy="329184"/>
          </a:xfrm>
          <a:prstGeom prst="rect">
            <a:avLst/>
          </a:prstGeom>
          <a:noFill/>
          <a:ln/>
        </p:spPr>
        <p:txBody>
          <a:bodyPr wrap="square" lIns="0" tIns="0" rIns="0" bIns="0" rtlCol="0" anchor="t"/>
          <a:lstStyle/>
          <a:p>
            <a:pPr indent="0" marL="0">
              <a:buNone/>
            </a:pPr>
            <a:r>
              <a:rPr lang="en-US" sz="1300" b="1" dirty="0">
                <a:solidFill>
                  <a:schemeClr val="accent1"/>
                </a:solidFill>
              </a:rPr>
              <a:t>China National Tobacco  </a:t>
            </a:r>
            <a:pPr indent="0" marL="0">
              <a:buNone/>
            </a:pPr>
            <a:r>
              <a:rPr lang="en-US" sz="1300" dirty="0">
                <a:solidFill>
                  <a:schemeClr val="accent6"/>
                </a:solidFill>
              </a:rPr>
              <a:t>47%: sold almost only inside China</a:t>
            </a:r>
            <a:endParaRPr lang="en-US" sz="1300" dirty="0"/>
          </a:p>
        </p:txBody>
      </p:sp>
      <p:sp>
        <p:nvSpPr>
          <p:cNvPr id="18" name="Shape 15"/>
          <p:cNvSpPr/>
          <p:nvPr/>
        </p:nvSpPr>
        <p:spPr>
          <a:xfrm>
            <a:off x="7178040" y="4617720"/>
            <a:ext cx="182880" cy="182880"/>
          </a:xfrm>
          <a:prstGeom prst="rect">
            <a:avLst/>
          </a:prstGeom>
          <a:solidFill>
            <a:schemeClr val="accent1"/>
          </a:solidFill>
          <a:ln w="12700">
            <a:solidFill>
              <a:schemeClr val="accent1"/>
            </a:solidFill>
            <a:prstDash val="solid"/>
          </a:ln>
        </p:spPr>
      </p:sp>
      <p:sp>
        <p:nvSpPr>
          <p:cNvPr id="19" name="Text 16"/>
          <p:cNvSpPr txBox="1"/>
          <p:nvPr/>
        </p:nvSpPr>
        <p:spPr>
          <a:xfrm>
            <a:off x="7498080" y="4544568"/>
            <a:ext cx="4005072" cy="329184"/>
          </a:xfrm>
          <a:prstGeom prst="rect">
            <a:avLst/>
          </a:prstGeom>
          <a:noFill/>
          <a:ln/>
        </p:spPr>
        <p:txBody>
          <a:bodyPr wrap="square" lIns="0" tIns="0" rIns="0" bIns="0" rtlCol="0" anchor="t"/>
          <a:lstStyle/>
          <a:p>
            <a:pPr indent="0" marL="0">
              <a:buNone/>
            </a:pPr>
            <a:r>
              <a:rPr lang="en-US" sz="1300" b="1" dirty="0">
                <a:solidFill>
                  <a:schemeClr val="accent1"/>
                </a:solidFill>
              </a:rPr>
              <a:t>Big Four (PMI, BAT, JTI, Imperial)  </a:t>
            </a:r>
            <a:pPr indent="0" marL="0">
              <a:buNone/>
            </a:pPr>
            <a:r>
              <a:rPr lang="en-US" sz="1300" dirty="0">
                <a:solidFill>
                  <a:schemeClr val="accent6"/>
                </a:solidFill>
              </a:rPr>
              <a:t>34%: the real international marketers</a:t>
            </a:r>
            <a:endParaRPr lang="en-US" sz="1300" dirty="0"/>
          </a:p>
        </p:txBody>
      </p:sp>
      <p:sp>
        <p:nvSpPr>
          <p:cNvPr id="20" name="Shape 17"/>
          <p:cNvSpPr/>
          <p:nvPr/>
        </p:nvSpPr>
        <p:spPr>
          <a:xfrm>
            <a:off x="7178040" y="5001768"/>
            <a:ext cx="182880" cy="182880"/>
          </a:xfrm>
          <a:prstGeom prst="rect">
            <a:avLst/>
          </a:prstGeom>
          <a:solidFill>
            <a:schemeClr val="accent4"/>
          </a:solidFill>
          <a:ln w="12700">
            <a:solidFill>
              <a:schemeClr val="accent4"/>
            </a:solidFill>
            <a:prstDash val="solid"/>
          </a:ln>
        </p:spPr>
      </p:sp>
      <p:sp>
        <p:nvSpPr>
          <p:cNvPr id="21" name="Text 18"/>
          <p:cNvSpPr txBox="1"/>
          <p:nvPr/>
        </p:nvSpPr>
        <p:spPr>
          <a:xfrm>
            <a:off x="7498080" y="4928616"/>
            <a:ext cx="4005072" cy="329184"/>
          </a:xfrm>
          <a:prstGeom prst="rect">
            <a:avLst/>
          </a:prstGeom>
          <a:noFill/>
          <a:ln/>
        </p:spPr>
        <p:txBody>
          <a:bodyPr wrap="square" lIns="0" tIns="0" rIns="0" bIns="0" rtlCol="0" anchor="t"/>
          <a:lstStyle/>
          <a:p>
            <a:pPr indent="0" marL="0">
              <a:buNone/>
            </a:pPr>
            <a:r>
              <a:rPr lang="en-US" sz="1300" b="1" dirty="0">
                <a:solidFill>
                  <a:schemeClr val="accent1"/>
                </a:solidFill>
              </a:rPr>
              <a:t>Others  </a:t>
            </a:r>
            <a:pPr indent="0" marL="0">
              <a:buNone/>
            </a:pPr>
            <a:r>
              <a:rPr lang="en-US" sz="1300" dirty="0">
                <a:solidFill>
                  <a:schemeClr val="accent6"/>
                </a:solidFill>
              </a:rPr>
              <a:t>19%</a:t>
            </a:r>
            <a:endParaRPr lang="en-US" sz="1300" dirty="0"/>
          </a:p>
        </p:txBody>
      </p:sp>
      <p:sp>
        <p:nvSpPr>
          <p:cNvPr id="22" name="Text 19"/>
          <p:cNvSpPr txBox="1"/>
          <p:nvPr/>
        </p:nvSpPr>
        <p:spPr>
          <a:xfrm>
            <a:off x="7178040" y="5349240"/>
            <a:ext cx="4325112" cy="256032"/>
          </a:xfrm>
          <a:prstGeom prst="rect">
            <a:avLst/>
          </a:prstGeom>
          <a:noFill/>
          <a:ln/>
        </p:spPr>
        <p:txBody>
          <a:bodyPr wrap="square" lIns="0" tIns="0" rIns="0" bIns="0" rtlCol="0" anchor="t"/>
          <a:lstStyle/>
          <a:p>
            <a:pPr indent="0" marL="0">
              <a:buNone/>
            </a:pPr>
            <a:r>
              <a:rPr lang="en-US" sz="1000" i="1" dirty="0">
                <a:solidFill>
                  <a:schemeClr val="accent3"/>
                </a:solidFill>
              </a:rPr>
              <a:t>Chart: TobaccoTactics citing Euromonitor (2025).</a:t>
            </a:r>
            <a:endParaRPr lang="en-US" sz="1000" dirty="0"/>
          </a:p>
        </p:txBody>
      </p:sp>
      <p:sp>
        <p:nvSpPr>
          <p:cNvPr id="23" name="Text 20"/>
          <p:cNvSpPr txBox="1"/>
          <p:nvPr/>
        </p:nvSpPr>
        <p:spPr>
          <a:xfrm>
            <a:off x="914400" y="5577840"/>
            <a:ext cx="10588752" cy="685800"/>
          </a:xfrm>
          <a:prstGeom prst="rect">
            <a:avLst/>
          </a:prstGeom>
          <a:solidFill>
            <a:schemeClr val="bg2"/>
          </a:solidFill>
          <a:ln/>
        </p:spPr>
        <p:txBody>
          <a:bodyPr wrap="square" lIns="152400" tIns="152400" rIns="152400" bIns="152400" rtlCol="0" anchor="ctr"/>
          <a:lstStyle/>
          <a:p>
            <a:pPr indent="0" marL="0">
              <a:buNone/>
            </a:pPr>
            <a:r>
              <a:rPr lang="en-US" sz="1400" b="1" dirty="0">
                <a:solidFill>
                  <a:schemeClr val="accent1"/>
                </a:solidFill>
              </a:rPr>
              <a:t>The paradox: </a:t>
            </a:r>
            <a:pPr indent="0" marL="0">
              <a:buNone/>
            </a:pPr>
            <a:r>
              <a:rPr lang="en-US" sz="1400" dirty="0">
                <a:solidFill>
                  <a:schemeClr val="accent6"/>
                </a:solidFill>
              </a:rPr>
              <a:t>tobacco is legal, but most countries have banned the “P” for Promotion. Western sales shrink, so growth moves to Asia, Africa and the Middle East.</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Political &amp; legal environment</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rules of the game</a:t>
            </a:r>
            <a:endParaRPr lang="en-US" sz="2600" dirty="0"/>
          </a:p>
        </p:txBody>
      </p:sp>
      <p:sp>
        <p:nvSpPr>
          <p:cNvPr id="4" name="Shape 2"/>
          <p:cNvSpPr/>
          <p:nvPr/>
        </p:nvSpPr>
        <p:spPr>
          <a:xfrm>
            <a:off x="1737360" y="2377440"/>
            <a:ext cx="8961120" cy="0"/>
          </a:xfrm>
          <a:prstGeom prst="line">
            <a:avLst/>
          </a:prstGeom>
          <a:noFill/>
          <a:ln w="38100">
            <a:solidFill>
              <a:schemeClr val="accent4"/>
            </a:solidFill>
            <a:prstDash val="solid"/>
          </a:ln>
        </p:spPr>
      </p:sp>
      <p:sp>
        <p:nvSpPr>
          <p:cNvPr id="5" name="Shape 3"/>
          <p:cNvSpPr/>
          <p:nvPr/>
        </p:nvSpPr>
        <p:spPr>
          <a:xfrm>
            <a:off x="1581912" y="2221992"/>
            <a:ext cx="310896" cy="310896"/>
          </a:xfrm>
          <a:prstGeom prst="ellipse">
            <a:avLst/>
          </a:prstGeom>
          <a:solidFill>
            <a:schemeClr val="accent1"/>
          </a:solidFill>
          <a:ln w="25400">
            <a:solidFill>
              <a:schemeClr val="bg1"/>
            </a:solidFill>
            <a:prstDash val="solid"/>
          </a:ln>
        </p:spPr>
      </p:sp>
      <p:sp>
        <p:nvSpPr>
          <p:cNvPr id="6" name="Text 4"/>
          <p:cNvSpPr txBox="1"/>
          <p:nvPr/>
        </p:nvSpPr>
        <p:spPr>
          <a:xfrm>
            <a:off x="868680" y="1554480"/>
            <a:ext cx="1737360" cy="411480"/>
          </a:xfrm>
          <a:prstGeom prst="rect">
            <a:avLst/>
          </a:prstGeom>
          <a:noFill/>
          <a:ln/>
        </p:spPr>
        <p:txBody>
          <a:bodyPr wrap="square" lIns="0" tIns="0" rIns="0" bIns="0" rtlCol="0" anchor="t"/>
          <a:lstStyle/>
          <a:p>
            <a:pPr algn="ctr" indent="0" marL="0">
              <a:buNone/>
            </a:pPr>
            <a:r>
              <a:rPr lang="en-US" sz="1900" b="1" dirty="0">
                <a:solidFill>
                  <a:schemeClr val="accent1"/>
                </a:solidFill>
              </a:rPr>
              <a:t>2003</a:t>
            </a:r>
            <a:endParaRPr lang="en-US" sz="1900" dirty="0"/>
          </a:p>
        </p:txBody>
      </p:sp>
      <p:sp>
        <p:nvSpPr>
          <p:cNvPr id="7" name="Text 5"/>
          <p:cNvSpPr txBox="1"/>
          <p:nvPr/>
        </p:nvSpPr>
        <p:spPr>
          <a:xfrm>
            <a:off x="868680" y="2724912"/>
            <a:ext cx="1737360" cy="685800"/>
          </a:xfrm>
          <a:prstGeom prst="rect">
            <a:avLst/>
          </a:prstGeom>
          <a:noFill/>
          <a:ln/>
        </p:spPr>
        <p:txBody>
          <a:bodyPr wrap="square" lIns="0" tIns="0" rIns="0" bIns="0" rtlCol="0" anchor="t"/>
          <a:lstStyle/>
          <a:p>
            <a:pPr algn="ctr" indent="0" marL="0">
              <a:buNone/>
            </a:pPr>
            <a:r>
              <a:rPr lang="en-US" sz="1400" b="1" dirty="0">
                <a:solidFill>
                  <a:schemeClr val="accent1"/>
                </a:solidFill>
              </a:rPr>
              <a:t>WHO tobacco treaty (FCTC)</a:t>
            </a:r>
            <a:endParaRPr lang="en-US" sz="1400" dirty="0"/>
          </a:p>
        </p:txBody>
      </p:sp>
      <p:sp>
        <p:nvSpPr>
          <p:cNvPr id="8" name="Text 6"/>
          <p:cNvSpPr txBox="1"/>
          <p:nvPr/>
        </p:nvSpPr>
        <p:spPr>
          <a:xfrm>
            <a:off x="868680" y="3401568"/>
            <a:ext cx="1737360" cy="731520"/>
          </a:xfrm>
          <a:prstGeom prst="rect">
            <a:avLst/>
          </a:prstGeom>
          <a:noFill/>
          <a:ln/>
        </p:spPr>
        <p:txBody>
          <a:bodyPr wrap="square" lIns="0" tIns="0" rIns="0" bIns="0" rtlCol="0" anchor="t"/>
          <a:lstStyle/>
          <a:p>
            <a:pPr algn="ctr" indent="0" marL="0">
              <a:buNone/>
            </a:pPr>
            <a:r>
              <a:rPr lang="en-US" sz="1200" dirty="0">
                <a:solidFill>
                  <a:schemeClr val="accent6"/>
                </a:solidFill>
              </a:rPr>
              <a:t>Today 183 parties; ad bans are a core duty</a:t>
            </a:r>
            <a:endParaRPr lang="en-US" sz="1200" dirty="0"/>
          </a:p>
        </p:txBody>
      </p:sp>
      <p:sp>
        <p:nvSpPr>
          <p:cNvPr id="9" name="Shape 7"/>
          <p:cNvSpPr/>
          <p:nvPr/>
        </p:nvSpPr>
        <p:spPr>
          <a:xfrm>
            <a:off x="3374136" y="2221992"/>
            <a:ext cx="310896" cy="310896"/>
          </a:xfrm>
          <a:prstGeom prst="ellipse">
            <a:avLst/>
          </a:prstGeom>
          <a:solidFill>
            <a:schemeClr val="accent1"/>
          </a:solidFill>
          <a:ln w="25400">
            <a:solidFill>
              <a:schemeClr val="bg1"/>
            </a:solidFill>
            <a:prstDash val="solid"/>
          </a:ln>
        </p:spPr>
      </p:sp>
      <p:sp>
        <p:nvSpPr>
          <p:cNvPr id="10" name="Text 8"/>
          <p:cNvSpPr txBox="1"/>
          <p:nvPr/>
        </p:nvSpPr>
        <p:spPr>
          <a:xfrm>
            <a:off x="2660904" y="1554480"/>
            <a:ext cx="1737360" cy="411480"/>
          </a:xfrm>
          <a:prstGeom prst="rect">
            <a:avLst/>
          </a:prstGeom>
          <a:noFill/>
          <a:ln/>
        </p:spPr>
        <p:txBody>
          <a:bodyPr wrap="square" lIns="0" tIns="0" rIns="0" bIns="0" rtlCol="0" anchor="t"/>
          <a:lstStyle/>
          <a:p>
            <a:pPr algn="ctr" indent="0" marL="0">
              <a:buNone/>
            </a:pPr>
            <a:r>
              <a:rPr lang="en-US" sz="1900" b="1" dirty="0">
                <a:solidFill>
                  <a:schemeClr val="accent1"/>
                </a:solidFill>
              </a:rPr>
              <a:t>2012</a:t>
            </a:r>
            <a:endParaRPr lang="en-US" sz="1900" dirty="0"/>
          </a:p>
        </p:txBody>
      </p:sp>
      <p:sp>
        <p:nvSpPr>
          <p:cNvPr id="11" name="Text 9"/>
          <p:cNvSpPr txBox="1"/>
          <p:nvPr/>
        </p:nvSpPr>
        <p:spPr>
          <a:xfrm>
            <a:off x="2660904" y="2724912"/>
            <a:ext cx="1737360" cy="685800"/>
          </a:xfrm>
          <a:prstGeom prst="rect">
            <a:avLst/>
          </a:prstGeom>
          <a:noFill/>
          <a:ln/>
        </p:spPr>
        <p:txBody>
          <a:bodyPr wrap="square" lIns="0" tIns="0" rIns="0" bIns="0" rtlCol="0" anchor="t"/>
          <a:lstStyle/>
          <a:p>
            <a:pPr algn="ctr" indent="0" marL="0">
              <a:buNone/>
            </a:pPr>
            <a:r>
              <a:rPr lang="en-US" sz="1400" b="1" dirty="0">
                <a:solidFill>
                  <a:schemeClr val="accent1"/>
                </a:solidFill>
              </a:rPr>
              <a:t>Australia: plain packs</a:t>
            </a:r>
            <a:endParaRPr lang="en-US" sz="1400" dirty="0"/>
          </a:p>
        </p:txBody>
      </p:sp>
      <p:sp>
        <p:nvSpPr>
          <p:cNvPr id="12" name="Text 10"/>
          <p:cNvSpPr txBox="1"/>
          <p:nvPr/>
        </p:nvSpPr>
        <p:spPr>
          <a:xfrm>
            <a:off x="2660904" y="3401568"/>
            <a:ext cx="1737360" cy="731520"/>
          </a:xfrm>
          <a:prstGeom prst="rect">
            <a:avLst/>
          </a:prstGeom>
          <a:noFill/>
          <a:ln/>
        </p:spPr>
        <p:txBody>
          <a:bodyPr wrap="square" lIns="0" tIns="0" rIns="0" bIns="0" rtlCol="0" anchor="t"/>
          <a:lstStyle/>
          <a:p>
            <a:pPr algn="ctr" indent="0" marL="0">
              <a:buNone/>
            </a:pPr>
            <a:r>
              <a:rPr lang="en-US" sz="1200" dirty="0">
                <a:solidFill>
                  <a:schemeClr val="accent6"/>
                </a:solidFill>
              </a:rPr>
              <a:t>The world’s first</a:t>
            </a:r>
            <a:endParaRPr lang="en-US" sz="1200" dirty="0"/>
          </a:p>
        </p:txBody>
      </p:sp>
      <p:sp>
        <p:nvSpPr>
          <p:cNvPr id="13" name="Shape 11"/>
          <p:cNvSpPr/>
          <p:nvPr/>
        </p:nvSpPr>
        <p:spPr>
          <a:xfrm>
            <a:off x="5166360" y="2221992"/>
            <a:ext cx="310896" cy="310896"/>
          </a:xfrm>
          <a:prstGeom prst="ellipse">
            <a:avLst/>
          </a:prstGeom>
          <a:solidFill>
            <a:schemeClr val="accent1"/>
          </a:solidFill>
          <a:ln w="25400">
            <a:solidFill>
              <a:schemeClr val="bg1"/>
            </a:solidFill>
            <a:prstDash val="solid"/>
          </a:ln>
        </p:spPr>
      </p:sp>
      <p:sp>
        <p:nvSpPr>
          <p:cNvPr id="14" name="Text 12"/>
          <p:cNvSpPr txBox="1"/>
          <p:nvPr/>
        </p:nvSpPr>
        <p:spPr>
          <a:xfrm>
            <a:off x="4453128" y="1554480"/>
            <a:ext cx="1737360" cy="411480"/>
          </a:xfrm>
          <a:prstGeom prst="rect">
            <a:avLst/>
          </a:prstGeom>
          <a:noFill/>
          <a:ln/>
        </p:spPr>
        <p:txBody>
          <a:bodyPr wrap="square" lIns="0" tIns="0" rIns="0" bIns="0" rtlCol="0" anchor="t"/>
          <a:lstStyle/>
          <a:p>
            <a:pPr algn="ctr" indent="0" marL="0">
              <a:buNone/>
            </a:pPr>
            <a:r>
              <a:rPr lang="en-US" sz="1900" b="1" dirty="0">
                <a:solidFill>
                  <a:schemeClr val="accent1"/>
                </a:solidFill>
              </a:rPr>
              <a:t>2016</a:t>
            </a:r>
            <a:endParaRPr lang="en-US" sz="1900" dirty="0"/>
          </a:p>
        </p:txBody>
      </p:sp>
      <p:sp>
        <p:nvSpPr>
          <p:cNvPr id="15" name="Text 13"/>
          <p:cNvSpPr txBox="1"/>
          <p:nvPr/>
        </p:nvSpPr>
        <p:spPr>
          <a:xfrm>
            <a:off x="4453128" y="2724912"/>
            <a:ext cx="1737360" cy="685800"/>
          </a:xfrm>
          <a:prstGeom prst="rect">
            <a:avLst/>
          </a:prstGeom>
          <a:noFill/>
          <a:ln/>
        </p:spPr>
        <p:txBody>
          <a:bodyPr wrap="square" lIns="0" tIns="0" rIns="0" bIns="0" rtlCol="0" anchor="t"/>
          <a:lstStyle/>
          <a:p>
            <a:pPr algn="ctr" indent="0" marL="0">
              <a:buNone/>
            </a:pPr>
            <a:r>
              <a:rPr lang="en-US" sz="1400" b="1" dirty="0">
                <a:solidFill>
                  <a:schemeClr val="accent1"/>
                </a:solidFill>
              </a:rPr>
              <a:t>Uruguay beats Philip Morris</a:t>
            </a:r>
            <a:endParaRPr lang="en-US" sz="1400" dirty="0"/>
          </a:p>
        </p:txBody>
      </p:sp>
      <p:sp>
        <p:nvSpPr>
          <p:cNvPr id="16" name="Text 14"/>
          <p:cNvSpPr txBox="1"/>
          <p:nvPr/>
        </p:nvSpPr>
        <p:spPr>
          <a:xfrm>
            <a:off x="4453128" y="3401568"/>
            <a:ext cx="1737360" cy="731520"/>
          </a:xfrm>
          <a:prstGeom prst="rect">
            <a:avLst/>
          </a:prstGeom>
          <a:noFill/>
          <a:ln/>
        </p:spPr>
        <p:txBody>
          <a:bodyPr wrap="square" lIns="0" tIns="0" rIns="0" bIns="0" rtlCol="0" anchor="t"/>
          <a:lstStyle/>
          <a:p>
            <a:pPr algn="ctr" indent="0" marL="0">
              <a:buNone/>
            </a:pPr>
            <a:r>
              <a:rPr lang="en-US" sz="1200" dirty="0">
                <a:solidFill>
                  <a:schemeClr val="accent6"/>
                </a:solidFill>
              </a:rPr>
              <a:t>Investment court backs big warnings</a:t>
            </a:r>
            <a:endParaRPr lang="en-US" sz="1200" dirty="0"/>
          </a:p>
        </p:txBody>
      </p:sp>
      <p:sp>
        <p:nvSpPr>
          <p:cNvPr id="17" name="Shape 15"/>
          <p:cNvSpPr/>
          <p:nvPr/>
        </p:nvSpPr>
        <p:spPr>
          <a:xfrm>
            <a:off x="6958584" y="2221992"/>
            <a:ext cx="310896" cy="310896"/>
          </a:xfrm>
          <a:prstGeom prst="ellipse">
            <a:avLst/>
          </a:prstGeom>
          <a:solidFill>
            <a:schemeClr val="accent1"/>
          </a:solidFill>
          <a:ln w="25400">
            <a:solidFill>
              <a:schemeClr val="bg1"/>
            </a:solidFill>
            <a:prstDash val="solid"/>
          </a:ln>
        </p:spPr>
      </p:sp>
      <p:sp>
        <p:nvSpPr>
          <p:cNvPr id="18" name="Text 16"/>
          <p:cNvSpPr txBox="1"/>
          <p:nvPr/>
        </p:nvSpPr>
        <p:spPr>
          <a:xfrm>
            <a:off x="6245352" y="1554480"/>
            <a:ext cx="1737360" cy="411480"/>
          </a:xfrm>
          <a:prstGeom prst="rect">
            <a:avLst/>
          </a:prstGeom>
          <a:noFill/>
          <a:ln/>
        </p:spPr>
        <p:txBody>
          <a:bodyPr wrap="square" lIns="0" tIns="0" rIns="0" bIns="0" rtlCol="0" anchor="t"/>
          <a:lstStyle/>
          <a:p>
            <a:pPr algn="ctr" indent="0" marL="0">
              <a:buNone/>
            </a:pPr>
            <a:r>
              <a:rPr lang="en-US" sz="1900" b="1" dirty="0">
                <a:solidFill>
                  <a:schemeClr val="accent1"/>
                </a:solidFill>
              </a:rPr>
              <a:t>2020</a:t>
            </a:r>
            <a:endParaRPr lang="en-US" sz="1900" dirty="0"/>
          </a:p>
        </p:txBody>
      </p:sp>
      <p:sp>
        <p:nvSpPr>
          <p:cNvPr id="19" name="Text 17"/>
          <p:cNvSpPr txBox="1"/>
          <p:nvPr/>
        </p:nvSpPr>
        <p:spPr>
          <a:xfrm>
            <a:off x="6245352" y="2724912"/>
            <a:ext cx="1737360" cy="685800"/>
          </a:xfrm>
          <a:prstGeom prst="rect">
            <a:avLst/>
          </a:prstGeom>
          <a:noFill/>
          <a:ln/>
        </p:spPr>
        <p:txBody>
          <a:bodyPr wrap="square" lIns="0" tIns="0" rIns="0" bIns="0" rtlCol="0" anchor="t"/>
          <a:lstStyle/>
          <a:p>
            <a:pPr algn="ctr" indent="0" marL="0">
              <a:buNone/>
            </a:pPr>
            <a:r>
              <a:rPr lang="en-US" sz="1400" b="1" dirty="0">
                <a:solidFill>
                  <a:schemeClr val="accent1"/>
                </a:solidFill>
              </a:rPr>
              <a:t>WTO backs Australia</a:t>
            </a:r>
            <a:endParaRPr lang="en-US" sz="1400" dirty="0"/>
          </a:p>
        </p:txBody>
      </p:sp>
      <p:sp>
        <p:nvSpPr>
          <p:cNvPr id="20" name="Text 18"/>
          <p:cNvSpPr txBox="1"/>
          <p:nvPr/>
        </p:nvSpPr>
        <p:spPr>
          <a:xfrm>
            <a:off x="6245352" y="3401568"/>
            <a:ext cx="1737360" cy="731520"/>
          </a:xfrm>
          <a:prstGeom prst="rect">
            <a:avLst/>
          </a:prstGeom>
          <a:noFill/>
          <a:ln/>
        </p:spPr>
        <p:txBody>
          <a:bodyPr wrap="square" lIns="0" tIns="0" rIns="0" bIns="0" rtlCol="0" anchor="t"/>
          <a:lstStyle/>
          <a:p>
            <a:pPr algn="ctr" indent="0" marL="0">
              <a:buNone/>
            </a:pPr>
            <a:r>
              <a:rPr lang="en-US" sz="1200" dirty="0">
                <a:solidFill>
                  <a:schemeClr val="accent6"/>
                </a:solidFill>
              </a:rPr>
              <a:t>Plain packs are legal under trade law</a:t>
            </a:r>
            <a:endParaRPr lang="en-US" sz="1200" dirty="0"/>
          </a:p>
        </p:txBody>
      </p:sp>
      <p:sp>
        <p:nvSpPr>
          <p:cNvPr id="21" name="Shape 19"/>
          <p:cNvSpPr/>
          <p:nvPr/>
        </p:nvSpPr>
        <p:spPr>
          <a:xfrm>
            <a:off x="8750808" y="2221992"/>
            <a:ext cx="310896" cy="310896"/>
          </a:xfrm>
          <a:prstGeom prst="ellipse">
            <a:avLst/>
          </a:prstGeom>
          <a:solidFill>
            <a:schemeClr val="accent1"/>
          </a:solidFill>
          <a:ln w="25400">
            <a:solidFill>
              <a:schemeClr val="bg1"/>
            </a:solidFill>
            <a:prstDash val="solid"/>
          </a:ln>
        </p:spPr>
      </p:sp>
      <p:sp>
        <p:nvSpPr>
          <p:cNvPr id="22" name="Text 20"/>
          <p:cNvSpPr txBox="1"/>
          <p:nvPr/>
        </p:nvSpPr>
        <p:spPr>
          <a:xfrm>
            <a:off x="8037576" y="1554480"/>
            <a:ext cx="1737360" cy="411480"/>
          </a:xfrm>
          <a:prstGeom prst="rect">
            <a:avLst/>
          </a:prstGeom>
          <a:noFill/>
          <a:ln/>
        </p:spPr>
        <p:txBody>
          <a:bodyPr wrap="square" lIns="0" tIns="0" rIns="0" bIns="0" rtlCol="0" anchor="t"/>
          <a:lstStyle/>
          <a:p>
            <a:pPr algn="ctr" indent="0" marL="0">
              <a:buNone/>
            </a:pPr>
            <a:r>
              <a:rPr lang="en-US" sz="1900" b="1" dirty="0">
                <a:solidFill>
                  <a:schemeClr val="accent1"/>
                </a:solidFill>
              </a:rPr>
              <a:t>2020</a:t>
            </a:r>
            <a:endParaRPr lang="en-US" sz="1900" dirty="0"/>
          </a:p>
        </p:txBody>
      </p:sp>
      <p:sp>
        <p:nvSpPr>
          <p:cNvPr id="23" name="Text 21"/>
          <p:cNvSpPr txBox="1"/>
          <p:nvPr/>
        </p:nvSpPr>
        <p:spPr>
          <a:xfrm>
            <a:off x="8037576" y="2724912"/>
            <a:ext cx="1737360" cy="685800"/>
          </a:xfrm>
          <a:prstGeom prst="rect">
            <a:avLst/>
          </a:prstGeom>
          <a:noFill/>
          <a:ln/>
        </p:spPr>
        <p:txBody>
          <a:bodyPr wrap="square" lIns="0" tIns="0" rIns="0" bIns="0" rtlCol="0" anchor="t"/>
          <a:lstStyle/>
          <a:p>
            <a:pPr algn="ctr" indent="0" marL="0">
              <a:buNone/>
            </a:pPr>
            <a:r>
              <a:rPr lang="en-US" sz="1400" b="1" dirty="0">
                <a:solidFill>
                  <a:schemeClr val="accent1"/>
                </a:solidFill>
              </a:rPr>
              <a:t>EU bans menthol</a:t>
            </a:r>
            <a:endParaRPr lang="en-US" sz="1400" dirty="0"/>
          </a:p>
        </p:txBody>
      </p:sp>
      <p:sp>
        <p:nvSpPr>
          <p:cNvPr id="24" name="Text 22"/>
          <p:cNvSpPr txBox="1"/>
          <p:nvPr/>
        </p:nvSpPr>
        <p:spPr>
          <a:xfrm>
            <a:off x="8037576" y="3401568"/>
            <a:ext cx="1737360" cy="731520"/>
          </a:xfrm>
          <a:prstGeom prst="rect">
            <a:avLst/>
          </a:prstGeom>
          <a:noFill/>
          <a:ln/>
        </p:spPr>
        <p:txBody>
          <a:bodyPr wrap="square" lIns="0" tIns="0" rIns="0" bIns="0" rtlCol="0" anchor="t"/>
          <a:lstStyle/>
          <a:p>
            <a:pPr algn="ctr" indent="0" marL="0">
              <a:buNone/>
            </a:pPr>
            <a:r>
              <a:rPr lang="en-US" sz="1200" dirty="0">
                <a:solidFill>
                  <a:schemeClr val="accent6"/>
                </a:solidFill>
              </a:rPr>
              <a:t>All flavours now banned in the EU</a:t>
            </a:r>
            <a:endParaRPr lang="en-US" sz="1200" dirty="0"/>
          </a:p>
        </p:txBody>
      </p:sp>
      <p:sp>
        <p:nvSpPr>
          <p:cNvPr id="25" name="Shape 23"/>
          <p:cNvSpPr/>
          <p:nvPr/>
        </p:nvSpPr>
        <p:spPr>
          <a:xfrm>
            <a:off x="10543032" y="2221992"/>
            <a:ext cx="310896" cy="310896"/>
          </a:xfrm>
          <a:prstGeom prst="ellipse">
            <a:avLst/>
          </a:prstGeom>
          <a:solidFill>
            <a:schemeClr val="accent2"/>
          </a:solidFill>
          <a:ln w="25400">
            <a:solidFill>
              <a:schemeClr val="bg1"/>
            </a:solidFill>
            <a:prstDash val="solid"/>
          </a:ln>
        </p:spPr>
      </p:sp>
      <p:sp>
        <p:nvSpPr>
          <p:cNvPr id="26" name="Text 24"/>
          <p:cNvSpPr txBox="1"/>
          <p:nvPr/>
        </p:nvSpPr>
        <p:spPr>
          <a:xfrm>
            <a:off x="9829800" y="1554480"/>
            <a:ext cx="1737360" cy="411480"/>
          </a:xfrm>
          <a:prstGeom prst="rect">
            <a:avLst/>
          </a:prstGeom>
          <a:noFill/>
          <a:ln/>
        </p:spPr>
        <p:txBody>
          <a:bodyPr wrap="square" lIns="0" tIns="0" rIns="0" bIns="0" rtlCol="0" anchor="t"/>
          <a:lstStyle/>
          <a:p>
            <a:pPr algn="ctr" indent="0" marL="0">
              <a:buNone/>
            </a:pPr>
            <a:r>
              <a:rPr lang="en-US" sz="1900" b="1" dirty="0">
                <a:solidFill>
                  <a:schemeClr val="accent2"/>
                </a:solidFill>
              </a:rPr>
              <a:t>2026</a:t>
            </a:r>
            <a:endParaRPr lang="en-US" sz="1900" dirty="0"/>
          </a:p>
        </p:txBody>
      </p:sp>
      <p:sp>
        <p:nvSpPr>
          <p:cNvPr id="27" name="Text 25"/>
          <p:cNvSpPr txBox="1"/>
          <p:nvPr/>
        </p:nvSpPr>
        <p:spPr>
          <a:xfrm>
            <a:off x="9829800" y="2724912"/>
            <a:ext cx="1737360" cy="685800"/>
          </a:xfrm>
          <a:prstGeom prst="rect">
            <a:avLst/>
          </a:prstGeom>
          <a:noFill/>
          <a:ln/>
        </p:spPr>
        <p:txBody>
          <a:bodyPr wrap="square" lIns="0" tIns="0" rIns="0" bIns="0" rtlCol="0" anchor="t"/>
          <a:lstStyle/>
          <a:p>
            <a:pPr algn="ctr" indent="0" marL="0">
              <a:buNone/>
            </a:pPr>
            <a:r>
              <a:rPr lang="en-US" sz="1400" b="1" dirty="0">
                <a:solidFill>
                  <a:schemeClr val="accent2"/>
                </a:solidFill>
              </a:rPr>
              <a:t>UK generational ban</a:t>
            </a:r>
            <a:endParaRPr lang="en-US" sz="1400" dirty="0"/>
          </a:p>
        </p:txBody>
      </p:sp>
      <p:sp>
        <p:nvSpPr>
          <p:cNvPr id="28" name="Text 26"/>
          <p:cNvSpPr txBox="1"/>
          <p:nvPr/>
        </p:nvSpPr>
        <p:spPr>
          <a:xfrm>
            <a:off x="9829800" y="3401568"/>
            <a:ext cx="1737360" cy="731520"/>
          </a:xfrm>
          <a:prstGeom prst="rect">
            <a:avLst/>
          </a:prstGeom>
          <a:noFill/>
          <a:ln/>
        </p:spPr>
        <p:txBody>
          <a:bodyPr wrap="square" lIns="0" tIns="0" rIns="0" bIns="0" rtlCol="0" anchor="t"/>
          <a:lstStyle/>
          <a:p>
            <a:pPr algn="ctr" indent="0" marL="0">
              <a:buNone/>
            </a:pPr>
            <a:r>
              <a:rPr lang="en-US" sz="1200" dirty="0">
                <a:solidFill>
                  <a:schemeClr val="accent6"/>
                </a:solidFill>
              </a:rPr>
              <a:t>No sales ever to anyone born after 2008</a:t>
            </a:r>
            <a:endParaRPr lang="en-US" sz="1200" dirty="0"/>
          </a:p>
        </p:txBody>
      </p:sp>
      <p:sp>
        <p:nvSpPr>
          <p:cNvPr id="29" name="Shape 27"/>
          <p:cNvSpPr/>
          <p:nvPr/>
        </p:nvSpPr>
        <p:spPr>
          <a:xfrm>
            <a:off x="914400" y="4343400"/>
            <a:ext cx="5157216" cy="1600200"/>
          </a:xfrm>
          <a:prstGeom prst="rect">
            <a:avLst/>
          </a:prstGeom>
          <a:solidFill>
            <a:schemeClr val="bg2"/>
          </a:solidFill>
          <a:ln w="12700">
            <a:solidFill>
              <a:schemeClr val="bg2"/>
            </a:solidFill>
            <a:prstDash val="solid"/>
          </a:ln>
        </p:spPr>
      </p:sp>
      <p:sp>
        <p:nvSpPr>
          <p:cNvPr id="30" name="Text 28"/>
          <p:cNvSpPr txBox="1"/>
          <p:nvPr/>
        </p:nvSpPr>
        <p:spPr>
          <a:xfrm>
            <a:off x="1188720" y="4498848"/>
            <a:ext cx="4608576" cy="347472"/>
          </a:xfrm>
          <a:prstGeom prst="rect">
            <a:avLst/>
          </a:prstGeom>
          <a:noFill/>
          <a:ln/>
        </p:spPr>
        <p:txBody>
          <a:bodyPr wrap="square" lIns="0" tIns="0" rIns="0" bIns="0" rtlCol="0" anchor="t"/>
          <a:lstStyle/>
          <a:p>
            <a:pPr indent="0" marL="0">
              <a:buNone/>
            </a:pPr>
            <a:r>
              <a:rPr lang="en-US" sz="1700" b="1" dirty="0">
                <a:solidFill>
                  <a:schemeClr val="accent1"/>
                </a:solidFill>
              </a:rPr>
              <a:t>Outside the treaty</a:t>
            </a:r>
            <a:endParaRPr lang="en-US" sz="1700" dirty="0"/>
          </a:p>
        </p:txBody>
      </p:sp>
      <p:sp>
        <p:nvSpPr>
          <p:cNvPr id="31" name="Text 29"/>
          <p:cNvSpPr txBox="1"/>
          <p:nvPr/>
        </p:nvSpPr>
        <p:spPr>
          <a:xfrm>
            <a:off x="1188720" y="4892040"/>
            <a:ext cx="4608576" cy="960120"/>
          </a:xfrm>
          <a:prstGeom prst="rect">
            <a:avLst/>
          </a:prstGeom>
          <a:noFill/>
          <a:ln/>
        </p:spPr>
        <p:txBody>
          <a:bodyPr wrap="square" lIns="0" tIns="0" rIns="0" bIns="0" rtlCol="0" anchor="t"/>
          <a:lstStyle/>
          <a:p>
            <a:pPr indent="0" marL="0">
              <a:buNone/>
            </a:pPr>
            <a:r>
              <a:rPr lang="en-US" sz="1400" dirty="0">
                <a:solidFill>
                  <a:schemeClr val="accent6"/>
                </a:solidFill>
              </a:rPr>
              <a:t>USA (signed, never ratified) and Indonesia (never signed): two of the most important markets for the industry.</a:t>
            </a:r>
            <a:endParaRPr lang="en-US" sz="1400" dirty="0"/>
          </a:p>
        </p:txBody>
      </p:sp>
      <p:sp>
        <p:nvSpPr>
          <p:cNvPr id="32" name="Shape 30"/>
          <p:cNvSpPr/>
          <p:nvPr/>
        </p:nvSpPr>
        <p:spPr>
          <a:xfrm>
            <a:off x="6345936" y="4343400"/>
            <a:ext cx="5157216" cy="1600200"/>
          </a:xfrm>
          <a:prstGeom prst="rect">
            <a:avLst/>
          </a:prstGeom>
          <a:solidFill>
            <a:schemeClr val="bg2"/>
          </a:solidFill>
          <a:ln w="12700">
            <a:solidFill>
              <a:schemeClr val="bg2"/>
            </a:solidFill>
            <a:prstDash val="solid"/>
          </a:ln>
        </p:spPr>
      </p:sp>
      <p:sp>
        <p:nvSpPr>
          <p:cNvPr id="33" name="Text 31"/>
          <p:cNvSpPr txBox="1"/>
          <p:nvPr/>
        </p:nvSpPr>
        <p:spPr>
          <a:xfrm>
            <a:off x="6620256" y="4498848"/>
            <a:ext cx="4608576" cy="347472"/>
          </a:xfrm>
          <a:prstGeom prst="rect">
            <a:avLst/>
          </a:prstGeom>
          <a:noFill/>
          <a:ln/>
        </p:spPr>
        <p:txBody>
          <a:bodyPr wrap="square" lIns="0" tIns="0" rIns="0" bIns="0" rtlCol="0" anchor="t"/>
          <a:lstStyle/>
          <a:p>
            <a:pPr indent="0" marL="0">
              <a:buNone/>
            </a:pPr>
            <a:r>
              <a:rPr lang="en-US" sz="1700" b="1" dirty="0">
                <a:solidFill>
                  <a:schemeClr val="accent2"/>
                </a:solidFill>
              </a:rPr>
              <a:t>Lesson for marketers</a:t>
            </a:r>
            <a:endParaRPr lang="en-US" sz="1700" dirty="0"/>
          </a:p>
        </p:txBody>
      </p:sp>
      <p:sp>
        <p:nvSpPr>
          <p:cNvPr id="34" name="Text 32"/>
          <p:cNvSpPr txBox="1"/>
          <p:nvPr/>
        </p:nvSpPr>
        <p:spPr>
          <a:xfrm>
            <a:off x="6620256" y="4892040"/>
            <a:ext cx="4608576" cy="960120"/>
          </a:xfrm>
          <a:prstGeom prst="rect">
            <a:avLst/>
          </a:prstGeom>
          <a:noFill/>
          <a:ln/>
        </p:spPr>
        <p:txBody>
          <a:bodyPr wrap="square" lIns="0" tIns="0" rIns="0" bIns="0" rtlCol="0" anchor="t"/>
          <a:lstStyle/>
          <a:p>
            <a:pPr indent="0" marL="0">
              <a:buNone/>
            </a:pPr>
            <a:r>
              <a:rPr lang="en-US" sz="1400" dirty="0">
                <a:solidFill>
                  <a:schemeClr val="accent6"/>
                </a:solidFill>
              </a:rPr>
              <a:t>The industry tried to fight packaging rules with trade and investment law, and lost every major case.</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Packaging</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pack is the last billboard: EU vs USA</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914400" y="1325880"/>
          <a:ext cx="10588752" cy="914400"/>
        </p:xfrm>
        <a:graphic>
          <a:graphicData uri="http://schemas.openxmlformats.org/drawingml/2006/table">
            <a:tbl>
              <a:tblPr/>
              <a:tblGrid>
                <a:gridCol w="2103120"/>
                <a:gridCol w="4242816"/>
                <a:gridCol w="4242816"/>
              </a:tblGrid>
              <a:tr h="457200">
                <a:tc>
                  <a:txBody>
                    <a:bodyPr/>
                    <a:lstStyle/>
                    <a:p>
                      <a:pPr indent="0" marL="0">
                        <a:buNone/>
                      </a:pP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0E2841"/>
                    </a:solidFill>
                  </a:tcPr>
                </a:tc>
                <a:tc>
                  <a:txBody>
                    <a:bodyPr/>
                    <a:lstStyle/>
                    <a:p>
                      <a:pPr indent="0" marL="0">
                        <a:buNone/>
                      </a:pPr>
                      <a:r>
                        <a:rPr lang="en-US" sz="1400" b="1" dirty="0">
                          <a:solidFill>
                            <a:srgbClr val="FFFFFF"/>
                          </a:solidFill>
                        </a:rPr>
                        <a:t>European Union</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0E2841"/>
                    </a:solidFill>
                  </a:tcPr>
                </a:tc>
                <a:tc>
                  <a:txBody>
                    <a:bodyPr/>
                    <a:lstStyle/>
                    <a:p>
                      <a:pPr indent="0" marL="0">
                        <a:buNone/>
                      </a:pPr>
                      <a:r>
                        <a:rPr lang="en-US" sz="1400" b="1" dirty="0">
                          <a:solidFill>
                            <a:srgbClr val="FFFFFF"/>
                          </a:solidFill>
                        </a:rPr>
                        <a:t>United States</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0E2841"/>
                    </a:solidFill>
                  </a:tcPr>
                </a:tc>
              </a:tr>
              <a:tr h="457200">
                <a:tc>
                  <a:txBody>
                    <a:bodyPr/>
                    <a:lstStyle/>
                    <a:p>
                      <a:pPr indent="0" marL="0">
                        <a:buNone/>
                      </a:pPr>
                      <a:r>
                        <a:rPr lang="en-US" sz="1400" b="1" dirty="0">
                          <a:solidFill>
                            <a:srgbClr val="0E2841"/>
                          </a:solidFill>
                        </a:rPr>
                        <a:t>Health warning</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400" dirty="0">
                          <a:solidFill>
                            <a:srgbClr val="404040"/>
                          </a:solidFill>
                        </a:rPr>
                        <a:t>Picture + text, 65% of front and back</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400" dirty="0">
                          <a:solidFill>
                            <a:srgbClr val="404040"/>
                          </a:solidFill>
                        </a:rPr>
                        <a:t>Text only, small, on the side panel</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r h="457200">
                <a:tc>
                  <a:txBody>
                    <a:bodyPr/>
                    <a:lstStyle/>
                    <a:p>
                      <a:pPr indent="0" marL="0">
                        <a:buNone/>
                      </a:pPr>
                      <a:r>
                        <a:rPr lang="en-US" sz="1400" b="1" dirty="0">
                          <a:solidFill>
                            <a:srgbClr val="0E2841"/>
                          </a:solidFill>
                        </a:rPr>
                        <a:t>Graphic warnings</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400" dirty="0">
                          <a:solidFill>
                            <a:srgbClr val="404040"/>
                          </a:solidFill>
                        </a:rPr>
                        <a:t>Mandatory since 2016 (EU directive)</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400" dirty="0">
                          <a:solidFill>
                            <a:srgbClr val="404040"/>
                          </a:solidFill>
                        </a:rPr>
                        <a:t>FDA rule from 2020 still blocked by courts</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r h="457200">
                <a:tc>
                  <a:txBody>
                    <a:bodyPr/>
                    <a:lstStyle/>
                    <a:p>
                      <a:pPr indent="0" marL="0">
                        <a:buNone/>
                      </a:pPr>
                      <a:r>
                        <a:rPr lang="en-US" sz="1400" b="1" dirty="0">
                          <a:solidFill>
                            <a:srgbClr val="0E2841"/>
                          </a:solidFill>
                        </a:rPr>
                        <a:t>Plain packaging</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400" dirty="0">
                          <a:solidFill>
                            <a:srgbClr val="404040"/>
                          </a:solidFill>
                        </a:rPr>
                        <a:t>France, Ireland, Hungary, Belgium and others</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400" dirty="0">
                          <a:solidFill>
                            <a:srgbClr val="404040"/>
                          </a:solidFill>
                        </a:rPr>
                        <a:t>None: the brand owns the pack</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r h="457200">
                <a:tc>
                  <a:txBody>
                    <a:bodyPr/>
                    <a:lstStyle/>
                    <a:p>
                      <a:pPr indent="0" marL="0">
                        <a:buNone/>
                      </a:pPr>
                      <a:r>
                        <a:rPr lang="en-US" sz="1400" b="1" dirty="0">
                          <a:solidFill>
                            <a:srgbClr val="0E2841"/>
                          </a:solidFill>
                        </a:rPr>
                        <a:t>Flavours</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400" dirty="0">
                          <a:solidFill>
                            <a:srgbClr val="404040"/>
                          </a:solidFill>
                        </a:rPr>
                        <a:t>All banned, including menthol (2020)</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400" dirty="0">
                          <a:solidFill>
                            <a:srgbClr val="404040"/>
                          </a:solidFill>
                        </a:rPr>
                        <a:t>Banned in 2009, except menthol</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r h="457200">
                <a:tc>
                  <a:txBody>
                    <a:bodyPr/>
                    <a:lstStyle/>
                    <a:p>
                      <a:pPr indent="0" marL="0">
                        <a:buNone/>
                      </a:pPr>
                      <a:r>
                        <a:rPr lang="en-US" sz="1400" b="1" dirty="0">
                          <a:solidFill>
                            <a:srgbClr val="0E2841"/>
                          </a:solidFill>
                        </a:rPr>
                        <a:t>Advertising</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solidFill>
                      <a:srgbClr val="F3F4F6"/>
                    </a:solidFill>
                  </a:tcPr>
                </a:tc>
                <a:tc>
                  <a:txBody>
                    <a:bodyPr/>
                    <a:lstStyle/>
                    <a:p>
                      <a:pPr indent="0" marL="0">
                        <a:buNone/>
                      </a:pPr>
                      <a:r>
                        <a:rPr lang="en-US" sz="1400" dirty="0">
                          <a:solidFill>
                            <a:srgbClr val="404040"/>
                          </a:solidFill>
                        </a:rPr>
                        <a:t>Banned in press, radio, online, sponsorship</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c>
                  <a:txBody>
                    <a:bodyPr/>
                    <a:lstStyle/>
                    <a:p>
                      <a:pPr indent="0" marL="0">
                        <a:buNone/>
                      </a:pPr>
                      <a:r>
                        <a:rPr lang="en-US" sz="1400" dirty="0">
                          <a:solidFill>
                            <a:srgbClr val="404040"/>
                          </a:solidFill>
                        </a:rPr>
                        <a:t>TV and radio banned since 1971; print limited</a:t>
                      </a:r>
                      <a:endParaRPr lang="en-US" sz="1400" dirty="0"/>
                    </a:p>
                  </a:txBody>
                  <a:tcPr marL="91440" marR="91440" marT="91440" marB="91440" anchor="ctr">
                    <a:lnL w="12700" cap="flat" cmpd="sng" algn="ctr">
                      <a:solidFill>
                        <a:srgbClr val="D1D1D1"/>
                      </a:solidFill>
                      <a:prstDash val="solid"/>
                      <a:round/>
                      <a:headEnd type="none" w="med" len="med"/>
                      <a:tailEnd type="none" w="med" len="med"/>
                    </a:lnL>
                    <a:lnR w="12700" cap="flat" cmpd="sng" algn="ctr">
                      <a:solidFill>
                        <a:srgbClr val="D1D1D1"/>
                      </a:solidFill>
                      <a:prstDash val="solid"/>
                      <a:round/>
                      <a:headEnd type="none" w="med" len="med"/>
                      <a:tailEnd type="none" w="med" len="med"/>
                    </a:lnR>
                    <a:lnT w="12700" cap="flat" cmpd="sng" algn="ctr">
                      <a:solidFill>
                        <a:srgbClr val="D1D1D1"/>
                      </a:solidFill>
                      <a:prstDash val="solid"/>
                      <a:round/>
                      <a:headEnd type="none" w="med" len="med"/>
                      <a:tailEnd type="none" w="med" len="med"/>
                    </a:lnT>
                    <a:lnB w="12700" cap="flat" cmpd="sng" algn="ctr">
                      <a:solidFill>
                        <a:srgbClr val="D1D1D1"/>
                      </a:solidFill>
                      <a:prstDash val="solid"/>
                      <a:round/>
                      <a:headEnd type="none" w="med" len="med"/>
                      <a:tailEnd type="none" w="med" len="med"/>
                    </a:lnB>
                  </a:tcPr>
                </a:tc>
              </a:tr>
            </a:tbl>
          </a:graphicData>
        </a:graphic>
      </p:graphicFrame>
      <p:sp>
        <p:nvSpPr>
          <p:cNvPr id="5" name="Text 2"/>
          <p:cNvSpPr txBox="1"/>
          <p:nvPr/>
        </p:nvSpPr>
        <p:spPr>
          <a:xfrm>
            <a:off x="914400" y="4343400"/>
            <a:ext cx="3657600" cy="292608"/>
          </a:xfrm>
          <a:prstGeom prst="rect">
            <a:avLst/>
          </a:prstGeom>
          <a:noFill/>
          <a:ln/>
        </p:spPr>
        <p:txBody>
          <a:bodyPr wrap="square" lIns="0" tIns="0" rIns="0" bIns="0" rtlCol="0" anchor="t"/>
          <a:lstStyle/>
          <a:p>
            <a:pPr indent="0" marL="0">
              <a:buNone/>
            </a:pPr>
            <a:r>
              <a:rPr lang="en-US" sz="1400" b="1" dirty="0">
                <a:solidFill>
                  <a:schemeClr val="accent3"/>
                </a:solidFill>
              </a:rPr>
              <a:t>World records</a:t>
            </a:r>
            <a:endParaRPr lang="en-US" sz="1400" dirty="0"/>
          </a:p>
        </p:txBody>
      </p:sp>
      <p:sp>
        <p:nvSpPr>
          <p:cNvPr id="6" name="Shape 3"/>
          <p:cNvSpPr/>
          <p:nvPr/>
        </p:nvSpPr>
        <p:spPr>
          <a:xfrm>
            <a:off x="914400" y="4663440"/>
            <a:ext cx="3346704" cy="1280160"/>
          </a:xfrm>
          <a:prstGeom prst="rect">
            <a:avLst/>
          </a:prstGeom>
          <a:solidFill>
            <a:schemeClr val="bg1"/>
          </a:solidFill>
          <a:ln w="12700">
            <a:solidFill>
              <a:schemeClr val="accent4"/>
            </a:solidFill>
            <a:prstDash val="solid"/>
          </a:ln>
        </p:spPr>
      </p:sp>
      <p:sp>
        <p:nvSpPr>
          <p:cNvPr id="7" name="Text 4"/>
          <p:cNvSpPr txBox="1"/>
          <p:nvPr/>
        </p:nvSpPr>
        <p:spPr>
          <a:xfrm>
            <a:off x="1188720" y="4754880"/>
            <a:ext cx="2798064" cy="548640"/>
          </a:xfrm>
          <a:prstGeom prst="rect">
            <a:avLst/>
          </a:prstGeom>
          <a:noFill/>
          <a:ln/>
        </p:spPr>
        <p:txBody>
          <a:bodyPr wrap="square" lIns="0" tIns="0" rIns="0" bIns="0" rtlCol="0" anchor="t"/>
          <a:lstStyle/>
          <a:p>
            <a:pPr indent="0" marL="0">
              <a:buNone/>
            </a:pPr>
            <a:r>
              <a:rPr lang="en-US" sz="2800" b="1" dirty="0">
                <a:solidFill>
                  <a:schemeClr val="accent2"/>
                </a:solidFill>
              </a:rPr>
              <a:t>92.5%</a:t>
            </a:r>
            <a:endParaRPr lang="en-US" sz="2800" dirty="0"/>
          </a:p>
        </p:txBody>
      </p:sp>
      <p:sp>
        <p:nvSpPr>
          <p:cNvPr id="8" name="Text 5"/>
          <p:cNvSpPr txBox="1"/>
          <p:nvPr/>
        </p:nvSpPr>
        <p:spPr>
          <a:xfrm>
            <a:off x="1188720" y="5303520"/>
            <a:ext cx="2798064" cy="548640"/>
          </a:xfrm>
          <a:prstGeom prst="rect">
            <a:avLst/>
          </a:prstGeom>
          <a:noFill/>
          <a:ln/>
        </p:spPr>
        <p:txBody>
          <a:bodyPr wrap="square" lIns="0" tIns="0" rIns="0" bIns="0" rtlCol="0" anchor="t"/>
          <a:lstStyle/>
          <a:p>
            <a:pPr indent="0" marL="0">
              <a:buNone/>
            </a:pPr>
            <a:r>
              <a:rPr lang="en-US" sz="1300" dirty="0">
                <a:solidFill>
                  <a:schemeClr val="accent6"/>
                </a:solidFill>
              </a:rPr>
              <a:t>Türkiye and Timor-Leste: the largest warnings in the world</a:t>
            </a:r>
            <a:endParaRPr lang="en-US" sz="1300" dirty="0"/>
          </a:p>
        </p:txBody>
      </p:sp>
      <p:sp>
        <p:nvSpPr>
          <p:cNvPr id="9" name="Shape 6"/>
          <p:cNvSpPr/>
          <p:nvPr/>
        </p:nvSpPr>
        <p:spPr>
          <a:xfrm>
            <a:off x="4535424" y="4663440"/>
            <a:ext cx="3346704" cy="1280160"/>
          </a:xfrm>
          <a:prstGeom prst="rect">
            <a:avLst/>
          </a:prstGeom>
          <a:solidFill>
            <a:schemeClr val="bg1"/>
          </a:solidFill>
          <a:ln w="12700">
            <a:solidFill>
              <a:schemeClr val="accent4"/>
            </a:solidFill>
            <a:prstDash val="solid"/>
          </a:ln>
        </p:spPr>
      </p:sp>
      <p:sp>
        <p:nvSpPr>
          <p:cNvPr id="10" name="Text 7"/>
          <p:cNvSpPr txBox="1"/>
          <p:nvPr/>
        </p:nvSpPr>
        <p:spPr>
          <a:xfrm>
            <a:off x="4809744" y="4754880"/>
            <a:ext cx="2798064" cy="548640"/>
          </a:xfrm>
          <a:prstGeom prst="rect">
            <a:avLst/>
          </a:prstGeom>
          <a:noFill/>
          <a:ln/>
        </p:spPr>
        <p:txBody>
          <a:bodyPr wrap="square" lIns="0" tIns="0" rIns="0" bIns="0" rtlCol="0" anchor="t"/>
          <a:lstStyle/>
          <a:p>
            <a:pPr indent="0" marL="0">
              <a:buNone/>
            </a:pPr>
            <a:r>
              <a:rPr lang="en-US" sz="2800" b="1" dirty="0">
                <a:solidFill>
                  <a:schemeClr val="accent2"/>
                </a:solidFill>
              </a:rPr>
              <a:t>140</a:t>
            </a:r>
            <a:endParaRPr lang="en-US" sz="2800" dirty="0"/>
          </a:p>
        </p:txBody>
      </p:sp>
      <p:sp>
        <p:nvSpPr>
          <p:cNvPr id="11" name="Text 8"/>
          <p:cNvSpPr txBox="1"/>
          <p:nvPr/>
        </p:nvSpPr>
        <p:spPr>
          <a:xfrm>
            <a:off x="4809744" y="5303520"/>
            <a:ext cx="2798064" cy="548640"/>
          </a:xfrm>
          <a:prstGeom prst="rect">
            <a:avLst/>
          </a:prstGeom>
          <a:noFill/>
          <a:ln/>
        </p:spPr>
        <p:txBody>
          <a:bodyPr wrap="square" lIns="0" tIns="0" rIns="0" bIns="0" rtlCol="0" anchor="t"/>
          <a:lstStyle/>
          <a:p>
            <a:pPr indent="0" marL="0">
              <a:buNone/>
            </a:pPr>
            <a:r>
              <a:rPr lang="en-US" sz="1300" dirty="0">
                <a:solidFill>
                  <a:schemeClr val="accent6"/>
                </a:solidFill>
              </a:rPr>
              <a:t>countries now require picture warnings on packs</a:t>
            </a:r>
            <a:endParaRPr lang="en-US" sz="1300" dirty="0"/>
          </a:p>
        </p:txBody>
      </p:sp>
      <p:sp>
        <p:nvSpPr>
          <p:cNvPr id="12" name="Shape 9"/>
          <p:cNvSpPr/>
          <p:nvPr/>
        </p:nvSpPr>
        <p:spPr>
          <a:xfrm>
            <a:off x="8156448" y="4663440"/>
            <a:ext cx="3346704" cy="1280160"/>
          </a:xfrm>
          <a:prstGeom prst="rect">
            <a:avLst/>
          </a:prstGeom>
          <a:solidFill>
            <a:schemeClr val="bg1"/>
          </a:solidFill>
          <a:ln w="12700">
            <a:solidFill>
              <a:schemeClr val="accent4"/>
            </a:solidFill>
            <a:prstDash val="solid"/>
          </a:ln>
        </p:spPr>
      </p:sp>
      <p:sp>
        <p:nvSpPr>
          <p:cNvPr id="13" name="Text 10"/>
          <p:cNvSpPr txBox="1"/>
          <p:nvPr/>
        </p:nvSpPr>
        <p:spPr>
          <a:xfrm>
            <a:off x="8430768" y="4754880"/>
            <a:ext cx="2798064" cy="548640"/>
          </a:xfrm>
          <a:prstGeom prst="rect">
            <a:avLst/>
          </a:prstGeom>
          <a:noFill/>
          <a:ln/>
        </p:spPr>
        <p:txBody>
          <a:bodyPr wrap="square" lIns="0" tIns="0" rIns="0" bIns="0" rtlCol="0" anchor="t"/>
          <a:lstStyle/>
          <a:p>
            <a:pPr indent="0" marL="0">
              <a:buNone/>
            </a:pPr>
            <a:r>
              <a:rPr lang="en-US" sz="2800" b="1" dirty="0">
                <a:solidFill>
                  <a:schemeClr val="accent2"/>
                </a:solidFill>
              </a:rPr>
              <a:t>Every stick</a:t>
            </a:r>
            <a:endParaRPr lang="en-US" sz="2800" dirty="0"/>
          </a:p>
        </p:txBody>
      </p:sp>
      <p:sp>
        <p:nvSpPr>
          <p:cNvPr id="14" name="Text 11"/>
          <p:cNvSpPr txBox="1"/>
          <p:nvPr/>
        </p:nvSpPr>
        <p:spPr>
          <a:xfrm>
            <a:off x="8430768" y="5303520"/>
            <a:ext cx="2798064" cy="548640"/>
          </a:xfrm>
          <a:prstGeom prst="rect">
            <a:avLst/>
          </a:prstGeom>
          <a:noFill/>
          <a:ln/>
        </p:spPr>
        <p:txBody>
          <a:bodyPr wrap="square" lIns="0" tIns="0" rIns="0" bIns="0" rtlCol="0" anchor="t"/>
          <a:lstStyle/>
          <a:p>
            <a:pPr indent="0" marL="0">
              <a:buNone/>
            </a:pPr>
            <a:r>
              <a:rPr lang="en-US" sz="1300" dirty="0">
                <a:solidFill>
                  <a:schemeClr val="accent6"/>
                </a:solidFill>
              </a:rPr>
              <a:t>Canada and Australia print warnings on each cigarette</a:t>
            </a:r>
            <a:endParaRPr lang="en-US" sz="1300" dirty="0"/>
          </a:p>
        </p:txBody>
      </p:sp>
      <p:sp>
        <p:nvSpPr>
          <p:cNvPr id="15" name="Text 12"/>
          <p:cNvSpPr txBox="1"/>
          <p:nvPr/>
        </p:nvSpPr>
        <p:spPr>
          <a:xfrm>
            <a:off x="914400" y="6053328"/>
            <a:ext cx="10588752" cy="256032"/>
          </a:xfrm>
          <a:prstGeom prst="rect">
            <a:avLst/>
          </a:prstGeom>
          <a:noFill/>
          <a:ln/>
        </p:spPr>
        <p:txBody>
          <a:bodyPr wrap="square" lIns="0" tIns="0" rIns="0" bIns="0" rtlCol="0" anchor="t"/>
          <a:lstStyle/>
          <a:p>
            <a:pPr indent="0" marL="0">
              <a:buNone/>
            </a:pPr>
            <a:r>
              <a:rPr lang="en-US" sz="1000" i="1" dirty="0">
                <a:solidFill>
                  <a:schemeClr val="accent3"/>
                </a:solidFill>
              </a:rPr>
              <a:t>Sources: EU Directive 2014/40/EU; US FDA; Canadian Cancer Society, Cigarette Package Health Warnings (2025).</a:t>
            </a:r>
            <a:endParaRPr lang="en-US" sz="10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Product adaptation</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A world of flavours</a:t>
            </a:r>
            <a:endParaRPr lang="en-US" sz="2600" dirty="0"/>
          </a:p>
        </p:txBody>
      </p:sp>
      <p:sp>
        <p:nvSpPr>
          <p:cNvPr id="4" name="Shape 2"/>
          <p:cNvSpPr/>
          <p:nvPr/>
        </p:nvSpPr>
        <p:spPr>
          <a:xfrm>
            <a:off x="914400" y="1371600"/>
            <a:ext cx="3520440" cy="1463040"/>
          </a:xfrm>
          <a:prstGeom prst="rect">
            <a:avLst/>
          </a:prstGeom>
          <a:solidFill>
            <a:schemeClr val="bg1"/>
          </a:solidFill>
          <a:ln w="12700">
            <a:solidFill>
              <a:schemeClr val="accent4"/>
            </a:solidFill>
            <a:prstDash val="solid"/>
          </a:ln>
        </p:spPr>
      </p:sp>
      <p:sp>
        <p:nvSpPr>
          <p:cNvPr id="5" name="Text 3"/>
          <p:cNvSpPr txBox="1"/>
          <p:nvPr/>
        </p:nvSpPr>
        <p:spPr>
          <a:xfrm>
            <a:off x="1143000" y="1508760"/>
            <a:ext cx="3063240" cy="320040"/>
          </a:xfrm>
          <a:prstGeom prst="rect">
            <a:avLst/>
          </a:prstGeom>
          <a:noFill/>
          <a:ln/>
        </p:spPr>
        <p:txBody>
          <a:bodyPr wrap="square" lIns="0" tIns="0" rIns="0" bIns="0" rtlCol="0" anchor="t"/>
          <a:lstStyle/>
          <a:p>
            <a:pPr indent="0" marL="0">
              <a:buNone/>
            </a:pPr>
            <a:r>
              <a:rPr lang="en-US" sz="1600" b="1" dirty="0">
                <a:solidFill>
                  <a:schemeClr val="accent2"/>
                </a:solidFill>
              </a:rPr>
              <a:t>Indonesia</a:t>
            </a:r>
            <a:endParaRPr lang="en-US" sz="1600" dirty="0"/>
          </a:p>
        </p:txBody>
      </p:sp>
      <p:sp>
        <p:nvSpPr>
          <p:cNvPr id="6" name="Text 4"/>
          <p:cNvSpPr txBox="1"/>
          <p:nvPr/>
        </p:nvSpPr>
        <p:spPr>
          <a:xfrm>
            <a:off x="1143000" y="1874520"/>
            <a:ext cx="3063240" cy="868680"/>
          </a:xfrm>
          <a:prstGeom prst="rect">
            <a:avLst/>
          </a:prstGeom>
          <a:noFill/>
          <a:ln/>
        </p:spPr>
        <p:txBody>
          <a:bodyPr wrap="square" lIns="0" tIns="0" rIns="0" bIns="0" rtlCol="0" anchor="t"/>
          <a:lstStyle/>
          <a:p>
            <a:pPr indent="0" marL="0">
              <a:buNone/>
            </a:pPr>
            <a:r>
              <a:rPr lang="en-US" sz="1350" dirty="0">
                <a:solidFill>
                  <a:schemeClr val="accent6"/>
                </a:solidFill>
              </a:rPr>
              <a:t>Clove kretek cigarettes are national culture, so PMI bought local Sampoerna (2005) instead of pushing Marlboro.</a:t>
            </a:r>
            <a:endParaRPr lang="en-US" sz="1350" dirty="0"/>
          </a:p>
        </p:txBody>
      </p:sp>
      <p:sp>
        <p:nvSpPr>
          <p:cNvPr id="7" name="Shape 5"/>
          <p:cNvSpPr/>
          <p:nvPr/>
        </p:nvSpPr>
        <p:spPr>
          <a:xfrm>
            <a:off x="4709160" y="1371600"/>
            <a:ext cx="3520440" cy="1463040"/>
          </a:xfrm>
          <a:prstGeom prst="rect">
            <a:avLst/>
          </a:prstGeom>
          <a:solidFill>
            <a:schemeClr val="bg1"/>
          </a:solidFill>
          <a:ln w="12700">
            <a:solidFill>
              <a:schemeClr val="accent4"/>
            </a:solidFill>
            <a:prstDash val="solid"/>
          </a:ln>
        </p:spPr>
      </p:sp>
      <p:sp>
        <p:nvSpPr>
          <p:cNvPr id="8" name="Text 6"/>
          <p:cNvSpPr txBox="1"/>
          <p:nvPr/>
        </p:nvSpPr>
        <p:spPr>
          <a:xfrm>
            <a:off x="4937760" y="1508760"/>
            <a:ext cx="3063240" cy="320040"/>
          </a:xfrm>
          <a:prstGeom prst="rect">
            <a:avLst/>
          </a:prstGeom>
          <a:noFill/>
          <a:ln/>
        </p:spPr>
        <p:txBody>
          <a:bodyPr wrap="square" lIns="0" tIns="0" rIns="0" bIns="0" rtlCol="0" anchor="t"/>
          <a:lstStyle/>
          <a:p>
            <a:pPr indent="0" marL="0">
              <a:buNone/>
            </a:pPr>
            <a:r>
              <a:rPr lang="en-US" sz="1600" b="1" dirty="0">
                <a:solidFill>
                  <a:schemeClr val="accent2"/>
                </a:solidFill>
              </a:rPr>
              <a:t>Japan &amp; Philippines</a:t>
            </a:r>
            <a:endParaRPr lang="en-US" sz="1600" dirty="0"/>
          </a:p>
        </p:txBody>
      </p:sp>
      <p:sp>
        <p:nvSpPr>
          <p:cNvPr id="9" name="Text 7"/>
          <p:cNvSpPr txBox="1"/>
          <p:nvPr/>
        </p:nvSpPr>
        <p:spPr>
          <a:xfrm>
            <a:off x="4937760" y="1874520"/>
            <a:ext cx="3063240" cy="868680"/>
          </a:xfrm>
          <a:prstGeom prst="rect">
            <a:avLst/>
          </a:prstGeom>
          <a:noFill/>
          <a:ln/>
        </p:spPr>
        <p:txBody>
          <a:bodyPr wrap="square" lIns="0" tIns="0" rIns="0" bIns="0" rtlCol="0" anchor="t"/>
          <a:lstStyle/>
          <a:p>
            <a:pPr indent="0" marL="0">
              <a:buNone/>
            </a:pPr>
            <a:r>
              <a:rPr lang="en-US" sz="1350" dirty="0">
                <a:solidFill>
                  <a:schemeClr val="accent6"/>
                </a:solidFill>
              </a:rPr>
              <a:t>Menthol and “ice” variants are mainstream products, not a niche.</a:t>
            </a:r>
            <a:endParaRPr lang="en-US" sz="1350" dirty="0"/>
          </a:p>
        </p:txBody>
      </p:sp>
      <p:sp>
        <p:nvSpPr>
          <p:cNvPr id="10" name="Shape 8"/>
          <p:cNvSpPr/>
          <p:nvPr/>
        </p:nvSpPr>
        <p:spPr>
          <a:xfrm>
            <a:off x="914400" y="3017520"/>
            <a:ext cx="3520440" cy="1463040"/>
          </a:xfrm>
          <a:prstGeom prst="rect">
            <a:avLst/>
          </a:prstGeom>
          <a:solidFill>
            <a:schemeClr val="bg1"/>
          </a:solidFill>
          <a:ln w="12700">
            <a:solidFill>
              <a:schemeClr val="accent4"/>
            </a:solidFill>
            <a:prstDash val="solid"/>
          </a:ln>
        </p:spPr>
      </p:sp>
      <p:sp>
        <p:nvSpPr>
          <p:cNvPr id="11" name="Text 9"/>
          <p:cNvSpPr txBox="1"/>
          <p:nvPr/>
        </p:nvSpPr>
        <p:spPr>
          <a:xfrm>
            <a:off x="1143000" y="3154680"/>
            <a:ext cx="3063240" cy="320040"/>
          </a:xfrm>
          <a:prstGeom prst="rect">
            <a:avLst/>
          </a:prstGeom>
          <a:noFill/>
          <a:ln/>
        </p:spPr>
        <p:txBody>
          <a:bodyPr wrap="square" lIns="0" tIns="0" rIns="0" bIns="0" rtlCol="0" anchor="t"/>
          <a:lstStyle/>
          <a:p>
            <a:pPr indent="0" marL="0">
              <a:buNone/>
            </a:pPr>
            <a:r>
              <a:rPr lang="en-US" sz="1600" b="1" dirty="0">
                <a:solidFill>
                  <a:schemeClr val="accent2"/>
                </a:solidFill>
              </a:rPr>
              <a:t>Latin America &amp; Asia</a:t>
            </a:r>
            <a:endParaRPr lang="en-US" sz="1600" dirty="0"/>
          </a:p>
        </p:txBody>
      </p:sp>
      <p:sp>
        <p:nvSpPr>
          <p:cNvPr id="12" name="Text 10"/>
          <p:cNvSpPr txBox="1"/>
          <p:nvPr/>
        </p:nvSpPr>
        <p:spPr>
          <a:xfrm>
            <a:off x="1143000" y="3520440"/>
            <a:ext cx="3063240" cy="868680"/>
          </a:xfrm>
          <a:prstGeom prst="rect">
            <a:avLst/>
          </a:prstGeom>
          <a:noFill/>
          <a:ln/>
        </p:spPr>
        <p:txBody>
          <a:bodyPr wrap="square" lIns="0" tIns="0" rIns="0" bIns="0" rtlCol="0" anchor="t"/>
          <a:lstStyle/>
          <a:p>
            <a:pPr indent="0" marL="0">
              <a:buNone/>
            </a:pPr>
            <a:r>
              <a:rPr lang="en-US" sz="1350" dirty="0">
                <a:solidFill>
                  <a:schemeClr val="accent6"/>
                </a:solidFill>
              </a:rPr>
              <a:t>Capsule cigarettes: you click a ball in the filter and the flavour changes.</a:t>
            </a:r>
            <a:endParaRPr lang="en-US" sz="1350" dirty="0"/>
          </a:p>
        </p:txBody>
      </p:sp>
      <p:sp>
        <p:nvSpPr>
          <p:cNvPr id="13" name="Shape 11"/>
          <p:cNvSpPr/>
          <p:nvPr/>
        </p:nvSpPr>
        <p:spPr>
          <a:xfrm>
            <a:off x="4709160" y="3017520"/>
            <a:ext cx="3520440" cy="1463040"/>
          </a:xfrm>
          <a:prstGeom prst="rect">
            <a:avLst/>
          </a:prstGeom>
          <a:solidFill>
            <a:schemeClr val="bg1"/>
          </a:solidFill>
          <a:ln w="12700">
            <a:solidFill>
              <a:schemeClr val="accent4"/>
            </a:solidFill>
            <a:prstDash val="solid"/>
          </a:ln>
        </p:spPr>
      </p:sp>
      <p:sp>
        <p:nvSpPr>
          <p:cNvPr id="14" name="Text 12"/>
          <p:cNvSpPr txBox="1"/>
          <p:nvPr/>
        </p:nvSpPr>
        <p:spPr>
          <a:xfrm>
            <a:off x="4937760" y="3154680"/>
            <a:ext cx="3063240" cy="320040"/>
          </a:xfrm>
          <a:prstGeom prst="rect">
            <a:avLst/>
          </a:prstGeom>
          <a:noFill/>
          <a:ln/>
        </p:spPr>
        <p:txBody>
          <a:bodyPr wrap="square" lIns="0" tIns="0" rIns="0" bIns="0" rtlCol="0" anchor="t"/>
          <a:lstStyle/>
          <a:p>
            <a:pPr indent="0" marL="0">
              <a:buNone/>
            </a:pPr>
            <a:r>
              <a:rPr lang="en-US" sz="1600" b="1" dirty="0">
                <a:solidFill>
                  <a:schemeClr val="accent2"/>
                </a:solidFill>
              </a:rPr>
              <a:t>Middle East</a:t>
            </a:r>
            <a:endParaRPr lang="en-US" sz="1600" dirty="0"/>
          </a:p>
        </p:txBody>
      </p:sp>
      <p:sp>
        <p:nvSpPr>
          <p:cNvPr id="15" name="Text 13"/>
          <p:cNvSpPr txBox="1"/>
          <p:nvPr/>
        </p:nvSpPr>
        <p:spPr>
          <a:xfrm>
            <a:off x="4937760" y="3520440"/>
            <a:ext cx="3063240" cy="868680"/>
          </a:xfrm>
          <a:prstGeom prst="rect">
            <a:avLst/>
          </a:prstGeom>
          <a:noFill/>
          <a:ln/>
        </p:spPr>
        <p:txBody>
          <a:bodyPr wrap="square" lIns="0" tIns="0" rIns="0" bIns="0" rtlCol="0" anchor="t"/>
          <a:lstStyle/>
          <a:p>
            <a:pPr indent="0" marL="0">
              <a:buNone/>
            </a:pPr>
            <a:r>
              <a:rPr lang="en-US" sz="1350" dirty="0">
                <a:solidFill>
                  <a:schemeClr val="accent6"/>
                </a:solidFill>
              </a:rPr>
              <a:t>Flavoured shisha (waterpipe) tobacco: apple, mint, grape.</a:t>
            </a:r>
            <a:endParaRPr lang="en-US" sz="1350" dirty="0"/>
          </a:p>
        </p:txBody>
      </p:sp>
      <p:sp>
        <p:nvSpPr>
          <p:cNvPr id="16" name="Shape 14"/>
          <p:cNvSpPr/>
          <p:nvPr/>
        </p:nvSpPr>
        <p:spPr>
          <a:xfrm>
            <a:off x="914400" y="4663440"/>
            <a:ext cx="3520440" cy="1463040"/>
          </a:xfrm>
          <a:prstGeom prst="rect">
            <a:avLst/>
          </a:prstGeom>
          <a:solidFill>
            <a:schemeClr val="bg1"/>
          </a:solidFill>
          <a:ln w="12700">
            <a:solidFill>
              <a:schemeClr val="accent4"/>
            </a:solidFill>
            <a:prstDash val="solid"/>
          </a:ln>
        </p:spPr>
      </p:sp>
      <p:sp>
        <p:nvSpPr>
          <p:cNvPr id="17" name="Text 15"/>
          <p:cNvSpPr txBox="1"/>
          <p:nvPr/>
        </p:nvSpPr>
        <p:spPr>
          <a:xfrm>
            <a:off x="1143000" y="4800600"/>
            <a:ext cx="3063240" cy="320040"/>
          </a:xfrm>
          <a:prstGeom prst="rect">
            <a:avLst/>
          </a:prstGeom>
          <a:noFill/>
          <a:ln/>
        </p:spPr>
        <p:txBody>
          <a:bodyPr wrap="square" lIns="0" tIns="0" rIns="0" bIns="0" rtlCol="0" anchor="t"/>
          <a:lstStyle/>
          <a:p>
            <a:pPr indent="0" marL="0">
              <a:buNone/>
            </a:pPr>
            <a:r>
              <a:rPr lang="en-US" sz="1600" b="1" dirty="0">
                <a:solidFill>
                  <a:schemeClr val="accent2"/>
                </a:solidFill>
              </a:rPr>
              <a:t>USA</a:t>
            </a:r>
            <a:endParaRPr lang="en-US" sz="1600" dirty="0"/>
          </a:p>
        </p:txBody>
      </p:sp>
      <p:sp>
        <p:nvSpPr>
          <p:cNvPr id="18" name="Text 16"/>
          <p:cNvSpPr txBox="1"/>
          <p:nvPr/>
        </p:nvSpPr>
        <p:spPr>
          <a:xfrm>
            <a:off x="1143000" y="5166360"/>
            <a:ext cx="3063240" cy="868680"/>
          </a:xfrm>
          <a:prstGeom prst="rect">
            <a:avLst/>
          </a:prstGeom>
          <a:noFill/>
          <a:ln/>
        </p:spPr>
        <p:txBody>
          <a:bodyPr wrap="square" lIns="0" tIns="0" rIns="0" bIns="0" rtlCol="0" anchor="t"/>
          <a:lstStyle/>
          <a:p>
            <a:pPr indent="0" marL="0">
              <a:buNone/>
            </a:pPr>
            <a:r>
              <a:rPr lang="en-US" sz="1350" dirty="0">
                <a:solidFill>
                  <a:schemeClr val="accent6"/>
                </a:solidFill>
              </a:rPr>
              <a:t>Menthol is used by nearly 85% of Black smokers, after decades of targeted marketing (FDA).</a:t>
            </a:r>
            <a:endParaRPr lang="en-US" sz="1350" dirty="0"/>
          </a:p>
        </p:txBody>
      </p:sp>
      <p:sp>
        <p:nvSpPr>
          <p:cNvPr id="19" name="Shape 17"/>
          <p:cNvSpPr/>
          <p:nvPr/>
        </p:nvSpPr>
        <p:spPr>
          <a:xfrm>
            <a:off x="4709160" y="4663440"/>
            <a:ext cx="3520440" cy="1463040"/>
          </a:xfrm>
          <a:prstGeom prst="rect">
            <a:avLst/>
          </a:prstGeom>
          <a:solidFill>
            <a:schemeClr val="bg2"/>
          </a:solidFill>
          <a:ln w="12700">
            <a:solidFill>
              <a:schemeClr val="bg2"/>
            </a:solidFill>
            <a:prstDash val="solid"/>
          </a:ln>
        </p:spPr>
      </p:sp>
      <p:sp>
        <p:nvSpPr>
          <p:cNvPr id="20" name="Text 18"/>
          <p:cNvSpPr txBox="1"/>
          <p:nvPr/>
        </p:nvSpPr>
        <p:spPr>
          <a:xfrm>
            <a:off x="4937760" y="4800600"/>
            <a:ext cx="3063240" cy="320040"/>
          </a:xfrm>
          <a:prstGeom prst="rect">
            <a:avLst/>
          </a:prstGeom>
          <a:noFill/>
          <a:ln/>
        </p:spPr>
        <p:txBody>
          <a:bodyPr wrap="square" lIns="0" tIns="0" rIns="0" bIns="0" rtlCol="0" anchor="t"/>
          <a:lstStyle/>
          <a:p>
            <a:pPr indent="0" marL="0">
              <a:buNone/>
            </a:pPr>
            <a:r>
              <a:rPr lang="en-US" sz="1600" b="1" dirty="0">
                <a:solidFill>
                  <a:schemeClr val="accent1"/>
                </a:solidFill>
              </a:rPr>
              <a:t>European Union</a:t>
            </a:r>
            <a:endParaRPr lang="en-US" sz="1600" dirty="0"/>
          </a:p>
        </p:txBody>
      </p:sp>
      <p:sp>
        <p:nvSpPr>
          <p:cNvPr id="21" name="Text 19"/>
          <p:cNvSpPr txBox="1"/>
          <p:nvPr/>
        </p:nvSpPr>
        <p:spPr>
          <a:xfrm>
            <a:off x="4937760" y="5166360"/>
            <a:ext cx="3063240" cy="868680"/>
          </a:xfrm>
          <a:prstGeom prst="rect">
            <a:avLst/>
          </a:prstGeom>
          <a:noFill/>
          <a:ln/>
        </p:spPr>
        <p:txBody>
          <a:bodyPr wrap="square" lIns="0" tIns="0" rIns="0" bIns="0" rtlCol="0" anchor="t"/>
          <a:lstStyle/>
          <a:p>
            <a:pPr indent="0" marL="0">
              <a:buNone/>
            </a:pPr>
            <a:r>
              <a:rPr lang="en-US" sz="1350" dirty="0">
                <a:solidFill>
                  <a:schemeClr val="accent6"/>
                </a:solidFill>
              </a:rPr>
              <a:t>No flavours at all since 2020: one taste fits all.</a:t>
            </a:r>
            <a:endParaRPr lang="en-US" sz="1350" dirty="0"/>
          </a:p>
        </p:txBody>
      </p:sp>
      <p:sp>
        <p:nvSpPr>
          <p:cNvPr id="23" name="Text 2"/>
          <p:cNvSpPr/>
          <p:nvPr>
            <p:ph type="pic" idx="104" hasCustomPrompt="1"/>
          </p:nvPr>
        </p:nvSpPr>
        <p:spPr>
          <a:xfrm>
            <a:off x="8549640" y="1417320"/>
            <a:ext cx="2953512" cy="4663440"/>
          </a:xfrm>
          <a:prstGeom prst="rect">
            <a:avLst/>
          </a:prstGeom>
          <a:noFill/>
          <a:ln/>
        </p:spPr>
        <p:txBody>
          <a:bodyPr wrap="square" rtlCol="0"/>
          <a:lstStyle/>
          <a:p>
            <a:pPr indent="0" marL="0">
              <a:buNone/>
            </a:pPr>
            <a:endParaRPr lang="en-US" sz="12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Product adaptation</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Why flavours get banned</a:t>
            </a:r>
            <a:endParaRPr lang="en-US" sz="2600" dirty="0"/>
          </a:p>
        </p:txBody>
      </p:sp>
      <p:sp>
        <p:nvSpPr>
          <p:cNvPr id="4" name="Text 2"/>
          <p:cNvSpPr txBox="1"/>
          <p:nvPr/>
        </p:nvSpPr>
        <p:spPr>
          <a:xfrm>
            <a:off x="914400" y="1234440"/>
            <a:ext cx="10588752" cy="365760"/>
          </a:xfrm>
          <a:prstGeom prst="rect">
            <a:avLst/>
          </a:prstGeom>
          <a:noFill/>
          <a:ln/>
        </p:spPr>
        <p:txBody>
          <a:bodyPr wrap="square" lIns="0" tIns="0" rIns="0" bIns="0" rtlCol="0" anchor="t"/>
          <a:lstStyle/>
          <a:p>
            <a:pPr indent="0" marL="0">
              <a:buNone/>
            </a:pPr>
            <a:r>
              <a:rPr lang="en-US" sz="1600" dirty="0">
                <a:solidFill>
                  <a:schemeClr val="accent6"/>
                </a:solidFill>
              </a:rPr>
              <a:t>Flavours change the first experience, and the first experience decides who starts.</a:t>
            </a:r>
            <a:endParaRPr lang="en-US" sz="1600" dirty="0"/>
          </a:p>
        </p:txBody>
      </p:sp>
      <p:sp>
        <p:nvSpPr>
          <p:cNvPr id="5" name="Shape 3"/>
          <p:cNvSpPr/>
          <p:nvPr/>
        </p:nvSpPr>
        <p:spPr>
          <a:xfrm>
            <a:off x="914400" y="1828800"/>
            <a:ext cx="5577840" cy="1188720"/>
          </a:xfrm>
          <a:prstGeom prst="rect">
            <a:avLst/>
          </a:prstGeom>
          <a:solidFill>
            <a:schemeClr val="bg2"/>
          </a:solidFill>
          <a:ln w="12700">
            <a:solidFill>
              <a:schemeClr val="bg2"/>
            </a:solidFill>
            <a:prstDash val="solid"/>
          </a:ln>
        </p:spPr>
      </p:sp>
      <p:sp>
        <p:nvSpPr>
          <p:cNvPr id="6" name="Shape 4"/>
          <p:cNvSpPr/>
          <p:nvPr/>
        </p:nvSpPr>
        <p:spPr>
          <a:xfrm>
            <a:off x="1143000" y="2130552"/>
            <a:ext cx="566928" cy="566928"/>
          </a:xfrm>
          <a:prstGeom prst="ellipse">
            <a:avLst/>
          </a:prstGeom>
          <a:solidFill>
            <a:schemeClr val="accent1"/>
          </a:solidFill>
          <a:ln w="12700">
            <a:solidFill>
              <a:schemeClr val="accent1"/>
            </a:solidFill>
            <a:prstDash val="solid"/>
          </a:ln>
        </p:spPr>
      </p:sp>
      <p:pic>
        <p:nvPicPr>
          <p:cNvPr id="7" name="Image 0" descr="preencoded.png">    </p:cNvPr>
          <p:cNvPicPr>
            <a:picLocks noChangeAspect="1"/>
          </p:cNvPicPr>
          <p:nvPr/>
        </p:nvPicPr>
        <p:blipFill>
          <a:blip r:embed="rId1"/>
          <a:stretch>
            <a:fillRect/>
          </a:stretch>
        </p:blipFill>
        <p:spPr>
          <a:xfrm>
            <a:off x="1284732" y="2272284"/>
            <a:ext cx="283464" cy="283464"/>
          </a:xfrm>
          <a:prstGeom prst="rect">
            <a:avLst/>
          </a:prstGeom>
        </p:spPr>
      </p:pic>
      <p:sp>
        <p:nvSpPr>
          <p:cNvPr id="8" name="Text 5"/>
          <p:cNvSpPr txBox="1"/>
          <p:nvPr/>
        </p:nvSpPr>
        <p:spPr>
          <a:xfrm>
            <a:off x="1920240" y="1984248"/>
            <a:ext cx="4389120" cy="329184"/>
          </a:xfrm>
          <a:prstGeom prst="rect">
            <a:avLst/>
          </a:prstGeom>
          <a:noFill/>
          <a:ln/>
        </p:spPr>
        <p:txBody>
          <a:bodyPr wrap="square" lIns="0" tIns="0" rIns="0" bIns="0" rtlCol="0" anchor="t"/>
          <a:lstStyle/>
          <a:p>
            <a:pPr indent="0" marL="0">
              <a:buNone/>
            </a:pPr>
            <a:r>
              <a:rPr lang="en-US" sz="1700" b="1" dirty="0">
                <a:solidFill>
                  <a:schemeClr val="accent1"/>
                </a:solidFill>
              </a:rPr>
              <a:t>Hide the harshness</a:t>
            </a:r>
            <a:endParaRPr lang="en-US" sz="1700" dirty="0"/>
          </a:p>
        </p:txBody>
      </p:sp>
      <p:sp>
        <p:nvSpPr>
          <p:cNvPr id="9" name="Text 6"/>
          <p:cNvSpPr txBox="1"/>
          <p:nvPr/>
        </p:nvSpPr>
        <p:spPr>
          <a:xfrm>
            <a:off x="1920240" y="2331720"/>
            <a:ext cx="4389120" cy="594360"/>
          </a:xfrm>
          <a:prstGeom prst="rect">
            <a:avLst/>
          </a:prstGeom>
          <a:noFill/>
          <a:ln/>
        </p:spPr>
        <p:txBody>
          <a:bodyPr wrap="square" lIns="0" tIns="0" rIns="0" bIns="0" rtlCol="0" anchor="t"/>
          <a:lstStyle/>
          <a:p>
            <a:pPr indent="0" marL="0">
              <a:buNone/>
            </a:pPr>
            <a:r>
              <a:rPr lang="en-US" sz="1400" dirty="0">
                <a:solidFill>
                  <a:schemeClr val="accent6"/>
                </a:solidFill>
              </a:rPr>
              <a:t>Menthol cools and numbs the throat, so smoke is easier to inhale.</a:t>
            </a:r>
            <a:endParaRPr lang="en-US" sz="1400" dirty="0"/>
          </a:p>
        </p:txBody>
      </p:sp>
      <p:sp>
        <p:nvSpPr>
          <p:cNvPr id="10" name="Shape 7"/>
          <p:cNvSpPr/>
          <p:nvPr/>
        </p:nvSpPr>
        <p:spPr>
          <a:xfrm>
            <a:off x="914400" y="3200400"/>
            <a:ext cx="5577840" cy="1188720"/>
          </a:xfrm>
          <a:prstGeom prst="rect">
            <a:avLst/>
          </a:prstGeom>
          <a:solidFill>
            <a:schemeClr val="bg2"/>
          </a:solidFill>
          <a:ln w="12700">
            <a:solidFill>
              <a:schemeClr val="bg2"/>
            </a:solidFill>
            <a:prstDash val="solid"/>
          </a:ln>
        </p:spPr>
      </p:sp>
      <p:sp>
        <p:nvSpPr>
          <p:cNvPr id="11" name="Shape 8"/>
          <p:cNvSpPr/>
          <p:nvPr/>
        </p:nvSpPr>
        <p:spPr>
          <a:xfrm>
            <a:off x="1143000" y="3502152"/>
            <a:ext cx="566928" cy="566928"/>
          </a:xfrm>
          <a:prstGeom prst="ellipse">
            <a:avLst/>
          </a:prstGeom>
          <a:solidFill>
            <a:schemeClr val="accent1"/>
          </a:solidFill>
          <a:ln w="12700">
            <a:solidFill>
              <a:schemeClr val="accent1"/>
            </a:solidFill>
            <a:prstDash val="solid"/>
          </a:ln>
        </p:spPr>
      </p:sp>
      <p:pic>
        <p:nvPicPr>
          <p:cNvPr id="12" name="Image 1" descr="preencoded.png">    </p:cNvPr>
          <p:cNvPicPr>
            <a:picLocks noChangeAspect="1"/>
          </p:cNvPicPr>
          <p:nvPr/>
        </p:nvPicPr>
        <p:blipFill>
          <a:blip r:embed="rId2"/>
          <a:stretch>
            <a:fillRect/>
          </a:stretch>
        </p:blipFill>
        <p:spPr>
          <a:xfrm>
            <a:off x="1284732" y="3643884"/>
            <a:ext cx="283464" cy="283464"/>
          </a:xfrm>
          <a:prstGeom prst="rect">
            <a:avLst/>
          </a:prstGeom>
        </p:spPr>
      </p:pic>
      <p:sp>
        <p:nvSpPr>
          <p:cNvPr id="13" name="Text 9"/>
          <p:cNvSpPr txBox="1"/>
          <p:nvPr/>
        </p:nvSpPr>
        <p:spPr>
          <a:xfrm>
            <a:off x="1920240" y="3355848"/>
            <a:ext cx="4389120" cy="329184"/>
          </a:xfrm>
          <a:prstGeom prst="rect">
            <a:avLst/>
          </a:prstGeom>
          <a:noFill/>
          <a:ln/>
        </p:spPr>
        <p:txBody>
          <a:bodyPr wrap="square" lIns="0" tIns="0" rIns="0" bIns="0" rtlCol="0" anchor="t"/>
          <a:lstStyle/>
          <a:p>
            <a:pPr indent="0" marL="0">
              <a:buNone/>
            </a:pPr>
            <a:r>
              <a:rPr lang="en-US" sz="1700" b="1" dirty="0">
                <a:solidFill>
                  <a:schemeClr val="accent1"/>
                </a:solidFill>
              </a:rPr>
              <a:t>Attract beginners</a:t>
            </a:r>
            <a:endParaRPr lang="en-US" sz="1700" dirty="0"/>
          </a:p>
        </p:txBody>
      </p:sp>
      <p:sp>
        <p:nvSpPr>
          <p:cNvPr id="14" name="Text 10"/>
          <p:cNvSpPr txBox="1"/>
          <p:nvPr/>
        </p:nvSpPr>
        <p:spPr>
          <a:xfrm>
            <a:off x="1920240" y="3703320"/>
            <a:ext cx="4389120" cy="594360"/>
          </a:xfrm>
          <a:prstGeom prst="rect">
            <a:avLst/>
          </a:prstGeom>
          <a:noFill/>
          <a:ln/>
        </p:spPr>
        <p:txBody>
          <a:bodyPr wrap="square" lIns="0" tIns="0" rIns="0" bIns="0" rtlCol="0" anchor="t"/>
          <a:lstStyle/>
          <a:p>
            <a:pPr indent="0" marL="0">
              <a:buNone/>
            </a:pPr>
            <a:r>
              <a:rPr lang="en-US" sz="1400" dirty="0">
                <a:solidFill>
                  <a:schemeClr val="accent6"/>
                </a:solidFill>
              </a:rPr>
              <a:t>Sweet tastes and capsules appeal to young people: perfect starter products.</a:t>
            </a:r>
            <a:endParaRPr lang="en-US" sz="1400" dirty="0"/>
          </a:p>
        </p:txBody>
      </p:sp>
      <p:sp>
        <p:nvSpPr>
          <p:cNvPr id="15" name="Shape 11"/>
          <p:cNvSpPr/>
          <p:nvPr/>
        </p:nvSpPr>
        <p:spPr>
          <a:xfrm>
            <a:off x="914400" y="4572000"/>
            <a:ext cx="5577840" cy="1188720"/>
          </a:xfrm>
          <a:prstGeom prst="rect">
            <a:avLst/>
          </a:prstGeom>
          <a:solidFill>
            <a:schemeClr val="bg2"/>
          </a:solidFill>
          <a:ln w="12700">
            <a:solidFill>
              <a:schemeClr val="bg2"/>
            </a:solidFill>
            <a:prstDash val="solid"/>
          </a:ln>
        </p:spPr>
      </p:sp>
      <p:sp>
        <p:nvSpPr>
          <p:cNvPr id="16" name="Shape 12"/>
          <p:cNvSpPr/>
          <p:nvPr/>
        </p:nvSpPr>
        <p:spPr>
          <a:xfrm>
            <a:off x="1143000" y="4873752"/>
            <a:ext cx="566928" cy="566928"/>
          </a:xfrm>
          <a:prstGeom prst="ellipse">
            <a:avLst/>
          </a:prstGeom>
          <a:solidFill>
            <a:schemeClr val="accent1"/>
          </a:solidFill>
          <a:ln w="12700">
            <a:solidFill>
              <a:schemeClr val="accent1"/>
            </a:solidFill>
            <a:prstDash val="solid"/>
          </a:ln>
        </p:spPr>
      </p:sp>
      <p:pic>
        <p:nvPicPr>
          <p:cNvPr id="17" name="Image 2" descr="preencoded.png">    </p:cNvPr>
          <p:cNvPicPr>
            <a:picLocks noChangeAspect="1"/>
          </p:cNvPicPr>
          <p:nvPr/>
        </p:nvPicPr>
        <p:blipFill>
          <a:blip r:embed="rId3"/>
          <a:stretch>
            <a:fillRect/>
          </a:stretch>
        </p:blipFill>
        <p:spPr>
          <a:xfrm>
            <a:off x="1284732" y="5015484"/>
            <a:ext cx="283464" cy="283464"/>
          </a:xfrm>
          <a:prstGeom prst="rect">
            <a:avLst/>
          </a:prstGeom>
        </p:spPr>
      </p:pic>
      <p:sp>
        <p:nvSpPr>
          <p:cNvPr id="18" name="Text 13"/>
          <p:cNvSpPr txBox="1"/>
          <p:nvPr/>
        </p:nvSpPr>
        <p:spPr>
          <a:xfrm>
            <a:off x="1920240" y="4727448"/>
            <a:ext cx="4389120" cy="329184"/>
          </a:xfrm>
          <a:prstGeom prst="rect">
            <a:avLst/>
          </a:prstGeom>
          <a:noFill/>
          <a:ln/>
        </p:spPr>
        <p:txBody>
          <a:bodyPr wrap="square" lIns="0" tIns="0" rIns="0" bIns="0" rtlCol="0" anchor="t"/>
          <a:lstStyle/>
          <a:p>
            <a:pPr indent="0" marL="0">
              <a:buNone/>
            </a:pPr>
            <a:r>
              <a:rPr lang="en-US" sz="1700" b="1" dirty="0">
                <a:solidFill>
                  <a:schemeClr val="accent1"/>
                </a:solidFill>
              </a:rPr>
              <a:t>Target groups</a:t>
            </a:r>
            <a:endParaRPr lang="en-US" sz="1700" dirty="0"/>
          </a:p>
        </p:txBody>
      </p:sp>
      <p:sp>
        <p:nvSpPr>
          <p:cNvPr id="19" name="Text 14"/>
          <p:cNvSpPr txBox="1"/>
          <p:nvPr/>
        </p:nvSpPr>
        <p:spPr>
          <a:xfrm>
            <a:off x="1920240" y="5074920"/>
            <a:ext cx="4389120" cy="594360"/>
          </a:xfrm>
          <a:prstGeom prst="rect">
            <a:avLst/>
          </a:prstGeom>
          <a:noFill/>
          <a:ln/>
        </p:spPr>
        <p:txBody>
          <a:bodyPr wrap="square" lIns="0" tIns="0" rIns="0" bIns="0" rtlCol="0" anchor="t"/>
          <a:lstStyle/>
          <a:p>
            <a:pPr indent="0" marL="0">
              <a:buNone/>
            </a:pPr>
            <a:r>
              <a:rPr lang="en-US" sz="1400" dirty="0">
                <a:solidFill>
                  <a:schemeClr val="accent6"/>
                </a:solidFill>
              </a:rPr>
              <a:t>Flavours were used to reach specific communities, e.g. menthol in Black US neighbourhoods.</a:t>
            </a:r>
            <a:endParaRPr lang="en-US" sz="1400" dirty="0"/>
          </a:p>
        </p:txBody>
      </p:sp>
      <p:sp>
        <p:nvSpPr>
          <p:cNvPr id="20" name="Text 15"/>
          <p:cNvSpPr txBox="1"/>
          <p:nvPr/>
        </p:nvSpPr>
        <p:spPr>
          <a:xfrm>
            <a:off x="6949440" y="1828800"/>
            <a:ext cx="4553712" cy="320040"/>
          </a:xfrm>
          <a:prstGeom prst="rect">
            <a:avLst/>
          </a:prstGeom>
          <a:noFill/>
          <a:ln/>
        </p:spPr>
        <p:txBody>
          <a:bodyPr wrap="square" lIns="0" tIns="0" rIns="0" bIns="0" rtlCol="0" anchor="t"/>
          <a:lstStyle/>
          <a:p>
            <a:pPr indent="0" marL="0">
              <a:buNone/>
            </a:pPr>
            <a:r>
              <a:rPr lang="en-US" sz="1400" b="1" dirty="0">
                <a:solidFill>
                  <a:schemeClr val="accent3"/>
                </a:solidFill>
              </a:rPr>
              <a:t>Key bans and fights</a:t>
            </a:r>
            <a:endParaRPr lang="en-US" sz="1400" dirty="0"/>
          </a:p>
        </p:txBody>
      </p:sp>
      <p:sp>
        <p:nvSpPr>
          <p:cNvPr id="21" name="Shape 16"/>
          <p:cNvSpPr/>
          <p:nvPr/>
        </p:nvSpPr>
        <p:spPr>
          <a:xfrm>
            <a:off x="7059168" y="2331720"/>
            <a:ext cx="0" cy="3520440"/>
          </a:xfrm>
          <a:prstGeom prst="line">
            <a:avLst/>
          </a:prstGeom>
          <a:noFill/>
          <a:ln w="25400">
            <a:solidFill>
              <a:schemeClr val="accent4"/>
            </a:solidFill>
            <a:prstDash val="solid"/>
          </a:ln>
        </p:spPr>
      </p:sp>
      <p:sp>
        <p:nvSpPr>
          <p:cNvPr id="22" name="Shape 17"/>
          <p:cNvSpPr/>
          <p:nvPr/>
        </p:nvSpPr>
        <p:spPr>
          <a:xfrm>
            <a:off x="6949440" y="2313432"/>
            <a:ext cx="219456" cy="219456"/>
          </a:xfrm>
          <a:prstGeom prst="ellipse">
            <a:avLst/>
          </a:prstGeom>
          <a:solidFill>
            <a:schemeClr val="accent1"/>
          </a:solidFill>
          <a:ln w="19050">
            <a:solidFill>
              <a:schemeClr val="bg1"/>
            </a:solidFill>
            <a:prstDash val="solid"/>
          </a:ln>
        </p:spPr>
      </p:sp>
      <p:sp>
        <p:nvSpPr>
          <p:cNvPr id="23" name="Text 18"/>
          <p:cNvSpPr txBox="1"/>
          <p:nvPr/>
        </p:nvSpPr>
        <p:spPr>
          <a:xfrm>
            <a:off x="7360920" y="2240280"/>
            <a:ext cx="731520" cy="365760"/>
          </a:xfrm>
          <a:prstGeom prst="rect">
            <a:avLst/>
          </a:prstGeom>
          <a:noFill/>
          <a:ln/>
        </p:spPr>
        <p:txBody>
          <a:bodyPr wrap="square" lIns="0" tIns="0" rIns="0" bIns="0" rtlCol="0" anchor="t"/>
          <a:lstStyle/>
          <a:p>
            <a:pPr indent="0" marL="0">
              <a:buNone/>
            </a:pPr>
            <a:r>
              <a:rPr lang="en-US" sz="1700" b="1" dirty="0">
                <a:solidFill>
                  <a:schemeClr val="accent1"/>
                </a:solidFill>
              </a:rPr>
              <a:t>2009</a:t>
            </a:r>
            <a:endParaRPr lang="en-US" sz="1700" dirty="0"/>
          </a:p>
        </p:txBody>
      </p:sp>
      <p:sp>
        <p:nvSpPr>
          <p:cNvPr id="24" name="Text 19"/>
          <p:cNvSpPr txBox="1"/>
          <p:nvPr/>
        </p:nvSpPr>
        <p:spPr>
          <a:xfrm>
            <a:off x="8138160" y="2267712"/>
            <a:ext cx="3364992" cy="685800"/>
          </a:xfrm>
          <a:prstGeom prst="rect">
            <a:avLst/>
          </a:prstGeom>
          <a:noFill/>
          <a:ln/>
        </p:spPr>
        <p:txBody>
          <a:bodyPr wrap="square" lIns="0" tIns="0" rIns="0" bIns="0" rtlCol="0" anchor="t"/>
          <a:lstStyle/>
          <a:p>
            <a:pPr indent="0" marL="0">
              <a:buNone/>
            </a:pPr>
            <a:r>
              <a:rPr lang="en-US" sz="1300" dirty="0">
                <a:solidFill>
                  <a:schemeClr val="accent6"/>
                </a:solidFill>
              </a:rPr>
              <a:t>USA bans all flavours, except menthol</a:t>
            </a:r>
            <a:endParaRPr lang="en-US" sz="1300" dirty="0"/>
          </a:p>
        </p:txBody>
      </p:sp>
      <p:sp>
        <p:nvSpPr>
          <p:cNvPr id="25" name="Shape 20"/>
          <p:cNvSpPr/>
          <p:nvPr/>
        </p:nvSpPr>
        <p:spPr>
          <a:xfrm>
            <a:off x="6949440" y="3072384"/>
            <a:ext cx="219456" cy="219456"/>
          </a:xfrm>
          <a:prstGeom prst="ellipse">
            <a:avLst/>
          </a:prstGeom>
          <a:solidFill>
            <a:schemeClr val="accent2"/>
          </a:solidFill>
          <a:ln w="19050">
            <a:solidFill>
              <a:schemeClr val="bg1"/>
            </a:solidFill>
            <a:prstDash val="solid"/>
          </a:ln>
        </p:spPr>
      </p:sp>
      <p:sp>
        <p:nvSpPr>
          <p:cNvPr id="26" name="Text 21"/>
          <p:cNvSpPr txBox="1"/>
          <p:nvPr/>
        </p:nvSpPr>
        <p:spPr>
          <a:xfrm>
            <a:off x="7360920" y="2999232"/>
            <a:ext cx="731520" cy="365760"/>
          </a:xfrm>
          <a:prstGeom prst="rect">
            <a:avLst/>
          </a:prstGeom>
          <a:noFill/>
          <a:ln/>
        </p:spPr>
        <p:txBody>
          <a:bodyPr wrap="square" lIns="0" tIns="0" rIns="0" bIns="0" rtlCol="0" anchor="t"/>
          <a:lstStyle/>
          <a:p>
            <a:pPr indent="0" marL="0">
              <a:buNone/>
            </a:pPr>
            <a:r>
              <a:rPr lang="en-US" sz="1700" b="1" dirty="0">
                <a:solidFill>
                  <a:schemeClr val="accent2"/>
                </a:solidFill>
              </a:rPr>
              <a:t>2012</a:t>
            </a:r>
            <a:endParaRPr lang="en-US" sz="1700" dirty="0"/>
          </a:p>
        </p:txBody>
      </p:sp>
      <p:sp>
        <p:nvSpPr>
          <p:cNvPr id="27" name="Text 22"/>
          <p:cNvSpPr txBox="1"/>
          <p:nvPr/>
        </p:nvSpPr>
        <p:spPr>
          <a:xfrm>
            <a:off x="8138160" y="3026664"/>
            <a:ext cx="3364992" cy="685800"/>
          </a:xfrm>
          <a:prstGeom prst="rect">
            <a:avLst/>
          </a:prstGeom>
          <a:noFill/>
          <a:ln/>
        </p:spPr>
        <p:txBody>
          <a:bodyPr wrap="square" lIns="0" tIns="0" rIns="0" bIns="0" rtlCol="0" anchor="t"/>
          <a:lstStyle/>
          <a:p>
            <a:pPr indent="0" marL="0">
              <a:buNone/>
            </a:pPr>
            <a:r>
              <a:rPr lang="en-US" sz="1300" dirty="0">
                <a:solidFill>
                  <a:schemeClr val="accent6"/>
                </a:solidFill>
              </a:rPr>
              <a:t>Indonesia wins at the WTO: banning clove but not menthol was discrimination</a:t>
            </a:r>
            <a:endParaRPr lang="en-US" sz="1300" dirty="0"/>
          </a:p>
        </p:txBody>
      </p:sp>
      <p:sp>
        <p:nvSpPr>
          <p:cNvPr id="28" name="Shape 23"/>
          <p:cNvSpPr/>
          <p:nvPr/>
        </p:nvSpPr>
        <p:spPr>
          <a:xfrm>
            <a:off x="6949440" y="3831336"/>
            <a:ext cx="219456" cy="219456"/>
          </a:xfrm>
          <a:prstGeom prst="ellipse">
            <a:avLst/>
          </a:prstGeom>
          <a:solidFill>
            <a:schemeClr val="accent1"/>
          </a:solidFill>
          <a:ln w="19050">
            <a:solidFill>
              <a:schemeClr val="bg1"/>
            </a:solidFill>
            <a:prstDash val="solid"/>
          </a:ln>
        </p:spPr>
      </p:sp>
      <p:sp>
        <p:nvSpPr>
          <p:cNvPr id="29" name="Text 24"/>
          <p:cNvSpPr txBox="1"/>
          <p:nvPr/>
        </p:nvSpPr>
        <p:spPr>
          <a:xfrm>
            <a:off x="7360920" y="3758184"/>
            <a:ext cx="731520" cy="365760"/>
          </a:xfrm>
          <a:prstGeom prst="rect">
            <a:avLst/>
          </a:prstGeom>
          <a:noFill/>
          <a:ln/>
        </p:spPr>
        <p:txBody>
          <a:bodyPr wrap="square" lIns="0" tIns="0" rIns="0" bIns="0" rtlCol="0" anchor="t"/>
          <a:lstStyle/>
          <a:p>
            <a:pPr indent="0" marL="0">
              <a:buNone/>
            </a:pPr>
            <a:r>
              <a:rPr lang="en-US" sz="1700" b="1" dirty="0">
                <a:solidFill>
                  <a:schemeClr val="accent1"/>
                </a:solidFill>
              </a:rPr>
              <a:t>2020</a:t>
            </a:r>
            <a:endParaRPr lang="en-US" sz="1700" dirty="0"/>
          </a:p>
        </p:txBody>
      </p:sp>
      <p:sp>
        <p:nvSpPr>
          <p:cNvPr id="30" name="Text 25"/>
          <p:cNvSpPr txBox="1"/>
          <p:nvPr/>
        </p:nvSpPr>
        <p:spPr>
          <a:xfrm>
            <a:off x="8138160" y="3785616"/>
            <a:ext cx="3364992" cy="685800"/>
          </a:xfrm>
          <a:prstGeom prst="rect">
            <a:avLst/>
          </a:prstGeom>
          <a:noFill/>
          <a:ln/>
        </p:spPr>
        <p:txBody>
          <a:bodyPr wrap="square" lIns="0" tIns="0" rIns="0" bIns="0" rtlCol="0" anchor="t"/>
          <a:lstStyle/>
          <a:p>
            <a:pPr indent="0" marL="0">
              <a:buNone/>
            </a:pPr>
            <a:r>
              <a:rPr lang="en-US" sz="1300" dirty="0">
                <a:solidFill>
                  <a:schemeClr val="accent6"/>
                </a:solidFill>
              </a:rPr>
              <a:t>EU bans menthol cigarettes</a:t>
            </a:r>
            <a:endParaRPr lang="en-US" sz="1300" dirty="0"/>
          </a:p>
        </p:txBody>
      </p:sp>
      <p:sp>
        <p:nvSpPr>
          <p:cNvPr id="31" name="Shape 26"/>
          <p:cNvSpPr/>
          <p:nvPr/>
        </p:nvSpPr>
        <p:spPr>
          <a:xfrm>
            <a:off x="6949440" y="4590288"/>
            <a:ext cx="219456" cy="219456"/>
          </a:xfrm>
          <a:prstGeom prst="ellipse">
            <a:avLst/>
          </a:prstGeom>
          <a:solidFill>
            <a:schemeClr val="accent1"/>
          </a:solidFill>
          <a:ln w="19050">
            <a:solidFill>
              <a:schemeClr val="bg1"/>
            </a:solidFill>
            <a:prstDash val="solid"/>
          </a:ln>
        </p:spPr>
      </p:sp>
      <p:sp>
        <p:nvSpPr>
          <p:cNvPr id="32" name="Text 27"/>
          <p:cNvSpPr txBox="1"/>
          <p:nvPr/>
        </p:nvSpPr>
        <p:spPr>
          <a:xfrm>
            <a:off x="7360920" y="4517136"/>
            <a:ext cx="731520" cy="365760"/>
          </a:xfrm>
          <a:prstGeom prst="rect">
            <a:avLst/>
          </a:prstGeom>
          <a:noFill/>
          <a:ln/>
        </p:spPr>
        <p:txBody>
          <a:bodyPr wrap="square" lIns="0" tIns="0" rIns="0" bIns="0" rtlCol="0" anchor="t"/>
          <a:lstStyle/>
          <a:p>
            <a:pPr indent="0" marL="0">
              <a:buNone/>
            </a:pPr>
            <a:r>
              <a:rPr lang="en-US" sz="1700" b="1" dirty="0">
                <a:solidFill>
                  <a:schemeClr val="accent1"/>
                </a:solidFill>
              </a:rPr>
              <a:t>2023</a:t>
            </a:r>
            <a:endParaRPr lang="en-US" sz="1700" dirty="0"/>
          </a:p>
        </p:txBody>
      </p:sp>
      <p:sp>
        <p:nvSpPr>
          <p:cNvPr id="33" name="Text 28"/>
          <p:cNvSpPr txBox="1"/>
          <p:nvPr/>
        </p:nvSpPr>
        <p:spPr>
          <a:xfrm>
            <a:off x="8138160" y="4544568"/>
            <a:ext cx="3364992" cy="685800"/>
          </a:xfrm>
          <a:prstGeom prst="rect">
            <a:avLst/>
          </a:prstGeom>
          <a:noFill/>
          <a:ln/>
        </p:spPr>
        <p:txBody>
          <a:bodyPr wrap="square" lIns="0" tIns="0" rIns="0" bIns="0" rtlCol="0" anchor="t"/>
          <a:lstStyle/>
          <a:p>
            <a:pPr indent="0" marL="0">
              <a:buNone/>
            </a:pPr>
            <a:r>
              <a:rPr lang="en-US" sz="1300" dirty="0">
                <a:solidFill>
                  <a:schemeClr val="accent6"/>
                </a:solidFill>
              </a:rPr>
              <a:t>EU extends the ban to heated tobacco</a:t>
            </a:r>
            <a:endParaRPr lang="en-US" sz="1300" dirty="0"/>
          </a:p>
        </p:txBody>
      </p:sp>
      <p:sp>
        <p:nvSpPr>
          <p:cNvPr id="34" name="Shape 29"/>
          <p:cNvSpPr/>
          <p:nvPr/>
        </p:nvSpPr>
        <p:spPr>
          <a:xfrm>
            <a:off x="6949440" y="5349240"/>
            <a:ext cx="219456" cy="219456"/>
          </a:xfrm>
          <a:prstGeom prst="ellipse">
            <a:avLst/>
          </a:prstGeom>
          <a:solidFill>
            <a:schemeClr val="accent1"/>
          </a:solidFill>
          <a:ln w="19050">
            <a:solidFill>
              <a:schemeClr val="bg1"/>
            </a:solidFill>
            <a:prstDash val="solid"/>
          </a:ln>
        </p:spPr>
      </p:sp>
      <p:sp>
        <p:nvSpPr>
          <p:cNvPr id="35" name="Text 30"/>
          <p:cNvSpPr txBox="1"/>
          <p:nvPr/>
        </p:nvSpPr>
        <p:spPr>
          <a:xfrm>
            <a:off x="7360920" y="5276088"/>
            <a:ext cx="731520" cy="365760"/>
          </a:xfrm>
          <a:prstGeom prst="rect">
            <a:avLst/>
          </a:prstGeom>
          <a:noFill/>
          <a:ln/>
        </p:spPr>
        <p:txBody>
          <a:bodyPr wrap="square" lIns="0" tIns="0" rIns="0" bIns="0" rtlCol="0" anchor="t"/>
          <a:lstStyle/>
          <a:p>
            <a:pPr indent="0" marL="0">
              <a:buNone/>
            </a:pPr>
            <a:r>
              <a:rPr lang="en-US" sz="1700" b="1" dirty="0">
                <a:solidFill>
                  <a:schemeClr val="accent1"/>
                </a:solidFill>
              </a:rPr>
              <a:t>2025</a:t>
            </a:r>
            <a:endParaRPr lang="en-US" sz="1700" dirty="0"/>
          </a:p>
        </p:txBody>
      </p:sp>
      <p:sp>
        <p:nvSpPr>
          <p:cNvPr id="36" name="Text 31"/>
          <p:cNvSpPr txBox="1"/>
          <p:nvPr/>
        </p:nvSpPr>
        <p:spPr>
          <a:xfrm>
            <a:off x="8138160" y="5303520"/>
            <a:ext cx="3364992" cy="685800"/>
          </a:xfrm>
          <a:prstGeom prst="rect">
            <a:avLst/>
          </a:prstGeom>
          <a:noFill/>
          <a:ln/>
        </p:spPr>
        <p:txBody>
          <a:bodyPr wrap="square" lIns="0" tIns="0" rIns="0" bIns="0" rtlCol="0" anchor="t"/>
          <a:lstStyle/>
          <a:p>
            <a:pPr indent="0" marL="0">
              <a:buNone/>
            </a:pPr>
            <a:r>
              <a:rPr lang="en-US" sz="1300" dirty="0">
                <a:solidFill>
                  <a:schemeClr val="accent6"/>
                </a:solidFill>
              </a:rPr>
              <a:t>USA withdraws its proposed menthol ban</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Marketing mix</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Marketing without advertising: the 4Ps adapted</a:t>
            </a:r>
            <a:endParaRPr lang="en-US" sz="2600" dirty="0"/>
          </a:p>
        </p:txBody>
      </p:sp>
      <p:sp>
        <p:nvSpPr>
          <p:cNvPr id="4" name="Shape 2"/>
          <p:cNvSpPr/>
          <p:nvPr/>
        </p:nvSpPr>
        <p:spPr>
          <a:xfrm>
            <a:off x="914400" y="1371600"/>
            <a:ext cx="5157216" cy="2011680"/>
          </a:xfrm>
          <a:prstGeom prst="rect">
            <a:avLst/>
          </a:prstGeom>
          <a:solidFill>
            <a:schemeClr val="bg1"/>
          </a:solidFill>
          <a:ln w="12700">
            <a:solidFill>
              <a:schemeClr val="accent4"/>
            </a:solidFill>
            <a:prstDash val="solid"/>
          </a:ln>
        </p:spPr>
      </p:sp>
      <p:sp>
        <p:nvSpPr>
          <p:cNvPr id="5" name="Shape 3"/>
          <p:cNvSpPr/>
          <p:nvPr/>
        </p:nvSpPr>
        <p:spPr>
          <a:xfrm>
            <a:off x="1188720" y="1645920"/>
            <a:ext cx="566928" cy="566928"/>
          </a:xfrm>
          <a:prstGeom prst="ellipse">
            <a:avLst/>
          </a:prstGeom>
          <a:solidFill>
            <a:schemeClr val="accent1"/>
          </a:solidFill>
          <a:ln w="12700">
            <a:solidFill>
              <a:schemeClr val="accent1"/>
            </a:solidFill>
            <a:prstDash val="solid"/>
          </a:ln>
        </p:spPr>
      </p:sp>
      <p:pic>
        <p:nvPicPr>
          <p:cNvPr id="6" name="Image 0" descr="preencoded.png">    </p:cNvPr>
          <p:cNvPicPr>
            <a:picLocks noChangeAspect="1"/>
          </p:cNvPicPr>
          <p:nvPr/>
        </p:nvPicPr>
        <p:blipFill>
          <a:blip r:embed="rId1"/>
          <a:stretch>
            <a:fillRect/>
          </a:stretch>
        </p:blipFill>
        <p:spPr>
          <a:xfrm>
            <a:off x="1330452" y="1787652"/>
            <a:ext cx="283464" cy="283464"/>
          </a:xfrm>
          <a:prstGeom prst="rect">
            <a:avLst/>
          </a:prstGeom>
        </p:spPr>
      </p:pic>
      <p:sp>
        <p:nvSpPr>
          <p:cNvPr id="7" name="Text 4"/>
          <p:cNvSpPr txBox="1"/>
          <p:nvPr/>
        </p:nvSpPr>
        <p:spPr>
          <a:xfrm>
            <a:off x="1965960" y="1719072"/>
            <a:ext cx="3831336" cy="411480"/>
          </a:xfrm>
          <a:prstGeom prst="rect">
            <a:avLst/>
          </a:prstGeom>
          <a:noFill/>
          <a:ln/>
        </p:spPr>
        <p:txBody>
          <a:bodyPr wrap="square" lIns="0" tIns="0" rIns="0" bIns="0" rtlCol="0" anchor="t"/>
          <a:lstStyle/>
          <a:p>
            <a:pPr indent="0" marL="0">
              <a:buNone/>
            </a:pPr>
            <a:r>
              <a:rPr lang="en-US" sz="2000" b="1" dirty="0">
                <a:solidFill>
                  <a:schemeClr val="accent1"/>
                </a:solidFill>
              </a:rPr>
              <a:t>Product</a:t>
            </a:r>
            <a:endParaRPr lang="en-US" sz="2000" dirty="0"/>
          </a:p>
        </p:txBody>
      </p:sp>
      <p:sp>
        <p:nvSpPr>
          <p:cNvPr id="8" name="Text 5"/>
          <p:cNvSpPr txBox="1"/>
          <p:nvPr/>
        </p:nvSpPr>
        <p:spPr>
          <a:xfrm>
            <a:off x="1188720" y="2377440"/>
            <a:ext cx="4608576" cy="1005840"/>
          </a:xfrm>
          <a:prstGeom prst="rect">
            <a:avLst/>
          </a:prstGeom>
          <a:noFill/>
          <a:ln/>
        </p:spPr>
        <p:txBody>
          <a:bodyPr wrap="square" lIns="0" tIns="0" rIns="0" bIns="0" rtlCol="0" anchor="t"/>
          <a:lstStyle/>
          <a:p>
            <a:pPr indent="0" marL="0">
              <a:buNone/>
            </a:pPr>
            <a:r>
              <a:rPr lang="en-US" sz="1500" dirty="0">
                <a:solidFill>
                  <a:schemeClr val="accent6"/>
                </a:solidFill>
              </a:rPr>
              <a:t>Capsules, slim packs aimed at women, kretek, heated tobacco (IQOS), nicotine pouches (ZYN).</a:t>
            </a:r>
            <a:endParaRPr lang="en-US" sz="1500" dirty="0"/>
          </a:p>
        </p:txBody>
      </p:sp>
      <p:sp>
        <p:nvSpPr>
          <p:cNvPr id="9" name="Shape 6"/>
          <p:cNvSpPr/>
          <p:nvPr/>
        </p:nvSpPr>
        <p:spPr>
          <a:xfrm>
            <a:off x="6345936" y="1371600"/>
            <a:ext cx="5157216" cy="2011680"/>
          </a:xfrm>
          <a:prstGeom prst="rect">
            <a:avLst/>
          </a:prstGeom>
          <a:solidFill>
            <a:schemeClr val="bg1"/>
          </a:solidFill>
          <a:ln w="12700">
            <a:solidFill>
              <a:schemeClr val="accent4"/>
            </a:solidFill>
            <a:prstDash val="solid"/>
          </a:ln>
        </p:spPr>
      </p:sp>
      <p:sp>
        <p:nvSpPr>
          <p:cNvPr id="10" name="Shape 7"/>
          <p:cNvSpPr/>
          <p:nvPr/>
        </p:nvSpPr>
        <p:spPr>
          <a:xfrm>
            <a:off x="6620256" y="1645920"/>
            <a:ext cx="566928" cy="566928"/>
          </a:xfrm>
          <a:prstGeom prst="ellipse">
            <a:avLst/>
          </a:prstGeom>
          <a:solidFill>
            <a:schemeClr val="accent1"/>
          </a:solidFill>
          <a:ln w="12700">
            <a:solidFill>
              <a:schemeClr val="accent1"/>
            </a:solidFill>
            <a:prstDash val="solid"/>
          </a:ln>
        </p:spPr>
      </p:sp>
      <p:pic>
        <p:nvPicPr>
          <p:cNvPr id="11" name="Image 1" descr="preencoded.png">    </p:cNvPr>
          <p:cNvPicPr>
            <a:picLocks noChangeAspect="1"/>
          </p:cNvPicPr>
          <p:nvPr/>
        </p:nvPicPr>
        <p:blipFill>
          <a:blip r:embed="rId2"/>
          <a:stretch>
            <a:fillRect/>
          </a:stretch>
        </p:blipFill>
        <p:spPr>
          <a:xfrm>
            <a:off x="6761988" y="1787652"/>
            <a:ext cx="283464" cy="283464"/>
          </a:xfrm>
          <a:prstGeom prst="rect">
            <a:avLst/>
          </a:prstGeom>
        </p:spPr>
      </p:pic>
      <p:sp>
        <p:nvSpPr>
          <p:cNvPr id="12" name="Text 8"/>
          <p:cNvSpPr txBox="1"/>
          <p:nvPr/>
        </p:nvSpPr>
        <p:spPr>
          <a:xfrm>
            <a:off x="7397496" y="1719072"/>
            <a:ext cx="3831336" cy="411480"/>
          </a:xfrm>
          <a:prstGeom prst="rect">
            <a:avLst/>
          </a:prstGeom>
          <a:noFill/>
          <a:ln/>
        </p:spPr>
        <p:txBody>
          <a:bodyPr wrap="square" lIns="0" tIns="0" rIns="0" bIns="0" rtlCol="0" anchor="t"/>
          <a:lstStyle/>
          <a:p>
            <a:pPr indent="0" marL="0">
              <a:buNone/>
            </a:pPr>
            <a:r>
              <a:rPr lang="en-US" sz="2000" b="1" dirty="0">
                <a:solidFill>
                  <a:schemeClr val="accent1"/>
                </a:solidFill>
              </a:rPr>
              <a:t>Price</a:t>
            </a:r>
            <a:endParaRPr lang="en-US" sz="2000" dirty="0"/>
          </a:p>
        </p:txBody>
      </p:sp>
      <p:sp>
        <p:nvSpPr>
          <p:cNvPr id="13" name="Text 9"/>
          <p:cNvSpPr txBox="1"/>
          <p:nvPr/>
        </p:nvSpPr>
        <p:spPr>
          <a:xfrm>
            <a:off x="6620256" y="2377440"/>
            <a:ext cx="4608576" cy="1005840"/>
          </a:xfrm>
          <a:prstGeom prst="rect">
            <a:avLst/>
          </a:prstGeom>
          <a:noFill/>
          <a:ln/>
        </p:spPr>
        <p:txBody>
          <a:bodyPr wrap="square" lIns="0" tIns="0" rIns="0" bIns="0" rtlCol="0" anchor="t"/>
          <a:lstStyle/>
          <a:p>
            <a:pPr indent="0" marL="0">
              <a:buNone/>
            </a:pPr>
            <a:r>
              <a:rPr lang="en-US" sz="1500" dirty="0">
                <a:solidFill>
                  <a:schemeClr val="accent6"/>
                </a:solidFill>
              </a:rPr>
              <a:t>Single sticks and small packs in poorer markets match daily incomes. Excise taxes shape every price tier.</a:t>
            </a:r>
            <a:endParaRPr lang="en-US" sz="1500" dirty="0"/>
          </a:p>
        </p:txBody>
      </p:sp>
      <p:sp>
        <p:nvSpPr>
          <p:cNvPr id="14" name="Shape 10"/>
          <p:cNvSpPr/>
          <p:nvPr/>
        </p:nvSpPr>
        <p:spPr>
          <a:xfrm>
            <a:off x="914400" y="3657600"/>
            <a:ext cx="5157216" cy="2011680"/>
          </a:xfrm>
          <a:prstGeom prst="rect">
            <a:avLst/>
          </a:prstGeom>
          <a:solidFill>
            <a:schemeClr val="bg1"/>
          </a:solidFill>
          <a:ln w="12700">
            <a:solidFill>
              <a:schemeClr val="accent4"/>
            </a:solidFill>
            <a:prstDash val="solid"/>
          </a:ln>
        </p:spPr>
      </p:sp>
      <p:sp>
        <p:nvSpPr>
          <p:cNvPr id="15" name="Shape 11"/>
          <p:cNvSpPr/>
          <p:nvPr/>
        </p:nvSpPr>
        <p:spPr>
          <a:xfrm>
            <a:off x="1188720" y="3931920"/>
            <a:ext cx="566928" cy="566928"/>
          </a:xfrm>
          <a:prstGeom prst="ellipse">
            <a:avLst/>
          </a:prstGeom>
          <a:solidFill>
            <a:schemeClr val="accent1"/>
          </a:solidFill>
          <a:ln w="12700">
            <a:solidFill>
              <a:schemeClr val="accent1"/>
            </a:solidFill>
            <a:prstDash val="solid"/>
          </a:ln>
        </p:spPr>
      </p:sp>
      <p:pic>
        <p:nvPicPr>
          <p:cNvPr id="16" name="Image 2" descr="preencoded.png">    </p:cNvPr>
          <p:cNvPicPr>
            <a:picLocks noChangeAspect="1"/>
          </p:cNvPicPr>
          <p:nvPr/>
        </p:nvPicPr>
        <p:blipFill>
          <a:blip r:embed="rId3"/>
          <a:stretch>
            <a:fillRect/>
          </a:stretch>
        </p:blipFill>
        <p:spPr>
          <a:xfrm>
            <a:off x="1330452" y="4073652"/>
            <a:ext cx="283464" cy="283464"/>
          </a:xfrm>
          <a:prstGeom prst="rect">
            <a:avLst/>
          </a:prstGeom>
        </p:spPr>
      </p:pic>
      <p:sp>
        <p:nvSpPr>
          <p:cNvPr id="17" name="Text 12"/>
          <p:cNvSpPr txBox="1"/>
          <p:nvPr/>
        </p:nvSpPr>
        <p:spPr>
          <a:xfrm>
            <a:off x="1965960" y="4005072"/>
            <a:ext cx="3831336" cy="411480"/>
          </a:xfrm>
          <a:prstGeom prst="rect">
            <a:avLst/>
          </a:prstGeom>
          <a:noFill/>
          <a:ln/>
        </p:spPr>
        <p:txBody>
          <a:bodyPr wrap="square" lIns="0" tIns="0" rIns="0" bIns="0" rtlCol="0" anchor="t"/>
          <a:lstStyle/>
          <a:p>
            <a:pPr indent="0" marL="0">
              <a:buNone/>
            </a:pPr>
            <a:r>
              <a:rPr lang="en-US" sz="2000" b="1" dirty="0">
                <a:solidFill>
                  <a:schemeClr val="accent1"/>
                </a:solidFill>
              </a:rPr>
              <a:t>Place</a:t>
            </a:r>
            <a:endParaRPr lang="en-US" sz="2000" dirty="0"/>
          </a:p>
        </p:txBody>
      </p:sp>
      <p:sp>
        <p:nvSpPr>
          <p:cNvPr id="18" name="Text 13"/>
          <p:cNvSpPr txBox="1"/>
          <p:nvPr/>
        </p:nvSpPr>
        <p:spPr>
          <a:xfrm>
            <a:off x="1188720" y="4663440"/>
            <a:ext cx="4608576" cy="1005840"/>
          </a:xfrm>
          <a:prstGeom prst="rect">
            <a:avLst/>
          </a:prstGeom>
          <a:noFill/>
          <a:ln/>
        </p:spPr>
        <p:txBody>
          <a:bodyPr wrap="square" lIns="0" tIns="0" rIns="0" bIns="0" rtlCol="0" anchor="t"/>
          <a:lstStyle/>
          <a:p>
            <a:pPr indent="0" marL="0">
              <a:buNone/>
            </a:pPr>
            <a:r>
              <a:rPr lang="en-US" sz="1500" dirty="0">
                <a:solidFill>
                  <a:schemeClr val="accent6"/>
                </a:solidFill>
              </a:rPr>
              <a:t>Kiosks, Indonesian warungs, South African spaza shops, duty-free. Hungary: state-licensed National Tobacco Shops since 2013.</a:t>
            </a:r>
            <a:endParaRPr lang="en-US" sz="1500" dirty="0"/>
          </a:p>
        </p:txBody>
      </p:sp>
      <p:sp>
        <p:nvSpPr>
          <p:cNvPr id="19" name="Shape 14"/>
          <p:cNvSpPr/>
          <p:nvPr/>
        </p:nvSpPr>
        <p:spPr>
          <a:xfrm>
            <a:off x="6345936" y="3657600"/>
            <a:ext cx="5157216" cy="2011680"/>
          </a:xfrm>
          <a:prstGeom prst="rect">
            <a:avLst/>
          </a:prstGeom>
          <a:solidFill>
            <a:schemeClr val="bg1"/>
          </a:solidFill>
          <a:ln w="12700">
            <a:solidFill>
              <a:schemeClr val="accent4"/>
            </a:solidFill>
            <a:prstDash val="solid"/>
          </a:ln>
        </p:spPr>
      </p:sp>
      <p:sp>
        <p:nvSpPr>
          <p:cNvPr id="20" name="Shape 15"/>
          <p:cNvSpPr/>
          <p:nvPr/>
        </p:nvSpPr>
        <p:spPr>
          <a:xfrm>
            <a:off x="6620256" y="3931920"/>
            <a:ext cx="566928" cy="566928"/>
          </a:xfrm>
          <a:prstGeom prst="ellipse">
            <a:avLst/>
          </a:prstGeom>
          <a:solidFill>
            <a:schemeClr val="accent2"/>
          </a:solidFill>
          <a:ln w="12700">
            <a:solidFill>
              <a:schemeClr val="accent2"/>
            </a:solidFill>
            <a:prstDash val="solid"/>
          </a:ln>
        </p:spPr>
      </p:sp>
      <p:pic>
        <p:nvPicPr>
          <p:cNvPr id="21" name="Image 3" descr="preencoded.png">    </p:cNvPr>
          <p:cNvPicPr>
            <a:picLocks noChangeAspect="1"/>
          </p:cNvPicPr>
          <p:nvPr/>
        </p:nvPicPr>
        <p:blipFill>
          <a:blip r:embed="rId4"/>
          <a:stretch>
            <a:fillRect/>
          </a:stretch>
        </p:blipFill>
        <p:spPr>
          <a:xfrm>
            <a:off x="6761988" y="4073652"/>
            <a:ext cx="283464" cy="283464"/>
          </a:xfrm>
          <a:prstGeom prst="rect">
            <a:avLst/>
          </a:prstGeom>
        </p:spPr>
      </p:pic>
      <p:sp>
        <p:nvSpPr>
          <p:cNvPr id="22" name="Text 16"/>
          <p:cNvSpPr txBox="1"/>
          <p:nvPr/>
        </p:nvSpPr>
        <p:spPr>
          <a:xfrm>
            <a:off x="7397496" y="4005072"/>
            <a:ext cx="3831336" cy="411480"/>
          </a:xfrm>
          <a:prstGeom prst="rect">
            <a:avLst/>
          </a:prstGeom>
          <a:noFill/>
          <a:ln/>
        </p:spPr>
        <p:txBody>
          <a:bodyPr wrap="square" lIns="0" tIns="0" rIns="0" bIns="0" rtlCol="0" anchor="t"/>
          <a:lstStyle/>
          <a:p>
            <a:pPr indent="0" marL="0">
              <a:buNone/>
            </a:pPr>
            <a:r>
              <a:rPr lang="en-US" sz="2000" b="1" dirty="0">
                <a:solidFill>
                  <a:schemeClr val="accent2"/>
                </a:solidFill>
              </a:rPr>
              <a:t>Promotion</a:t>
            </a:r>
            <a:endParaRPr lang="en-US" sz="2000" dirty="0"/>
          </a:p>
        </p:txBody>
      </p:sp>
      <p:sp>
        <p:nvSpPr>
          <p:cNvPr id="23" name="Text 17"/>
          <p:cNvSpPr txBox="1"/>
          <p:nvPr/>
        </p:nvSpPr>
        <p:spPr>
          <a:xfrm>
            <a:off x="6620256" y="4663440"/>
            <a:ext cx="4608576" cy="1005840"/>
          </a:xfrm>
          <a:prstGeom prst="rect">
            <a:avLst/>
          </a:prstGeom>
          <a:noFill/>
          <a:ln/>
        </p:spPr>
        <p:txBody>
          <a:bodyPr wrap="square" lIns="0" tIns="0" rIns="0" bIns="0" rtlCol="0" anchor="t"/>
          <a:lstStyle/>
          <a:p>
            <a:pPr indent="0" marL="0">
              <a:buNone/>
            </a:pPr>
            <a:r>
              <a:rPr lang="en-US" sz="1500" dirty="0">
                <a:solidFill>
                  <a:schemeClr val="accent6"/>
                </a:solidFill>
              </a:rPr>
              <a:t>Ferrari F1 “Mission Winnow” (2018–21), sports sponsorship in Indonesia, influencers who don’t disclose payment, and the pack itself.</a:t>
            </a:r>
            <a:endParaRPr lang="en-US" sz="1500" dirty="0"/>
          </a:p>
        </p:txBody>
      </p:sp>
      <p:sp>
        <p:nvSpPr>
          <p:cNvPr id="24" name="Text 18"/>
          <p:cNvSpPr txBox="1"/>
          <p:nvPr/>
        </p:nvSpPr>
        <p:spPr>
          <a:xfrm>
            <a:off x="914400" y="5897880"/>
            <a:ext cx="10588752" cy="320040"/>
          </a:xfrm>
          <a:prstGeom prst="rect">
            <a:avLst/>
          </a:prstGeom>
          <a:noFill/>
          <a:ln/>
        </p:spPr>
        <p:txBody>
          <a:bodyPr wrap="square" lIns="0" tIns="0" rIns="0" bIns="0" rtlCol="0" anchor="t"/>
          <a:lstStyle/>
          <a:p>
            <a:pPr indent="0" marL="0">
              <a:buNone/>
            </a:pPr>
            <a:r>
              <a:rPr lang="en-US" sz="1400" i="1" dirty="0">
                <a:solidFill>
                  <a:schemeClr val="accent3"/>
                </a:solidFill>
              </a:rPr>
              <a:t>When mass media is closed, the product, the price and the shop do the selling.</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The future</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The smoke-free pivot: strategy or rebranding?</a:t>
            </a:r>
            <a:endParaRPr lang="en-US" sz="2600" dirty="0"/>
          </a:p>
        </p:txBody>
      </p:sp>
      <p:graphicFrame>
        <p:nvGraphicFramePr>
          <p:cNvPr id="4" name="Chart 0" descr=""/>
          <p:cNvGraphicFramePr/>
          <p:nvPr/>
        </p:nvGraphicFramePr>
        <p:xfrm>
          <a:off x="822960" y="1325880"/>
          <a:ext cx="5852160" cy="3200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14400" y="4572000"/>
            <a:ext cx="5760720" cy="256032"/>
          </a:xfrm>
          <a:prstGeom prst="rect">
            <a:avLst/>
          </a:prstGeom>
          <a:noFill/>
          <a:ln/>
        </p:spPr>
        <p:txBody>
          <a:bodyPr wrap="square" lIns="0" tIns="0" rIns="0" bIns="0" rtlCol="0" anchor="t"/>
          <a:lstStyle/>
          <a:p>
            <a:pPr indent="0" marL="0">
              <a:buNone/>
            </a:pPr>
            <a:r>
              <a:rPr lang="en-US" sz="1000" i="1" dirty="0">
                <a:solidFill>
                  <a:schemeClr val="accent3"/>
                </a:solidFill>
              </a:rPr>
              <a:t>PMI 2025 results; 2030 target = “more than two-thirds”.</a:t>
            </a:r>
            <a:endParaRPr lang="en-US" sz="1000" dirty="0"/>
          </a:p>
        </p:txBody>
      </p:sp>
      <p:sp>
        <p:nvSpPr>
          <p:cNvPr id="6" name="Text 3"/>
          <p:cNvSpPr txBox="1"/>
          <p:nvPr/>
        </p:nvSpPr>
        <p:spPr>
          <a:xfrm>
            <a:off x="7086600" y="1371600"/>
            <a:ext cx="4416552" cy="548640"/>
          </a:xfrm>
          <a:prstGeom prst="rect">
            <a:avLst/>
          </a:prstGeom>
          <a:noFill/>
          <a:ln/>
        </p:spPr>
        <p:txBody>
          <a:bodyPr wrap="square" lIns="0" tIns="0" rIns="0" bIns="0" rtlCol="0" anchor="t"/>
          <a:lstStyle/>
          <a:p>
            <a:pPr indent="0" marL="0">
              <a:buNone/>
            </a:pPr>
            <a:r>
              <a:rPr lang="en-US" sz="3000" b="1" dirty="0">
                <a:solidFill>
                  <a:schemeClr val="accent1"/>
                </a:solidFill>
              </a:rPr>
              <a:t>106</a:t>
            </a:r>
            <a:endParaRPr lang="en-US" sz="3000" dirty="0"/>
          </a:p>
        </p:txBody>
      </p:sp>
      <p:sp>
        <p:nvSpPr>
          <p:cNvPr id="7" name="Text 4"/>
          <p:cNvSpPr txBox="1"/>
          <p:nvPr/>
        </p:nvSpPr>
        <p:spPr>
          <a:xfrm>
            <a:off x="7086600" y="1920240"/>
            <a:ext cx="4416552" cy="365760"/>
          </a:xfrm>
          <a:prstGeom prst="rect">
            <a:avLst/>
          </a:prstGeom>
          <a:noFill/>
          <a:ln/>
        </p:spPr>
        <p:txBody>
          <a:bodyPr wrap="square" lIns="0" tIns="0" rIns="0" bIns="0" rtlCol="0" anchor="t"/>
          <a:lstStyle/>
          <a:p>
            <a:pPr indent="0" marL="0">
              <a:buNone/>
            </a:pPr>
            <a:r>
              <a:rPr lang="en-US" sz="1400" dirty="0">
                <a:solidFill>
                  <a:schemeClr val="accent6"/>
                </a:solidFill>
              </a:rPr>
              <a:t>markets sell PMI smoke-free products</a:t>
            </a:r>
            <a:endParaRPr lang="en-US" sz="1400" dirty="0"/>
          </a:p>
        </p:txBody>
      </p:sp>
      <p:sp>
        <p:nvSpPr>
          <p:cNvPr id="8" name="Text 5"/>
          <p:cNvSpPr txBox="1"/>
          <p:nvPr/>
        </p:nvSpPr>
        <p:spPr>
          <a:xfrm>
            <a:off x="7086600" y="2423160"/>
            <a:ext cx="4416552" cy="548640"/>
          </a:xfrm>
          <a:prstGeom prst="rect">
            <a:avLst/>
          </a:prstGeom>
          <a:noFill/>
          <a:ln/>
        </p:spPr>
        <p:txBody>
          <a:bodyPr wrap="square" lIns="0" tIns="0" rIns="0" bIns="0" rtlCol="0" anchor="t"/>
          <a:lstStyle/>
          <a:p>
            <a:pPr indent="0" marL="0">
              <a:buNone/>
            </a:pPr>
            <a:r>
              <a:rPr lang="en-US" sz="3000" b="1" dirty="0">
                <a:solidFill>
                  <a:schemeClr val="accent1"/>
                </a:solidFill>
              </a:rPr>
              <a:t>76%</a:t>
            </a:r>
            <a:endParaRPr lang="en-US" sz="3000" dirty="0"/>
          </a:p>
        </p:txBody>
      </p:sp>
      <p:sp>
        <p:nvSpPr>
          <p:cNvPr id="9" name="Text 6"/>
          <p:cNvSpPr txBox="1"/>
          <p:nvPr/>
        </p:nvSpPr>
        <p:spPr>
          <a:xfrm>
            <a:off x="7086600" y="2971800"/>
            <a:ext cx="4416552" cy="365760"/>
          </a:xfrm>
          <a:prstGeom prst="rect">
            <a:avLst/>
          </a:prstGeom>
          <a:noFill/>
          <a:ln/>
        </p:spPr>
        <p:txBody>
          <a:bodyPr wrap="square" lIns="0" tIns="0" rIns="0" bIns="0" rtlCol="0" anchor="t"/>
          <a:lstStyle/>
          <a:p>
            <a:pPr indent="0" marL="0">
              <a:buNone/>
            </a:pPr>
            <a:r>
              <a:rPr lang="en-US" sz="1400" dirty="0">
                <a:solidFill>
                  <a:schemeClr val="accent6"/>
                </a:solidFill>
              </a:rPr>
              <a:t>IQOS share of the heated-tobacco category</a:t>
            </a:r>
            <a:endParaRPr lang="en-US" sz="1400" dirty="0"/>
          </a:p>
        </p:txBody>
      </p:sp>
      <p:sp>
        <p:nvSpPr>
          <p:cNvPr id="10" name="Text 7"/>
          <p:cNvSpPr txBox="1"/>
          <p:nvPr/>
        </p:nvSpPr>
        <p:spPr>
          <a:xfrm>
            <a:off x="7086600" y="3474720"/>
            <a:ext cx="4416552" cy="548640"/>
          </a:xfrm>
          <a:prstGeom prst="rect">
            <a:avLst/>
          </a:prstGeom>
          <a:noFill/>
          <a:ln/>
        </p:spPr>
        <p:txBody>
          <a:bodyPr wrap="square" lIns="0" tIns="0" rIns="0" bIns="0" rtlCol="0" anchor="t"/>
          <a:lstStyle/>
          <a:p>
            <a:pPr indent="0" marL="0">
              <a:buNone/>
            </a:pPr>
            <a:r>
              <a:rPr lang="en-US" sz="3000" b="1" dirty="0">
                <a:solidFill>
                  <a:schemeClr val="accent1"/>
                </a:solidFill>
              </a:rPr>
              <a:t>Japan</a:t>
            </a:r>
            <a:endParaRPr lang="en-US" sz="3000" dirty="0"/>
          </a:p>
        </p:txBody>
      </p:sp>
      <p:sp>
        <p:nvSpPr>
          <p:cNvPr id="11" name="Text 8"/>
          <p:cNvSpPr txBox="1"/>
          <p:nvPr/>
        </p:nvSpPr>
        <p:spPr>
          <a:xfrm>
            <a:off x="7086600" y="4023360"/>
            <a:ext cx="4416552" cy="365760"/>
          </a:xfrm>
          <a:prstGeom prst="rect">
            <a:avLst/>
          </a:prstGeom>
          <a:noFill/>
          <a:ln/>
        </p:spPr>
        <p:txBody>
          <a:bodyPr wrap="square" lIns="0" tIns="0" rIns="0" bIns="0" rtlCol="0" anchor="t"/>
          <a:lstStyle/>
          <a:p>
            <a:pPr indent="0" marL="0">
              <a:buNone/>
            </a:pPr>
            <a:r>
              <a:rPr lang="en-US" sz="1400" dirty="0">
                <a:solidFill>
                  <a:schemeClr val="accent6"/>
                </a:solidFill>
              </a:rPr>
              <a:t>IQOS’s breakthrough market: clean, low smell, tech-friendly</a:t>
            </a:r>
            <a:endParaRPr lang="en-US" sz="1400" dirty="0"/>
          </a:p>
        </p:txBody>
      </p:sp>
      <p:sp>
        <p:nvSpPr>
          <p:cNvPr id="12" name="Shape 9"/>
          <p:cNvSpPr/>
          <p:nvPr/>
        </p:nvSpPr>
        <p:spPr>
          <a:xfrm>
            <a:off x="914400" y="4937760"/>
            <a:ext cx="5157216" cy="1051560"/>
          </a:xfrm>
          <a:prstGeom prst="rect">
            <a:avLst/>
          </a:prstGeom>
          <a:solidFill>
            <a:schemeClr val="bg1"/>
          </a:solidFill>
          <a:ln w="15875">
            <a:solidFill>
              <a:schemeClr val="accent1"/>
            </a:solidFill>
            <a:prstDash val="solid"/>
          </a:ln>
        </p:spPr>
      </p:sp>
      <p:sp>
        <p:nvSpPr>
          <p:cNvPr id="13" name="Text 10"/>
          <p:cNvSpPr txBox="1"/>
          <p:nvPr/>
        </p:nvSpPr>
        <p:spPr>
          <a:xfrm>
            <a:off x="1143000" y="5029200"/>
            <a:ext cx="4700016" cy="320040"/>
          </a:xfrm>
          <a:prstGeom prst="rect">
            <a:avLst/>
          </a:prstGeom>
          <a:noFill/>
          <a:ln/>
        </p:spPr>
        <p:txBody>
          <a:bodyPr wrap="square" lIns="0" tIns="0" rIns="0" bIns="0" rtlCol="0" anchor="t"/>
          <a:lstStyle/>
          <a:p>
            <a:pPr indent="0" marL="0">
              <a:buNone/>
            </a:pPr>
            <a:r>
              <a:rPr lang="en-US" sz="1600" b="1" dirty="0">
                <a:solidFill>
                  <a:schemeClr val="accent1"/>
                </a:solidFill>
              </a:rPr>
              <a:t>Industry view</a:t>
            </a:r>
            <a:endParaRPr lang="en-US" sz="1600" dirty="0"/>
          </a:p>
        </p:txBody>
      </p:sp>
      <p:sp>
        <p:nvSpPr>
          <p:cNvPr id="14" name="Text 11"/>
          <p:cNvSpPr txBox="1"/>
          <p:nvPr/>
        </p:nvSpPr>
        <p:spPr>
          <a:xfrm>
            <a:off x="1143000" y="5376672"/>
            <a:ext cx="4700016" cy="548640"/>
          </a:xfrm>
          <a:prstGeom prst="rect">
            <a:avLst/>
          </a:prstGeom>
          <a:noFill/>
          <a:ln/>
        </p:spPr>
        <p:txBody>
          <a:bodyPr wrap="square" lIns="0" tIns="0" rIns="0" bIns="0" rtlCol="0" anchor="t"/>
          <a:lstStyle/>
          <a:p>
            <a:pPr indent="0" marL="0">
              <a:buNone/>
            </a:pPr>
            <a:r>
              <a:rPr lang="en-US" sz="1400" dirty="0">
                <a:solidFill>
                  <a:schemeClr val="accent6"/>
                </a:solidFill>
              </a:rPr>
              <a:t>Fewer harmful products; PMI’s CEO says cigarettes “belong in museums”.</a:t>
            </a:r>
            <a:endParaRPr lang="en-US" sz="1400" dirty="0"/>
          </a:p>
        </p:txBody>
      </p:sp>
      <p:sp>
        <p:nvSpPr>
          <p:cNvPr id="15" name="Shape 12"/>
          <p:cNvSpPr/>
          <p:nvPr/>
        </p:nvSpPr>
        <p:spPr>
          <a:xfrm>
            <a:off x="6345936" y="4937760"/>
            <a:ext cx="5157216" cy="1051560"/>
          </a:xfrm>
          <a:prstGeom prst="rect">
            <a:avLst/>
          </a:prstGeom>
          <a:solidFill>
            <a:schemeClr val="bg1"/>
          </a:solidFill>
          <a:ln w="15875">
            <a:solidFill>
              <a:schemeClr val="accent2"/>
            </a:solidFill>
            <a:prstDash val="solid"/>
          </a:ln>
        </p:spPr>
      </p:sp>
      <p:sp>
        <p:nvSpPr>
          <p:cNvPr id="16" name="Text 13"/>
          <p:cNvSpPr txBox="1"/>
          <p:nvPr/>
        </p:nvSpPr>
        <p:spPr>
          <a:xfrm>
            <a:off x="6574536" y="5029200"/>
            <a:ext cx="4700016" cy="320040"/>
          </a:xfrm>
          <a:prstGeom prst="rect">
            <a:avLst/>
          </a:prstGeom>
          <a:noFill/>
          <a:ln/>
        </p:spPr>
        <p:txBody>
          <a:bodyPr wrap="square" lIns="0" tIns="0" rIns="0" bIns="0" rtlCol="0" anchor="t"/>
          <a:lstStyle/>
          <a:p>
            <a:pPr indent="0" marL="0">
              <a:buNone/>
            </a:pPr>
            <a:r>
              <a:rPr lang="en-US" sz="1600" b="1" dirty="0">
                <a:solidFill>
                  <a:schemeClr val="accent2"/>
                </a:solidFill>
              </a:rPr>
              <a:t>Critics’ view</a:t>
            </a:r>
            <a:endParaRPr lang="en-US" sz="1600" dirty="0"/>
          </a:p>
        </p:txBody>
      </p:sp>
      <p:sp>
        <p:nvSpPr>
          <p:cNvPr id="17" name="Text 14"/>
          <p:cNvSpPr txBox="1"/>
          <p:nvPr/>
        </p:nvSpPr>
        <p:spPr>
          <a:xfrm>
            <a:off x="6574536" y="5376672"/>
            <a:ext cx="4700016" cy="548640"/>
          </a:xfrm>
          <a:prstGeom prst="rect">
            <a:avLst/>
          </a:prstGeom>
          <a:noFill/>
          <a:ln/>
        </p:spPr>
        <p:txBody>
          <a:bodyPr wrap="square" lIns="0" tIns="0" rIns="0" bIns="0" rtlCol="0" anchor="t"/>
          <a:lstStyle/>
          <a:p>
            <a:pPr indent="0" marL="0">
              <a:buNone/>
            </a:pPr>
            <a:r>
              <a:rPr lang="en-US" sz="1400" dirty="0">
                <a:solidFill>
                  <a:schemeClr val="accent6"/>
                </a:solidFill>
              </a:rPr>
              <a:t>Same nicotine, new flavours and devices, and new young users.</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Conclusion</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Conclusion &amp; discussion</a:t>
            </a:r>
            <a:endParaRPr lang="en-US" sz="2600" dirty="0"/>
          </a:p>
        </p:txBody>
      </p:sp>
      <p:sp>
        <p:nvSpPr>
          <p:cNvPr id="4" name="Text 2"/>
          <p:cNvSpPr txBox="1"/>
          <p:nvPr/>
        </p:nvSpPr>
        <p:spPr>
          <a:xfrm>
            <a:off x="914400" y="1325880"/>
            <a:ext cx="10588752" cy="1737360"/>
          </a:xfrm>
          <a:prstGeom prst="rect">
            <a:avLst/>
          </a:prstGeom>
          <a:noFill/>
          <a:ln/>
        </p:spPr>
        <p:txBody>
          <a:bodyPr wrap="square" lIns="0" tIns="0" rIns="0" bIns="0" rtlCol="0" anchor="t"/>
          <a:lstStyle/>
          <a:p>
            <a:pPr marL="342900" indent="-342900">
              <a:spcAft>
                <a:spcPts val="1000"/>
              </a:spcAft>
              <a:buSzPct val="100000"/>
              <a:buChar char="•"/>
            </a:pPr>
            <a:r>
              <a:rPr lang="en-US" sz="1700" b="1" dirty="0">
                <a:solidFill>
                  <a:schemeClr val="accent1"/>
                </a:solidFill>
              </a:rPr>
              <a:t>Regulation shapes strategy </a:t>
            </a:r>
            <a:pPr indent="0" marL="0">
              <a:spcAft>
                <a:spcPts val="1000"/>
              </a:spcAft>
              <a:buNone/>
            </a:pPr>
            <a:r>
              <a:rPr lang="en-US" sz="1700" dirty="0">
                <a:solidFill>
                  <a:schemeClr val="accent6"/>
                </a:solidFill>
              </a:rPr>
              <a:t>— the macro-environment decides the marketing mix, country by country.</a:t>
            </a:r>
            <a:endParaRPr lang="en-US" sz="1700" dirty="0"/>
          </a:p>
          <a:p>
            <a:pPr marL="342900" indent="-342900">
              <a:spcAft>
                <a:spcPts val="1000"/>
              </a:spcAft>
              <a:buSzPct val="100000"/>
              <a:buChar char="•"/>
            </a:pPr>
            <a:r>
              <a:rPr lang="en-US" sz="1700" b="1" dirty="0">
                <a:solidFill>
                  <a:schemeClr val="accent1"/>
                </a:solidFill>
              </a:rPr>
              <a:t>Global identity, local execution </a:t>
            </a:r>
            <a:pPr indent="0" marL="0">
              <a:spcAft>
                <a:spcPts val="1000"/>
              </a:spcAft>
              <a:buNone/>
            </a:pPr>
            <a:r>
              <a:rPr lang="en-US" sz="1700" dirty="0">
                <a:solidFill>
                  <a:schemeClr val="accent6"/>
                </a:solidFill>
              </a:rPr>
              <a:t>— one brand, many boxes, many flavours.</a:t>
            </a:r>
            <a:endParaRPr lang="en-US" sz="1700" dirty="0"/>
          </a:p>
          <a:p>
            <a:pPr marL="342900" indent="-342900">
              <a:spcAft>
                <a:spcPts val="1000"/>
              </a:spcAft>
              <a:buSzPct val="100000"/>
              <a:buChar char="•"/>
            </a:pPr>
            <a:r>
              <a:rPr lang="en-US" sz="1700" b="1" dirty="0">
                <a:solidFill>
                  <a:schemeClr val="accent1"/>
                </a:solidFill>
              </a:rPr>
              <a:t>Packaging is media </a:t>
            </a:r>
            <a:pPr indent="0" marL="0">
              <a:spcAft>
                <a:spcPts val="1000"/>
              </a:spcAft>
              <a:buNone/>
            </a:pPr>
            <a:r>
              <a:rPr lang="en-US" sz="1700" dirty="0">
                <a:solidFill>
                  <a:schemeClr val="accent6"/>
                </a:solidFill>
              </a:rPr>
              <a:t>— when ads are banned, the pack, the price and the shop do the selling.</a:t>
            </a:r>
            <a:endParaRPr lang="en-US" sz="1700" dirty="0"/>
          </a:p>
        </p:txBody>
      </p:sp>
      <p:sp>
        <p:nvSpPr>
          <p:cNvPr id="5" name="Text 3"/>
          <p:cNvSpPr txBox="1"/>
          <p:nvPr/>
        </p:nvSpPr>
        <p:spPr>
          <a:xfrm>
            <a:off x="914400" y="3154680"/>
            <a:ext cx="3657600" cy="292608"/>
          </a:xfrm>
          <a:prstGeom prst="rect">
            <a:avLst/>
          </a:prstGeom>
          <a:noFill/>
          <a:ln/>
        </p:spPr>
        <p:txBody>
          <a:bodyPr wrap="square" lIns="0" tIns="0" rIns="0" bIns="0" rtlCol="0" anchor="t"/>
          <a:lstStyle/>
          <a:p>
            <a:pPr indent="0" marL="0">
              <a:buNone/>
            </a:pPr>
            <a:r>
              <a:rPr lang="en-US" sz="1400" b="1" dirty="0">
                <a:solidFill>
                  <a:schemeClr val="accent3"/>
                </a:solidFill>
              </a:rPr>
              <a:t>My answer</a:t>
            </a:r>
            <a:endParaRPr lang="en-US" sz="1400" dirty="0"/>
          </a:p>
        </p:txBody>
      </p:sp>
      <p:sp>
        <p:nvSpPr>
          <p:cNvPr id="6" name="Text 4"/>
          <p:cNvSpPr txBox="1"/>
          <p:nvPr/>
        </p:nvSpPr>
        <p:spPr>
          <a:xfrm>
            <a:off x="914400" y="3474720"/>
            <a:ext cx="10588752" cy="868680"/>
          </a:xfrm>
          <a:prstGeom prst="rect">
            <a:avLst/>
          </a:prstGeom>
          <a:noFill/>
          <a:ln/>
        </p:spPr>
        <p:txBody>
          <a:bodyPr wrap="square" lIns="0" tIns="0" rIns="0" bIns="0" rtlCol="0" anchor="t"/>
          <a:lstStyle/>
          <a:p>
            <a:pPr indent="0" marL="0">
              <a:buNone/>
            </a:pPr>
            <a:r>
              <a:rPr lang="en-US" sz="2400" b="1" i="1" dirty="0">
                <a:solidFill>
                  <a:schemeClr val="accent2"/>
                </a:solidFill>
              </a:rPr>
              <a:t>“Tobacco marketing didn’t disappear. It moved into the pack, the shop and the product.”</a:t>
            </a:r>
            <a:endParaRPr lang="en-US" sz="2400" dirty="0"/>
          </a:p>
        </p:txBody>
      </p:sp>
      <p:sp>
        <p:nvSpPr>
          <p:cNvPr id="7" name="Text 5"/>
          <p:cNvSpPr txBox="1"/>
          <p:nvPr/>
        </p:nvSpPr>
        <p:spPr>
          <a:xfrm>
            <a:off x="914400" y="4572000"/>
            <a:ext cx="10588752" cy="1371600"/>
          </a:xfrm>
          <a:prstGeom prst="rect">
            <a:avLst/>
          </a:prstGeom>
          <a:solidFill>
            <a:schemeClr val="accent1"/>
          </a:solidFill>
          <a:ln/>
        </p:spPr>
        <p:txBody>
          <a:bodyPr wrap="square" lIns="228600" tIns="228600" rIns="228600" bIns="228600" rtlCol="0" anchor="ctr"/>
          <a:lstStyle/>
          <a:p>
            <a:pPr indent="0" marL="0">
              <a:spcAft>
                <a:spcPts val="600"/>
              </a:spcAft>
              <a:buNone/>
            </a:pPr>
            <a:r>
              <a:rPr lang="en-US" sz="1400" b="1" dirty="0">
                <a:solidFill>
                  <a:schemeClr val="accent4"/>
                </a:solidFill>
              </a:rPr>
              <a:t>Question for discussion</a:t>
            </a:r>
            <a:endParaRPr lang="en-US" sz="1400" dirty="0"/>
          </a:p>
          <a:p>
            <a:pPr indent="0" marL="0">
              <a:spcAft>
                <a:spcPts val="600"/>
              </a:spcAft>
              <a:buNone/>
            </a:pPr>
            <a:r>
              <a:rPr lang="en-US" sz="2000" b="1" dirty="0">
                <a:solidFill>
                  <a:schemeClr val="bg1"/>
                </a:solidFill>
              </a:rPr>
              <a:t>Should a global company follow its strictest home-market rules in every country it sells in?</a:t>
            </a:r>
            <a:endParaRPr lang="en-US" sz="14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914400" y="182880"/>
            <a:ext cx="8778240" cy="329184"/>
          </a:xfrm>
          <a:prstGeom prst="rect">
            <a:avLst/>
          </a:prstGeom>
          <a:noFill/>
          <a:ln/>
        </p:spPr>
        <p:txBody>
          <a:bodyPr wrap="square" lIns="0" tIns="0" rIns="0" bIns="0" rtlCol="0" anchor="ctr"/>
          <a:lstStyle/>
          <a:p>
            <a:pPr algn="l" indent="0" marL="0">
              <a:buNone/>
            </a:pPr>
            <a:r>
              <a:rPr lang="en-US" sz="1400" b="1" dirty="0">
                <a:solidFill>
                  <a:schemeClr val="accent3"/>
                </a:solidFill>
              </a:rPr>
              <a:t>Sources</a:t>
            </a:r>
            <a:endParaRPr lang="en-US" sz="1400" dirty="0"/>
          </a:p>
        </p:txBody>
      </p:sp>
      <p:sp>
        <p:nvSpPr>
          <p:cNvPr id="3" name="Text 1"/>
          <p:cNvSpPr/>
          <p:nvPr>
            <p:ph idx="102" type="title" hasCustomPrompt="1"/>
          </p:nvPr>
        </p:nvSpPr>
        <p:spPr>
          <a:xfrm>
            <a:off x="914400" y="475488"/>
            <a:ext cx="10241280" cy="548640"/>
          </a:xfrm>
          <a:prstGeom prst="rect">
            <a:avLst/>
          </a:prstGeom>
          <a:noFill/>
          <a:ln/>
        </p:spPr>
        <p:txBody>
          <a:bodyPr wrap="square" lIns="0" tIns="0" rIns="0" bIns="0" rtlCol="0" anchor="ctr"/>
          <a:lstStyle/>
          <a:p>
            <a:pPr algn="l" indent="0" marL="0">
              <a:buNone/>
            </a:pPr>
            <a:r>
              <a:rPr lang="en-US" sz="2600" b="1" dirty="0">
                <a:solidFill>
                  <a:schemeClr val="accent1"/>
                </a:solidFill>
              </a:rPr>
              <a:t>Bibliography</a:t>
            </a:r>
            <a:endParaRPr lang="en-US" sz="2600" dirty="0"/>
          </a:p>
        </p:txBody>
      </p:sp>
      <p:sp>
        <p:nvSpPr>
          <p:cNvPr id="4" name="Text 2"/>
          <p:cNvSpPr txBox="1"/>
          <p:nvPr/>
        </p:nvSpPr>
        <p:spPr>
          <a:xfrm>
            <a:off x="914400" y="1325880"/>
            <a:ext cx="5111496" cy="4892040"/>
          </a:xfrm>
          <a:prstGeom prst="rect">
            <a:avLst/>
          </a:prstGeom>
          <a:noFill/>
          <a:ln/>
        </p:spPr>
        <p:txBody>
          <a:bodyPr wrap="square" lIns="0" tIns="0" rIns="0" bIns="0" rtlCol="0" anchor="t"/>
          <a:lstStyle/>
          <a:p>
            <a:pPr indent="0" marL="0">
              <a:spcAft>
                <a:spcPts val="800"/>
              </a:spcAft>
              <a:buNone/>
            </a:pPr>
            <a:r>
              <a:rPr lang="en-US" sz="1300" dirty="0">
                <a:solidFill>
                  <a:schemeClr val="tx1"/>
                </a:solidFill>
              </a:rPr>
              <a:t>Australian Government, Department of Health (2012). Tobacco plain packaging.</a:t>
            </a:r>
            <a:endParaRPr lang="en-US" sz="1300" dirty="0"/>
          </a:p>
          <a:p>
            <a:pPr indent="0" marL="0">
              <a:spcAft>
                <a:spcPts val="800"/>
              </a:spcAft>
              <a:buNone/>
            </a:pPr>
            <a:r>
              <a:rPr lang="en-US" sz="1300" dirty="0">
                <a:solidFill>
                  <a:schemeClr val="tx1"/>
                </a:solidFill>
              </a:rPr>
              <a:t>Canadian Cancer Society (2025). Cigarette Package Health Warnings: International Status Report, 9th ed.</a:t>
            </a:r>
            <a:endParaRPr lang="en-US" sz="1300" dirty="0"/>
          </a:p>
          <a:p>
            <a:pPr indent="0" marL="0">
              <a:spcAft>
                <a:spcPts val="800"/>
              </a:spcAft>
              <a:buNone/>
            </a:pPr>
            <a:r>
              <a:rPr lang="en-US" sz="1300" dirty="0">
                <a:solidFill>
                  <a:schemeClr val="tx1"/>
                </a:solidFill>
              </a:rPr>
              <a:t>Directive 2014/40/EU on tobacco and related products (Tobacco Products Directive). Official Journal of the EU.</a:t>
            </a:r>
            <a:endParaRPr lang="en-US" sz="1300" dirty="0"/>
          </a:p>
          <a:p>
            <a:pPr indent="0" marL="0">
              <a:spcAft>
                <a:spcPts val="800"/>
              </a:spcAft>
              <a:buNone/>
            </a:pPr>
            <a:r>
              <a:rPr lang="en-US" sz="1300" dirty="0">
                <a:solidFill>
                  <a:schemeClr val="tx1"/>
                </a:solidFill>
              </a:rPr>
              <a:t>GOV.UK (2026). Tobacco and Vapes Bill becomes law, 29 April 2026.</a:t>
            </a:r>
            <a:endParaRPr lang="en-US" sz="1300" dirty="0"/>
          </a:p>
          <a:p>
            <a:pPr indent="0" marL="0">
              <a:spcAft>
                <a:spcPts val="800"/>
              </a:spcAft>
              <a:buNone/>
            </a:pPr>
            <a:r>
              <a:rPr lang="en-US" sz="1300" dirty="0">
                <a:solidFill>
                  <a:schemeClr val="tx1"/>
                </a:solidFill>
              </a:rPr>
              <a:t>ICSID (2016). Philip Morris Brands Sàrl v. Oriental Republic of Uruguay, Case No. ARB/10/7.</a:t>
            </a:r>
            <a:endParaRPr lang="en-US" sz="1300" dirty="0"/>
          </a:p>
          <a:p>
            <a:pPr indent="0" marL="0">
              <a:spcAft>
                <a:spcPts val="800"/>
              </a:spcAft>
              <a:buNone/>
            </a:pPr>
            <a:r>
              <a:rPr lang="en-US" sz="1300" dirty="0">
                <a:solidFill>
                  <a:schemeClr val="tx1"/>
                </a:solidFill>
              </a:rPr>
              <a:t>Keegan, W. J., &amp; Green, M. C. (2020). Global Marketing, 10th ed. Pearson.</a:t>
            </a:r>
            <a:endParaRPr lang="en-US" sz="1300" dirty="0"/>
          </a:p>
          <a:p>
            <a:pPr indent="0" marL="0">
              <a:spcAft>
                <a:spcPts val="800"/>
              </a:spcAft>
              <a:buNone/>
            </a:pPr>
            <a:r>
              <a:rPr lang="en-US" sz="1300" dirty="0">
                <a:solidFill>
                  <a:schemeClr val="tx1"/>
                </a:solidFill>
              </a:rPr>
              <a:t>Philip Morris International (2026). 2025 Fourth-Quarter &amp; Full-Year Results, 5 February 2026.</a:t>
            </a:r>
            <a:endParaRPr lang="en-US" sz="1300" dirty="0"/>
          </a:p>
        </p:txBody>
      </p:sp>
      <p:sp>
        <p:nvSpPr>
          <p:cNvPr id="5" name="Text 3"/>
          <p:cNvSpPr txBox="1"/>
          <p:nvPr/>
        </p:nvSpPr>
        <p:spPr>
          <a:xfrm>
            <a:off x="6391656" y="1325880"/>
            <a:ext cx="5111496" cy="4892040"/>
          </a:xfrm>
          <a:prstGeom prst="rect">
            <a:avLst/>
          </a:prstGeom>
          <a:noFill/>
          <a:ln/>
        </p:spPr>
        <p:txBody>
          <a:bodyPr wrap="square" lIns="0" tIns="0" rIns="0" bIns="0" rtlCol="0" anchor="t"/>
          <a:lstStyle/>
          <a:p>
            <a:pPr indent="0" marL="0">
              <a:spcAft>
                <a:spcPts val="800"/>
              </a:spcAft>
              <a:buNone/>
            </a:pPr>
            <a:r>
              <a:rPr lang="en-US" sz="1300" dirty="0">
                <a:solidFill>
                  <a:schemeClr val="tx1"/>
                </a:solidFill>
              </a:rPr>
              <a:t>TobaccoTactics, University of Bath (2025). Tobacco Companies.</a:t>
            </a:r>
            <a:endParaRPr lang="en-US" sz="1300" dirty="0"/>
          </a:p>
          <a:p>
            <a:pPr indent="0" marL="0">
              <a:spcAft>
                <a:spcPts val="800"/>
              </a:spcAft>
              <a:buNone/>
            </a:pPr>
            <a:r>
              <a:rPr lang="en-US" sz="1300" dirty="0">
                <a:solidFill>
                  <a:schemeClr val="tx1"/>
                </a:solidFill>
              </a:rPr>
              <a:t>TPackSS, Johns Hopkins (2023). Indonesia: health warning label compliance.</a:t>
            </a:r>
            <a:endParaRPr lang="en-US" sz="1300" dirty="0"/>
          </a:p>
          <a:p>
            <a:pPr indent="0" marL="0">
              <a:spcAft>
                <a:spcPts val="800"/>
              </a:spcAft>
              <a:buNone/>
            </a:pPr>
            <a:r>
              <a:rPr lang="en-US" sz="1300" dirty="0">
                <a:solidFill>
                  <a:schemeClr val="tx1"/>
                </a:solidFill>
              </a:rPr>
              <a:t>U.S. Food and Drug Administration. Menthol and other flavors in tobacco products; Cigarette health warnings.</a:t>
            </a:r>
            <a:endParaRPr lang="en-US" sz="1300" dirty="0"/>
          </a:p>
          <a:p>
            <a:pPr indent="0" marL="0">
              <a:spcAft>
                <a:spcPts val="800"/>
              </a:spcAft>
              <a:buNone/>
            </a:pPr>
            <a:r>
              <a:rPr lang="en-US" sz="1300" dirty="0">
                <a:solidFill>
                  <a:schemeClr val="tx1"/>
                </a:solidFill>
              </a:rPr>
              <a:t>World Health Organization (2025). WHO global report on trends in prevalence of tobacco use 2000–2024 and projections 2025–2030.</a:t>
            </a:r>
            <a:endParaRPr lang="en-US" sz="1300" dirty="0"/>
          </a:p>
          <a:p>
            <a:pPr indent="0" marL="0">
              <a:spcAft>
                <a:spcPts val="800"/>
              </a:spcAft>
              <a:buNone/>
            </a:pPr>
            <a:r>
              <a:rPr lang="en-US" sz="1300" dirty="0">
                <a:solidFill>
                  <a:schemeClr val="tx1"/>
                </a:solidFill>
              </a:rPr>
              <a:t>WHO Framework Convention on Tobacco Control (2003) and 2025 Global Progress Report.</a:t>
            </a:r>
            <a:endParaRPr lang="en-US" sz="1300" dirty="0"/>
          </a:p>
          <a:p>
            <a:pPr indent="0" marL="0">
              <a:spcAft>
                <a:spcPts val="800"/>
              </a:spcAft>
              <a:buNone/>
            </a:pPr>
            <a:r>
              <a:rPr lang="en-US" sz="1300" dirty="0">
                <a:solidFill>
                  <a:schemeClr val="tx1"/>
                </a:solidFill>
              </a:rPr>
              <a:t>WTO (2012). United States — Measures Affecting the Production and Sale of Clove Cigarettes (DS406).</a:t>
            </a:r>
            <a:endParaRPr lang="en-US" sz="1300" dirty="0"/>
          </a:p>
          <a:p>
            <a:pPr indent="0" marL="0">
              <a:spcAft>
                <a:spcPts val="800"/>
              </a:spcAft>
              <a:buNone/>
            </a:pPr>
            <a:r>
              <a:rPr lang="en-US" sz="1300" dirty="0">
                <a:solidFill>
                  <a:schemeClr val="tx1"/>
                </a:solidFill>
              </a:rPr>
              <a:t>WTO (2020). Australia — Tobacco Plain Packaging (DS435, DS441), Appellate Body reports.</a:t>
            </a:r>
            <a:endParaRPr lang="en-US" sz="1300" dirty="0"/>
          </a:p>
        </p:txBody>
      </p:sp>
      <p:sp>
        <p:nvSpPr>
          <p:cNvPr id="25" name="Slide Number Placeholder 0"/>
          <p:cNvSpPr>
            <a:spLocks noGrp="1"/>
          </p:cNvSpPr>
          <p:nvPr>
            <p:ph type="sldNum" sz="quarter" idx="4294967295"/>
          </p:nvPr>
        </p:nvSpPr>
        <p:spPr>
          <a:xfrm>
            <a:off x="10954512"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Corvinus Seminar">
  <a:themeElements>
    <a:clrScheme name="Corvinus Seminar">
      <a:dk1>
        <a:srgbClr val="1A1A1A"/>
      </a:dk1>
      <a:lt1>
        <a:srgbClr val="FFFFFF"/>
      </a:lt1>
      <a:dk2>
        <a:srgbClr val="0E2841"/>
      </a:dk2>
      <a:lt2>
        <a:srgbClr val="F3F4F6"/>
      </a:lt2>
      <a:accent1>
        <a:srgbClr val="0E2841"/>
      </a:accent1>
      <a:accent2>
        <a:srgbClr val="C00000"/>
      </a:accent2>
      <a:accent3>
        <a:srgbClr val="7F7F7F"/>
      </a:accent3>
      <a:accent4>
        <a:srgbClr val="D1D1D1"/>
      </a:accent4>
      <a:accent5>
        <a:srgbClr val="0080CC"/>
      </a:accent5>
      <a:accent6>
        <a:srgbClr val="404040"/>
      </a:accent6>
      <a:hlink>
        <a:srgbClr val="0080CC"/>
      </a:hlink>
      <a:folHlink>
        <a:srgbClr val="7F7F7F"/>
      </a:folHlink>
    </a:clrScheme>
    <a:fontScheme name="Corvinus Seminar">
      <a:majorFont>
        <a:latin typeface="Apto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Tobacco Marketing on International Markets</dc:title>
  <dc:subject>PptxGenJS Presentation</dc:subject>
  <dc:creator>Amir Kenenbaev</dc:creator>
  <cp:lastModifiedBy>Amir Kenenbaev</cp:lastModifiedBy>
  <cp:revision>1</cp:revision>
  <dcterms:created xsi:type="dcterms:W3CDTF">2026-10-14T19:59:20Z</dcterms:created>
  <dcterms:modified xsi:type="dcterms:W3CDTF">2026-10-14T19:59:20Z</dcterms:modified>
</cp:coreProperties>
</file>