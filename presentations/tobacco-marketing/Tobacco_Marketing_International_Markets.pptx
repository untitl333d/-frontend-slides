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vape, %</a:t>
            </a:r>
          </a:p>
        </c:rich>
      </c:tx>
      <c:layout/>
      <c:overlay val="0"/>
    </c:title>
    <c:autoTitleDeleted val="0"/>
    <c:plotArea>
      <c:layout/>
      <c:barChart>
        <c:barDir val="col"/>
        <c:grouping val="clustered"/>
        <c:varyColors val="0"/>
        <c:ser>
          <c:idx val="0"/>
          <c:order val="0"/>
          <c:tx>
            <c:strRef>
              <c:f>Sheet1!$B$1</c:f>
              <c:strCache>
                <c:ptCount val="1"/>
                <c:pt idx="0">
                  <c:v>Vapers</c:v>
                </c:pt>
              </c:strCache>
            </c:strRef>
          </c:tx>
          <c:spPr>
            <a:solidFill>
              <a:srgbClr val="0E2841"/>
            </a:solidFill>
            <a:effectLst/>
          </c:spPr>
          <c:invertIfNegative val="0"/>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0E2841"/>
              </a:solidFill>
              <a:effectLst/>
            </c:spPr>
          </c:dPt>
          <c:dPt>
            <c:idx val="1"/>
            <c:invertIfNegative val="0"/>
            <c:bubble3D val="0"/>
            <c:spPr>
              <a:solidFill>
                <a:srgbClr val="0E2841"/>
              </a:solidFill>
              <a:effectLst/>
            </c:spPr>
          </c:dPt>
          <c:dPt>
            <c:idx val="2"/>
            <c:invertIfNegative val="0"/>
            <c:bubble3D val="0"/>
            <c:spPr>
              <a:solidFill>
                <a:srgbClr val="C00000"/>
              </a:solidFill>
              <a:effectLst/>
            </c:spPr>
          </c:dPt>
          <c:dPt>
            <c:idx val="3"/>
            <c:invertIfNegative val="0"/>
            <c:bubble3D val="0"/>
            <c:spPr>
              <a:solidFill>
                <a:srgbClr val="0E2841"/>
              </a:solidFill>
              <a:effectLst/>
            </c:spPr>
          </c:dPt>
          <c:cat>
            <c:multiLvlStrRef>
              <c:f>Sheet1!$A$2:$A$5</c:f>
              <c:multiLvlStrCache>
                <c:ptCount val="4"/>
                <c:lvl>
                  <c:pt idx="0">
                    <c:v>2011</c:v>
                  </c:pt>
                  <c:pt idx="1">
                    <c:v>2014</c:v>
                  </c:pt>
                  <c:pt idx="2">
                    <c:v>2019</c:v>
                  </c:pt>
                  <c:pt idx="3">
                    <c:v>2024</c:v>
                  </c:pt>
                </c:lvl>
              </c:multiLvlStrCache>
            </c:multiLvlStrRef>
          </c:cat>
          <c:val>
            <c:numRef>
              <c:f>Sheet1!$B$2:$B$5</c:f>
              <c:numCache>
                <c:formatCode>General</c:formatCode>
                <c:ptCount val="4"/>
                <c:pt idx="0">
                  <c:v>1.5</c:v>
                </c:pt>
                <c:pt idx="1">
                  <c:v>13.4</c:v>
                </c:pt>
                <c:pt idx="2">
                  <c:v>27.5</c:v>
                </c:pt>
                <c:pt idx="3">
                  <c:v>7.8</c:v>
                </c:pt>
              </c:numCache>
            </c:numRef>
          </c:val>
        </c:ser>
        <c:dLbls>
          <c:numFmt formatCode="0.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Hi everyone, I'm Amir. Today: tobacco marketing. Not the business side, the marketing itself: how you sell something that nobody lets you advertise. Let's start with a quick test.
Photo circle: right-click the circle &gt; Format Shape &gt; Fill &gt; Picture fill to insert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Raise your hand if you have seen a cigarette ad this year. [Pause. Probably almost nobody.] Now keep your hand up, or raise it, if you have seen a cigarette pack this year. [Everyone.] That's the whole story of my presentation. The ads are gone. The marketing is not. It just moved. Let me show you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Meet the Marlboro Man. In the early 1950s Marlboro was a cigarette for women, sold as 'Mild as May'. In 1954 the Leo Burnett agency didn't change the cigarette at all. They changed the story: a cowboy, freedom, wide open spaces. And this story worked everywhere: you don't need to speak English to understand a cowboy. Marlboro became one of the best-selling brands in the world, with almost the same image in every country. So lesson one: people don't buy a product, they buy a meaning. And a simple, strong symbol is what makes a brand global.
Picture suggestion: a classic Marlboro Man print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In 1988 the cowboy got a cartoon friend: Joe Camel, a cool camel with sunglasses. The company said the ads were for adult smokers. But in 1991 a study showed six-year-olds a set of logos, and they recognised Joe Camel as well as Mickey Mouse. After lawsuits and public pressure, the camel disappeared in 1997. Lesson two: if you want to know who an ad is really for, don't read the strategy document. Look at the ad. A cartoon speaks to children. Remember this camel, he comes back later.
Picture suggestion: a Joe Camel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Then the world said: enough. Today most countries ban tobacco ads on TV, on billboards, in magazines, and the sponsorship of sports and festivals. So imagine you're the marketing manager. Your favourite tools are gone. Do you stop marketing? Of course not. When you ban a channel, the marketing doesn't stop. It moves to the next channel that is still open. And the one channel still in every customer's hand is: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four packs from four countries. Which country is each one from, and what's different? Shout it out!
PHOTOS TO INSERT (ideally the same brand, e.g. Marlboro, so only the packaging rules differ):
A = USA: full brand design, small text warning on the side.
B = Kyrgyzstan: half brand, half picture warning (Kyrgyz/Russian text).
C = Hungary: plain pack, brand name only, big picture warning.
D = Australia: plain drab brown pack, the brand name in small plain letters.
Click the picture icon in each box to insert a photo; it fills and crops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Here are the answers. A is the USA: the logo, the colours, the whole front is still marketing. B is Kyrgyzstan: half brand, half picture warning. C is Hungary, the one you see in every Nemzeti Dohánybolt: no logo, no colours, just the name. And D is Australia, the first country with plain packs, in a colour smokers rated the least attractive, so people call it 'the ugliest colour in the world'. Now think about what this means for a global brand. In class we talk about standardisation versus adaptation, usually because of culture. Here the brand would love to use one global pack. It can't, because every country's law decides how much of the pack it may use. That's lesson three: for a regulated product, the legal environment, not culture, forces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Plan B: if you can't change the ad, change the product. Menthol cools the throat, so the very first cigarette doesn't hurt. Then came the click: a capsule inside the filter that you squeeze to change the flavour. It's almost a toy. And every region gets its own taste: in Kyrgyzstan people use nasvay, in the Middle East it's apple shisha. That's classic product adaptation. But notice the other side: a regular smoker doesn't need a cigarette that doesn't hurt or that clicks. A beginner does. So lesson four: flavour is not only cultural adaptation, it's also a targeting tool. It decides who your first-time customer is. And that's exactly why most countries now ban flavours.
Picture suggestion: a capsule ('click') cigarette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And now the plot twist. By the 2010s teenagers had almost stopped smoking cigarettes. The story could have ended there. Then came the vape. In 2011 almost no American high-school student vaped. By 2019, one in four did. Why so fast? Because all the rules we just saw, the ad bans, the plain packs, the flavour bans, were written for cigarettes. A vape was a new category, so for a few years the old rules simply didn't apply. When regulators caught up and cracked down on sweet flavours, the curve went down again. Lesson five: a new category escapes the old rules, and that gap is where marketing grows fastest.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So how did vapes reach kids so fast? Look at the marketing mix. Product: bubblegum, mango, cotton candy. Not flavours for a 50-year-old smoker. Package: colourful, looks like a USB stick, easy to hide from parents and teachers. Promotion: not TV, which is banned, but influencers and TikTok, where the old rules were never written. Price and place: cheap disposables at every kiosk, affordable with pocket money. The companies say vapes are for adults who want to quit. But lesson six: when every P points at the same customer, that customer is your real target. The head of the WHO called it 'a candy-flavoured trap'. And JUUL, the biggest US vape brand, paid hundreds of millions of dollars over marketing to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Remember Joe Camel? Here he is on the left: a cartoon in a magazine. On the right: a sweet-flavoured vape on TikTok. Different decade, different product, different channel. But it's the same playbook: make it fun, make it sweet, and put it where young people look. Lesson two from the beginning still holds: the creative shows you the real target.
Picture suggestions: left = Joe Camel ad; right = screenshot of a vape post on social media (or colourful disposable vapes).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So what do these lessons mean for us as international marketers? Three conclusions. First: you cannot standardise the marketing of a regulated product. The Marlboro Man could be the same in every country; the pack cannot. The law decides, country by country, how much of the marketing mix you are allowed to use. Second: when you close one P, the other three take over. Promotion was banned, and the pack, the flavour, the price and the shop started doing the selling. Third, and for me the most important: targeting shows in the marketing mix, not in the mission statement. A company can say 'we only market to adults', but cartoons, candy flavours and TikTok tell you who the real customer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So is marketing the villain here? I don't think so. The same tools work the other way too. In the US, the 'truth' campaign used exactly the tobacco playbook: edgy ads, youth culture, rebellion. But it told teenagers that the tobacco industry was manipulating them. Studies credit it with part of the drop in teen smoking. So my view: the tools are neutral. Storytelling, packaging, flavour, influencers: they're just tools. Marketing isn't the problem. Who you aim it at is.
Picture suggestion: a 'truth' campaign ad (truthinitiative.org).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To sum up: tobacco marketing didn't die. It moved: from the ad, to the pack, to the flavour, and now to the phone. Every time one door closed, marketers found the next one, and the next door will probably be a product we haven't seen yet. So I'll leave you with a question I find hard to answer: where is the line between marketing a legal product and marketing to children?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PLI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20640" cy="475488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CK_QUIZ">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A</a:t>
            </a:r>
            <a:endParaRPr lang="en-US" sz="1200" dirty="0"/>
          </a:p>
        </p:txBody>
      </p:sp>
      <p:sp>
        <p:nvSpPr>
          <p:cNvPr id="7" name="Text 2"/>
          <p:cNvSpPr/>
          <p:nvPr>
            <p:ph type="pic" idx="105" hasCustomPrompt="1"/>
          </p:nvPr>
        </p:nvSpPr>
        <p:spPr>
          <a:xfrm>
            <a:off x="3666744"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B</a:t>
            </a:r>
            <a:endParaRPr lang="en-US" sz="1200" dirty="0"/>
          </a:p>
        </p:txBody>
      </p:sp>
      <p:sp>
        <p:nvSpPr>
          <p:cNvPr id="8" name="Text 2"/>
          <p:cNvSpPr/>
          <p:nvPr>
            <p:ph type="pic" idx="106" hasCustomPrompt="1"/>
          </p:nvPr>
        </p:nvSpPr>
        <p:spPr>
          <a:xfrm>
            <a:off x="6419088"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C</a:t>
            </a:r>
            <a:endParaRPr lang="en-US" sz="1200" dirty="0"/>
          </a:p>
        </p:txBody>
      </p:sp>
      <p:sp>
        <p:nvSpPr>
          <p:cNvPr id="9" name="Text 2"/>
          <p:cNvSpPr/>
          <p:nvPr>
            <p:ph type="pic" idx="107" hasCustomPrompt="1"/>
          </p:nvPr>
        </p:nvSpPr>
        <p:spPr>
          <a:xfrm>
            <a:off x="9171432" y="1325880"/>
            <a:ext cx="2331720" cy="324612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D</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HEN_NOW">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then</a:t>
            </a:r>
            <a:endParaRPr lang="en-US" sz="1200" dirty="0"/>
          </a:p>
        </p:txBody>
      </p:sp>
      <p:sp>
        <p:nvSpPr>
          <p:cNvPr id="7" name="Text 2"/>
          <p:cNvSpPr/>
          <p:nvPr>
            <p:ph type="pic" idx="105" hasCustomPrompt="1"/>
          </p:nvPr>
        </p:nvSpPr>
        <p:spPr>
          <a:xfrm>
            <a:off x="6391656" y="1325880"/>
            <a:ext cx="5111496"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 now</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68096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International Marketing  ·  Individual presentation</a:t>
            </a:r>
            <a:endParaRPr lang="en-US" sz="1400" dirty="0"/>
          </a:p>
        </p:txBody>
      </p:sp>
      <p:sp>
        <p:nvSpPr>
          <p:cNvPr id="3" name="Text 1"/>
          <p:cNvSpPr txBox="1"/>
          <p:nvPr/>
        </p:nvSpPr>
        <p:spPr>
          <a:xfrm>
            <a:off x="731520" y="1554480"/>
            <a:ext cx="7498080" cy="2103120"/>
          </a:xfrm>
          <a:prstGeom prst="rect">
            <a:avLst/>
          </a:prstGeom>
          <a:noFill/>
          <a:ln/>
        </p:spPr>
        <p:txBody>
          <a:bodyPr wrap="square" lIns="0" tIns="0" rIns="0" bIns="0" rtlCol="0" anchor="t"/>
          <a:lstStyle/>
          <a:p>
            <a:pPr indent="0" marL="0">
              <a:buNone/>
            </a:pPr>
            <a:r>
              <a:rPr lang="en-US" sz="4000" b="1" dirty="0">
                <a:solidFill>
                  <a:schemeClr val="bg1"/>
                </a:solidFill>
              </a:rPr>
              <a:t>Tobacco Marketing on International Markets</a:t>
            </a:r>
            <a:endParaRPr lang="en-US" sz="4000" dirty="0"/>
          </a:p>
        </p:txBody>
      </p:sp>
      <p:sp>
        <p:nvSpPr>
          <p:cNvPr id="4" name="Text 2"/>
          <p:cNvSpPr txBox="1"/>
          <p:nvPr/>
        </p:nvSpPr>
        <p:spPr>
          <a:xfrm>
            <a:off x="731520" y="3794760"/>
            <a:ext cx="7315200" cy="822960"/>
          </a:xfrm>
          <a:prstGeom prst="rect">
            <a:avLst/>
          </a:prstGeom>
          <a:noFill/>
          <a:ln/>
        </p:spPr>
        <p:txBody>
          <a:bodyPr wrap="square" lIns="0" tIns="0" rIns="0" bIns="0" rtlCol="0" anchor="t"/>
          <a:lstStyle/>
          <a:p>
            <a:pPr indent="0" marL="0">
              <a:buNone/>
            </a:pPr>
            <a:r>
              <a:rPr lang="en-US" sz="2200" dirty="0">
                <a:solidFill>
                  <a:schemeClr val="accent4"/>
                </a:solidFill>
              </a:rPr>
              <a:t>How do you sell something nobody lets you advertise?</a:t>
            </a:r>
            <a:endParaRPr lang="en-US" sz="22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909828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882396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Quick test</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Raise your hand if you saw a cigarette ad this year.</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Now keep it up if you saw a cigarette pack.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most famous ad in history</a:t>
            </a:r>
            <a:endParaRPr lang="en-US" sz="2600" dirty="0"/>
          </a:p>
        </p:txBody>
      </p:sp>
      <p:sp>
        <p:nvSpPr>
          <p:cNvPr id="4" name="Text 2"/>
          <p:cNvSpPr txBox="1"/>
          <p:nvPr/>
        </p:nvSpPr>
        <p:spPr>
          <a:xfrm>
            <a:off x="6492240" y="1371600"/>
            <a:ext cx="5010912" cy="731520"/>
          </a:xfrm>
          <a:prstGeom prst="rect">
            <a:avLst/>
          </a:prstGeom>
          <a:noFill/>
          <a:ln/>
        </p:spPr>
        <p:txBody>
          <a:bodyPr wrap="square" lIns="0" tIns="0" rIns="0" bIns="0" rtlCol="0" anchor="t"/>
          <a:lstStyle/>
          <a:p>
            <a:pPr indent="0" marL="0">
              <a:buNone/>
            </a:pPr>
            <a:r>
              <a:rPr lang="en-US" sz="4400" b="1" dirty="0">
                <a:solidFill>
                  <a:schemeClr val="accent2"/>
                </a:solidFill>
              </a:rPr>
              <a:t>1954</a:t>
            </a:r>
            <a:endParaRPr lang="en-US" sz="4400" dirty="0"/>
          </a:p>
        </p:txBody>
      </p:sp>
      <p:sp>
        <p:nvSpPr>
          <p:cNvPr id="5" name="Text 3"/>
          <p:cNvSpPr txBox="1"/>
          <p:nvPr/>
        </p:nvSpPr>
        <p:spPr>
          <a:xfrm>
            <a:off x="6492240" y="2148840"/>
            <a:ext cx="5010912" cy="731520"/>
          </a:xfrm>
          <a:prstGeom prst="rect">
            <a:avLst/>
          </a:prstGeom>
          <a:noFill/>
          <a:ln/>
        </p:spPr>
        <p:txBody>
          <a:bodyPr wrap="square" lIns="0" tIns="0" rIns="0" bIns="0" rtlCol="0" anchor="t"/>
          <a:lstStyle/>
          <a:p>
            <a:pPr indent="0" marL="0">
              <a:buNone/>
            </a:pPr>
            <a:r>
              <a:rPr lang="en-US" sz="1900" dirty="0">
                <a:solidFill>
                  <a:schemeClr val="accent6"/>
                </a:solidFill>
              </a:rPr>
              <a:t>Marlboro was a “ladies” cigarette, sold as “Mild as May”.</a:t>
            </a:r>
            <a:endParaRPr lang="en-US" sz="1900" dirty="0"/>
          </a:p>
        </p:txBody>
      </p:sp>
      <p:sp>
        <p:nvSpPr>
          <p:cNvPr id="6" name="Text 4"/>
          <p:cNvSpPr txBox="1"/>
          <p:nvPr/>
        </p:nvSpPr>
        <p:spPr>
          <a:xfrm>
            <a:off x="6492240" y="2971800"/>
            <a:ext cx="5010912" cy="822960"/>
          </a:xfrm>
          <a:prstGeom prst="rect">
            <a:avLst/>
          </a:prstGeom>
          <a:noFill/>
          <a:ln/>
        </p:spPr>
        <p:txBody>
          <a:bodyPr wrap="square" lIns="0" tIns="0" rIns="0" bIns="0" rtlCol="0" anchor="t"/>
          <a:lstStyle/>
          <a:p>
            <a:pPr indent="0" marL="0">
              <a:buNone/>
            </a:pPr>
            <a:r>
              <a:rPr lang="en-US" sz="2400" b="1" dirty="0">
                <a:solidFill>
                  <a:schemeClr val="accent1"/>
                </a:solidFill>
              </a:rPr>
              <a:t>Then an ad agency gave it a cowboy.</a:t>
            </a:r>
            <a:endParaRPr lang="en-US" sz="2400" dirty="0"/>
          </a:p>
        </p:txBody>
      </p:sp>
      <p:sp>
        <p:nvSpPr>
          <p:cNvPr id="7" name="Text 5"/>
          <p:cNvSpPr txBox="1"/>
          <p:nvPr/>
        </p:nvSpPr>
        <p:spPr>
          <a:xfrm>
            <a:off x="6492240" y="3840480"/>
            <a:ext cx="5010912" cy="731520"/>
          </a:xfrm>
          <a:prstGeom prst="rect">
            <a:avLst/>
          </a:prstGeom>
          <a:noFill/>
          <a:ln/>
        </p:spPr>
        <p:txBody>
          <a:bodyPr wrap="square" lIns="0" tIns="0" rIns="0" bIns="0" rtlCol="0" anchor="t"/>
          <a:lstStyle/>
          <a:p>
            <a:pPr indent="0" marL="0">
              <a:buNone/>
            </a:pPr>
            <a:r>
              <a:rPr lang="en-US" sz="1800" dirty="0">
                <a:solidFill>
                  <a:schemeClr val="accent6"/>
                </a:solidFill>
              </a:rPr>
              <a:t>Same cigarette, new story, and a symbol the whole world understood.</a:t>
            </a:r>
            <a:endParaRPr lang="en-US" sz="1800" dirty="0"/>
          </a:p>
        </p:txBody>
      </p:sp>
      <p:sp>
        <p:nvSpPr>
          <p:cNvPr id="8" name="Text 6"/>
          <p:cNvSpPr txBox="1"/>
          <p:nvPr/>
        </p:nvSpPr>
        <p:spPr>
          <a:xfrm>
            <a:off x="6492240" y="4800600"/>
            <a:ext cx="5010912" cy="123444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1   </a:t>
            </a:r>
            <a:pPr indent="0" marL="0">
              <a:buNone/>
            </a:pPr>
            <a:r>
              <a:rPr lang="en-US" sz="1700" b="1" dirty="0">
                <a:solidFill>
                  <a:schemeClr val="accent1"/>
                </a:solidFill>
              </a:rPr>
              <a:t>Sell a meaning, not a product. A strong symbol travels across cultures.</a:t>
            </a:r>
            <a:endParaRPr lang="en-US" sz="1300" dirty="0"/>
          </a:p>
        </p:txBody>
      </p:sp>
      <p:sp>
        <p:nvSpPr>
          <p:cNvPr id="10"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Flashback</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the cowboy got a cartoon friend</a:t>
            </a:r>
            <a:endParaRPr lang="en-US" sz="2600" dirty="0"/>
          </a:p>
        </p:txBody>
      </p:sp>
      <p:sp>
        <p:nvSpPr>
          <p:cNvPr id="4" name="Text 2"/>
          <p:cNvSpPr txBox="1"/>
          <p:nvPr/>
        </p:nvSpPr>
        <p:spPr>
          <a:xfrm>
            <a:off x="6492240" y="1371600"/>
            <a:ext cx="5010912" cy="731520"/>
          </a:xfrm>
          <a:prstGeom prst="rect">
            <a:avLst/>
          </a:prstGeom>
          <a:noFill/>
          <a:ln/>
        </p:spPr>
        <p:txBody>
          <a:bodyPr wrap="square" lIns="0" tIns="0" rIns="0" bIns="0" rtlCol="0" anchor="t"/>
          <a:lstStyle/>
          <a:p>
            <a:pPr indent="0" marL="0">
              <a:buNone/>
            </a:pPr>
            <a:r>
              <a:rPr lang="en-US" sz="4000" b="1" dirty="0">
                <a:solidFill>
                  <a:schemeClr val="accent2"/>
                </a:solidFill>
              </a:rPr>
              <a:t>Joe Camel</a:t>
            </a:r>
            <a:endParaRPr lang="en-US" sz="4000" dirty="0"/>
          </a:p>
        </p:txBody>
      </p:sp>
      <p:sp>
        <p:nvSpPr>
          <p:cNvPr id="5" name="Text 3"/>
          <p:cNvSpPr txBox="1"/>
          <p:nvPr/>
        </p:nvSpPr>
        <p:spPr>
          <a:xfrm>
            <a:off x="6492240" y="2148840"/>
            <a:ext cx="5010912" cy="731520"/>
          </a:xfrm>
          <a:prstGeom prst="rect">
            <a:avLst/>
          </a:prstGeom>
          <a:noFill/>
          <a:ln/>
        </p:spPr>
        <p:txBody>
          <a:bodyPr wrap="square" lIns="0" tIns="0" rIns="0" bIns="0" rtlCol="0" anchor="t"/>
          <a:lstStyle/>
          <a:p>
            <a:pPr indent="0" marL="0">
              <a:buNone/>
            </a:pPr>
            <a:r>
              <a:rPr lang="en-US" sz="1900" dirty="0">
                <a:solidFill>
                  <a:schemeClr val="accent6"/>
                </a:solidFill>
              </a:rPr>
              <a:t>A cool cartoon camel with sunglasses, in cigarette ads from 1988.</a:t>
            </a:r>
            <a:endParaRPr lang="en-US" sz="1900" dirty="0"/>
          </a:p>
        </p:txBody>
      </p:sp>
      <p:sp>
        <p:nvSpPr>
          <p:cNvPr id="6" name="Text 4"/>
          <p:cNvSpPr txBox="1"/>
          <p:nvPr/>
        </p:nvSpPr>
        <p:spPr>
          <a:xfrm>
            <a:off x="6492240" y="3063240"/>
            <a:ext cx="5010912" cy="1371600"/>
          </a:xfrm>
          <a:prstGeom prst="rect">
            <a:avLst/>
          </a:prstGeom>
          <a:solidFill>
            <a:schemeClr val="accent1"/>
          </a:solidFill>
          <a:ln/>
        </p:spPr>
        <p:txBody>
          <a:bodyPr wrap="square" lIns="228600" tIns="228600" rIns="228600" bIns="228600" rtlCol="0" anchor="ctr"/>
          <a:lstStyle/>
          <a:p>
            <a:pPr indent="0" marL="0">
              <a:buNone/>
            </a:pPr>
            <a:r>
              <a:rPr lang="en-US" sz="2000" dirty="0">
                <a:solidFill>
                  <a:schemeClr val="bg1"/>
                </a:solidFill>
              </a:rPr>
              <a:t>A 1991 study: </a:t>
            </a:r>
            <a:pPr indent="0" marL="0">
              <a:buNone/>
            </a:pPr>
            <a:r>
              <a:rPr lang="en-US" sz="2000" b="1" dirty="0">
                <a:solidFill>
                  <a:schemeClr val="bg1"/>
                </a:solidFill>
              </a:rPr>
              <a:t>6-year-olds knew Joe Camel as well as Mickey Mouse.</a:t>
            </a:r>
            <a:endParaRPr lang="en-US" sz="2000" dirty="0"/>
          </a:p>
        </p:txBody>
      </p:sp>
      <p:sp>
        <p:nvSpPr>
          <p:cNvPr id="7" name="Text 5"/>
          <p:cNvSpPr txBox="1"/>
          <p:nvPr/>
        </p:nvSpPr>
        <p:spPr>
          <a:xfrm>
            <a:off x="6492240" y="4800600"/>
            <a:ext cx="5010912" cy="123444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2   </a:t>
            </a:r>
            <a:pPr indent="0" marL="0">
              <a:buNone/>
            </a:pPr>
            <a:r>
              <a:rPr lang="en-US" sz="1700" b="1" dirty="0">
                <a:solidFill>
                  <a:schemeClr val="accent1"/>
                </a:solidFill>
              </a:rPr>
              <a:t>The creative shows the real target. A cartoon speaks to children, whatever the brief says.</a:t>
            </a:r>
            <a:endParaRPr lang="en-US" sz="13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914400" y="141732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Then the world said</a:t>
            </a:r>
            <a:endParaRPr lang="en-US" sz="1600" dirty="0"/>
          </a:p>
        </p:txBody>
      </p:sp>
      <p:sp>
        <p:nvSpPr>
          <p:cNvPr id="3" name="Text 1"/>
          <p:cNvSpPr txBox="1"/>
          <p:nvPr/>
        </p:nvSpPr>
        <p:spPr>
          <a:xfrm>
            <a:off x="914400" y="1920240"/>
            <a:ext cx="9875520" cy="2377440"/>
          </a:xfrm>
          <a:prstGeom prst="rect">
            <a:avLst/>
          </a:prstGeom>
          <a:noFill/>
          <a:ln/>
        </p:spPr>
        <p:txBody>
          <a:bodyPr wrap="square" lIns="0" tIns="0" rIns="0" bIns="0" rtlCol="0" anchor="ctr"/>
          <a:lstStyle/>
          <a:p>
            <a:pPr indent="0" marL="0">
              <a:buNone/>
            </a:pPr>
            <a:r>
              <a:rPr lang="en-US" sz="4400" b="1" dirty="0">
                <a:solidFill>
                  <a:schemeClr val="bg1"/>
                </a:solidFill>
              </a:rPr>
              <a:t>No more ads.</a:t>
            </a:r>
            <a:endParaRPr lang="en-US" sz="4400" dirty="0"/>
          </a:p>
        </p:txBody>
      </p:sp>
      <p:sp>
        <p:nvSpPr>
          <p:cNvPr id="4" name="Text 2"/>
          <p:cNvSpPr txBox="1"/>
          <p:nvPr/>
        </p:nvSpPr>
        <p:spPr>
          <a:xfrm>
            <a:off x="914400" y="4526280"/>
            <a:ext cx="9509760" cy="914400"/>
          </a:xfrm>
          <a:prstGeom prst="rect">
            <a:avLst/>
          </a:prstGeom>
          <a:noFill/>
          <a:ln/>
        </p:spPr>
        <p:txBody>
          <a:bodyPr wrap="square" lIns="0" tIns="0" rIns="0" bIns="0" rtlCol="0" anchor="t"/>
          <a:lstStyle/>
          <a:p>
            <a:pPr indent="0" marL="0">
              <a:buNone/>
            </a:pPr>
            <a:r>
              <a:rPr lang="en-US" sz="2000" dirty="0">
                <a:solidFill>
                  <a:schemeClr val="accent4"/>
                </a:solidFill>
              </a:rPr>
              <a:t>TV, billboards, magazines, sponsorship: banned in most of the world.</a:t>
            </a:r>
            <a:endParaRPr lang="en-US" sz="2000" dirty="0"/>
          </a:p>
        </p:txBody>
      </p:sp>
      <p:sp>
        <p:nvSpPr>
          <p:cNvPr id="6" name="Text 3"/>
          <p:cNvSpPr txBox="1"/>
          <p:nvPr/>
        </p:nvSpPr>
        <p:spPr>
          <a:xfrm>
            <a:off x="914400" y="5349240"/>
            <a:ext cx="10588752" cy="457200"/>
          </a:xfrm>
          <a:prstGeom prst="rect">
            <a:avLst/>
          </a:prstGeom>
          <a:noFill/>
          <a:ln/>
        </p:spPr>
        <p:txBody>
          <a:bodyPr wrap="square" lIns="0" tIns="0" rIns="0" bIns="0" rtlCol="0" anchor="t"/>
          <a:lstStyle/>
          <a:p>
            <a:pPr indent="0" marL="0">
              <a:buNone/>
            </a:pPr>
            <a:r>
              <a:rPr lang="en-US" sz="2200" b="1" dirty="0">
                <a:solidFill>
                  <a:srgbClr val="F2B8B8"/>
                </a:solidFill>
              </a:rPr>
              <a:t>But banning a channel doesn’t stop marketing. It moves it.</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Your turn</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pack became the ad. Guess the country!</a:t>
            </a:r>
            <a:endParaRPr lang="en-US" sz="2600" dirty="0"/>
          </a:p>
        </p:txBody>
      </p:sp>
      <p:sp>
        <p:nvSpPr>
          <p:cNvPr id="4" name="Text 2"/>
          <p:cNvSpPr txBox="1"/>
          <p:nvPr/>
        </p:nvSpPr>
        <p:spPr>
          <a:xfrm>
            <a:off x="914400"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5" name="Text 3"/>
          <p:cNvSpPr txBox="1"/>
          <p:nvPr/>
        </p:nvSpPr>
        <p:spPr>
          <a:xfrm>
            <a:off x="1554480"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6" name="Text 4"/>
          <p:cNvSpPr txBox="1"/>
          <p:nvPr/>
        </p:nvSpPr>
        <p:spPr>
          <a:xfrm>
            <a:off x="3666744"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7" name="Text 5"/>
          <p:cNvSpPr txBox="1"/>
          <p:nvPr/>
        </p:nvSpPr>
        <p:spPr>
          <a:xfrm>
            <a:off x="4306824"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8" name="Text 6"/>
          <p:cNvSpPr txBox="1"/>
          <p:nvPr/>
        </p:nvSpPr>
        <p:spPr>
          <a:xfrm>
            <a:off x="6419088"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C</a:t>
            </a:r>
            <a:endParaRPr lang="en-US" sz="2000" dirty="0"/>
          </a:p>
        </p:txBody>
      </p:sp>
      <p:sp>
        <p:nvSpPr>
          <p:cNvPr id="9" name="Text 7"/>
          <p:cNvSpPr txBox="1"/>
          <p:nvPr/>
        </p:nvSpPr>
        <p:spPr>
          <a:xfrm>
            <a:off x="7059168"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0" name="Text 8"/>
          <p:cNvSpPr txBox="1"/>
          <p:nvPr/>
        </p:nvSpPr>
        <p:spPr>
          <a:xfrm>
            <a:off x="9171432" y="4846320"/>
            <a:ext cx="502920" cy="50292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1" name="Text 9"/>
          <p:cNvSpPr txBox="1"/>
          <p:nvPr/>
        </p:nvSpPr>
        <p:spPr>
          <a:xfrm>
            <a:off x="9811512" y="4937760"/>
            <a:ext cx="1691640" cy="329184"/>
          </a:xfrm>
          <a:prstGeom prst="rect">
            <a:avLst/>
          </a:prstGeom>
          <a:noFill/>
          <a:ln/>
        </p:spPr>
        <p:txBody>
          <a:bodyPr wrap="square" lIns="0" tIns="0" rIns="0" bIns="0" rtlCol="0" anchor="t"/>
          <a:lstStyle/>
          <a:p>
            <a:pPr indent="0" marL="0">
              <a:buNone/>
            </a:pPr>
            <a:r>
              <a:rPr lang="en-US" sz="1600" dirty="0">
                <a:solidFill>
                  <a:schemeClr val="accent3"/>
                </a:solidFill>
              </a:rPr>
              <a:t>Which country?</a:t>
            </a:r>
            <a:endParaRPr lang="en-US" sz="1600" dirty="0"/>
          </a:p>
        </p:txBody>
      </p:sp>
      <p:sp>
        <p:nvSpPr>
          <p:cNvPr id="13" name="Text 2"/>
          <p:cNvSpPr/>
          <p:nvPr>
            <p:ph type="pic" idx="104" hasCustomPrompt="1"/>
          </p:nvPr>
        </p:nvSpPr>
        <p:spPr>
          <a:xfrm>
            <a:off x="914400" y="1325880"/>
            <a:ext cx="2331720" cy="3246120"/>
          </a:xfrm>
          <a:prstGeom prst="rect">
            <a:avLst/>
          </a:prstGeom>
          <a:noFill/>
          <a:ln/>
        </p:spPr>
        <p:txBody>
          <a:bodyPr wrap="square" rtlCol="0"/>
          <a:lstStyle/>
          <a:p>
            <a:pPr indent="0" marL="0">
              <a:buNone/>
            </a:pPr>
            <a:endParaRPr lang="en-US" sz="1200" dirty="0"/>
          </a:p>
        </p:txBody>
      </p:sp>
      <p:sp>
        <p:nvSpPr>
          <p:cNvPr id="14" name="Text 2"/>
          <p:cNvSpPr/>
          <p:nvPr>
            <p:ph type="pic" idx="105" hasCustomPrompt="1"/>
          </p:nvPr>
        </p:nvSpPr>
        <p:spPr>
          <a:xfrm>
            <a:off x="3666744" y="1325880"/>
            <a:ext cx="2331720" cy="3246120"/>
          </a:xfrm>
          <a:prstGeom prst="rect">
            <a:avLst/>
          </a:prstGeom>
          <a:noFill/>
          <a:ln/>
        </p:spPr>
        <p:txBody>
          <a:bodyPr wrap="square" rtlCol="0"/>
          <a:lstStyle/>
          <a:p>
            <a:pPr indent="0" marL="0">
              <a:buNone/>
            </a:pPr>
            <a:endParaRPr lang="en-US" sz="1200" dirty="0"/>
          </a:p>
        </p:txBody>
      </p:sp>
      <p:sp>
        <p:nvSpPr>
          <p:cNvPr id="15" name="Text 2"/>
          <p:cNvSpPr/>
          <p:nvPr>
            <p:ph type="pic" idx="106" hasCustomPrompt="1"/>
          </p:nvPr>
        </p:nvSpPr>
        <p:spPr>
          <a:xfrm>
            <a:off x="6419088" y="1325880"/>
            <a:ext cx="2331720" cy="3246120"/>
          </a:xfrm>
          <a:prstGeom prst="rect">
            <a:avLst/>
          </a:prstGeom>
          <a:noFill/>
          <a:ln/>
        </p:spPr>
        <p:txBody>
          <a:bodyPr wrap="square" rtlCol="0"/>
          <a:lstStyle/>
          <a:p>
            <a:pPr indent="0" marL="0">
              <a:buNone/>
            </a:pPr>
            <a:endParaRPr lang="en-US" sz="1200" dirty="0"/>
          </a:p>
        </p:txBody>
      </p:sp>
      <p:sp>
        <p:nvSpPr>
          <p:cNvPr id="16" name="Text 2"/>
          <p:cNvSpPr/>
          <p:nvPr>
            <p:ph type="pic" idx="107" hasCustomPrompt="1"/>
          </p:nvPr>
        </p:nvSpPr>
        <p:spPr>
          <a:xfrm>
            <a:off x="9171432" y="1325880"/>
            <a:ext cx="2331720" cy="324612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answer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cigarette, four different stories</a:t>
            </a:r>
            <a:endParaRPr lang="en-US" sz="2600" dirty="0"/>
          </a:p>
        </p:txBody>
      </p:sp>
      <p:sp>
        <p:nvSpPr>
          <p:cNvPr id="4" name="Text 2"/>
          <p:cNvSpPr txBox="1"/>
          <p:nvPr/>
        </p:nvSpPr>
        <p:spPr>
          <a:xfrm>
            <a:off x="914400"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A  ·  USA</a:t>
            </a:r>
            <a:endParaRPr lang="en-US" sz="1700" dirty="0"/>
          </a:p>
        </p:txBody>
      </p:sp>
      <p:sp>
        <p:nvSpPr>
          <p:cNvPr id="5" name="Text 3"/>
          <p:cNvSpPr txBox="1"/>
          <p:nvPr/>
        </p:nvSpPr>
        <p:spPr>
          <a:xfrm>
            <a:off x="914400"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Full branding.</a:t>
            </a:r>
            <a:endParaRPr lang="en-US" sz="1500" dirty="0"/>
          </a:p>
        </p:txBody>
      </p:sp>
      <p:sp>
        <p:nvSpPr>
          <p:cNvPr id="6" name="Text 4"/>
          <p:cNvSpPr txBox="1"/>
          <p:nvPr/>
        </p:nvSpPr>
        <p:spPr>
          <a:xfrm>
            <a:off x="3666744"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B  ·  Kyrgyzstan</a:t>
            </a:r>
            <a:endParaRPr lang="en-US" sz="1700" dirty="0"/>
          </a:p>
        </p:txBody>
      </p:sp>
      <p:sp>
        <p:nvSpPr>
          <p:cNvPr id="7" name="Text 5"/>
          <p:cNvSpPr txBox="1"/>
          <p:nvPr/>
        </p:nvSpPr>
        <p:spPr>
          <a:xfrm>
            <a:off x="3666744"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Half brand, half warning.</a:t>
            </a:r>
            <a:endParaRPr lang="en-US" sz="1500" dirty="0"/>
          </a:p>
        </p:txBody>
      </p:sp>
      <p:sp>
        <p:nvSpPr>
          <p:cNvPr id="8" name="Text 6"/>
          <p:cNvSpPr txBox="1"/>
          <p:nvPr/>
        </p:nvSpPr>
        <p:spPr>
          <a:xfrm>
            <a:off x="6419088"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C  ·  Hungary</a:t>
            </a:r>
            <a:endParaRPr lang="en-US" sz="1700" dirty="0"/>
          </a:p>
        </p:txBody>
      </p:sp>
      <p:sp>
        <p:nvSpPr>
          <p:cNvPr id="9" name="Text 7"/>
          <p:cNvSpPr txBox="1"/>
          <p:nvPr/>
        </p:nvSpPr>
        <p:spPr>
          <a:xfrm>
            <a:off x="6419088"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No logo, just the name.</a:t>
            </a:r>
            <a:endParaRPr lang="en-US" sz="1500" dirty="0"/>
          </a:p>
        </p:txBody>
      </p:sp>
      <p:sp>
        <p:nvSpPr>
          <p:cNvPr id="10" name="Text 8"/>
          <p:cNvSpPr txBox="1"/>
          <p:nvPr/>
        </p:nvSpPr>
        <p:spPr>
          <a:xfrm>
            <a:off x="9171432" y="4709160"/>
            <a:ext cx="2331720" cy="365760"/>
          </a:xfrm>
          <a:prstGeom prst="rect">
            <a:avLst/>
          </a:prstGeom>
          <a:noFill/>
          <a:ln/>
        </p:spPr>
        <p:txBody>
          <a:bodyPr wrap="square" lIns="0" tIns="0" rIns="0" bIns="0" rtlCol="0" anchor="t"/>
          <a:lstStyle/>
          <a:p>
            <a:pPr indent="0" marL="0">
              <a:buNone/>
            </a:pPr>
            <a:r>
              <a:rPr lang="en-US" sz="1700" b="1" dirty="0">
                <a:solidFill>
                  <a:schemeClr val="accent2"/>
                </a:solidFill>
              </a:rPr>
              <a:t>D  ·  Australia</a:t>
            </a:r>
            <a:endParaRPr lang="en-US" sz="1700" dirty="0"/>
          </a:p>
        </p:txBody>
      </p:sp>
      <p:sp>
        <p:nvSpPr>
          <p:cNvPr id="11" name="Text 9"/>
          <p:cNvSpPr txBox="1"/>
          <p:nvPr/>
        </p:nvSpPr>
        <p:spPr>
          <a:xfrm>
            <a:off x="9171432" y="5074920"/>
            <a:ext cx="2331720" cy="365760"/>
          </a:xfrm>
          <a:prstGeom prst="rect">
            <a:avLst/>
          </a:prstGeom>
          <a:noFill/>
          <a:ln/>
        </p:spPr>
        <p:txBody>
          <a:bodyPr wrap="square" lIns="0" tIns="0" rIns="0" bIns="0" rtlCol="0" anchor="t"/>
          <a:lstStyle/>
          <a:p>
            <a:pPr indent="0" marL="0">
              <a:buNone/>
            </a:pPr>
            <a:r>
              <a:rPr lang="en-US" sz="1500" dirty="0">
                <a:solidFill>
                  <a:schemeClr val="accent6"/>
                </a:solidFill>
              </a:rPr>
              <a:t>The “ugliest colour”.</a:t>
            </a:r>
            <a:endParaRPr lang="en-US" sz="1500" dirty="0"/>
          </a:p>
        </p:txBody>
      </p:sp>
      <p:sp>
        <p:nvSpPr>
          <p:cNvPr id="12" name="Text 10"/>
          <p:cNvSpPr txBox="1"/>
          <p:nvPr/>
        </p:nvSpPr>
        <p:spPr>
          <a:xfrm>
            <a:off x="914400" y="5532120"/>
            <a:ext cx="10588752" cy="68580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3   </a:t>
            </a:r>
            <a:pPr indent="0" marL="0">
              <a:buNone/>
            </a:pPr>
            <a:r>
              <a:rPr lang="en-US" sz="1700" b="1" dirty="0">
                <a:solidFill>
                  <a:schemeClr val="accent1"/>
                </a:solidFill>
              </a:rPr>
              <a:t>One brand, four packs: here the law, not culture, forces adaptation.</a:t>
            </a:r>
            <a:endParaRPr lang="en-US" sz="1300" dirty="0"/>
          </a:p>
        </p:txBody>
      </p:sp>
      <p:sp>
        <p:nvSpPr>
          <p:cNvPr id="14" name="Text 2"/>
          <p:cNvSpPr/>
          <p:nvPr>
            <p:ph type="pic" idx="104" hasCustomPrompt="1"/>
          </p:nvPr>
        </p:nvSpPr>
        <p:spPr>
          <a:xfrm>
            <a:off x="914400" y="1325880"/>
            <a:ext cx="2331720" cy="3246120"/>
          </a:xfrm>
          <a:prstGeom prst="rect">
            <a:avLst/>
          </a:prstGeom>
          <a:noFill/>
          <a:ln/>
        </p:spPr>
        <p:txBody>
          <a:bodyPr wrap="square" rtlCol="0"/>
          <a:lstStyle/>
          <a:p>
            <a:pPr indent="0" marL="0">
              <a:buNone/>
            </a:pPr>
            <a:endParaRPr lang="en-US" sz="1200" dirty="0"/>
          </a:p>
        </p:txBody>
      </p:sp>
      <p:sp>
        <p:nvSpPr>
          <p:cNvPr id="15" name="Text 2"/>
          <p:cNvSpPr/>
          <p:nvPr>
            <p:ph type="pic" idx="105" hasCustomPrompt="1"/>
          </p:nvPr>
        </p:nvSpPr>
        <p:spPr>
          <a:xfrm>
            <a:off x="3666744" y="1325880"/>
            <a:ext cx="2331720" cy="3246120"/>
          </a:xfrm>
          <a:prstGeom prst="rect">
            <a:avLst/>
          </a:prstGeom>
          <a:noFill/>
          <a:ln/>
        </p:spPr>
        <p:txBody>
          <a:bodyPr wrap="square" rtlCol="0"/>
          <a:lstStyle/>
          <a:p>
            <a:pPr indent="0" marL="0">
              <a:buNone/>
            </a:pPr>
            <a:endParaRPr lang="en-US" sz="1200" dirty="0"/>
          </a:p>
        </p:txBody>
      </p:sp>
      <p:sp>
        <p:nvSpPr>
          <p:cNvPr id="16" name="Text 2"/>
          <p:cNvSpPr/>
          <p:nvPr>
            <p:ph type="pic" idx="106" hasCustomPrompt="1"/>
          </p:nvPr>
        </p:nvSpPr>
        <p:spPr>
          <a:xfrm>
            <a:off x="6419088" y="1325880"/>
            <a:ext cx="2331720" cy="3246120"/>
          </a:xfrm>
          <a:prstGeom prst="rect">
            <a:avLst/>
          </a:prstGeom>
          <a:noFill/>
          <a:ln/>
        </p:spPr>
        <p:txBody>
          <a:bodyPr wrap="square" rtlCol="0"/>
          <a:lstStyle/>
          <a:p>
            <a:pPr indent="0" marL="0">
              <a:buNone/>
            </a:pPr>
            <a:endParaRPr lang="en-US" sz="1200" dirty="0"/>
          </a:p>
        </p:txBody>
      </p:sp>
      <p:sp>
        <p:nvSpPr>
          <p:cNvPr id="17" name="Text 2"/>
          <p:cNvSpPr/>
          <p:nvPr>
            <p:ph type="pic" idx="107" hasCustomPrompt="1"/>
          </p:nvPr>
        </p:nvSpPr>
        <p:spPr>
          <a:xfrm>
            <a:off x="9171432" y="1325880"/>
            <a:ext cx="2331720" cy="324612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Plan B</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When you can’t change the ad, change the taste</a:t>
            </a:r>
            <a:endParaRPr lang="en-US" sz="2600" dirty="0"/>
          </a:p>
        </p:txBody>
      </p:sp>
      <p:sp>
        <p:nvSpPr>
          <p:cNvPr id="4" name="Shape 2"/>
          <p:cNvSpPr/>
          <p:nvPr/>
        </p:nvSpPr>
        <p:spPr>
          <a:xfrm>
            <a:off x="6492240" y="1417320"/>
            <a:ext cx="594360" cy="59436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6640830" y="1565910"/>
            <a:ext cx="297180" cy="297180"/>
          </a:xfrm>
          <a:prstGeom prst="rect">
            <a:avLst/>
          </a:prstGeom>
        </p:spPr>
      </p:pic>
      <p:sp>
        <p:nvSpPr>
          <p:cNvPr id="6" name="Text 3"/>
          <p:cNvSpPr txBox="1"/>
          <p:nvPr/>
        </p:nvSpPr>
        <p:spPr>
          <a:xfrm>
            <a:off x="7315200" y="1371600"/>
            <a:ext cx="4187952" cy="365760"/>
          </a:xfrm>
          <a:prstGeom prst="rect">
            <a:avLst/>
          </a:prstGeom>
          <a:noFill/>
          <a:ln/>
        </p:spPr>
        <p:txBody>
          <a:bodyPr wrap="square" lIns="0" tIns="0" rIns="0" bIns="0" rtlCol="0" anchor="t"/>
          <a:lstStyle/>
          <a:p>
            <a:pPr indent="0" marL="0">
              <a:buNone/>
            </a:pPr>
            <a:r>
              <a:rPr lang="en-US" sz="2100" b="1" dirty="0">
                <a:solidFill>
                  <a:schemeClr val="accent1"/>
                </a:solidFill>
              </a:rPr>
              <a:t>Menthol</a:t>
            </a:r>
            <a:endParaRPr lang="en-US" sz="2100" dirty="0"/>
          </a:p>
        </p:txBody>
      </p:sp>
      <p:sp>
        <p:nvSpPr>
          <p:cNvPr id="7" name="Text 4"/>
          <p:cNvSpPr txBox="1"/>
          <p:nvPr/>
        </p:nvSpPr>
        <p:spPr>
          <a:xfrm>
            <a:off x="7315200" y="1783080"/>
            <a:ext cx="4187952" cy="640080"/>
          </a:xfrm>
          <a:prstGeom prst="rect">
            <a:avLst/>
          </a:prstGeom>
          <a:noFill/>
          <a:ln/>
        </p:spPr>
        <p:txBody>
          <a:bodyPr wrap="square" lIns="0" tIns="0" rIns="0" bIns="0" rtlCol="0" anchor="t"/>
          <a:lstStyle/>
          <a:p>
            <a:pPr indent="0" marL="0">
              <a:buNone/>
            </a:pPr>
            <a:r>
              <a:rPr lang="en-US" sz="1600" dirty="0">
                <a:solidFill>
                  <a:schemeClr val="accent6"/>
                </a:solidFill>
              </a:rPr>
              <a:t>Cools the throat, so the first cigarette doesn’t hurt.</a:t>
            </a:r>
            <a:endParaRPr lang="en-US" sz="1600" dirty="0"/>
          </a:p>
        </p:txBody>
      </p:sp>
      <p:sp>
        <p:nvSpPr>
          <p:cNvPr id="8" name="Shape 5"/>
          <p:cNvSpPr/>
          <p:nvPr/>
        </p:nvSpPr>
        <p:spPr>
          <a:xfrm>
            <a:off x="6492240" y="2560320"/>
            <a:ext cx="594360" cy="594360"/>
          </a:xfrm>
          <a:prstGeom prst="ellipse">
            <a:avLst/>
          </a:prstGeom>
          <a:solidFill>
            <a:schemeClr val="accent2"/>
          </a:solidFill>
          <a:ln w="12700">
            <a:solidFill>
              <a:schemeClr val="accent2"/>
            </a:solidFill>
            <a:prstDash val="solid"/>
          </a:ln>
        </p:spPr>
      </p:sp>
      <p:pic>
        <p:nvPicPr>
          <p:cNvPr id="9" name="Image 1" descr="preencoded.png">    </p:cNvPr>
          <p:cNvPicPr>
            <a:picLocks noChangeAspect="1"/>
          </p:cNvPicPr>
          <p:nvPr/>
        </p:nvPicPr>
        <p:blipFill>
          <a:blip r:embed="rId2"/>
          <a:stretch>
            <a:fillRect/>
          </a:stretch>
        </p:blipFill>
        <p:spPr>
          <a:xfrm>
            <a:off x="6640830" y="2708910"/>
            <a:ext cx="297180" cy="297180"/>
          </a:xfrm>
          <a:prstGeom prst="rect">
            <a:avLst/>
          </a:prstGeom>
        </p:spPr>
      </p:pic>
      <p:sp>
        <p:nvSpPr>
          <p:cNvPr id="10" name="Text 6"/>
          <p:cNvSpPr txBox="1"/>
          <p:nvPr/>
        </p:nvSpPr>
        <p:spPr>
          <a:xfrm>
            <a:off x="7315200" y="2514600"/>
            <a:ext cx="4187952" cy="365760"/>
          </a:xfrm>
          <a:prstGeom prst="rect">
            <a:avLst/>
          </a:prstGeom>
          <a:noFill/>
          <a:ln/>
        </p:spPr>
        <p:txBody>
          <a:bodyPr wrap="square" lIns="0" tIns="0" rIns="0" bIns="0" rtlCol="0" anchor="t"/>
          <a:lstStyle/>
          <a:p>
            <a:pPr indent="0" marL="0">
              <a:buNone/>
            </a:pPr>
            <a:r>
              <a:rPr lang="en-US" sz="2100" b="1" dirty="0">
                <a:solidFill>
                  <a:schemeClr val="accent2"/>
                </a:solidFill>
              </a:rPr>
              <a:t>The click</a:t>
            </a:r>
            <a:endParaRPr lang="en-US" sz="2100" dirty="0"/>
          </a:p>
        </p:txBody>
      </p:sp>
      <p:sp>
        <p:nvSpPr>
          <p:cNvPr id="11" name="Text 7"/>
          <p:cNvSpPr txBox="1"/>
          <p:nvPr/>
        </p:nvSpPr>
        <p:spPr>
          <a:xfrm>
            <a:off x="7315200" y="2926080"/>
            <a:ext cx="4187952" cy="640080"/>
          </a:xfrm>
          <a:prstGeom prst="rect">
            <a:avLst/>
          </a:prstGeom>
          <a:noFill/>
          <a:ln/>
        </p:spPr>
        <p:txBody>
          <a:bodyPr wrap="square" lIns="0" tIns="0" rIns="0" bIns="0" rtlCol="0" anchor="t"/>
          <a:lstStyle/>
          <a:p>
            <a:pPr indent="0" marL="0">
              <a:buNone/>
            </a:pPr>
            <a:r>
              <a:rPr lang="en-US" sz="1600" dirty="0">
                <a:solidFill>
                  <a:schemeClr val="accent6"/>
                </a:solidFill>
              </a:rPr>
              <a:t>A capsule in the filter: click it and the flavour changes.</a:t>
            </a:r>
            <a:endParaRPr lang="en-US" sz="1600" dirty="0"/>
          </a:p>
        </p:txBody>
      </p:sp>
      <p:sp>
        <p:nvSpPr>
          <p:cNvPr id="12" name="Shape 8"/>
          <p:cNvSpPr/>
          <p:nvPr/>
        </p:nvSpPr>
        <p:spPr>
          <a:xfrm>
            <a:off x="6492240" y="3703320"/>
            <a:ext cx="594360" cy="594360"/>
          </a:xfrm>
          <a:prstGeom prst="ellipse">
            <a:avLst/>
          </a:prstGeom>
          <a:solidFill>
            <a:schemeClr val="accent1"/>
          </a:solidFill>
          <a:ln w="12700">
            <a:solidFill>
              <a:schemeClr val="accent1"/>
            </a:solidFill>
            <a:prstDash val="solid"/>
          </a:ln>
        </p:spPr>
      </p:sp>
      <p:pic>
        <p:nvPicPr>
          <p:cNvPr id="13" name="Image 2" descr="preencoded.png">    </p:cNvPr>
          <p:cNvPicPr>
            <a:picLocks noChangeAspect="1"/>
          </p:cNvPicPr>
          <p:nvPr/>
        </p:nvPicPr>
        <p:blipFill>
          <a:blip r:embed="rId3"/>
          <a:stretch>
            <a:fillRect/>
          </a:stretch>
        </p:blipFill>
        <p:spPr>
          <a:xfrm>
            <a:off x="6640830" y="3851910"/>
            <a:ext cx="297180" cy="297180"/>
          </a:xfrm>
          <a:prstGeom prst="rect">
            <a:avLst/>
          </a:prstGeom>
        </p:spPr>
      </p:pic>
      <p:sp>
        <p:nvSpPr>
          <p:cNvPr id="14" name="Text 9"/>
          <p:cNvSpPr txBox="1"/>
          <p:nvPr/>
        </p:nvSpPr>
        <p:spPr>
          <a:xfrm>
            <a:off x="7315200" y="3657600"/>
            <a:ext cx="4187952" cy="365760"/>
          </a:xfrm>
          <a:prstGeom prst="rect">
            <a:avLst/>
          </a:prstGeom>
          <a:noFill/>
          <a:ln/>
        </p:spPr>
        <p:txBody>
          <a:bodyPr wrap="square" lIns="0" tIns="0" rIns="0" bIns="0" rtlCol="0" anchor="t"/>
          <a:lstStyle/>
          <a:p>
            <a:pPr indent="0" marL="0">
              <a:buNone/>
            </a:pPr>
            <a:r>
              <a:rPr lang="en-US" sz="2100" b="1" dirty="0">
                <a:solidFill>
                  <a:schemeClr val="accent1"/>
                </a:solidFill>
              </a:rPr>
              <a:t>Local taste</a:t>
            </a:r>
            <a:endParaRPr lang="en-US" sz="2100" dirty="0"/>
          </a:p>
        </p:txBody>
      </p:sp>
      <p:sp>
        <p:nvSpPr>
          <p:cNvPr id="15" name="Text 10"/>
          <p:cNvSpPr txBox="1"/>
          <p:nvPr/>
        </p:nvSpPr>
        <p:spPr>
          <a:xfrm>
            <a:off x="7315200" y="4069080"/>
            <a:ext cx="4187952" cy="640080"/>
          </a:xfrm>
          <a:prstGeom prst="rect">
            <a:avLst/>
          </a:prstGeom>
          <a:noFill/>
          <a:ln/>
        </p:spPr>
        <p:txBody>
          <a:bodyPr wrap="square" lIns="0" tIns="0" rIns="0" bIns="0" rtlCol="0" anchor="t"/>
          <a:lstStyle/>
          <a:p>
            <a:pPr indent="0" marL="0">
              <a:buNone/>
            </a:pPr>
            <a:r>
              <a:rPr lang="en-US" sz="1600" dirty="0">
                <a:solidFill>
                  <a:schemeClr val="accent6"/>
                </a:solidFill>
              </a:rPr>
              <a:t>In Kyrgyzstan: nasvay. In the Middle East: apple shisha.</a:t>
            </a:r>
            <a:endParaRPr lang="en-US" sz="1600" dirty="0"/>
          </a:p>
        </p:txBody>
      </p:sp>
      <p:sp>
        <p:nvSpPr>
          <p:cNvPr id="16" name="Text 11"/>
          <p:cNvSpPr txBox="1"/>
          <p:nvPr/>
        </p:nvSpPr>
        <p:spPr>
          <a:xfrm>
            <a:off x="6492240" y="4800600"/>
            <a:ext cx="5010912" cy="123444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4   </a:t>
            </a:r>
            <a:pPr indent="0" marL="0">
              <a:buNone/>
            </a:pPr>
            <a:r>
              <a:rPr lang="en-US" sz="1700" b="1" dirty="0">
                <a:solidFill>
                  <a:schemeClr val="accent1"/>
                </a:solidFill>
              </a:rPr>
              <a:t>Flavour adapts the product to a culture, and it also decides who the first-time user is.</a:t>
            </a:r>
            <a:endParaRPr lang="en-US" sz="1300" dirty="0"/>
          </a:p>
        </p:txBody>
      </p:sp>
      <p:sp>
        <p:nvSpPr>
          <p:cNvPr id="18"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came the vape</a:t>
            </a:r>
            <a:endParaRPr lang="en-US" sz="2600" dirty="0"/>
          </a:p>
        </p:txBody>
      </p:sp>
      <p:graphicFrame>
        <p:nvGraphicFramePr>
          <p:cNvPr id="4" name="Chart 0" descr=""/>
          <p:cNvGraphicFramePr/>
          <p:nvPr/>
        </p:nvGraphicFramePr>
        <p:xfrm>
          <a:off x="822960" y="128016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5852160"/>
            <a:ext cx="66751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The 2019 survey moved to tablets, which may raise estimates.</a:t>
            </a:r>
            <a:endParaRPr lang="en-US" sz="1000" dirty="0"/>
          </a:p>
        </p:txBody>
      </p:sp>
      <p:sp>
        <p:nvSpPr>
          <p:cNvPr id="6" name="Text 3"/>
          <p:cNvSpPr txBox="1"/>
          <p:nvPr/>
        </p:nvSpPr>
        <p:spPr>
          <a:xfrm>
            <a:off x="8092440" y="1463040"/>
            <a:ext cx="3410712" cy="822960"/>
          </a:xfrm>
          <a:prstGeom prst="rect">
            <a:avLst/>
          </a:prstGeom>
          <a:noFill/>
          <a:ln/>
        </p:spPr>
        <p:txBody>
          <a:bodyPr wrap="square" lIns="0" tIns="0" rIns="0" bIns="0" rtlCol="0" anchor="t"/>
          <a:lstStyle/>
          <a:p>
            <a:pPr indent="0" marL="0">
              <a:buNone/>
            </a:pPr>
            <a:r>
              <a:rPr lang="en-US" sz="1900" dirty="0">
                <a:solidFill>
                  <a:schemeClr val="accent6"/>
                </a:solidFill>
              </a:rPr>
              <a:t>Teenagers had almost stopped smoking.</a:t>
            </a:r>
            <a:endParaRPr lang="en-US" sz="1900" dirty="0"/>
          </a:p>
        </p:txBody>
      </p:sp>
      <p:sp>
        <p:nvSpPr>
          <p:cNvPr id="7" name="Text 4"/>
          <p:cNvSpPr txBox="1"/>
          <p:nvPr/>
        </p:nvSpPr>
        <p:spPr>
          <a:xfrm>
            <a:off x="8092440" y="2331720"/>
            <a:ext cx="3410712" cy="1188720"/>
          </a:xfrm>
          <a:prstGeom prst="rect">
            <a:avLst/>
          </a:prstGeom>
          <a:noFill/>
          <a:ln/>
        </p:spPr>
        <p:txBody>
          <a:bodyPr wrap="square" lIns="0" tIns="0" rIns="0" bIns="0" rtlCol="0" anchor="t"/>
          <a:lstStyle/>
          <a:p>
            <a:pPr indent="0" marL="0">
              <a:buNone/>
            </a:pPr>
            <a:r>
              <a:rPr lang="en-US" sz="2600" b="1" dirty="0">
                <a:solidFill>
                  <a:schemeClr val="accent2"/>
                </a:solidFill>
              </a:rPr>
              <a:t>Then 1 in 4 high school students was vaping.</a:t>
            </a:r>
            <a:endParaRPr lang="en-US" sz="2600" dirty="0"/>
          </a:p>
        </p:txBody>
      </p:sp>
      <p:sp>
        <p:nvSpPr>
          <p:cNvPr id="8" name="Text 5"/>
          <p:cNvSpPr txBox="1"/>
          <p:nvPr/>
        </p:nvSpPr>
        <p:spPr>
          <a:xfrm>
            <a:off x="8092440" y="3886200"/>
            <a:ext cx="3410712" cy="1508760"/>
          </a:xfrm>
          <a:prstGeom prst="rect">
            <a:avLst/>
          </a:prstGeom>
          <a:solidFill>
            <a:schemeClr val="bg2"/>
          </a:solidFill>
          <a:ln>
            <a:solidFill>
              <a:schemeClr val="bg2"/>
            </a:solidFill>
          </a:ln>
        </p:spPr>
        <p:txBody>
          <a:bodyPr wrap="square" lIns="177800" tIns="177800" rIns="177800" bIns="177800" rtlCol="0" anchor="ctr"/>
          <a:lstStyle/>
          <a:p>
            <a:pPr indent="0" marL="0">
              <a:buNone/>
            </a:pPr>
            <a:r>
              <a:rPr lang="en-US" sz="1300" b="1" spc="100" kern="0" dirty="0">
                <a:solidFill>
                  <a:schemeClr val="accent2"/>
                </a:solidFill>
              </a:rPr>
              <a:t>LESSON 5   </a:t>
            </a:r>
            <a:pPr indent="0" marL="0">
              <a:buNone/>
            </a:pPr>
            <a:r>
              <a:rPr lang="en-US" sz="1700" b="1" dirty="0">
                <a:solidFill>
                  <a:schemeClr val="accent1"/>
                </a:solidFill>
              </a:rPr>
              <a:t>A new category escapes the old rules. That gap is where marketing grows fastest.</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Plot twist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vapes speak to kids: the 4Ps all point one way</a:t>
            </a:r>
            <a:endParaRPr lang="en-US" sz="2600" dirty="0"/>
          </a:p>
        </p:txBody>
      </p:sp>
      <p:sp>
        <p:nvSpPr>
          <p:cNvPr id="4" name="Shape 2"/>
          <p:cNvSpPr/>
          <p:nvPr/>
        </p:nvSpPr>
        <p:spPr>
          <a:xfrm>
            <a:off x="914400" y="1417320"/>
            <a:ext cx="2441448" cy="2743200"/>
          </a:xfrm>
          <a:prstGeom prst="rect">
            <a:avLst/>
          </a:prstGeom>
          <a:solidFill>
            <a:schemeClr val="bg2"/>
          </a:solidFill>
          <a:ln w="12700">
            <a:solidFill>
              <a:schemeClr val="bg2"/>
            </a:solidFill>
            <a:prstDash val="solid"/>
          </a:ln>
        </p:spPr>
      </p:sp>
      <p:sp>
        <p:nvSpPr>
          <p:cNvPr id="5" name="Shape 3"/>
          <p:cNvSpPr/>
          <p:nvPr/>
        </p:nvSpPr>
        <p:spPr>
          <a:xfrm>
            <a:off x="1234440" y="1645920"/>
            <a:ext cx="685800" cy="68580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1405890" y="1817370"/>
            <a:ext cx="342900" cy="342900"/>
          </a:xfrm>
          <a:prstGeom prst="rect">
            <a:avLst/>
          </a:prstGeom>
        </p:spPr>
      </p:pic>
      <p:sp>
        <p:nvSpPr>
          <p:cNvPr id="7" name="Text 4"/>
          <p:cNvSpPr txBox="1"/>
          <p:nvPr/>
        </p:nvSpPr>
        <p:spPr>
          <a:xfrm>
            <a:off x="1234440" y="2514600"/>
            <a:ext cx="1801368" cy="457200"/>
          </a:xfrm>
          <a:prstGeom prst="rect">
            <a:avLst/>
          </a:prstGeom>
          <a:noFill/>
          <a:ln/>
        </p:spPr>
        <p:txBody>
          <a:bodyPr wrap="square" lIns="0" tIns="0" rIns="0" bIns="0" rtlCol="0" anchor="t"/>
          <a:lstStyle/>
          <a:p>
            <a:pPr indent="0" marL="0">
              <a:buNone/>
            </a:pPr>
            <a:r>
              <a:rPr lang="en-US" sz="2200" b="1" dirty="0">
                <a:solidFill>
                  <a:schemeClr val="accent2"/>
                </a:solidFill>
              </a:rPr>
              <a:t>Product</a:t>
            </a:r>
            <a:endParaRPr lang="en-US" sz="2200" dirty="0"/>
          </a:p>
        </p:txBody>
      </p:sp>
      <p:sp>
        <p:nvSpPr>
          <p:cNvPr id="8" name="Text 5"/>
          <p:cNvSpPr txBox="1"/>
          <p:nvPr/>
        </p:nvSpPr>
        <p:spPr>
          <a:xfrm>
            <a:off x="1234440"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Bubblegum, mango, cotton candy flavours</a:t>
            </a:r>
            <a:endParaRPr lang="en-US" sz="1700" dirty="0"/>
          </a:p>
        </p:txBody>
      </p:sp>
      <p:sp>
        <p:nvSpPr>
          <p:cNvPr id="9" name="Shape 6"/>
          <p:cNvSpPr/>
          <p:nvPr/>
        </p:nvSpPr>
        <p:spPr>
          <a:xfrm>
            <a:off x="3630168" y="1417320"/>
            <a:ext cx="2441448" cy="2743200"/>
          </a:xfrm>
          <a:prstGeom prst="rect">
            <a:avLst/>
          </a:prstGeom>
          <a:solidFill>
            <a:schemeClr val="bg2"/>
          </a:solidFill>
          <a:ln w="12700">
            <a:solidFill>
              <a:schemeClr val="bg2"/>
            </a:solidFill>
            <a:prstDash val="solid"/>
          </a:ln>
        </p:spPr>
      </p:sp>
      <p:sp>
        <p:nvSpPr>
          <p:cNvPr id="10" name="Shape 7"/>
          <p:cNvSpPr/>
          <p:nvPr/>
        </p:nvSpPr>
        <p:spPr>
          <a:xfrm>
            <a:off x="3950208" y="1645920"/>
            <a:ext cx="685800" cy="68580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21658" y="1817370"/>
            <a:ext cx="342900" cy="342900"/>
          </a:xfrm>
          <a:prstGeom prst="rect">
            <a:avLst/>
          </a:prstGeom>
        </p:spPr>
      </p:pic>
      <p:sp>
        <p:nvSpPr>
          <p:cNvPr id="12" name="Text 8"/>
          <p:cNvSpPr txBox="1"/>
          <p:nvPr/>
        </p:nvSpPr>
        <p:spPr>
          <a:xfrm>
            <a:off x="3950208" y="2514600"/>
            <a:ext cx="1801368" cy="457200"/>
          </a:xfrm>
          <a:prstGeom prst="rect">
            <a:avLst/>
          </a:prstGeom>
          <a:noFill/>
          <a:ln/>
        </p:spPr>
        <p:txBody>
          <a:bodyPr wrap="square" lIns="0" tIns="0" rIns="0" bIns="0" rtlCol="0" anchor="t"/>
          <a:lstStyle/>
          <a:p>
            <a:pPr indent="0" marL="0">
              <a:buNone/>
            </a:pPr>
            <a:r>
              <a:rPr lang="en-US" sz="2200" b="1" dirty="0">
                <a:solidFill>
                  <a:schemeClr val="accent1"/>
                </a:solidFill>
              </a:rPr>
              <a:t>Package</a:t>
            </a:r>
            <a:endParaRPr lang="en-US" sz="2200" dirty="0"/>
          </a:p>
        </p:txBody>
      </p:sp>
      <p:sp>
        <p:nvSpPr>
          <p:cNvPr id="13" name="Text 9"/>
          <p:cNvSpPr txBox="1"/>
          <p:nvPr/>
        </p:nvSpPr>
        <p:spPr>
          <a:xfrm>
            <a:off x="3950208"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Colourful, looks like a USB stick, easy to hide</a:t>
            </a:r>
            <a:endParaRPr lang="en-US" sz="1700" dirty="0"/>
          </a:p>
        </p:txBody>
      </p:sp>
      <p:sp>
        <p:nvSpPr>
          <p:cNvPr id="14" name="Shape 10"/>
          <p:cNvSpPr/>
          <p:nvPr/>
        </p:nvSpPr>
        <p:spPr>
          <a:xfrm>
            <a:off x="6345936" y="1417320"/>
            <a:ext cx="2441448" cy="2743200"/>
          </a:xfrm>
          <a:prstGeom prst="rect">
            <a:avLst/>
          </a:prstGeom>
          <a:solidFill>
            <a:schemeClr val="bg2"/>
          </a:solidFill>
          <a:ln w="12700">
            <a:solidFill>
              <a:schemeClr val="bg2"/>
            </a:solidFill>
            <a:prstDash val="solid"/>
          </a:ln>
        </p:spPr>
      </p:sp>
      <p:sp>
        <p:nvSpPr>
          <p:cNvPr id="15" name="Shape 11"/>
          <p:cNvSpPr/>
          <p:nvPr/>
        </p:nvSpPr>
        <p:spPr>
          <a:xfrm>
            <a:off x="6665976" y="1645920"/>
            <a:ext cx="685800" cy="6858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37426" y="1817370"/>
            <a:ext cx="342900" cy="342900"/>
          </a:xfrm>
          <a:prstGeom prst="rect">
            <a:avLst/>
          </a:prstGeom>
        </p:spPr>
      </p:pic>
      <p:sp>
        <p:nvSpPr>
          <p:cNvPr id="17" name="Text 12"/>
          <p:cNvSpPr txBox="1"/>
          <p:nvPr/>
        </p:nvSpPr>
        <p:spPr>
          <a:xfrm>
            <a:off x="6665976" y="2514600"/>
            <a:ext cx="1801368" cy="457200"/>
          </a:xfrm>
          <a:prstGeom prst="rect">
            <a:avLst/>
          </a:prstGeom>
          <a:noFill/>
          <a:ln/>
        </p:spPr>
        <p:txBody>
          <a:bodyPr wrap="square" lIns="0" tIns="0" rIns="0" bIns="0" rtlCol="0" anchor="t"/>
          <a:lstStyle/>
          <a:p>
            <a:pPr indent="0" marL="0">
              <a:buNone/>
            </a:pPr>
            <a:r>
              <a:rPr lang="en-US" sz="2200" b="1" dirty="0">
                <a:solidFill>
                  <a:schemeClr val="accent1"/>
                </a:solidFill>
              </a:rPr>
              <a:t>Promotion</a:t>
            </a:r>
            <a:endParaRPr lang="en-US" sz="2200" dirty="0"/>
          </a:p>
        </p:txBody>
      </p:sp>
      <p:sp>
        <p:nvSpPr>
          <p:cNvPr id="18" name="Text 13"/>
          <p:cNvSpPr txBox="1"/>
          <p:nvPr/>
        </p:nvSpPr>
        <p:spPr>
          <a:xfrm>
            <a:off x="6665976"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Influencers and TikTok, not TV</a:t>
            </a:r>
            <a:endParaRPr lang="en-US" sz="1700" dirty="0"/>
          </a:p>
        </p:txBody>
      </p:sp>
      <p:sp>
        <p:nvSpPr>
          <p:cNvPr id="19" name="Shape 14"/>
          <p:cNvSpPr/>
          <p:nvPr/>
        </p:nvSpPr>
        <p:spPr>
          <a:xfrm>
            <a:off x="9061704" y="1417320"/>
            <a:ext cx="2441448" cy="2743200"/>
          </a:xfrm>
          <a:prstGeom prst="rect">
            <a:avLst/>
          </a:prstGeom>
          <a:solidFill>
            <a:schemeClr val="bg2"/>
          </a:solidFill>
          <a:ln w="12700">
            <a:solidFill>
              <a:schemeClr val="bg2"/>
            </a:solidFill>
            <a:prstDash val="solid"/>
          </a:ln>
        </p:spPr>
      </p:sp>
      <p:sp>
        <p:nvSpPr>
          <p:cNvPr id="20" name="Shape 15"/>
          <p:cNvSpPr/>
          <p:nvPr/>
        </p:nvSpPr>
        <p:spPr>
          <a:xfrm>
            <a:off x="9381744" y="1645920"/>
            <a:ext cx="685800" cy="68580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53194" y="1817370"/>
            <a:ext cx="342900" cy="342900"/>
          </a:xfrm>
          <a:prstGeom prst="rect">
            <a:avLst/>
          </a:prstGeom>
        </p:spPr>
      </p:pic>
      <p:sp>
        <p:nvSpPr>
          <p:cNvPr id="22" name="Text 16"/>
          <p:cNvSpPr txBox="1"/>
          <p:nvPr/>
        </p:nvSpPr>
        <p:spPr>
          <a:xfrm>
            <a:off x="9381744" y="2514600"/>
            <a:ext cx="1801368" cy="457200"/>
          </a:xfrm>
          <a:prstGeom prst="rect">
            <a:avLst/>
          </a:prstGeom>
          <a:noFill/>
          <a:ln/>
        </p:spPr>
        <p:txBody>
          <a:bodyPr wrap="square" lIns="0" tIns="0" rIns="0" bIns="0" rtlCol="0" anchor="t"/>
          <a:lstStyle/>
          <a:p>
            <a:pPr indent="0" marL="0">
              <a:buNone/>
            </a:pPr>
            <a:r>
              <a:rPr lang="en-US" sz="2200" b="1" dirty="0">
                <a:solidFill>
                  <a:schemeClr val="accent1"/>
                </a:solidFill>
              </a:rPr>
              <a:t>Price &amp; place</a:t>
            </a:r>
            <a:endParaRPr lang="en-US" sz="2200" dirty="0"/>
          </a:p>
        </p:txBody>
      </p:sp>
      <p:sp>
        <p:nvSpPr>
          <p:cNvPr id="23" name="Text 17"/>
          <p:cNvSpPr txBox="1"/>
          <p:nvPr/>
        </p:nvSpPr>
        <p:spPr>
          <a:xfrm>
            <a:off x="9381744" y="3017520"/>
            <a:ext cx="1801368" cy="1005840"/>
          </a:xfrm>
          <a:prstGeom prst="rect">
            <a:avLst/>
          </a:prstGeom>
          <a:noFill/>
          <a:ln/>
        </p:spPr>
        <p:txBody>
          <a:bodyPr wrap="square" lIns="0" tIns="0" rIns="0" bIns="0" rtlCol="0" anchor="t"/>
          <a:lstStyle/>
          <a:p>
            <a:pPr indent="0" marL="0">
              <a:buNone/>
            </a:pPr>
            <a:r>
              <a:rPr lang="en-US" sz="1700" dirty="0">
                <a:solidFill>
                  <a:schemeClr val="accent6"/>
                </a:solidFill>
              </a:rPr>
              <a:t>Cheap disposables at every kiosk</a:t>
            </a:r>
            <a:endParaRPr lang="en-US" sz="1700" dirty="0"/>
          </a:p>
        </p:txBody>
      </p:sp>
      <p:sp>
        <p:nvSpPr>
          <p:cNvPr id="24" name="Text 18"/>
          <p:cNvSpPr txBox="1"/>
          <p:nvPr/>
        </p:nvSpPr>
        <p:spPr>
          <a:xfrm>
            <a:off x="914400" y="4389120"/>
            <a:ext cx="10588752" cy="777240"/>
          </a:xfrm>
          <a:prstGeom prst="rect">
            <a:avLst/>
          </a:prstGeom>
          <a:solidFill>
            <a:srgbClr val="1B3A5C"/>
          </a:solidFill>
          <a:ln>
            <a:solidFill>
              <a:srgbClr val="1B3A5C"/>
            </a:solidFill>
          </a:ln>
        </p:spPr>
        <p:txBody>
          <a:bodyPr wrap="square" lIns="177800" tIns="177800" rIns="177800" bIns="177800" rtlCol="0" anchor="ctr"/>
          <a:lstStyle/>
          <a:p>
            <a:pPr indent="0" marL="0">
              <a:buNone/>
            </a:pPr>
            <a:r>
              <a:rPr lang="en-US" sz="1300" b="1" spc="100" kern="0" dirty="0">
                <a:solidFill>
                  <a:srgbClr val="F2B8B8"/>
                </a:solidFill>
              </a:rPr>
              <a:t>LESSON 6   </a:t>
            </a:r>
            <a:pPr indent="0" marL="0">
              <a:buNone/>
            </a:pPr>
            <a:r>
              <a:rPr lang="en-US" sz="1700" b="1" dirty="0">
                <a:solidFill>
                  <a:schemeClr val="bg1"/>
                </a:solidFill>
              </a:rPr>
              <a:t>When every P points at the same customer, that customer is the real target.</a:t>
            </a:r>
            <a:endParaRPr lang="en-US" sz="1300" dirty="0"/>
          </a:p>
        </p:txBody>
      </p:sp>
      <p:sp>
        <p:nvSpPr>
          <p:cNvPr id="25" name="Text 19"/>
          <p:cNvSpPr txBox="1"/>
          <p:nvPr/>
        </p:nvSpPr>
        <p:spPr>
          <a:xfrm>
            <a:off x="914400" y="5394960"/>
            <a:ext cx="10588752" cy="411480"/>
          </a:xfrm>
          <a:prstGeom prst="rect">
            <a:avLst/>
          </a:prstGeom>
          <a:noFill/>
          <a:ln/>
        </p:spPr>
        <p:txBody>
          <a:bodyPr wrap="square" lIns="0" tIns="0" rIns="0" bIns="0" rtlCol="0" anchor="t"/>
          <a:lstStyle/>
          <a:p>
            <a:pPr indent="0" marL="0">
              <a:buNone/>
            </a:pPr>
            <a:r>
              <a:rPr lang="en-US" sz="1800" b="1" i="1" dirty="0">
                <a:solidFill>
                  <a:schemeClr val="accent2"/>
                </a:solidFill>
              </a:rPr>
              <a:t>“A candy-flavoured trap.”  — the head of the World Health Organization</a:t>
            </a:r>
            <a:endParaRPr lang="en-US" sz="18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Look familiar?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playbook, new channel</a:t>
            </a:r>
            <a:endParaRPr lang="en-US" sz="2600" dirty="0"/>
          </a:p>
        </p:txBody>
      </p:sp>
      <p:sp>
        <p:nvSpPr>
          <p:cNvPr id="4" name="Text 2"/>
          <p:cNvSpPr txBox="1"/>
          <p:nvPr/>
        </p:nvSpPr>
        <p:spPr>
          <a:xfrm>
            <a:off x="914400" y="5029200"/>
            <a:ext cx="5111496" cy="457200"/>
          </a:xfrm>
          <a:prstGeom prst="rect">
            <a:avLst/>
          </a:prstGeom>
          <a:noFill/>
          <a:ln/>
        </p:spPr>
        <p:txBody>
          <a:bodyPr wrap="square" lIns="0" tIns="0" rIns="0" bIns="0" rtlCol="0" anchor="t"/>
          <a:lstStyle/>
          <a:p>
            <a:pPr indent="0" marL="0">
              <a:buNone/>
            </a:pPr>
            <a:r>
              <a:rPr lang="en-US" sz="2400" b="1" dirty="0">
                <a:solidFill>
                  <a:schemeClr val="accent1"/>
                </a:solidFill>
              </a:rPr>
              <a:t>Then</a:t>
            </a:r>
            <a:endParaRPr lang="en-US" sz="2400" dirty="0"/>
          </a:p>
        </p:txBody>
      </p:sp>
      <p:sp>
        <p:nvSpPr>
          <p:cNvPr id="5" name="Text 3"/>
          <p:cNvSpPr txBox="1"/>
          <p:nvPr/>
        </p:nvSpPr>
        <p:spPr>
          <a:xfrm>
            <a:off x="914400" y="553212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cartoon camel in a magazine</a:t>
            </a:r>
            <a:endParaRPr lang="en-US" sz="1800" dirty="0"/>
          </a:p>
        </p:txBody>
      </p:sp>
      <p:sp>
        <p:nvSpPr>
          <p:cNvPr id="6" name="Text 4"/>
          <p:cNvSpPr txBox="1"/>
          <p:nvPr/>
        </p:nvSpPr>
        <p:spPr>
          <a:xfrm>
            <a:off x="6391656" y="5029200"/>
            <a:ext cx="5111496" cy="457200"/>
          </a:xfrm>
          <a:prstGeom prst="rect">
            <a:avLst/>
          </a:prstGeom>
          <a:noFill/>
          <a:ln/>
        </p:spPr>
        <p:txBody>
          <a:bodyPr wrap="square" lIns="0" tIns="0" rIns="0" bIns="0" rtlCol="0" anchor="t"/>
          <a:lstStyle/>
          <a:p>
            <a:pPr indent="0" marL="0">
              <a:buNone/>
            </a:pPr>
            <a:r>
              <a:rPr lang="en-US" sz="2400" b="1" dirty="0">
                <a:solidFill>
                  <a:schemeClr val="accent2"/>
                </a:solidFill>
              </a:rPr>
              <a:t>Now</a:t>
            </a:r>
            <a:endParaRPr lang="en-US" sz="2400" dirty="0"/>
          </a:p>
        </p:txBody>
      </p:sp>
      <p:sp>
        <p:nvSpPr>
          <p:cNvPr id="7" name="Text 5"/>
          <p:cNvSpPr txBox="1"/>
          <p:nvPr/>
        </p:nvSpPr>
        <p:spPr>
          <a:xfrm>
            <a:off x="6391656" y="5532120"/>
            <a:ext cx="5111496" cy="411480"/>
          </a:xfrm>
          <a:prstGeom prst="rect">
            <a:avLst/>
          </a:prstGeom>
          <a:noFill/>
          <a:ln/>
        </p:spPr>
        <p:txBody>
          <a:bodyPr wrap="square" lIns="0" tIns="0" rIns="0" bIns="0" rtlCol="0" anchor="t"/>
          <a:lstStyle/>
          <a:p>
            <a:pPr indent="0" marL="0">
              <a:buNone/>
            </a:pPr>
            <a:r>
              <a:rPr lang="en-US" sz="1800" dirty="0">
                <a:solidFill>
                  <a:schemeClr val="accent6"/>
                </a:solidFill>
              </a:rPr>
              <a:t>A sweet-flavoured vape on TikTok</a:t>
            </a:r>
            <a:endParaRPr lang="en-US" sz="1800" dirty="0"/>
          </a:p>
        </p:txBody>
      </p:sp>
      <p:sp>
        <p:nvSpPr>
          <p:cNvPr id="9" name="Text 2"/>
          <p:cNvSpPr/>
          <p:nvPr>
            <p:ph type="pic" idx="104" hasCustomPrompt="1"/>
          </p:nvPr>
        </p:nvSpPr>
        <p:spPr>
          <a:xfrm>
            <a:off x="914400" y="1325880"/>
            <a:ext cx="5111496" cy="3566160"/>
          </a:xfrm>
          <a:prstGeom prst="rect">
            <a:avLst/>
          </a:prstGeom>
          <a:noFill/>
          <a:ln/>
        </p:spPr>
        <p:txBody>
          <a:bodyPr wrap="square" rtlCol="0"/>
          <a:lstStyle/>
          <a:p>
            <a:pPr indent="0" marL="0">
              <a:buNone/>
            </a:pPr>
            <a:endParaRPr lang="en-US" sz="1200" dirty="0"/>
          </a:p>
        </p:txBody>
      </p:sp>
      <p:sp>
        <p:nvSpPr>
          <p:cNvPr id="10" name="Text 2"/>
          <p:cNvSpPr/>
          <p:nvPr>
            <p:ph type="pic" idx="105" hasCustomPrompt="1"/>
          </p:nvPr>
        </p:nvSpPr>
        <p:spPr>
          <a:xfrm>
            <a:off x="6391656" y="1325880"/>
            <a:ext cx="5111496"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Conclusions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What this means for an international marketer</a:t>
            </a:r>
            <a:endParaRPr lang="en-US" sz="2600" dirty="0"/>
          </a:p>
        </p:txBody>
      </p:sp>
      <p:sp>
        <p:nvSpPr>
          <p:cNvPr id="4" name="Shape 2"/>
          <p:cNvSpPr/>
          <p:nvPr/>
        </p:nvSpPr>
        <p:spPr>
          <a:xfrm>
            <a:off x="914400" y="1371600"/>
            <a:ext cx="10588752" cy="1371600"/>
          </a:xfrm>
          <a:prstGeom prst="rect">
            <a:avLst/>
          </a:prstGeom>
          <a:solidFill>
            <a:schemeClr val="bg2"/>
          </a:solidFill>
          <a:ln w="12700">
            <a:solidFill>
              <a:schemeClr val="bg2"/>
            </a:solidFill>
            <a:prstDash val="solid"/>
          </a:ln>
        </p:spPr>
      </p:sp>
      <p:sp>
        <p:nvSpPr>
          <p:cNvPr id="5" name="Text 3"/>
          <p:cNvSpPr txBox="1"/>
          <p:nvPr/>
        </p:nvSpPr>
        <p:spPr>
          <a:xfrm>
            <a:off x="1234440" y="1554480"/>
            <a:ext cx="731520" cy="1005840"/>
          </a:xfrm>
          <a:prstGeom prst="rect">
            <a:avLst/>
          </a:prstGeom>
          <a:noFill/>
          <a:ln/>
        </p:spPr>
        <p:txBody>
          <a:bodyPr wrap="square" lIns="0" tIns="0" rIns="0" bIns="0" rtlCol="0" anchor="ctr"/>
          <a:lstStyle/>
          <a:p>
            <a:pPr indent="0" marL="0">
              <a:buNone/>
            </a:pPr>
            <a:r>
              <a:rPr lang="en-US" sz="4800" b="1" dirty="0">
                <a:solidFill>
                  <a:schemeClr val="accent2"/>
                </a:solidFill>
              </a:rPr>
              <a:t>1</a:t>
            </a:r>
            <a:endParaRPr lang="en-US" sz="4800" dirty="0"/>
          </a:p>
        </p:txBody>
      </p:sp>
      <p:sp>
        <p:nvSpPr>
          <p:cNvPr id="6" name="Text 4"/>
          <p:cNvSpPr txBox="1"/>
          <p:nvPr/>
        </p:nvSpPr>
        <p:spPr>
          <a:xfrm>
            <a:off x="2148840" y="1554480"/>
            <a:ext cx="7296912" cy="457200"/>
          </a:xfrm>
          <a:prstGeom prst="rect">
            <a:avLst/>
          </a:prstGeom>
          <a:noFill/>
          <a:ln/>
        </p:spPr>
        <p:txBody>
          <a:bodyPr wrap="square" lIns="0" tIns="0" rIns="0" bIns="0" rtlCol="0" anchor="t"/>
          <a:lstStyle/>
          <a:p>
            <a:pPr indent="0" marL="0">
              <a:buNone/>
            </a:pPr>
            <a:r>
              <a:rPr lang="en-US" sz="2200" b="1" dirty="0">
                <a:solidFill>
                  <a:schemeClr val="accent1"/>
                </a:solidFill>
              </a:rPr>
              <a:t>You can’t standardise a regulated product.</a:t>
            </a:r>
            <a:endParaRPr lang="en-US" sz="2200" dirty="0"/>
          </a:p>
        </p:txBody>
      </p:sp>
      <p:sp>
        <p:nvSpPr>
          <p:cNvPr id="7" name="Text 5"/>
          <p:cNvSpPr txBox="1"/>
          <p:nvPr/>
        </p:nvSpPr>
        <p:spPr>
          <a:xfrm>
            <a:off x="2148840" y="2057400"/>
            <a:ext cx="7296912" cy="548640"/>
          </a:xfrm>
          <a:prstGeom prst="rect">
            <a:avLst/>
          </a:prstGeom>
          <a:noFill/>
          <a:ln/>
        </p:spPr>
        <p:txBody>
          <a:bodyPr wrap="square" lIns="0" tIns="0" rIns="0" bIns="0" rtlCol="0" anchor="t"/>
          <a:lstStyle/>
          <a:p>
            <a:pPr indent="0" marL="0">
              <a:buNone/>
            </a:pPr>
            <a:r>
              <a:rPr lang="en-US" sz="1700" dirty="0">
                <a:solidFill>
                  <a:schemeClr val="accent6"/>
                </a:solidFill>
              </a:rPr>
              <a:t>Each country’s law decides how much of the 4Ps you may use, from the USA to Kyrgyzstan.</a:t>
            </a:r>
            <a:endParaRPr lang="en-US" sz="1700" dirty="0"/>
          </a:p>
        </p:txBody>
      </p:sp>
      <p:sp>
        <p:nvSpPr>
          <p:cNvPr id="8" name="Text 6"/>
          <p:cNvSpPr txBox="1"/>
          <p:nvPr/>
        </p:nvSpPr>
        <p:spPr>
          <a:xfrm>
            <a:off x="9582912" y="1554480"/>
            <a:ext cx="1645920" cy="1005840"/>
          </a:xfrm>
          <a:prstGeom prst="rect">
            <a:avLst/>
          </a:prstGeom>
          <a:noFill/>
          <a:ln/>
        </p:spPr>
        <p:txBody>
          <a:bodyPr wrap="square" lIns="0" tIns="0" rIns="0" bIns="0" rtlCol="0" anchor="ctr"/>
          <a:lstStyle/>
          <a:p>
            <a:pPr algn="r" indent="0" marL="0">
              <a:buNone/>
            </a:pPr>
            <a:r>
              <a:rPr lang="en-US" sz="1400" i="1" dirty="0">
                <a:solidFill>
                  <a:schemeClr val="accent3"/>
                </a:solidFill>
              </a:rPr>
              <a:t>Lessons 1, 3</a:t>
            </a:r>
            <a:endParaRPr lang="en-US" sz="1400" dirty="0"/>
          </a:p>
        </p:txBody>
      </p:sp>
      <p:sp>
        <p:nvSpPr>
          <p:cNvPr id="9" name="Shape 7"/>
          <p:cNvSpPr/>
          <p:nvPr/>
        </p:nvSpPr>
        <p:spPr>
          <a:xfrm>
            <a:off x="914400" y="2944368"/>
            <a:ext cx="10588752" cy="1371600"/>
          </a:xfrm>
          <a:prstGeom prst="rect">
            <a:avLst/>
          </a:prstGeom>
          <a:solidFill>
            <a:schemeClr val="bg1"/>
          </a:solidFill>
          <a:ln w="12700">
            <a:solidFill>
              <a:schemeClr val="accent4"/>
            </a:solidFill>
            <a:prstDash val="solid"/>
          </a:ln>
        </p:spPr>
      </p:sp>
      <p:sp>
        <p:nvSpPr>
          <p:cNvPr id="10" name="Text 8"/>
          <p:cNvSpPr txBox="1"/>
          <p:nvPr/>
        </p:nvSpPr>
        <p:spPr>
          <a:xfrm>
            <a:off x="1234440" y="3127248"/>
            <a:ext cx="731520" cy="1005840"/>
          </a:xfrm>
          <a:prstGeom prst="rect">
            <a:avLst/>
          </a:prstGeom>
          <a:noFill/>
          <a:ln/>
        </p:spPr>
        <p:txBody>
          <a:bodyPr wrap="square" lIns="0" tIns="0" rIns="0" bIns="0" rtlCol="0" anchor="ctr"/>
          <a:lstStyle/>
          <a:p>
            <a:pPr indent="0" marL="0">
              <a:buNone/>
            </a:pPr>
            <a:r>
              <a:rPr lang="en-US" sz="4800" b="1" dirty="0">
                <a:solidFill>
                  <a:schemeClr val="accent2"/>
                </a:solidFill>
              </a:rPr>
              <a:t>2</a:t>
            </a:r>
            <a:endParaRPr lang="en-US" sz="4800" dirty="0"/>
          </a:p>
        </p:txBody>
      </p:sp>
      <p:sp>
        <p:nvSpPr>
          <p:cNvPr id="11" name="Text 9"/>
          <p:cNvSpPr txBox="1"/>
          <p:nvPr/>
        </p:nvSpPr>
        <p:spPr>
          <a:xfrm>
            <a:off x="2148840" y="3127248"/>
            <a:ext cx="7296912" cy="457200"/>
          </a:xfrm>
          <a:prstGeom prst="rect">
            <a:avLst/>
          </a:prstGeom>
          <a:noFill/>
          <a:ln/>
        </p:spPr>
        <p:txBody>
          <a:bodyPr wrap="square" lIns="0" tIns="0" rIns="0" bIns="0" rtlCol="0" anchor="t"/>
          <a:lstStyle/>
          <a:p>
            <a:pPr indent="0" marL="0">
              <a:buNone/>
            </a:pPr>
            <a:r>
              <a:rPr lang="en-US" sz="2200" b="1" dirty="0">
                <a:solidFill>
                  <a:schemeClr val="accent1"/>
                </a:solidFill>
              </a:rPr>
              <a:t>Close one P, and the others take over.</a:t>
            </a:r>
            <a:endParaRPr lang="en-US" sz="2200" dirty="0"/>
          </a:p>
        </p:txBody>
      </p:sp>
      <p:sp>
        <p:nvSpPr>
          <p:cNvPr id="12" name="Text 10"/>
          <p:cNvSpPr txBox="1"/>
          <p:nvPr/>
        </p:nvSpPr>
        <p:spPr>
          <a:xfrm>
            <a:off x="2148840" y="3630168"/>
            <a:ext cx="7296912" cy="548640"/>
          </a:xfrm>
          <a:prstGeom prst="rect">
            <a:avLst/>
          </a:prstGeom>
          <a:noFill/>
          <a:ln/>
        </p:spPr>
        <p:txBody>
          <a:bodyPr wrap="square" lIns="0" tIns="0" rIns="0" bIns="0" rtlCol="0" anchor="t"/>
          <a:lstStyle/>
          <a:p>
            <a:pPr indent="0" marL="0">
              <a:buNone/>
            </a:pPr>
            <a:r>
              <a:rPr lang="en-US" sz="1700" dirty="0">
                <a:solidFill>
                  <a:schemeClr val="accent6"/>
                </a:solidFill>
              </a:rPr>
              <a:t>Promotion was banned, so the pack, the flavour, the price and the shop did the selling.</a:t>
            </a:r>
            <a:endParaRPr lang="en-US" sz="1700" dirty="0"/>
          </a:p>
        </p:txBody>
      </p:sp>
      <p:sp>
        <p:nvSpPr>
          <p:cNvPr id="13" name="Text 11"/>
          <p:cNvSpPr txBox="1"/>
          <p:nvPr/>
        </p:nvSpPr>
        <p:spPr>
          <a:xfrm>
            <a:off x="9582912" y="3127248"/>
            <a:ext cx="1645920" cy="1005840"/>
          </a:xfrm>
          <a:prstGeom prst="rect">
            <a:avLst/>
          </a:prstGeom>
          <a:noFill/>
          <a:ln/>
        </p:spPr>
        <p:txBody>
          <a:bodyPr wrap="square" lIns="0" tIns="0" rIns="0" bIns="0" rtlCol="0" anchor="ctr"/>
          <a:lstStyle/>
          <a:p>
            <a:pPr algn="r" indent="0" marL="0">
              <a:buNone/>
            </a:pPr>
            <a:r>
              <a:rPr lang="en-US" sz="1400" i="1" dirty="0">
                <a:solidFill>
                  <a:schemeClr val="accent3"/>
                </a:solidFill>
              </a:rPr>
              <a:t>Lessons 3, 4</a:t>
            </a:r>
            <a:endParaRPr lang="en-US" sz="1400" dirty="0"/>
          </a:p>
        </p:txBody>
      </p:sp>
      <p:sp>
        <p:nvSpPr>
          <p:cNvPr id="14" name="Shape 12"/>
          <p:cNvSpPr/>
          <p:nvPr/>
        </p:nvSpPr>
        <p:spPr>
          <a:xfrm>
            <a:off x="914400" y="4517136"/>
            <a:ext cx="10588752" cy="1371600"/>
          </a:xfrm>
          <a:prstGeom prst="rect">
            <a:avLst/>
          </a:prstGeom>
          <a:solidFill>
            <a:schemeClr val="bg2"/>
          </a:solidFill>
          <a:ln w="12700">
            <a:solidFill>
              <a:schemeClr val="bg2"/>
            </a:solidFill>
            <a:prstDash val="solid"/>
          </a:ln>
        </p:spPr>
      </p:sp>
      <p:sp>
        <p:nvSpPr>
          <p:cNvPr id="15" name="Text 13"/>
          <p:cNvSpPr txBox="1"/>
          <p:nvPr/>
        </p:nvSpPr>
        <p:spPr>
          <a:xfrm>
            <a:off x="1234440" y="4700016"/>
            <a:ext cx="731520" cy="1005840"/>
          </a:xfrm>
          <a:prstGeom prst="rect">
            <a:avLst/>
          </a:prstGeom>
          <a:noFill/>
          <a:ln/>
        </p:spPr>
        <p:txBody>
          <a:bodyPr wrap="square" lIns="0" tIns="0" rIns="0" bIns="0" rtlCol="0" anchor="ctr"/>
          <a:lstStyle/>
          <a:p>
            <a:pPr indent="0" marL="0">
              <a:buNone/>
            </a:pPr>
            <a:r>
              <a:rPr lang="en-US" sz="4800" b="1" dirty="0">
                <a:solidFill>
                  <a:schemeClr val="accent2"/>
                </a:solidFill>
              </a:rPr>
              <a:t>3</a:t>
            </a:r>
            <a:endParaRPr lang="en-US" sz="4800" dirty="0"/>
          </a:p>
        </p:txBody>
      </p:sp>
      <p:sp>
        <p:nvSpPr>
          <p:cNvPr id="16" name="Text 14"/>
          <p:cNvSpPr txBox="1"/>
          <p:nvPr/>
        </p:nvSpPr>
        <p:spPr>
          <a:xfrm>
            <a:off x="2148840" y="4700016"/>
            <a:ext cx="7296912" cy="457200"/>
          </a:xfrm>
          <a:prstGeom prst="rect">
            <a:avLst/>
          </a:prstGeom>
          <a:noFill/>
          <a:ln/>
        </p:spPr>
        <p:txBody>
          <a:bodyPr wrap="square" lIns="0" tIns="0" rIns="0" bIns="0" rtlCol="0" anchor="t"/>
          <a:lstStyle/>
          <a:p>
            <a:pPr indent="0" marL="0">
              <a:buNone/>
            </a:pPr>
            <a:r>
              <a:rPr lang="en-US" sz="2200" b="1" dirty="0">
                <a:solidFill>
                  <a:schemeClr val="accent1"/>
                </a:solidFill>
              </a:rPr>
              <a:t>Targeting shows in the mix, not in the mission.</a:t>
            </a:r>
            <a:endParaRPr lang="en-US" sz="2200" dirty="0"/>
          </a:p>
        </p:txBody>
      </p:sp>
      <p:sp>
        <p:nvSpPr>
          <p:cNvPr id="17" name="Text 15"/>
          <p:cNvSpPr txBox="1"/>
          <p:nvPr/>
        </p:nvSpPr>
        <p:spPr>
          <a:xfrm>
            <a:off x="2148840" y="5202936"/>
            <a:ext cx="7296912" cy="548640"/>
          </a:xfrm>
          <a:prstGeom prst="rect">
            <a:avLst/>
          </a:prstGeom>
          <a:noFill/>
          <a:ln/>
        </p:spPr>
        <p:txBody>
          <a:bodyPr wrap="square" lIns="0" tIns="0" rIns="0" bIns="0" rtlCol="0" anchor="t"/>
          <a:lstStyle/>
          <a:p>
            <a:pPr indent="0" marL="0">
              <a:buNone/>
            </a:pPr>
            <a:r>
              <a:rPr lang="en-US" sz="1700" dirty="0">
                <a:solidFill>
                  <a:schemeClr val="accent6"/>
                </a:solidFill>
              </a:rPr>
              <a:t>Cartoons, candy flavours and TikTok reveal the real customer, whatever the company says.</a:t>
            </a:r>
            <a:endParaRPr lang="en-US" sz="1700" dirty="0"/>
          </a:p>
        </p:txBody>
      </p:sp>
      <p:sp>
        <p:nvSpPr>
          <p:cNvPr id="18" name="Text 16"/>
          <p:cNvSpPr txBox="1"/>
          <p:nvPr/>
        </p:nvSpPr>
        <p:spPr>
          <a:xfrm>
            <a:off x="9582912" y="4700016"/>
            <a:ext cx="1645920" cy="1005840"/>
          </a:xfrm>
          <a:prstGeom prst="rect">
            <a:avLst/>
          </a:prstGeom>
          <a:noFill/>
          <a:ln/>
        </p:spPr>
        <p:txBody>
          <a:bodyPr wrap="square" lIns="0" tIns="0" rIns="0" bIns="0" rtlCol="0" anchor="ctr"/>
          <a:lstStyle/>
          <a:p>
            <a:pPr algn="r" indent="0" marL="0">
              <a:buNone/>
            </a:pPr>
            <a:r>
              <a:rPr lang="en-US" sz="1400" i="1" dirty="0">
                <a:solidFill>
                  <a:schemeClr val="accent3"/>
                </a:solidFill>
              </a:rPr>
              <a:t>Lessons 2, 4, 6</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My view</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tools are neutral. The target is not.</a:t>
            </a:r>
            <a:endParaRPr lang="en-US" sz="2600" dirty="0"/>
          </a:p>
        </p:txBody>
      </p:sp>
      <p:sp>
        <p:nvSpPr>
          <p:cNvPr id="4" name="Text 2"/>
          <p:cNvSpPr txBox="1"/>
          <p:nvPr/>
        </p:nvSpPr>
        <p:spPr>
          <a:xfrm>
            <a:off x="6492240" y="1371600"/>
            <a:ext cx="5010912" cy="822960"/>
          </a:xfrm>
          <a:prstGeom prst="rect">
            <a:avLst/>
          </a:prstGeom>
          <a:noFill/>
          <a:ln/>
        </p:spPr>
        <p:txBody>
          <a:bodyPr wrap="square" lIns="0" tIns="0" rIns="0" bIns="0" rtlCol="0" anchor="t"/>
          <a:lstStyle/>
          <a:p>
            <a:pPr indent="0" marL="0">
              <a:buNone/>
            </a:pPr>
            <a:r>
              <a:rPr lang="en-US" sz="2400" b="1" dirty="0">
                <a:solidFill>
                  <a:schemeClr val="accent1"/>
                </a:solidFill>
              </a:rPr>
              <a:t>The same tools can work the other way.</a:t>
            </a:r>
            <a:endParaRPr lang="en-US" sz="2400" dirty="0"/>
          </a:p>
        </p:txBody>
      </p:sp>
      <p:sp>
        <p:nvSpPr>
          <p:cNvPr id="5" name="Text 3"/>
          <p:cNvSpPr txBox="1"/>
          <p:nvPr/>
        </p:nvSpPr>
        <p:spPr>
          <a:xfrm>
            <a:off x="6492240" y="2286000"/>
            <a:ext cx="5010912" cy="914400"/>
          </a:xfrm>
          <a:prstGeom prst="rect">
            <a:avLst/>
          </a:prstGeom>
          <a:noFill/>
          <a:ln/>
        </p:spPr>
        <p:txBody>
          <a:bodyPr wrap="square" lIns="0" tIns="0" rIns="0" bIns="0" rtlCol="0" anchor="t"/>
          <a:lstStyle/>
          <a:p>
            <a:pPr indent="0" marL="0">
              <a:buNone/>
            </a:pPr>
            <a:r>
              <a:rPr lang="en-US" sz="1900" dirty="0">
                <a:solidFill>
                  <a:schemeClr val="accent6"/>
                </a:solidFill>
              </a:rPr>
              <a:t>In the US, the “truth” campaign used edgy ads and youth culture against smoking.</a:t>
            </a:r>
            <a:endParaRPr lang="en-US" sz="1900" dirty="0"/>
          </a:p>
        </p:txBody>
      </p:sp>
      <p:sp>
        <p:nvSpPr>
          <p:cNvPr id="6" name="Text 4"/>
          <p:cNvSpPr txBox="1"/>
          <p:nvPr/>
        </p:nvSpPr>
        <p:spPr>
          <a:xfrm>
            <a:off x="6492240" y="3291840"/>
            <a:ext cx="5010912" cy="731520"/>
          </a:xfrm>
          <a:prstGeom prst="rect">
            <a:avLst/>
          </a:prstGeom>
          <a:noFill/>
          <a:ln/>
        </p:spPr>
        <p:txBody>
          <a:bodyPr wrap="square" lIns="0" tIns="0" rIns="0" bIns="0" rtlCol="0" anchor="t"/>
          <a:lstStyle/>
          <a:p>
            <a:pPr indent="0" marL="0">
              <a:buNone/>
            </a:pPr>
            <a:r>
              <a:rPr lang="en-US" sz="1900" dirty="0">
                <a:solidFill>
                  <a:schemeClr val="accent6"/>
                </a:solidFill>
              </a:rPr>
              <a:t>Studies credit it with part of the drop in teen smoking.</a:t>
            </a:r>
            <a:endParaRPr lang="en-US" sz="1900" dirty="0"/>
          </a:p>
        </p:txBody>
      </p:sp>
      <p:sp>
        <p:nvSpPr>
          <p:cNvPr id="7" name="Text 5"/>
          <p:cNvSpPr txBox="1"/>
          <p:nvPr/>
        </p:nvSpPr>
        <p:spPr>
          <a:xfrm>
            <a:off x="6492240" y="4343400"/>
            <a:ext cx="5010912" cy="1463040"/>
          </a:xfrm>
          <a:prstGeom prst="rect">
            <a:avLst/>
          </a:prstGeom>
          <a:solidFill>
            <a:schemeClr val="accent2"/>
          </a:solidFill>
          <a:ln/>
        </p:spPr>
        <p:txBody>
          <a:bodyPr wrap="square" lIns="228600" tIns="228600" rIns="228600" bIns="228600" rtlCol="0" anchor="ctr"/>
          <a:lstStyle/>
          <a:p>
            <a:pPr indent="0" marL="0">
              <a:buNone/>
            </a:pPr>
            <a:r>
              <a:rPr lang="en-US" sz="2400" b="1" dirty="0">
                <a:solidFill>
                  <a:schemeClr val="bg1"/>
                </a:solidFill>
              </a:rPr>
              <a:t>Marketing isn’t the problem. Who you aim it at is.</a:t>
            </a:r>
            <a:endParaRPr lang="en-US" sz="2400" dirty="0"/>
          </a:p>
        </p:txBody>
      </p:sp>
      <p:sp>
        <p:nvSpPr>
          <p:cNvPr id="9" name="Text 2"/>
          <p:cNvSpPr/>
          <p:nvPr>
            <p:ph type="pic" idx="104" hasCustomPrompt="1"/>
          </p:nvPr>
        </p:nvSpPr>
        <p:spPr>
          <a:xfrm>
            <a:off x="914400" y="1325880"/>
            <a:ext cx="5120640" cy="475488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914400" y="1143000"/>
            <a:ext cx="10588752" cy="365760"/>
          </a:xfrm>
          <a:prstGeom prst="rect">
            <a:avLst/>
          </a:prstGeom>
          <a:noFill/>
          <a:ln/>
        </p:spPr>
        <p:txBody>
          <a:bodyPr wrap="square" lIns="0" tIns="0" rIns="0" bIns="0" rtlCol="0" anchor="t"/>
          <a:lstStyle/>
          <a:p>
            <a:pPr indent="0" marL="0">
              <a:buNone/>
            </a:pPr>
            <a:r>
              <a:rPr lang="en-US" sz="1600" b="1" spc="100" kern="0" dirty="0">
                <a:solidFill>
                  <a:srgbClr val="F2B8B8"/>
                </a:solidFill>
              </a:rPr>
              <a:t>To sum up</a:t>
            </a:r>
            <a:endParaRPr lang="en-US" sz="1600" dirty="0"/>
          </a:p>
        </p:txBody>
      </p:sp>
      <p:sp>
        <p:nvSpPr>
          <p:cNvPr id="3" name="Text 1"/>
          <p:cNvSpPr txBox="1"/>
          <p:nvPr/>
        </p:nvSpPr>
        <p:spPr>
          <a:xfrm>
            <a:off x="914400" y="1600200"/>
            <a:ext cx="10588752" cy="822960"/>
          </a:xfrm>
          <a:prstGeom prst="rect">
            <a:avLst/>
          </a:prstGeom>
          <a:noFill/>
          <a:ln/>
        </p:spPr>
        <p:txBody>
          <a:bodyPr wrap="square" lIns="0" tIns="0" rIns="0" bIns="0" rtlCol="0" anchor="t"/>
          <a:lstStyle/>
          <a:p>
            <a:pPr indent="0" marL="0">
              <a:buNone/>
            </a:pPr>
            <a:r>
              <a:rPr lang="en-US" sz="4000" b="1" dirty="0">
                <a:solidFill>
                  <a:schemeClr val="bg1"/>
                </a:solidFill>
              </a:rPr>
              <a:t>Tobacco marketing didn’t die. It moved.</a:t>
            </a:r>
            <a:endParaRPr lang="en-US" sz="4000" dirty="0"/>
          </a:p>
        </p:txBody>
      </p:sp>
      <p:sp>
        <p:nvSpPr>
          <p:cNvPr id="4" name="Text 2"/>
          <p:cNvSpPr txBox="1"/>
          <p:nvPr/>
        </p:nvSpPr>
        <p:spPr>
          <a:xfrm>
            <a:off x="914400"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ad</a:t>
            </a:r>
            <a:endParaRPr lang="en-US" sz="2000" dirty="0"/>
          </a:p>
        </p:txBody>
      </p:sp>
      <p:sp>
        <p:nvSpPr>
          <p:cNvPr id="5" name="Shape 3"/>
          <p:cNvSpPr/>
          <p:nvPr/>
        </p:nvSpPr>
        <p:spPr>
          <a:xfrm>
            <a:off x="3136392" y="3086100"/>
            <a:ext cx="518160" cy="0"/>
          </a:xfrm>
          <a:prstGeom prst="line">
            <a:avLst/>
          </a:prstGeom>
          <a:noFill/>
          <a:ln w="25400">
            <a:solidFill>
              <a:schemeClr val="accent4"/>
            </a:solidFill>
            <a:prstDash val="solid"/>
            <a:tailEnd type="triangle"/>
          </a:ln>
        </p:spPr>
      </p:sp>
      <p:sp>
        <p:nvSpPr>
          <p:cNvPr id="6" name="Text 4"/>
          <p:cNvSpPr txBox="1"/>
          <p:nvPr/>
        </p:nvSpPr>
        <p:spPr>
          <a:xfrm>
            <a:off x="3727704"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pack</a:t>
            </a:r>
            <a:endParaRPr lang="en-US" sz="2000" dirty="0"/>
          </a:p>
        </p:txBody>
      </p:sp>
      <p:sp>
        <p:nvSpPr>
          <p:cNvPr id="7" name="Shape 5"/>
          <p:cNvSpPr/>
          <p:nvPr/>
        </p:nvSpPr>
        <p:spPr>
          <a:xfrm>
            <a:off x="5949696" y="3086100"/>
            <a:ext cx="518160" cy="0"/>
          </a:xfrm>
          <a:prstGeom prst="line">
            <a:avLst/>
          </a:prstGeom>
          <a:noFill/>
          <a:ln w="25400">
            <a:solidFill>
              <a:schemeClr val="accent4"/>
            </a:solidFill>
            <a:prstDash val="solid"/>
            <a:tailEnd type="triangle"/>
          </a:ln>
        </p:spPr>
      </p:sp>
      <p:sp>
        <p:nvSpPr>
          <p:cNvPr id="8" name="Text 6"/>
          <p:cNvSpPr txBox="1"/>
          <p:nvPr/>
        </p:nvSpPr>
        <p:spPr>
          <a:xfrm>
            <a:off x="6541008" y="2743200"/>
            <a:ext cx="2148840" cy="685800"/>
          </a:xfrm>
          <a:prstGeom prst="rect">
            <a:avLst/>
          </a:prstGeom>
          <a:solidFill>
            <a:srgbClr val="1B3A5C"/>
          </a:solidFill>
          <a:ln>
            <a:solidFill>
              <a:srgbClr val="1B3A5C"/>
            </a:solidFill>
          </a:ln>
        </p:spPr>
        <p:txBody>
          <a:bodyPr wrap="square" lIns="0" tIns="0" rIns="0" bIns="0" rtlCol="0" anchor="ctr"/>
          <a:lstStyle/>
          <a:p>
            <a:pPr algn="ctr" indent="0" marL="0">
              <a:buNone/>
            </a:pPr>
            <a:r>
              <a:rPr lang="en-US" sz="2000" b="1" dirty="0">
                <a:solidFill>
                  <a:schemeClr val="bg1"/>
                </a:solidFill>
              </a:rPr>
              <a:t>The flavour</a:t>
            </a:r>
            <a:endParaRPr lang="en-US" sz="2000" dirty="0"/>
          </a:p>
        </p:txBody>
      </p:sp>
      <p:sp>
        <p:nvSpPr>
          <p:cNvPr id="9" name="Shape 7"/>
          <p:cNvSpPr/>
          <p:nvPr/>
        </p:nvSpPr>
        <p:spPr>
          <a:xfrm>
            <a:off x="8763000" y="3086100"/>
            <a:ext cx="518160" cy="0"/>
          </a:xfrm>
          <a:prstGeom prst="line">
            <a:avLst/>
          </a:prstGeom>
          <a:noFill/>
          <a:ln w="25400">
            <a:solidFill>
              <a:schemeClr val="accent4"/>
            </a:solidFill>
            <a:prstDash val="solid"/>
            <a:tailEnd type="triangle"/>
          </a:ln>
        </p:spPr>
      </p:sp>
      <p:sp>
        <p:nvSpPr>
          <p:cNvPr id="10" name="Text 8"/>
          <p:cNvSpPr txBox="1"/>
          <p:nvPr/>
        </p:nvSpPr>
        <p:spPr>
          <a:xfrm>
            <a:off x="9354312" y="2743200"/>
            <a:ext cx="2148840" cy="685800"/>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The phone</a:t>
            </a:r>
            <a:endParaRPr lang="en-US" sz="2000" dirty="0"/>
          </a:p>
        </p:txBody>
      </p:sp>
      <p:sp>
        <p:nvSpPr>
          <p:cNvPr id="11" name="Text 9"/>
          <p:cNvSpPr txBox="1"/>
          <p:nvPr/>
        </p:nvSpPr>
        <p:spPr>
          <a:xfrm>
            <a:off x="914400" y="4069080"/>
            <a:ext cx="10588752" cy="365760"/>
          </a:xfrm>
          <a:prstGeom prst="rect">
            <a:avLst/>
          </a:prstGeom>
          <a:noFill/>
          <a:ln/>
        </p:spPr>
        <p:txBody>
          <a:bodyPr wrap="square" lIns="0" tIns="0" rIns="0" bIns="0" rtlCol="0" anchor="t"/>
          <a:lstStyle/>
          <a:p>
            <a:pPr indent="0" marL="0">
              <a:buNone/>
            </a:pPr>
            <a:r>
              <a:rPr lang="en-US" sz="1600" b="1" dirty="0">
                <a:solidFill>
                  <a:schemeClr val="accent4"/>
                </a:solidFill>
              </a:rPr>
              <a:t>Question for you</a:t>
            </a:r>
            <a:endParaRPr lang="en-US" sz="1600" dirty="0"/>
          </a:p>
        </p:txBody>
      </p:sp>
      <p:sp>
        <p:nvSpPr>
          <p:cNvPr id="12" name="Text 10"/>
          <p:cNvSpPr txBox="1"/>
          <p:nvPr/>
        </p:nvSpPr>
        <p:spPr>
          <a:xfrm>
            <a:off x="914400" y="4480560"/>
            <a:ext cx="9875520" cy="1188720"/>
          </a:xfrm>
          <a:prstGeom prst="rect">
            <a:avLst/>
          </a:prstGeom>
          <a:noFill/>
          <a:ln/>
        </p:spPr>
        <p:txBody>
          <a:bodyPr wrap="square" lIns="0" tIns="0" rIns="0" bIns="0" rtlCol="0" anchor="t"/>
          <a:lstStyle/>
          <a:p>
            <a:pPr indent="0" marL="0">
              <a:buNone/>
            </a:pPr>
            <a:r>
              <a:rPr lang="en-US" sz="3000" b="1" dirty="0">
                <a:solidFill>
                  <a:schemeClr val="bg1"/>
                </a:solidFill>
              </a:rPr>
              <a:t>Where is the line between marketing a legal product and marketing to children?</a:t>
            </a:r>
            <a:endParaRPr lang="en-US" sz="3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10588752" cy="484632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Campaign for Tobacco-Free Kids (2025). Tobacco Control Laws: Kyrgyzstan, packaging and labeling.</a:t>
            </a:r>
            <a:endParaRPr lang="en-US" sz="1400" dirty="0"/>
          </a:p>
          <a:p>
            <a:pPr indent="0" marL="0">
              <a:spcAft>
                <a:spcPts val="1000"/>
              </a:spcAft>
              <a:buNone/>
            </a:pPr>
            <a:r>
              <a:rPr lang="en-US" sz="1400" dirty="0">
                <a:solidFill>
                  <a:schemeClr val="tx1"/>
                </a:solidFill>
              </a:rPr>
              <a:t>Canadian Cancer Society (2025). Cigarette Package Health Warnings: International Status Report, 9th ed.</a:t>
            </a:r>
            <a:endParaRPr lang="en-US" sz="1400" dirty="0"/>
          </a:p>
          <a:p>
            <a:pPr indent="0" marL="0">
              <a:spcAft>
                <a:spcPts val="1000"/>
              </a:spcAft>
              <a:buNone/>
            </a:pPr>
            <a:r>
              <a:rPr lang="en-US" sz="1400" dirty="0">
                <a:solidFill>
                  <a:schemeClr val="tx1"/>
                </a:solidFill>
              </a:rPr>
              <a:t>CDC (2015, 2019, 2024). Tobacco product use among middle and high school students. MMWR.</a:t>
            </a:r>
            <a:endParaRPr lang="en-US" sz="1400" dirty="0"/>
          </a:p>
          <a:p>
            <a:pPr indent="0" marL="0">
              <a:spcAft>
                <a:spcPts val="1000"/>
              </a:spcAft>
              <a:buNone/>
            </a:pPr>
            <a:r>
              <a:rPr lang="en-US" sz="1400" dirty="0">
                <a:solidFill>
                  <a:schemeClr val="tx1"/>
                </a:solidFill>
              </a:rPr>
              <a:t>Farrelly, M. C. et al. (2005). Evidence of a dose–response relationship between “truth” antismoking ads and youth smoking prevalence. American Journal of Public Health 95(3).</a:t>
            </a:r>
            <a:endParaRPr lang="en-US" sz="1400" dirty="0"/>
          </a:p>
          <a:p>
            <a:pPr indent="0" marL="0">
              <a:spcAft>
                <a:spcPts val="1000"/>
              </a:spcAft>
              <a:buNone/>
            </a:pPr>
            <a:r>
              <a:rPr lang="en-US" sz="1400" dirty="0">
                <a:solidFill>
                  <a:schemeClr val="tx1"/>
                </a:solidFill>
              </a:rPr>
              <a:t>Fischer, P. M. et al. (1991). Brand logo recognition by children aged 3 to 6 years: Mickey Mouse and Old Joe the Camel. JAMA 266(22).</a:t>
            </a:r>
            <a:endParaRPr lang="en-US" sz="1400" dirty="0"/>
          </a:p>
          <a:p>
            <a:pPr indent="0" marL="0">
              <a:spcAft>
                <a:spcPts val="1000"/>
              </a:spcAft>
              <a:buNone/>
            </a:pPr>
            <a:r>
              <a:rPr lang="en-US" sz="1400" dirty="0">
                <a:solidFill>
                  <a:schemeClr val="tx1"/>
                </a:solidFill>
              </a:rPr>
              <a:t>Keegan, W. J., &amp; Green, M. C. (2020). Global Marketing, 10th ed. Pearson.</a:t>
            </a:r>
            <a:endParaRPr lang="en-US" sz="1400" dirty="0"/>
          </a:p>
          <a:p>
            <a:pPr indent="0" marL="0">
              <a:spcAft>
                <a:spcPts val="1000"/>
              </a:spcAft>
              <a:buNone/>
            </a:pPr>
            <a:r>
              <a:rPr lang="en-US" sz="1400" dirty="0">
                <a:solidFill>
                  <a:schemeClr val="tx1"/>
                </a:solidFill>
              </a:rPr>
              <a:t>New York Attorney General (2023). JUUL settlement with six states and DC.</a:t>
            </a:r>
            <a:endParaRPr lang="en-US" sz="1400" dirty="0"/>
          </a:p>
          <a:p>
            <a:pPr indent="0" marL="0">
              <a:spcAft>
                <a:spcPts val="1000"/>
              </a:spcAft>
              <a:buNone/>
            </a:pPr>
            <a:r>
              <a:rPr lang="en-US" sz="1400" dirty="0">
                <a:solidFill>
                  <a:schemeClr val="tx1"/>
                </a:solidFill>
              </a:rPr>
              <a:t>WHO (2024). Hooking the next generation: how the tobacco industry captures young customers.</a:t>
            </a:r>
            <a:endParaRPr lang="en-US" sz="1400" dirty="0"/>
          </a:p>
          <a:p>
            <a:pPr indent="0" marL="0">
              <a:spcAft>
                <a:spcPts val="1000"/>
              </a:spcAft>
              <a:buNone/>
            </a:pPr>
            <a:r>
              <a:rPr lang="en-US" sz="1400" dirty="0">
                <a:solidFill>
                  <a:schemeClr val="tx1"/>
                </a:solidFill>
              </a:rPr>
              <a:t>WHO Framework Convention on Tobacco Control (2003), Article 13: advertising, promotion and sponsorship.</a:t>
            </a:r>
            <a:endParaRPr lang="en-US" sz="1400" dirty="0"/>
          </a:p>
          <a:p>
            <a:pPr indent="0" marL="0">
              <a:spcAft>
                <a:spcPts val="1000"/>
              </a:spcAft>
              <a:buNone/>
            </a:pPr>
            <a:r>
              <a:rPr lang="en-US" sz="1400" dirty="0">
                <a:solidFill>
                  <a:schemeClr val="tx1"/>
                </a:solidFill>
              </a:rPr>
              <a:t>Wikipedia. Marlboro Man; Joe Camel (history of the campaigns).</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Tobacco Marketing on International Markets</dc:title>
  <dc:subject>PptxGenJS Presentation</dc:subject>
  <dc:creator>Amir Kenenbaev</dc:creator>
  <cp:lastModifiedBy>Amir Kenenbaev</cp:lastModifiedBy>
  <cp:revision>1</cp:revision>
  <dcterms:created xsi:type="dcterms:W3CDTF">2026-10-15T08:21:27Z</dcterms:created>
  <dcterms:modified xsi:type="dcterms:W3CDTF">2026-10-15T08:21:27Z</dcterms:modified>
</cp:coreProperties>
</file>