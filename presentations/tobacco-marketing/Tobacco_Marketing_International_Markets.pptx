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2841"/>
                </a:solidFill>
                <a:latin typeface="+mn-lt"/>
              </a:defRPr>
            </a:pPr>
            <a:r>
              <a:rPr sz="1400" b="0" i="0" u="none" strike="noStrike">
                <a:solidFill>
                  <a:srgbClr val="0E2841"/>
                </a:solidFill>
                <a:latin typeface="+mn-lt"/>
              </a:rPr>
              <a:t>US high-school students who vape, %</a:t>
            </a:r>
          </a:p>
        </c:rich>
      </c:tx>
      <c:layout/>
      <c:overlay val="0"/>
    </c:title>
    <c:autoTitleDeleted val="0"/>
    <c:plotArea>
      <c:layout/>
      <c:barChart>
        <c:barDir val="col"/>
        <c:grouping val="clustered"/>
        <c:varyColors val="0"/>
        <c:ser>
          <c:idx val="0"/>
          <c:order val="0"/>
          <c:tx>
            <c:strRef>
              <c:f>Sheet1!$B$1</c:f>
              <c:strCache>
                <c:ptCount val="1"/>
                <c:pt idx="0">
                  <c:v>Vapers</c:v>
                </c:pt>
              </c:strCache>
            </c:strRef>
          </c:tx>
          <c:spPr>
            <a:solidFill>
              <a:srgbClr val="0E2841"/>
            </a:solidFill>
            <a:effectLst/>
          </c:spPr>
          <c:invertIfNegative val="0"/>
          <c:dLbls>
            <c:numFmt formatCode="0.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0E2841"/>
              </a:solidFill>
              <a:effectLst/>
            </c:spPr>
          </c:dPt>
          <c:dPt>
            <c:idx val="1"/>
            <c:invertIfNegative val="0"/>
            <c:bubble3D val="0"/>
            <c:spPr>
              <a:solidFill>
                <a:srgbClr val="0E2841"/>
              </a:solidFill>
              <a:effectLst/>
            </c:spPr>
          </c:dPt>
          <c:dPt>
            <c:idx val="2"/>
            <c:invertIfNegative val="0"/>
            <c:bubble3D val="0"/>
            <c:spPr>
              <a:solidFill>
                <a:srgbClr val="C00000"/>
              </a:solidFill>
              <a:effectLst/>
            </c:spPr>
          </c:dPt>
          <c:dPt>
            <c:idx val="3"/>
            <c:invertIfNegative val="0"/>
            <c:bubble3D val="0"/>
            <c:spPr>
              <a:solidFill>
                <a:srgbClr val="0E2841"/>
              </a:solidFill>
              <a:effectLst/>
            </c:spPr>
          </c:dPt>
          <c:cat>
            <c:multiLvlStrRef>
              <c:f>Sheet1!$A$2:$A$5</c:f>
              <c:multiLvlStrCache>
                <c:ptCount val="4"/>
                <c:lvl>
                  <c:pt idx="0">
                    <c:v>2011</c:v>
                  </c:pt>
                  <c:pt idx="1">
                    <c:v>2014</c:v>
                  </c:pt>
                  <c:pt idx="2">
                    <c:v>2019</c:v>
                  </c:pt>
                  <c:pt idx="3">
                    <c:v>2024</c:v>
                  </c:pt>
                </c:lvl>
              </c:multiLvlStrCache>
            </c:multiLvlStrRef>
          </c:cat>
          <c:val>
            <c:numRef>
              <c:f>Sheet1!$B$2:$B$5</c:f>
              <c:numCache>
                <c:formatCode>General</c:formatCode>
                <c:ptCount val="4"/>
                <c:pt idx="0">
                  <c:v>1.5</c:v>
                </c:pt>
                <c:pt idx="1">
                  <c:v>13.4</c:v>
                </c:pt>
                <c:pt idx="2">
                  <c:v>27.5</c:v>
                </c:pt>
                <c:pt idx="3">
                  <c:v>7.8</c:v>
                </c:pt>
              </c:numCache>
            </c:numRef>
          </c:val>
        </c:ser>
        <c:dLbls>
          <c:numFmt formatCode="0.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1D1D1"/>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9525" cap="flat">
              <a:solidFill>
                <a:srgbClr val="E5E5E5"/>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7F7F7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Hi everyone, I'm Amir. Today: tobacco marketing. Not the business side, the marketing itself: how you sell something that nobody lets you advertise. Let's start with a quick test.
Photo circle: right-click the circle &gt; Format Shape &gt; Fill &gt; Picture fill to insert a portrait.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Raise your hand if you have seen a cigarette ad this year. [Pause. Probably almost nobody.] Now keep your hand up, or raise it, if you have seen a cigarette pack this year. [Everyone.] That's the whole story of my presentation. The ads are gone. The marketing is not. It just moved. Let me show you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Meet the Marlboro Man. In the early 1950s Marlboro was a cigarette for women, sold with the slogan 'Mild as May'. Then in 1954 the Leo Burnett agency did something brilliant: they didn't change the cigarette at all. They changed the story. They gave it a cowboy: freedom, wide open spaces, a real man. Within a few years Marlboro became one of the best-selling brands in the world. That's the power of marketing: same product, new meaning.
Picture suggestion: a classic Marlboro Man print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In 1988 the cowboy got a cartoon friend: Joe Camel, a cool camel with sunglasses. Cartoons, as we know, are for... children. In 1991 a medical study showed six-year-olds a set of logos. They recognised Joe Camel as well as Mickey Mouse. Six-year-olds! After lawsuits and public pressure, the camel disappeared in 1997. Remember him, because he comes back later in a new form.
Picture suggestion: a Joe Camel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Then the world said: enough. Today most countries ban tobacco ads on TV, on billboards, in magazines, and the sponsorship of sports and festivals. So imagine you're the marketing manager. Your favourite tools are gone. What do you do? You use the one thing still in every customer's hand: the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Here are four packs from four countries. Which country is each one from, and what's different? Shout it out!
PHOTOS TO INSERT (ideally the same brand, e.g. Marlboro, so only the packaging rules differ):
A = USA: full brand design, small text warning on the side.
B = Kyrgyzstan: half brand, half picture warning (Kyrgyz/Russian text).
C = Hungary: plain pack, brand name only, big picture warning.
D = Australia: plain drab brown pack, the brand name in small plain letters.
Click the picture icon in each box to insert a photo; it fills and crops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Here are the answers. A is the USA: the logo, the colours, the whole front is still marketing. B is Kyrgyzstan: half brand, half picture warning. C is Hungary, the one you see in every Nemzeti Dohánybolt: no logo, no colours, just the name. And D is Australia, the first country with plain packs. Its colour was picked because smokers rated it the least attractive colour, so people call it 'the ugliest colour in the world'. Same cigarette, four completely different stories on the box. When the pack is your last billboard, every country decides how much of it you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Plan B: if you can't change the ad, change the product. Menthol cools the throat, so the very first cigarette doesn't hurt. Then the industry invented the click: a little capsule inside the filter. You squeeze it, it clicks, and the flavour changes. It's almost a toy. And every region gets its own taste: in Kyrgyzstan people use nasvay, a chewing tobacco; in the Middle East it's apple or grape shisha. Today most countries ban flavours. Guess why? Because flavours are perfect for beginners. And beginners are... young.
Picture suggestion: a capsule ('click') cigarette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And now the plot twist. By the 2010s, teenagers had almost stopped smoking cigarettes. The story could have ended there. But then came the vape. Look at American high-school students: in 2011, almost nobody vaped. By 2019, one in four. That's not a product success, that's a marketing success. And look what happened when regulators cracked down on sweet flavours: the curve went down again. So how did vapes reach kids so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Four reasons, and every one is a marketing decision. Taste: bubblegum, mango, cotton candy. Not exactly flavours for a 50-year-old smoker. Look: colourful, looks like a USB stick, easy to hide from parents and teachers. Channel: not TV, which is banned, but influencers and TikTok, where the old rules were never written. And price: cheap disposables at every kiosk. The companies say vapes are for adults who want to quit smoking. The head of the WHO calls it 'a candy-flavoured trap'. JUUL, the biggest vape brand in the US, ended up paying hundreds of millions of dollars over marketing to young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Remember Joe Camel? Here he is on the left: a cartoon in a magazine, loved by six-year-olds. And on the right: a colourful vape in a TikTok video. Different decade, different product, different channel. But it's the same playbook: make it fun, make it sweet, put it where young people look.
Picture suggestions: left = Joe Camel ad; right = screenshot of a vape post on social media (or a photo of colourful disposable vapes).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So what did we learn? Tobacco marketing didn't die. It moved: from the ad, to the pack, to the flavour, and now to the phone. Every time one door closed, marketers found the next one. And I want to leave you with a question, because I don't think the answer is easy: where is the line between marketing a legal product and marketing to children?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PLIT_PICTURE">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914400" y="1325880"/>
            <a:ext cx="5120640" cy="475488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picture</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CK_QUIZ">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914400" y="1371600"/>
            <a:ext cx="2331720"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A</a:t>
            </a:r>
            <a:endParaRPr lang="en-US" sz="1200" dirty="0"/>
          </a:p>
        </p:txBody>
      </p:sp>
      <p:sp>
        <p:nvSpPr>
          <p:cNvPr id="7" name="Text 2"/>
          <p:cNvSpPr/>
          <p:nvPr>
            <p:ph type="pic" idx="105" hasCustomPrompt="1"/>
          </p:nvPr>
        </p:nvSpPr>
        <p:spPr>
          <a:xfrm>
            <a:off x="3666744" y="1371600"/>
            <a:ext cx="2331720"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B</a:t>
            </a:r>
            <a:endParaRPr lang="en-US" sz="1200" dirty="0"/>
          </a:p>
        </p:txBody>
      </p:sp>
      <p:sp>
        <p:nvSpPr>
          <p:cNvPr id="8" name="Text 2"/>
          <p:cNvSpPr/>
          <p:nvPr>
            <p:ph type="pic" idx="106" hasCustomPrompt="1"/>
          </p:nvPr>
        </p:nvSpPr>
        <p:spPr>
          <a:xfrm>
            <a:off x="6419088" y="1371600"/>
            <a:ext cx="2331720"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C</a:t>
            </a:r>
            <a:endParaRPr lang="en-US" sz="1200" dirty="0"/>
          </a:p>
        </p:txBody>
      </p:sp>
      <p:sp>
        <p:nvSpPr>
          <p:cNvPr id="9" name="Text 2"/>
          <p:cNvSpPr/>
          <p:nvPr>
            <p:ph type="pic" idx="107" hasCustomPrompt="1"/>
          </p:nvPr>
        </p:nvSpPr>
        <p:spPr>
          <a:xfrm>
            <a:off x="9171432" y="1371600"/>
            <a:ext cx="2331720"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D</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HEN_NOW">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914400" y="1325880"/>
            <a:ext cx="5111496"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picture: then</a:t>
            </a:r>
            <a:endParaRPr lang="en-US" sz="1200" dirty="0"/>
          </a:p>
        </p:txBody>
      </p:sp>
      <p:sp>
        <p:nvSpPr>
          <p:cNvPr id="7" name="Text 2"/>
          <p:cNvSpPr/>
          <p:nvPr>
            <p:ph type="pic" idx="105" hasCustomPrompt="1"/>
          </p:nvPr>
        </p:nvSpPr>
        <p:spPr>
          <a:xfrm>
            <a:off x="6391656" y="1325880"/>
            <a:ext cx="5111496"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picture: now</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p:bg>
      <p:bgPr>
        <a:solidFill>
          <a:schemeClr val="accent1"/>
        </a:solidFill>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51560"/>
            <a:ext cx="7680960" cy="365760"/>
          </a:xfrm>
          <a:prstGeom prst="rect">
            <a:avLst/>
          </a:prstGeom>
          <a:noFill/>
          <a:ln/>
        </p:spPr>
        <p:txBody>
          <a:bodyPr wrap="square" lIns="0" tIns="0" rIns="0" bIns="0" rtlCol="0" anchor="t"/>
          <a:lstStyle/>
          <a:p>
            <a:pPr indent="0" marL="0">
              <a:buNone/>
            </a:pPr>
            <a:r>
              <a:rPr lang="en-US" sz="1400" b="1" spc="100" kern="0" dirty="0">
                <a:solidFill>
                  <a:schemeClr val="accent4"/>
                </a:solidFill>
              </a:rPr>
              <a:t>International Marketing  ·  Individual presentation</a:t>
            </a:r>
            <a:endParaRPr lang="en-US" sz="1400" dirty="0"/>
          </a:p>
        </p:txBody>
      </p:sp>
      <p:sp>
        <p:nvSpPr>
          <p:cNvPr id="3" name="Text 1"/>
          <p:cNvSpPr txBox="1"/>
          <p:nvPr/>
        </p:nvSpPr>
        <p:spPr>
          <a:xfrm>
            <a:off x="731520" y="1554480"/>
            <a:ext cx="7498080" cy="2103120"/>
          </a:xfrm>
          <a:prstGeom prst="rect">
            <a:avLst/>
          </a:prstGeom>
          <a:noFill/>
          <a:ln/>
        </p:spPr>
        <p:txBody>
          <a:bodyPr wrap="square" lIns="0" tIns="0" rIns="0" bIns="0" rtlCol="0" anchor="t"/>
          <a:lstStyle/>
          <a:p>
            <a:pPr indent="0" marL="0">
              <a:buNone/>
            </a:pPr>
            <a:r>
              <a:rPr lang="en-US" sz="4000" b="1" dirty="0">
                <a:solidFill>
                  <a:schemeClr val="bg1"/>
                </a:solidFill>
              </a:rPr>
              <a:t>Tobacco Marketing on International Markets</a:t>
            </a:r>
            <a:endParaRPr lang="en-US" sz="4000" dirty="0"/>
          </a:p>
        </p:txBody>
      </p:sp>
      <p:sp>
        <p:nvSpPr>
          <p:cNvPr id="4" name="Text 2"/>
          <p:cNvSpPr txBox="1"/>
          <p:nvPr/>
        </p:nvSpPr>
        <p:spPr>
          <a:xfrm>
            <a:off x="731520" y="3794760"/>
            <a:ext cx="7315200" cy="822960"/>
          </a:xfrm>
          <a:prstGeom prst="rect">
            <a:avLst/>
          </a:prstGeom>
          <a:noFill/>
          <a:ln/>
        </p:spPr>
        <p:txBody>
          <a:bodyPr wrap="square" lIns="0" tIns="0" rIns="0" bIns="0" rtlCol="0" anchor="t"/>
          <a:lstStyle/>
          <a:p>
            <a:pPr indent="0" marL="0">
              <a:buNone/>
            </a:pPr>
            <a:r>
              <a:rPr lang="en-US" sz="2200" dirty="0">
                <a:solidFill>
                  <a:schemeClr val="accent4"/>
                </a:solidFill>
              </a:rPr>
              <a:t>How do you sell something nobody lets you advertise?</a:t>
            </a:r>
            <a:endParaRPr lang="en-US" sz="2200" dirty="0"/>
          </a:p>
        </p:txBody>
      </p:sp>
      <p:sp>
        <p:nvSpPr>
          <p:cNvPr id="5" name="Text 3"/>
          <p:cNvSpPr txBox="1"/>
          <p:nvPr/>
        </p:nvSpPr>
        <p:spPr>
          <a:xfrm>
            <a:off x="731520" y="5806440"/>
            <a:ext cx="6766560" cy="365760"/>
          </a:xfrm>
          <a:prstGeom prst="rect">
            <a:avLst/>
          </a:prstGeom>
          <a:noFill/>
          <a:ln/>
        </p:spPr>
        <p:txBody>
          <a:bodyPr wrap="square" lIns="0" tIns="0" rIns="0" bIns="0" rtlCol="0" anchor="t"/>
          <a:lstStyle/>
          <a:p>
            <a:pPr indent="0" marL="0">
              <a:buNone/>
            </a:pPr>
            <a:r>
              <a:rPr lang="en-US" sz="1400" dirty="0">
                <a:solidFill>
                  <a:schemeClr val="accent4"/>
                </a:solidFill>
              </a:rPr>
              <a:t>Corvinus University of Budapest  ·  Fall 2026</a:t>
            </a:r>
            <a:endParaRPr lang="en-US" sz="1400" dirty="0"/>
          </a:p>
        </p:txBody>
      </p:sp>
      <p:sp>
        <p:nvSpPr>
          <p:cNvPr id="6" name="Photo Amir Kenenbaev"/>
          <p:cNvSpPr/>
          <p:nvPr/>
        </p:nvSpPr>
        <p:spPr>
          <a:xfrm>
            <a:off x="9098280" y="1828800"/>
            <a:ext cx="1828800" cy="1828800"/>
          </a:xfrm>
          <a:prstGeom prst="ellipse">
            <a:avLst/>
          </a:prstGeom>
          <a:solidFill>
            <a:srgbClr val="1B3A5C"/>
          </a:solidFill>
          <a:ln w="19050">
            <a:solidFill>
              <a:schemeClr val="bg1"/>
            </a:solidFill>
            <a:prstDash val="solid"/>
          </a:ln>
        </p:spPr>
      </p:sp>
      <p:sp>
        <p:nvSpPr>
          <p:cNvPr id="7" name="Text 5"/>
          <p:cNvSpPr txBox="1"/>
          <p:nvPr/>
        </p:nvSpPr>
        <p:spPr>
          <a:xfrm>
            <a:off x="8823960" y="3840480"/>
            <a:ext cx="2377440" cy="365760"/>
          </a:xfrm>
          <a:prstGeom prst="rect">
            <a:avLst/>
          </a:prstGeom>
          <a:noFill/>
          <a:ln/>
        </p:spPr>
        <p:txBody>
          <a:bodyPr wrap="square" lIns="0" tIns="0" rIns="0" bIns="0" rtlCol="0" anchor="t"/>
          <a:lstStyle/>
          <a:p>
            <a:pPr algn="ctr" indent="0" marL="0">
              <a:buNone/>
            </a:pPr>
            <a:r>
              <a:rPr lang="en-US" sz="1500" b="1" dirty="0">
                <a:solidFill>
                  <a:schemeClr val="bg1"/>
                </a:solidFill>
              </a:rPr>
              <a:t>Amir Kenenbaev</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914400" y="1417320"/>
            <a:ext cx="10588752" cy="365760"/>
          </a:xfrm>
          <a:prstGeom prst="rect">
            <a:avLst/>
          </a:prstGeom>
          <a:noFill/>
          <a:ln/>
        </p:spPr>
        <p:txBody>
          <a:bodyPr wrap="square" lIns="0" tIns="0" rIns="0" bIns="0" rtlCol="0" anchor="t"/>
          <a:lstStyle/>
          <a:p>
            <a:pPr indent="0" marL="0">
              <a:buNone/>
            </a:pPr>
            <a:r>
              <a:rPr lang="en-US" sz="1600" b="1" spc="100" kern="0" dirty="0">
                <a:solidFill>
                  <a:srgbClr val="F2B8B8"/>
                </a:solidFill>
              </a:rPr>
              <a:t>Quick test</a:t>
            </a:r>
            <a:endParaRPr lang="en-US" sz="1600" dirty="0"/>
          </a:p>
        </p:txBody>
      </p:sp>
      <p:sp>
        <p:nvSpPr>
          <p:cNvPr id="3" name="Text 1"/>
          <p:cNvSpPr txBox="1"/>
          <p:nvPr/>
        </p:nvSpPr>
        <p:spPr>
          <a:xfrm>
            <a:off x="914400" y="1920240"/>
            <a:ext cx="9875520" cy="2377440"/>
          </a:xfrm>
          <a:prstGeom prst="rect">
            <a:avLst/>
          </a:prstGeom>
          <a:noFill/>
          <a:ln/>
        </p:spPr>
        <p:txBody>
          <a:bodyPr wrap="square" lIns="0" tIns="0" rIns="0" bIns="0" rtlCol="0" anchor="ctr"/>
          <a:lstStyle/>
          <a:p>
            <a:pPr indent="0" marL="0">
              <a:buNone/>
            </a:pPr>
            <a:r>
              <a:rPr lang="en-US" sz="4400" b="1" dirty="0">
                <a:solidFill>
                  <a:schemeClr val="bg1"/>
                </a:solidFill>
              </a:rPr>
              <a:t>Raise your hand if you saw a cigarette ad this year.</a:t>
            </a:r>
            <a:endParaRPr lang="en-US" sz="4400" dirty="0"/>
          </a:p>
        </p:txBody>
      </p:sp>
      <p:sp>
        <p:nvSpPr>
          <p:cNvPr id="4" name="Text 2"/>
          <p:cNvSpPr txBox="1"/>
          <p:nvPr/>
        </p:nvSpPr>
        <p:spPr>
          <a:xfrm>
            <a:off x="914400" y="4526280"/>
            <a:ext cx="9509760" cy="914400"/>
          </a:xfrm>
          <a:prstGeom prst="rect">
            <a:avLst/>
          </a:prstGeom>
          <a:noFill/>
          <a:ln/>
        </p:spPr>
        <p:txBody>
          <a:bodyPr wrap="square" lIns="0" tIns="0" rIns="0" bIns="0" rtlCol="0" anchor="t"/>
          <a:lstStyle/>
          <a:p>
            <a:pPr indent="0" marL="0">
              <a:buNone/>
            </a:pPr>
            <a:r>
              <a:rPr lang="en-US" sz="2000" dirty="0">
                <a:solidFill>
                  <a:schemeClr val="accent4"/>
                </a:solidFill>
              </a:rPr>
              <a:t>Now keep it up if you saw a cigarette pack.</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Flashback</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most famous ad in history</a:t>
            </a:r>
            <a:endParaRPr lang="en-US" sz="2600" dirty="0"/>
          </a:p>
        </p:txBody>
      </p:sp>
      <p:sp>
        <p:nvSpPr>
          <p:cNvPr id="4" name="Text 2"/>
          <p:cNvSpPr txBox="1"/>
          <p:nvPr/>
        </p:nvSpPr>
        <p:spPr>
          <a:xfrm>
            <a:off x="6492240" y="1463040"/>
            <a:ext cx="5010912" cy="731520"/>
          </a:xfrm>
          <a:prstGeom prst="rect">
            <a:avLst/>
          </a:prstGeom>
          <a:noFill/>
          <a:ln/>
        </p:spPr>
        <p:txBody>
          <a:bodyPr wrap="square" lIns="0" tIns="0" rIns="0" bIns="0" rtlCol="0" anchor="t"/>
          <a:lstStyle/>
          <a:p>
            <a:pPr indent="0" marL="0">
              <a:buNone/>
            </a:pPr>
            <a:r>
              <a:rPr lang="en-US" sz="4400" b="1" dirty="0">
                <a:solidFill>
                  <a:schemeClr val="accent2"/>
                </a:solidFill>
              </a:rPr>
              <a:t>1954</a:t>
            </a:r>
            <a:endParaRPr lang="en-US" sz="4400" dirty="0"/>
          </a:p>
        </p:txBody>
      </p:sp>
      <p:sp>
        <p:nvSpPr>
          <p:cNvPr id="5" name="Text 3"/>
          <p:cNvSpPr txBox="1"/>
          <p:nvPr/>
        </p:nvSpPr>
        <p:spPr>
          <a:xfrm>
            <a:off x="6492240" y="2331720"/>
            <a:ext cx="5010912" cy="914400"/>
          </a:xfrm>
          <a:prstGeom prst="rect">
            <a:avLst/>
          </a:prstGeom>
          <a:noFill/>
          <a:ln/>
        </p:spPr>
        <p:txBody>
          <a:bodyPr wrap="square" lIns="0" tIns="0" rIns="0" bIns="0" rtlCol="0" anchor="t"/>
          <a:lstStyle/>
          <a:p>
            <a:pPr indent="0" marL="0">
              <a:buNone/>
            </a:pPr>
            <a:r>
              <a:rPr lang="en-US" sz="2000" dirty="0">
                <a:solidFill>
                  <a:schemeClr val="accent6"/>
                </a:solidFill>
              </a:rPr>
              <a:t>Marlboro was a “ladies” cigarette, sold with the slogan “Mild as May”.</a:t>
            </a:r>
            <a:endParaRPr lang="en-US" sz="2000" dirty="0"/>
          </a:p>
        </p:txBody>
      </p:sp>
      <p:sp>
        <p:nvSpPr>
          <p:cNvPr id="6" name="Text 4"/>
          <p:cNvSpPr txBox="1"/>
          <p:nvPr/>
        </p:nvSpPr>
        <p:spPr>
          <a:xfrm>
            <a:off x="6492240" y="3383280"/>
            <a:ext cx="5010912" cy="822960"/>
          </a:xfrm>
          <a:prstGeom prst="rect">
            <a:avLst/>
          </a:prstGeom>
          <a:noFill/>
          <a:ln/>
        </p:spPr>
        <p:txBody>
          <a:bodyPr wrap="square" lIns="0" tIns="0" rIns="0" bIns="0" rtlCol="0" anchor="t"/>
          <a:lstStyle/>
          <a:p>
            <a:pPr indent="0" marL="0">
              <a:buNone/>
            </a:pPr>
            <a:r>
              <a:rPr lang="en-US" sz="2400" b="1" dirty="0">
                <a:solidFill>
                  <a:schemeClr val="accent1"/>
                </a:solidFill>
              </a:rPr>
              <a:t>Then an ad agency gave it a cowboy.</a:t>
            </a:r>
            <a:endParaRPr lang="en-US" sz="2400" dirty="0"/>
          </a:p>
        </p:txBody>
      </p:sp>
      <p:sp>
        <p:nvSpPr>
          <p:cNvPr id="7" name="Text 5"/>
          <p:cNvSpPr txBox="1"/>
          <p:nvPr/>
        </p:nvSpPr>
        <p:spPr>
          <a:xfrm>
            <a:off x="6492240" y="4389120"/>
            <a:ext cx="5010912" cy="914400"/>
          </a:xfrm>
          <a:prstGeom prst="rect">
            <a:avLst/>
          </a:prstGeom>
          <a:noFill/>
          <a:ln/>
        </p:spPr>
        <p:txBody>
          <a:bodyPr wrap="square" lIns="0" tIns="0" rIns="0" bIns="0" rtlCol="0" anchor="t"/>
          <a:lstStyle/>
          <a:p>
            <a:pPr indent="0" marL="0">
              <a:buNone/>
            </a:pPr>
            <a:r>
              <a:rPr lang="en-US" sz="1800" dirty="0">
                <a:solidFill>
                  <a:schemeClr val="accent6"/>
                </a:solidFill>
              </a:rPr>
              <a:t>Same cigarette. New story. It became one of the best-selling brands in the world.</a:t>
            </a:r>
            <a:endParaRPr lang="en-US" sz="1800" dirty="0"/>
          </a:p>
        </p:txBody>
      </p:sp>
      <p:sp>
        <p:nvSpPr>
          <p:cNvPr id="9" name="Text 2"/>
          <p:cNvSpPr/>
          <p:nvPr>
            <p:ph type="pic" idx="104" hasCustomPrompt="1"/>
          </p:nvPr>
        </p:nvSpPr>
        <p:spPr>
          <a:xfrm>
            <a:off x="914400" y="1325880"/>
            <a:ext cx="5120640" cy="475488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Flashback</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Then the cowboy got a cartoon friend</a:t>
            </a:r>
            <a:endParaRPr lang="en-US" sz="2600" dirty="0"/>
          </a:p>
        </p:txBody>
      </p:sp>
      <p:sp>
        <p:nvSpPr>
          <p:cNvPr id="4" name="Text 2"/>
          <p:cNvSpPr txBox="1"/>
          <p:nvPr/>
        </p:nvSpPr>
        <p:spPr>
          <a:xfrm>
            <a:off x="6492240" y="1463040"/>
            <a:ext cx="5010912" cy="731520"/>
          </a:xfrm>
          <a:prstGeom prst="rect">
            <a:avLst/>
          </a:prstGeom>
          <a:noFill/>
          <a:ln/>
        </p:spPr>
        <p:txBody>
          <a:bodyPr wrap="square" lIns="0" tIns="0" rIns="0" bIns="0" rtlCol="0" anchor="t"/>
          <a:lstStyle/>
          <a:p>
            <a:pPr indent="0" marL="0">
              <a:buNone/>
            </a:pPr>
            <a:r>
              <a:rPr lang="en-US" sz="4000" b="1" dirty="0">
                <a:solidFill>
                  <a:schemeClr val="accent2"/>
                </a:solidFill>
              </a:rPr>
              <a:t>Joe Camel</a:t>
            </a:r>
            <a:endParaRPr lang="en-US" sz="4000" dirty="0"/>
          </a:p>
        </p:txBody>
      </p:sp>
      <p:sp>
        <p:nvSpPr>
          <p:cNvPr id="5" name="Text 3"/>
          <p:cNvSpPr txBox="1"/>
          <p:nvPr/>
        </p:nvSpPr>
        <p:spPr>
          <a:xfrm>
            <a:off x="6492240" y="2331720"/>
            <a:ext cx="5010912" cy="914400"/>
          </a:xfrm>
          <a:prstGeom prst="rect">
            <a:avLst/>
          </a:prstGeom>
          <a:noFill/>
          <a:ln/>
        </p:spPr>
        <p:txBody>
          <a:bodyPr wrap="square" lIns="0" tIns="0" rIns="0" bIns="0" rtlCol="0" anchor="t"/>
          <a:lstStyle/>
          <a:p>
            <a:pPr indent="0" marL="0">
              <a:buNone/>
            </a:pPr>
            <a:r>
              <a:rPr lang="en-US" sz="2000" dirty="0">
                <a:solidFill>
                  <a:schemeClr val="accent6"/>
                </a:solidFill>
              </a:rPr>
              <a:t>A cool cartoon camel with sunglasses, used in cigarette ads from 1988.</a:t>
            </a:r>
            <a:endParaRPr lang="en-US" sz="2000" dirty="0"/>
          </a:p>
        </p:txBody>
      </p:sp>
      <p:sp>
        <p:nvSpPr>
          <p:cNvPr id="6" name="Text 4"/>
          <p:cNvSpPr txBox="1"/>
          <p:nvPr/>
        </p:nvSpPr>
        <p:spPr>
          <a:xfrm>
            <a:off x="6492240" y="3520440"/>
            <a:ext cx="5010912" cy="1463040"/>
          </a:xfrm>
          <a:prstGeom prst="rect">
            <a:avLst/>
          </a:prstGeom>
          <a:solidFill>
            <a:schemeClr val="accent1"/>
          </a:solidFill>
          <a:ln/>
        </p:spPr>
        <p:txBody>
          <a:bodyPr wrap="square" lIns="228600" tIns="228600" rIns="228600" bIns="228600" rtlCol="0" anchor="ctr"/>
          <a:lstStyle/>
          <a:p>
            <a:pPr indent="0" marL="0">
              <a:buNone/>
            </a:pPr>
            <a:r>
              <a:rPr lang="en-US" sz="2000" dirty="0">
                <a:solidFill>
                  <a:schemeClr val="bg1"/>
                </a:solidFill>
              </a:rPr>
              <a:t>A 1991 study found that </a:t>
            </a:r>
            <a:pPr indent="0" marL="0">
              <a:buNone/>
            </a:pPr>
            <a:r>
              <a:rPr lang="en-US" sz="2000" b="1" dirty="0">
                <a:solidFill>
                  <a:schemeClr val="bg1"/>
                </a:solidFill>
              </a:rPr>
              <a:t>6-year-olds knew Joe Camel as well as Mickey Mouse.</a:t>
            </a:r>
            <a:endParaRPr lang="en-US" sz="2000" dirty="0"/>
          </a:p>
        </p:txBody>
      </p:sp>
      <p:sp>
        <p:nvSpPr>
          <p:cNvPr id="7" name="Text 5"/>
          <p:cNvSpPr txBox="1"/>
          <p:nvPr/>
        </p:nvSpPr>
        <p:spPr>
          <a:xfrm>
            <a:off x="6492240" y="5257800"/>
            <a:ext cx="5010912" cy="457200"/>
          </a:xfrm>
          <a:prstGeom prst="rect">
            <a:avLst/>
          </a:prstGeom>
          <a:noFill/>
          <a:ln/>
        </p:spPr>
        <p:txBody>
          <a:bodyPr wrap="square" lIns="0" tIns="0" rIns="0" bIns="0" rtlCol="0" anchor="t"/>
          <a:lstStyle/>
          <a:p>
            <a:pPr indent="0" marL="0">
              <a:buNone/>
            </a:pPr>
            <a:r>
              <a:rPr lang="en-US" sz="1600" i="1" dirty="0">
                <a:solidFill>
                  <a:schemeClr val="accent3"/>
                </a:solidFill>
              </a:rPr>
              <a:t>Remember this camel. He comes back later.</a:t>
            </a:r>
            <a:endParaRPr lang="en-US" sz="1600" dirty="0"/>
          </a:p>
        </p:txBody>
      </p:sp>
      <p:sp>
        <p:nvSpPr>
          <p:cNvPr id="9" name="Text 2"/>
          <p:cNvSpPr/>
          <p:nvPr>
            <p:ph type="pic" idx="104" hasCustomPrompt="1"/>
          </p:nvPr>
        </p:nvSpPr>
        <p:spPr>
          <a:xfrm>
            <a:off x="914400" y="1325880"/>
            <a:ext cx="5120640" cy="475488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914400" y="1417320"/>
            <a:ext cx="10588752" cy="365760"/>
          </a:xfrm>
          <a:prstGeom prst="rect">
            <a:avLst/>
          </a:prstGeom>
          <a:noFill/>
          <a:ln/>
        </p:spPr>
        <p:txBody>
          <a:bodyPr wrap="square" lIns="0" tIns="0" rIns="0" bIns="0" rtlCol="0" anchor="t"/>
          <a:lstStyle/>
          <a:p>
            <a:pPr indent="0" marL="0">
              <a:buNone/>
            </a:pPr>
            <a:r>
              <a:rPr lang="en-US" sz="1600" b="1" spc="100" kern="0" dirty="0">
                <a:solidFill>
                  <a:srgbClr val="F2B8B8"/>
                </a:solidFill>
              </a:rPr>
              <a:t>Then the world said</a:t>
            </a:r>
            <a:endParaRPr lang="en-US" sz="1600" dirty="0"/>
          </a:p>
        </p:txBody>
      </p:sp>
      <p:sp>
        <p:nvSpPr>
          <p:cNvPr id="3" name="Text 1"/>
          <p:cNvSpPr txBox="1"/>
          <p:nvPr/>
        </p:nvSpPr>
        <p:spPr>
          <a:xfrm>
            <a:off x="914400" y="1920240"/>
            <a:ext cx="9875520" cy="2377440"/>
          </a:xfrm>
          <a:prstGeom prst="rect">
            <a:avLst/>
          </a:prstGeom>
          <a:noFill/>
          <a:ln/>
        </p:spPr>
        <p:txBody>
          <a:bodyPr wrap="square" lIns="0" tIns="0" rIns="0" bIns="0" rtlCol="0" anchor="ctr"/>
          <a:lstStyle/>
          <a:p>
            <a:pPr indent="0" marL="0">
              <a:buNone/>
            </a:pPr>
            <a:r>
              <a:rPr lang="en-US" sz="4400" b="1" dirty="0">
                <a:solidFill>
                  <a:schemeClr val="bg1"/>
                </a:solidFill>
              </a:rPr>
              <a:t>No more ads.</a:t>
            </a:r>
            <a:endParaRPr lang="en-US" sz="4400" dirty="0"/>
          </a:p>
        </p:txBody>
      </p:sp>
      <p:sp>
        <p:nvSpPr>
          <p:cNvPr id="4" name="Text 2"/>
          <p:cNvSpPr txBox="1"/>
          <p:nvPr/>
        </p:nvSpPr>
        <p:spPr>
          <a:xfrm>
            <a:off x="914400" y="4526280"/>
            <a:ext cx="9509760" cy="914400"/>
          </a:xfrm>
          <a:prstGeom prst="rect">
            <a:avLst/>
          </a:prstGeom>
          <a:noFill/>
          <a:ln/>
        </p:spPr>
        <p:txBody>
          <a:bodyPr wrap="square" lIns="0" tIns="0" rIns="0" bIns="0" rtlCol="0" anchor="t"/>
          <a:lstStyle/>
          <a:p>
            <a:pPr indent="0" marL="0">
              <a:buNone/>
            </a:pPr>
            <a:r>
              <a:rPr lang="en-US" sz="2000" dirty="0">
                <a:solidFill>
                  <a:schemeClr val="accent4"/>
                </a:solidFill>
              </a:rPr>
              <a:t>TV, billboards, magazines, sports sponsorship: banned in most of the world.</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Your turn</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pack became the ad. Guess the country!</a:t>
            </a:r>
            <a:endParaRPr lang="en-US" sz="2600" dirty="0"/>
          </a:p>
        </p:txBody>
      </p:sp>
      <p:sp>
        <p:nvSpPr>
          <p:cNvPr id="4" name="Text 2"/>
          <p:cNvSpPr txBox="1"/>
          <p:nvPr/>
        </p:nvSpPr>
        <p:spPr>
          <a:xfrm>
            <a:off x="914400" y="5166360"/>
            <a:ext cx="502920" cy="50292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5" name="Text 3"/>
          <p:cNvSpPr txBox="1"/>
          <p:nvPr/>
        </p:nvSpPr>
        <p:spPr>
          <a:xfrm>
            <a:off x="1554480" y="5257800"/>
            <a:ext cx="1691640" cy="329184"/>
          </a:xfrm>
          <a:prstGeom prst="rect">
            <a:avLst/>
          </a:prstGeom>
          <a:noFill/>
          <a:ln/>
        </p:spPr>
        <p:txBody>
          <a:bodyPr wrap="square" lIns="0" tIns="0" rIns="0" bIns="0" rtlCol="0" anchor="t"/>
          <a:lstStyle/>
          <a:p>
            <a:pPr indent="0" marL="0">
              <a:buNone/>
            </a:pPr>
            <a:r>
              <a:rPr lang="en-US" sz="1600" dirty="0">
                <a:solidFill>
                  <a:schemeClr val="accent3"/>
                </a:solidFill>
              </a:rPr>
              <a:t>Which country?</a:t>
            </a:r>
            <a:endParaRPr lang="en-US" sz="1600" dirty="0"/>
          </a:p>
        </p:txBody>
      </p:sp>
      <p:sp>
        <p:nvSpPr>
          <p:cNvPr id="6" name="Text 4"/>
          <p:cNvSpPr txBox="1"/>
          <p:nvPr/>
        </p:nvSpPr>
        <p:spPr>
          <a:xfrm>
            <a:off x="3666744" y="5166360"/>
            <a:ext cx="502920" cy="50292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7" name="Text 5"/>
          <p:cNvSpPr txBox="1"/>
          <p:nvPr/>
        </p:nvSpPr>
        <p:spPr>
          <a:xfrm>
            <a:off x="4306824" y="5257800"/>
            <a:ext cx="1691640" cy="329184"/>
          </a:xfrm>
          <a:prstGeom prst="rect">
            <a:avLst/>
          </a:prstGeom>
          <a:noFill/>
          <a:ln/>
        </p:spPr>
        <p:txBody>
          <a:bodyPr wrap="square" lIns="0" tIns="0" rIns="0" bIns="0" rtlCol="0" anchor="t"/>
          <a:lstStyle/>
          <a:p>
            <a:pPr indent="0" marL="0">
              <a:buNone/>
            </a:pPr>
            <a:r>
              <a:rPr lang="en-US" sz="1600" dirty="0">
                <a:solidFill>
                  <a:schemeClr val="accent3"/>
                </a:solidFill>
              </a:rPr>
              <a:t>Which country?</a:t>
            </a:r>
            <a:endParaRPr lang="en-US" sz="1600" dirty="0"/>
          </a:p>
        </p:txBody>
      </p:sp>
      <p:sp>
        <p:nvSpPr>
          <p:cNvPr id="8" name="Text 6"/>
          <p:cNvSpPr txBox="1"/>
          <p:nvPr/>
        </p:nvSpPr>
        <p:spPr>
          <a:xfrm>
            <a:off x="6419088" y="5166360"/>
            <a:ext cx="502920" cy="50292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C</a:t>
            </a:r>
            <a:endParaRPr lang="en-US" sz="2000" dirty="0"/>
          </a:p>
        </p:txBody>
      </p:sp>
      <p:sp>
        <p:nvSpPr>
          <p:cNvPr id="9" name="Text 7"/>
          <p:cNvSpPr txBox="1"/>
          <p:nvPr/>
        </p:nvSpPr>
        <p:spPr>
          <a:xfrm>
            <a:off x="7059168" y="5257800"/>
            <a:ext cx="1691640" cy="329184"/>
          </a:xfrm>
          <a:prstGeom prst="rect">
            <a:avLst/>
          </a:prstGeom>
          <a:noFill/>
          <a:ln/>
        </p:spPr>
        <p:txBody>
          <a:bodyPr wrap="square" lIns="0" tIns="0" rIns="0" bIns="0" rtlCol="0" anchor="t"/>
          <a:lstStyle/>
          <a:p>
            <a:pPr indent="0" marL="0">
              <a:buNone/>
            </a:pPr>
            <a:r>
              <a:rPr lang="en-US" sz="1600" dirty="0">
                <a:solidFill>
                  <a:schemeClr val="accent3"/>
                </a:solidFill>
              </a:rPr>
              <a:t>Which country?</a:t>
            </a:r>
            <a:endParaRPr lang="en-US" sz="1600" dirty="0"/>
          </a:p>
        </p:txBody>
      </p:sp>
      <p:sp>
        <p:nvSpPr>
          <p:cNvPr id="10" name="Text 8"/>
          <p:cNvSpPr txBox="1"/>
          <p:nvPr/>
        </p:nvSpPr>
        <p:spPr>
          <a:xfrm>
            <a:off x="9171432" y="5166360"/>
            <a:ext cx="502920" cy="50292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D</a:t>
            </a:r>
            <a:endParaRPr lang="en-US" sz="2000" dirty="0"/>
          </a:p>
        </p:txBody>
      </p:sp>
      <p:sp>
        <p:nvSpPr>
          <p:cNvPr id="11" name="Text 9"/>
          <p:cNvSpPr txBox="1"/>
          <p:nvPr/>
        </p:nvSpPr>
        <p:spPr>
          <a:xfrm>
            <a:off x="9811512" y="5257800"/>
            <a:ext cx="1691640" cy="329184"/>
          </a:xfrm>
          <a:prstGeom prst="rect">
            <a:avLst/>
          </a:prstGeom>
          <a:noFill/>
          <a:ln/>
        </p:spPr>
        <p:txBody>
          <a:bodyPr wrap="square" lIns="0" tIns="0" rIns="0" bIns="0" rtlCol="0" anchor="t"/>
          <a:lstStyle/>
          <a:p>
            <a:pPr indent="0" marL="0">
              <a:buNone/>
            </a:pPr>
            <a:r>
              <a:rPr lang="en-US" sz="1600" dirty="0">
                <a:solidFill>
                  <a:schemeClr val="accent3"/>
                </a:solidFill>
              </a:rPr>
              <a:t>Which country?</a:t>
            </a:r>
            <a:endParaRPr lang="en-US" sz="1600" dirty="0"/>
          </a:p>
        </p:txBody>
      </p:sp>
      <p:sp>
        <p:nvSpPr>
          <p:cNvPr id="13" name="Text 2"/>
          <p:cNvSpPr/>
          <p:nvPr>
            <p:ph type="pic" idx="104" hasCustomPrompt="1"/>
          </p:nvPr>
        </p:nvSpPr>
        <p:spPr>
          <a:xfrm>
            <a:off x="914400" y="1371600"/>
            <a:ext cx="2331720" cy="3566160"/>
          </a:xfrm>
          <a:prstGeom prst="rect">
            <a:avLst/>
          </a:prstGeom>
          <a:noFill/>
          <a:ln/>
        </p:spPr>
        <p:txBody>
          <a:bodyPr wrap="square" rtlCol="0"/>
          <a:lstStyle/>
          <a:p>
            <a:pPr indent="0" marL="0">
              <a:buNone/>
            </a:pPr>
            <a:endParaRPr lang="en-US" sz="1200" dirty="0"/>
          </a:p>
        </p:txBody>
      </p:sp>
      <p:sp>
        <p:nvSpPr>
          <p:cNvPr id="14" name="Text 2"/>
          <p:cNvSpPr/>
          <p:nvPr>
            <p:ph type="pic" idx="105" hasCustomPrompt="1"/>
          </p:nvPr>
        </p:nvSpPr>
        <p:spPr>
          <a:xfrm>
            <a:off x="3666744" y="1371600"/>
            <a:ext cx="2331720" cy="3566160"/>
          </a:xfrm>
          <a:prstGeom prst="rect">
            <a:avLst/>
          </a:prstGeom>
          <a:noFill/>
          <a:ln/>
        </p:spPr>
        <p:txBody>
          <a:bodyPr wrap="square" rtlCol="0"/>
          <a:lstStyle/>
          <a:p>
            <a:pPr indent="0" marL="0">
              <a:buNone/>
            </a:pPr>
            <a:endParaRPr lang="en-US" sz="1200" dirty="0"/>
          </a:p>
        </p:txBody>
      </p:sp>
      <p:sp>
        <p:nvSpPr>
          <p:cNvPr id="15" name="Text 2"/>
          <p:cNvSpPr/>
          <p:nvPr>
            <p:ph type="pic" idx="106" hasCustomPrompt="1"/>
          </p:nvPr>
        </p:nvSpPr>
        <p:spPr>
          <a:xfrm>
            <a:off x="6419088" y="1371600"/>
            <a:ext cx="2331720" cy="3566160"/>
          </a:xfrm>
          <a:prstGeom prst="rect">
            <a:avLst/>
          </a:prstGeom>
          <a:noFill/>
          <a:ln/>
        </p:spPr>
        <p:txBody>
          <a:bodyPr wrap="square" rtlCol="0"/>
          <a:lstStyle/>
          <a:p>
            <a:pPr indent="0" marL="0">
              <a:buNone/>
            </a:pPr>
            <a:endParaRPr lang="en-US" sz="1200" dirty="0"/>
          </a:p>
        </p:txBody>
      </p:sp>
      <p:sp>
        <p:nvSpPr>
          <p:cNvPr id="16" name="Text 2"/>
          <p:cNvSpPr/>
          <p:nvPr>
            <p:ph type="pic" idx="107" hasCustomPrompt="1"/>
          </p:nvPr>
        </p:nvSpPr>
        <p:spPr>
          <a:xfrm>
            <a:off x="9171432" y="1371600"/>
            <a:ext cx="2331720" cy="356616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The answer</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Same cigarette, four different stories</a:t>
            </a:r>
            <a:endParaRPr lang="en-US" sz="2600" dirty="0"/>
          </a:p>
        </p:txBody>
      </p:sp>
      <p:sp>
        <p:nvSpPr>
          <p:cNvPr id="4" name="Text 2"/>
          <p:cNvSpPr txBox="1"/>
          <p:nvPr/>
        </p:nvSpPr>
        <p:spPr>
          <a:xfrm>
            <a:off x="914400" y="5120640"/>
            <a:ext cx="2331720" cy="365760"/>
          </a:xfrm>
          <a:prstGeom prst="rect">
            <a:avLst/>
          </a:prstGeom>
          <a:noFill/>
          <a:ln/>
        </p:spPr>
        <p:txBody>
          <a:bodyPr wrap="square" lIns="0" tIns="0" rIns="0" bIns="0" rtlCol="0" anchor="t"/>
          <a:lstStyle/>
          <a:p>
            <a:pPr indent="0" marL="0">
              <a:buNone/>
            </a:pPr>
            <a:r>
              <a:rPr lang="en-US" sz="1800" b="1" dirty="0">
                <a:solidFill>
                  <a:schemeClr val="accent2"/>
                </a:solidFill>
              </a:rPr>
              <a:t>A  ·  USA</a:t>
            </a:r>
            <a:endParaRPr lang="en-US" sz="1800" dirty="0"/>
          </a:p>
        </p:txBody>
      </p:sp>
      <p:sp>
        <p:nvSpPr>
          <p:cNvPr id="5" name="Text 3"/>
          <p:cNvSpPr txBox="1"/>
          <p:nvPr/>
        </p:nvSpPr>
        <p:spPr>
          <a:xfrm>
            <a:off x="914400" y="5532120"/>
            <a:ext cx="2331720" cy="640080"/>
          </a:xfrm>
          <a:prstGeom prst="rect">
            <a:avLst/>
          </a:prstGeom>
          <a:noFill/>
          <a:ln/>
        </p:spPr>
        <p:txBody>
          <a:bodyPr wrap="square" lIns="0" tIns="0" rIns="0" bIns="0" rtlCol="0" anchor="t"/>
          <a:lstStyle/>
          <a:p>
            <a:pPr indent="0" marL="0">
              <a:buNone/>
            </a:pPr>
            <a:r>
              <a:rPr lang="en-US" sz="1500" dirty="0">
                <a:solidFill>
                  <a:schemeClr val="accent6"/>
                </a:solidFill>
              </a:rPr>
              <a:t>The brand still owns the pack.</a:t>
            </a:r>
            <a:endParaRPr lang="en-US" sz="1500" dirty="0"/>
          </a:p>
        </p:txBody>
      </p:sp>
      <p:sp>
        <p:nvSpPr>
          <p:cNvPr id="6" name="Text 4"/>
          <p:cNvSpPr txBox="1"/>
          <p:nvPr/>
        </p:nvSpPr>
        <p:spPr>
          <a:xfrm>
            <a:off x="3666744" y="5120640"/>
            <a:ext cx="2331720" cy="365760"/>
          </a:xfrm>
          <a:prstGeom prst="rect">
            <a:avLst/>
          </a:prstGeom>
          <a:noFill/>
          <a:ln/>
        </p:spPr>
        <p:txBody>
          <a:bodyPr wrap="square" lIns="0" tIns="0" rIns="0" bIns="0" rtlCol="0" anchor="t"/>
          <a:lstStyle/>
          <a:p>
            <a:pPr indent="0" marL="0">
              <a:buNone/>
            </a:pPr>
            <a:r>
              <a:rPr lang="en-US" sz="1800" b="1" dirty="0">
                <a:solidFill>
                  <a:schemeClr val="accent2"/>
                </a:solidFill>
              </a:rPr>
              <a:t>B  ·  Kyrgyzstan</a:t>
            </a:r>
            <a:endParaRPr lang="en-US" sz="1800" dirty="0"/>
          </a:p>
        </p:txBody>
      </p:sp>
      <p:sp>
        <p:nvSpPr>
          <p:cNvPr id="7" name="Text 5"/>
          <p:cNvSpPr txBox="1"/>
          <p:nvPr/>
        </p:nvSpPr>
        <p:spPr>
          <a:xfrm>
            <a:off x="3666744" y="5532120"/>
            <a:ext cx="2331720" cy="640080"/>
          </a:xfrm>
          <a:prstGeom prst="rect">
            <a:avLst/>
          </a:prstGeom>
          <a:noFill/>
          <a:ln/>
        </p:spPr>
        <p:txBody>
          <a:bodyPr wrap="square" lIns="0" tIns="0" rIns="0" bIns="0" rtlCol="0" anchor="t"/>
          <a:lstStyle/>
          <a:p>
            <a:pPr indent="0" marL="0">
              <a:buNone/>
            </a:pPr>
            <a:r>
              <a:rPr lang="en-US" sz="1500" dirty="0">
                <a:solidFill>
                  <a:schemeClr val="accent6"/>
                </a:solidFill>
              </a:rPr>
              <a:t>Half brand, half warning.</a:t>
            </a:r>
            <a:endParaRPr lang="en-US" sz="1500" dirty="0"/>
          </a:p>
        </p:txBody>
      </p:sp>
      <p:sp>
        <p:nvSpPr>
          <p:cNvPr id="8" name="Text 6"/>
          <p:cNvSpPr txBox="1"/>
          <p:nvPr/>
        </p:nvSpPr>
        <p:spPr>
          <a:xfrm>
            <a:off x="6419088" y="5120640"/>
            <a:ext cx="2331720" cy="365760"/>
          </a:xfrm>
          <a:prstGeom prst="rect">
            <a:avLst/>
          </a:prstGeom>
          <a:noFill/>
          <a:ln/>
        </p:spPr>
        <p:txBody>
          <a:bodyPr wrap="square" lIns="0" tIns="0" rIns="0" bIns="0" rtlCol="0" anchor="t"/>
          <a:lstStyle/>
          <a:p>
            <a:pPr indent="0" marL="0">
              <a:buNone/>
            </a:pPr>
            <a:r>
              <a:rPr lang="en-US" sz="1800" b="1" dirty="0">
                <a:solidFill>
                  <a:schemeClr val="accent2"/>
                </a:solidFill>
              </a:rPr>
              <a:t>C  ·  Hungary</a:t>
            </a:r>
            <a:endParaRPr lang="en-US" sz="1800" dirty="0"/>
          </a:p>
        </p:txBody>
      </p:sp>
      <p:sp>
        <p:nvSpPr>
          <p:cNvPr id="9" name="Text 7"/>
          <p:cNvSpPr txBox="1"/>
          <p:nvPr/>
        </p:nvSpPr>
        <p:spPr>
          <a:xfrm>
            <a:off x="6419088" y="5532120"/>
            <a:ext cx="2331720" cy="640080"/>
          </a:xfrm>
          <a:prstGeom prst="rect">
            <a:avLst/>
          </a:prstGeom>
          <a:noFill/>
          <a:ln/>
        </p:spPr>
        <p:txBody>
          <a:bodyPr wrap="square" lIns="0" tIns="0" rIns="0" bIns="0" rtlCol="0" anchor="t"/>
          <a:lstStyle/>
          <a:p>
            <a:pPr indent="0" marL="0">
              <a:buNone/>
            </a:pPr>
            <a:r>
              <a:rPr lang="en-US" sz="1500" dirty="0">
                <a:solidFill>
                  <a:schemeClr val="accent6"/>
                </a:solidFill>
              </a:rPr>
              <a:t>No logo, just the name.</a:t>
            </a:r>
            <a:endParaRPr lang="en-US" sz="1500" dirty="0"/>
          </a:p>
        </p:txBody>
      </p:sp>
      <p:sp>
        <p:nvSpPr>
          <p:cNvPr id="10" name="Text 8"/>
          <p:cNvSpPr txBox="1"/>
          <p:nvPr/>
        </p:nvSpPr>
        <p:spPr>
          <a:xfrm>
            <a:off x="9171432" y="5120640"/>
            <a:ext cx="2331720" cy="365760"/>
          </a:xfrm>
          <a:prstGeom prst="rect">
            <a:avLst/>
          </a:prstGeom>
          <a:noFill/>
          <a:ln/>
        </p:spPr>
        <p:txBody>
          <a:bodyPr wrap="square" lIns="0" tIns="0" rIns="0" bIns="0" rtlCol="0" anchor="t"/>
          <a:lstStyle/>
          <a:p>
            <a:pPr indent="0" marL="0">
              <a:buNone/>
            </a:pPr>
            <a:r>
              <a:rPr lang="en-US" sz="1800" b="1" dirty="0">
                <a:solidFill>
                  <a:schemeClr val="accent2"/>
                </a:solidFill>
              </a:rPr>
              <a:t>D  ·  Australia</a:t>
            </a:r>
            <a:endParaRPr lang="en-US" sz="1800" dirty="0"/>
          </a:p>
        </p:txBody>
      </p:sp>
      <p:sp>
        <p:nvSpPr>
          <p:cNvPr id="11" name="Text 9"/>
          <p:cNvSpPr txBox="1"/>
          <p:nvPr/>
        </p:nvSpPr>
        <p:spPr>
          <a:xfrm>
            <a:off x="9171432" y="5532120"/>
            <a:ext cx="2331720" cy="640080"/>
          </a:xfrm>
          <a:prstGeom prst="rect">
            <a:avLst/>
          </a:prstGeom>
          <a:noFill/>
          <a:ln/>
        </p:spPr>
        <p:txBody>
          <a:bodyPr wrap="square" lIns="0" tIns="0" rIns="0" bIns="0" rtlCol="0" anchor="t"/>
          <a:lstStyle/>
          <a:p>
            <a:pPr indent="0" marL="0">
              <a:buNone/>
            </a:pPr>
            <a:r>
              <a:rPr lang="en-US" sz="1500" dirty="0">
                <a:solidFill>
                  <a:schemeClr val="accent6"/>
                </a:solidFill>
              </a:rPr>
              <a:t>The “ugliest colour in the world”.</a:t>
            </a:r>
            <a:endParaRPr lang="en-US" sz="1500" dirty="0"/>
          </a:p>
        </p:txBody>
      </p:sp>
      <p:sp>
        <p:nvSpPr>
          <p:cNvPr id="13" name="Text 2"/>
          <p:cNvSpPr/>
          <p:nvPr>
            <p:ph type="pic" idx="104" hasCustomPrompt="1"/>
          </p:nvPr>
        </p:nvSpPr>
        <p:spPr>
          <a:xfrm>
            <a:off x="914400" y="1371600"/>
            <a:ext cx="2331720" cy="3566160"/>
          </a:xfrm>
          <a:prstGeom prst="rect">
            <a:avLst/>
          </a:prstGeom>
          <a:noFill/>
          <a:ln/>
        </p:spPr>
        <p:txBody>
          <a:bodyPr wrap="square" rtlCol="0"/>
          <a:lstStyle/>
          <a:p>
            <a:pPr indent="0" marL="0">
              <a:buNone/>
            </a:pPr>
            <a:endParaRPr lang="en-US" sz="1200" dirty="0"/>
          </a:p>
        </p:txBody>
      </p:sp>
      <p:sp>
        <p:nvSpPr>
          <p:cNvPr id="14" name="Text 2"/>
          <p:cNvSpPr/>
          <p:nvPr>
            <p:ph type="pic" idx="105" hasCustomPrompt="1"/>
          </p:nvPr>
        </p:nvSpPr>
        <p:spPr>
          <a:xfrm>
            <a:off x="3666744" y="1371600"/>
            <a:ext cx="2331720" cy="3566160"/>
          </a:xfrm>
          <a:prstGeom prst="rect">
            <a:avLst/>
          </a:prstGeom>
          <a:noFill/>
          <a:ln/>
        </p:spPr>
        <p:txBody>
          <a:bodyPr wrap="square" rtlCol="0"/>
          <a:lstStyle/>
          <a:p>
            <a:pPr indent="0" marL="0">
              <a:buNone/>
            </a:pPr>
            <a:endParaRPr lang="en-US" sz="1200" dirty="0"/>
          </a:p>
        </p:txBody>
      </p:sp>
      <p:sp>
        <p:nvSpPr>
          <p:cNvPr id="15" name="Text 2"/>
          <p:cNvSpPr/>
          <p:nvPr>
            <p:ph type="pic" idx="106" hasCustomPrompt="1"/>
          </p:nvPr>
        </p:nvSpPr>
        <p:spPr>
          <a:xfrm>
            <a:off x="6419088" y="1371600"/>
            <a:ext cx="2331720" cy="3566160"/>
          </a:xfrm>
          <a:prstGeom prst="rect">
            <a:avLst/>
          </a:prstGeom>
          <a:noFill/>
          <a:ln/>
        </p:spPr>
        <p:txBody>
          <a:bodyPr wrap="square" rtlCol="0"/>
          <a:lstStyle/>
          <a:p>
            <a:pPr indent="0" marL="0">
              <a:buNone/>
            </a:pPr>
            <a:endParaRPr lang="en-US" sz="1200" dirty="0"/>
          </a:p>
        </p:txBody>
      </p:sp>
      <p:sp>
        <p:nvSpPr>
          <p:cNvPr id="16" name="Text 2"/>
          <p:cNvSpPr/>
          <p:nvPr>
            <p:ph type="pic" idx="107" hasCustomPrompt="1"/>
          </p:nvPr>
        </p:nvSpPr>
        <p:spPr>
          <a:xfrm>
            <a:off x="9171432" y="1371600"/>
            <a:ext cx="2331720" cy="356616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Plan B</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When you can’t change the ad, change the taste</a:t>
            </a:r>
            <a:endParaRPr lang="en-US" sz="2600" dirty="0"/>
          </a:p>
        </p:txBody>
      </p:sp>
      <p:sp>
        <p:nvSpPr>
          <p:cNvPr id="4" name="Shape 2"/>
          <p:cNvSpPr/>
          <p:nvPr/>
        </p:nvSpPr>
        <p:spPr>
          <a:xfrm>
            <a:off x="6492240" y="1508760"/>
            <a:ext cx="640080" cy="64008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6652260" y="1668780"/>
            <a:ext cx="320040" cy="320040"/>
          </a:xfrm>
          <a:prstGeom prst="rect">
            <a:avLst/>
          </a:prstGeom>
        </p:spPr>
      </p:pic>
      <p:sp>
        <p:nvSpPr>
          <p:cNvPr id="6" name="Text 3"/>
          <p:cNvSpPr txBox="1"/>
          <p:nvPr/>
        </p:nvSpPr>
        <p:spPr>
          <a:xfrm>
            <a:off x="7360920" y="1463040"/>
            <a:ext cx="4142232" cy="411480"/>
          </a:xfrm>
          <a:prstGeom prst="rect">
            <a:avLst/>
          </a:prstGeom>
          <a:noFill/>
          <a:ln/>
        </p:spPr>
        <p:txBody>
          <a:bodyPr wrap="square" lIns="0" tIns="0" rIns="0" bIns="0" rtlCol="0" anchor="t"/>
          <a:lstStyle/>
          <a:p>
            <a:pPr indent="0" marL="0">
              <a:buNone/>
            </a:pPr>
            <a:r>
              <a:rPr lang="en-US" sz="2200" b="1" dirty="0">
                <a:solidFill>
                  <a:schemeClr val="accent1"/>
                </a:solidFill>
              </a:rPr>
              <a:t>Menthol</a:t>
            </a:r>
            <a:endParaRPr lang="en-US" sz="2200" dirty="0"/>
          </a:p>
        </p:txBody>
      </p:sp>
      <p:sp>
        <p:nvSpPr>
          <p:cNvPr id="7" name="Text 4"/>
          <p:cNvSpPr txBox="1"/>
          <p:nvPr/>
        </p:nvSpPr>
        <p:spPr>
          <a:xfrm>
            <a:off x="7360920" y="1920240"/>
            <a:ext cx="4142232" cy="777240"/>
          </a:xfrm>
          <a:prstGeom prst="rect">
            <a:avLst/>
          </a:prstGeom>
          <a:noFill/>
          <a:ln/>
        </p:spPr>
        <p:txBody>
          <a:bodyPr wrap="square" lIns="0" tIns="0" rIns="0" bIns="0" rtlCol="0" anchor="t"/>
          <a:lstStyle/>
          <a:p>
            <a:pPr indent="0" marL="0">
              <a:buNone/>
            </a:pPr>
            <a:r>
              <a:rPr lang="en-US" sz="1700" dirty="0">
                <a:solidFill>
                  <a:schemeClr val="accent6"/>
                </a:solidFill>
              </a:rPr>
              <a:t>Cools the throat, so the first cigarette doesn’t hurt.</a:t>
            </a:r>
            <a:endParaRPr lang="en-US" sz="1700" dirty="0"/>
          </a:p>
        </p:txBody>
      </p:sp>
      <p:sp>
        <p:nvSpPr>
          <p:cNvPr id="8" name="Shape 5"/>
          <p:cNvSpPr/>
          <p:nvPr/>
        </p:nvSpPr>
        <p:spPr>
          <a:xfrm>
            <a:off x="6492240" y="2971800"/>
            <a:ext cx="640080" cy="640080"/>
          </a:xfrm>
          <a:prstGeom prst="ellipse">
            <a:avLst/>
          </a:prstGeom>
          <a:solidFill>
            <a:schemeClr val="accent2"/>
          </a:solidFill>
          <a:ln w="12700">
            <a:solidFill>
              <a:schemeClr val="accent2"/>
            </a:solidFill>
            <a:prstDash val="solid"/>
          </a:ln>
        </p:spPr>
      </p:sp>
      <p:pic>
        <p:nvPicPr>
          <p:cNvPr id="9" name="Image 1" descr="preencoded.png">    </p:cNvPr>
          <p:cNvPicPr>
            <a:picLocks noChangeAspect="1"/>
          </p:cNvPicPr>
          <p:nvPr/>
        </p:nvPicPr>
        <p:blipFill>
          <a:blip r:embed="rId2"/>
          <a:stretch>
            <a:fillRect/>
          </a:stretch>
        </p:blipFill>
        <p:spPr>
          <a:xfrm>
            <a:off x="6652260" y="3131820"/>
            <a:ext cx="320040" cy="320040"/>
          </a:xfrm>
          <a:prstGeom prst="rect">
            <a:avLst/>
          </a:prstGeom>
        </p:spPr>
      </p:pic>
      <p:sp>
        <p:nvSpPr>
          <p:cNvPr id="10" name="Text 6"/>
          <p:cNvSpPr txBox="1"/>
          <p:nvPr/>
        </p:nvSpPr>
        <p:spPr>
          <a:xfrm>
            <a:off x="7360920" y="2926080"/>
            <a:ext cx="4142232" cy="411480"/>
          </a:xfrm>
          <a:prstGeom prst="rect">
            <a:avLst/>
          </a:prstGeom>
          <a:noFill/>
          <a:ln/>
        </p:spPr>
        <p:txBody>
          <a:bodyPr wrap="square" lIns="0" tIns="0" rIns="0" bIns="0" rtlCol="0" anchor="t"/>
          <a:lstStyle/>
          <a:p>
            <a:pPr indent="0" marL="0">
              <a:buNone/>
            </a:pPr>
            <a:r>
              <a:rPr lang="en-US" sz="2200" b="1" dirty="0">
                <a:solidFill>
                  <a:schemeClr val="accent2"/>
                </a:solidFill>
              </a:rPr>
              <a:t>The click</a:t>
            </a:r>
            <a:endParaRPr lang="en-US" sz="2200" dirty="0"/>
          </a:p>
        </p:txBody>
      </p:sp>
      <p:sp>
        <p:nvSpPr>
          <p:cNvPr id="11" name="Text 7"/>
          <p:cNvSpPr txBox="1"/>
          <p:nvPr/>
        </p:nvSpPr>
        <p:spPr>
          <a:xfrm>
            <a:off x="7360920" y="3383280"/>
            <a:ext cx="4142232" cy="777240"/>
          </a:xfrm>
          <a:prstGeom prst="rect">
            <a:avLst/>
          </a:prstGeom>
          <a:noFill/>
          <a:ln/>
        </p:spPr>
        <p:txBody>
          <a:bodyPr wrap="square" lIns="0" tIns="0" rIns="0" bIns="0" rtlCol="0" anchor="t"/>
          <a:lstStyle/>
          <a:p>
            <a:pPr indent="0" marL="0">
              <a:buNone/>
            </a:pPr>
            <a:r>
              <a:rPr lang="en-US" sz="1700" dirty="0">
                <a:solidFill>
                  <a:schemeClr val="accent6"/>
                </a:solidFill>
              </a:rPr>
              <a:t>A capsule in the filter: click it and the flavour changes.</a:t>
            </a:r>
            <a:endParaRPr lang="en-US" sz="1700" dirty="0"/>
          </a:p>
        </p:txBody>
      </p:sp>
      <p:sp>
        <p:nvSpPr>
          <p:cNvPr id="12" name="Shape 8"/>
          <p:cNvSpPr/>
          <p:nvPr/>
        </p:nvSpPr>
        <p:spPr>
          <a:xfrm>
            <a:off x="6492240" y="4434840"/>
            <a:ext cx="640080" cy="640080"/>
          </a:xfrm>
          <a:prstGeom prst="ellipse">
            <a:avLst/>
          </a:prstGeom>
          <a:solidFill>
            <a:schemeClr val="accent1"/>
          </a:solidFill>
          <a:ln w="12700">
            <a:solidFill>
              <a:schemeClr val="accent1"/>
            </a:solidFill>
            <a:prstDash val="solid"/>
          </a:ln>
        </p:spPr>
      </p:sp>
      <p:pic>
        <p:nvPicPr>
          <p:cNvPr id="13" name="Image 2" descr="preencoded.png">    </p:cNvPr>
          <p:cNvPicPr>
            <a:picLocks noChangeAspect="1"/>
          </p:cNvPicPr>
          <p:nvPr/>
        </p:nvPicPr>
        <p:blipFill>
          <a:blip r:embed="rId3"/>
          <a:stretch>
            <a:fillRect/>
          </a:stretch>
        </p:blipFill>
        <p:spPr>
          <a:xfrm>
            <a:off x="6652260" y="4594860"/>
            <a:ext cx="320040" cy="320040"/>
          </a:xfrm>
          <a:prstGeom prst="rect">
            <a:avLst/>
          </a:prstGeom>
        </p:spPr>
      </p:pic>
      <p:sp>
        <p:nvSpPr>
          <p:cNvPr id="14" name="Text 9"/>
          <p:cNvSpPr txBox="1"/>
          <p:nvPr/>
        </p:nvSpPr>
        <p:spPr>
          <a:xfrm>
            <a:off x="7360920" y="4389120"/>
            <a:ext cx="4142232" cy="411480"/>
          </a:xfrm>
          <a:prstGeom prst="rect">
            <a:avLst/>
          </a:prstGeom>
          <a:noFill/>
          <a:ln/>
        </p:spPr>
        <p:txBody>
          <a:bodyPr wrap="square" lIns="0" tIns="0" rIns="0" bIns="0" rtlCol="0" anchor="t"/>
          <a:lstStyle/>
          <a:p>
            <a:pPr indent="0" marL="0">
              <a:buNone/>
            </a:pPr>
            <a:r>
              <a:rPr lang="en-US" sz="2200" b="1" dirty="0">
                <a:solidFill>
                  <a:schemeClr val="accent1"/>
                </a:solidFill>
              </a:rPr>
              <a:t>Local taste</a:t>
            </a:r>
            <a:endParaRPr lang="en-US" sz="2200" dirty="0"/>
          </a:p>
        </p:txBody>
      </p:sp>
      <p:sp>
        <p:nvSpPr>
          <p:cNvPr id="15" name="Text 10"/>
          <p:cNvSpPr txBox="1"/>
          <p:nvPr/>
        </p:nvSpPr>
        <p:spPr>
          <a:xfrm>
            <a:off x="7360920" y="4846320"/>
            <a:ext cx="4142232" cy="777240"/>
          </a:xfrm>
          <a:prstGeom prst="rect">
            <a:avLst/>
          </a:prstGeom>
          <a:noFill/>
          <a:ln/>
        </p:spPr>
        <p:txBody>
          <a:bodyPr wrap="square" lIns="0" tIns="0" rIns="0" bIns="0" rtlCol="0" anchor="t"/>
          <a:lstStyle/>
          <a:p>
            <a:pPr indent="0" marL="0">
              <a:buNone/>
            </a:pPr>
            <a:r>
              <a:rPr lang="en-US" sz="1700" dirty="0">
                <a:solidFill>
                  <a:schemeClr val="accent6"/>
                </a:solidFill>
              </a:rPr>
              <a:t>In Kyrgyzstan: nasvay. In the Middle East: apple shisha.</a:t>
            </a:r>
            <a:endParaRPr lang="en-US" sz="1700" dirty="0"/>
          </a:p>
        </p:txBody>
      </p:sp>
      <p:sp>
        <p:nvSpPr>
          <p:cNvPr id="16" name="Text 11"/>
          <p:cNvSpPr txBox="1"/>
          <p:nvPr/>
        </p:nvSpPr>
        <p:spPr>
          <a:xfrm>
            <a:off x="6492240" y="5715000"/>
            <a:ext cx="5010912" cy="365760"/>
          </a:xfrm>
          <a:prstGeom prst="rect">
            <a:avLst/>
          </a:prstGeom>
          <a:noFill/>
          <a:ln/>
        </p:spPr>
        <p:txBody>
          <a:bodyPr wrap="square" lIns="0" tIns="0" rIns="0" bIns="0" rtlCol="0" anchor="t"/>
          <a:lstStyle/>
          <a:p>
            <a:pPr indent="0" marL="0">
              <a:buNone/>
            </a:pPr>
            <a:r>
              <a:rPr lang="en-US" sz="1600" i="1" dirty="0">
                <a:solidFill>
                  <a:schemeClr val="accent3"/>
                </a:solidFill>
              </a:rPr>
              <a:t>Most countries now ban flavours. Guess why.</a:t>
            </a:r>
            <a:endParaRPr lang="en-US" sz="1600" dirty="0"/>
          </a:p>
        </p:txBody>
      </p:sp>
      <p:sp>
        <p:nvSpPr>
          <p:cNvPr id="18" name="Text 2"/>
          <p:cNvSpPr/>
          <p:nvPr>
            <p:ph type="pic" idx="104" hasCustomPrompt="1"/>
          </p:nvPr>
        </p:nvSpPr>
        <p:spPr>
          <a:xfrm>
            <a:off x="914400" y="1325880"/>
            <a:ext cx="5120640" cy="475488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Plot twist</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Then came the vape</a:t>
            </a:r>
            <a:endParaRPr lang="en-US" sz="2600" dirty="0"/>
          </a:p>
        </p:txBody>
      </p:sp>
      <p:graphicFrame>
        <p:nvGraphicFramePr>
          <p:cNvPr id="4" name="Chart 0" descr=""/>
          <p:cNvGraphicFramePr/>
          <p:nvPr/>
        </p:nvGraphicFramePr>
        <p:xfrm>
          <a:off x="822960" y="128016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914400" y="5852160"/>
            <a:ext cx="6675120" cy="256032"/>
          </a:xfrm>
          <a:prstGeom prst="rect">
            <a:avLst/>
          </a:prstGeom>
          <a:noFill/>
          <a:ln/>
        </p:spPr>
        <p:txBody>
          <a:bodyPr wrap="square" lIns="0" tIns="0" rIns="0" bIns="0" rtlCol="0" anchor="t"/>
          <a:lstStyle/>
          <a:p>
            <a:pPr indent="0" marL="0">
              <a:buNone/>
            </a:pPr>
            <a:r>
              <a:rPr lang="en-US" sz="1000" i="1" dirty="0">
                <a:solidFill>
                  <a:schemeClr val="accent3"/>
                </a:solidFill>
              </a:rPr>
              <a:t>CDC / FDA National Youth Tobacco Survey. The 2019 survey moved to tablets, which may raise estimates.</a:t>
            </a:r>
            <a:endParaRPr lang="en-US" sz="1000" dirty="0"/>
          </a:p>
        </p:txBody>
      </p:sp>
      <p:sp>
        <p:nvSpPr>
          <p:cNvPr id="6" name="Text 3"/>
          <p:cNvSpPr txBox="1"/>
          <p:nvPr/>
        </p:nvSpPr>
        <p:spPr>
          <a:xfrm>
            <a:off x="8092440" y="1554480"/>
            <a:ext cx="3410712" cy="914400"/>
          </a:xfrm>
          <a:prstGeom prst="rect">
            <a:avLst/>
          </a:prstGeom>
          <a:noFill/>
          <a:ln/>
        </p:spPr>
        <p:txBody>
          <a:bodyPr wrap="square" lIns="0" tIns="0" rIns="0" bIns="0" rtlCol="0" anchor="t"/>
          <a:lstStyle/>
          <a:p>
            <a:pPr indent="0" marL="0">
              <a:buNone/>
            </a:pPr>
            <a:r>
              <a:rPr lang="en-US" sz="2000" dirty="0">
                <a:solidFill>
                  <a:schemeClr val="accent6"/>
                </a:solidFill>
              </a:rPr>
              <a:t>Teenagers had almost stopped smoking.</a:t>
            </a:r>
            <a:endParaRPr lang="en-US" sz="2000" dirty="0"/>
          </a:p>
        </p:txBody>
      </p:sp>
      <p:sp>
        <p:nvSpPr>
          <p:cNvPr id="7" name="Text 4"/>
          <p:cNvSpPr txBox="1"/>
          <p:nvPr/>
        </p:nvSpPr>
        <p:spPr>
          <a:xfrm>
            <a:off x="8092440" y="2651760"/>
            <a:ext cx="3410712" cy="1371600"/>
          </a:xfrm>
          <a:prstGeom prst="rect">
            <a:avLst/>
          </a:prstGeom>
          <a:noFill/>
          <a:ln/>
        </p:spPr>
        <p:txBody>
          <a:bodyPr wrap="square" lIns="0" tIns="0" rIns="0" bIns="0" rtlCol="0" anchor="t"/>
          <a:lstStyle/>
          <a:p>
            <a:pPr indent="0" marL="0">
              <a:buNone/>
            </a:pPr>
            <a:r>
              <a:rPr lang="en-US" sz="2600" b="1" dirty="0">
                <a:solidFill>
                  <a:schemeClr val="accent2"/>
                </a:solidFill>
              </a:rPr>
              <a:t>Then, in a few years, 1 in 4 high-schoolers was vaping.</a:t>
            </a:r>
            <a:endParaRPr lang="en-US" sz="2600" dirty="0"/>
          </a:p>
        </p:txBody>
      </p:sp>
      <p:sp>
        <p:nvSpPr>
          <p:cNvPr id="8" name="Text 5"/>
          <p:cNvSpPr txBox="1"/>
          <p:nvPr/>
        </p:nvSpPr>
        <p:spPr>
          <a:xfrm>
            <a:off x="8092440" y="4206240"/>
            <a:ext cx="3410712" cy="1097280"/>
          </a:xfrm>
          <a:prstGeom prst="rect">
            <a:avLst/>
          </a:prstGeom>
          <a:noFill/>
          <a:ln/>
        </p:spPr>
        <p:txBody>
          <a:bodyPr wrap="square" lIns="0" tIns="0" rIns="0" bIns="0" rtlCol="0" anchor="t"/>
          <a:lstStyle/>
          <a:p>
            <a:pPr indent="0" marL="0">
              <a:buNone/>
            </a:pPr>
            <a:r>
              <a:rPr lang="en-US" sz="1800" dirty="0">
                <a:solidFill>
                  <a:schemeClr val="accent6"/>
                </a:solidFill>
              </a:rPr>
              <a:t>When regulators cracked down on sweet flavours, the curve went down again.</a:t>
            </a:r>
            <a:endParaRPr lang="en-US" sz="18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Plot twist</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Why vapes speak to kids</a:t>
            </a:r>
            <a:endParaRPr lang="en-US" sz="2600" dirty="0"/>
          </a:p>
        </p:txBody>
      </p:sp>
      <p:sp>
        <p:nvSpPr>
          <p:cNvPr id="4" name="Shape 2"/>
          <p:cNvSpPr/>
          <p:nvPr/>
        </p:nvSpPr>
        <p:spPr>
          <a:xfrm>
            <a:off x="914400" y="1417320"/>
            <a:ext cx="2441448" cy="3017520"/>
          </a:xfrm>
          <a:prstGeom prst="rect">
            <a:avLst/>
          </a:prstGeom>
          <a:solidFill>
            <a:schemeClr val="bg2"/>
          </a:solidFill>
          <a:ln w="12700">
            <a:solidFill>
              <a:schemeClr val="bg2"/>
            </a:solidFill>
            <a:prstDash val="solid"/>
          </a:ln>
        </p:spPr>
      </p:sp>
      <p:sp>
        <p:nvSpPr>
          <p:cNvPr id="5" name="Shape 3"/>
          <p:cNvSpPr/>
          <p:nvPr/>
        </p:nvSpPr>
        <p:spPr>
          <a:xfrm>
            <a:off x="1234440" y="1691640"/>
            <a:ext cx="731520" cy="73152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1417320" y="1874520"/>
            <a:ext cx="365760" cy="365760"/>
          </a:xfrm>
          <a:prstGeom prst="rect">
            <a:avLst/>
          </a:prstGeom>
        </p:spPr>
      </p:pic>
      <p:sp>
        <p:nvSpPr>
          <p:cNvPr id="7" name="Text 4"/>
          <p:cNvSpPr txBox="1"/>
          <p:nvPr/>
        </p:nvSpPr>
        <p:spPr>
          <a:xfrm>
            <a:off x="1234440" y="2651760"/>
            <a:ext cx="1801368" cy="457200"/>
          </a:xfrm>
          <a:prstGeom prst="rect">
            <a:avLst/>
          </a:prstGeom>
          <a:noFill/>
          <a:ln/>
        </p:spPr>
        <p:txBody>
          <a:bodyPr wrap="square" lIns="0" tIns="0" rIns="0" bIns="0" rtlCol="0" anchor="t"/>
          <a:lstStyle/>
          <a:p>
            <a:pPr indent="0" marL="0">
              <a:buNone/>
            </a:pPr>
            <a:r>
              <a:rPr lang="en-US" sz="2400" b="1" dirty="0">
                <a:solidFill>
                  <a:schemeClr val="accent2"/>
                </a:solidFill>
              </a:rPr>
              <a:t>Taste</a:t>
            </a:r>
            <a:endParaRPr lang="en-US" sz="2400" dirty="0"/>
          </a:p>
        </p:txBody>
      </p:sp>
      <p:sp>
        <p:nvSpPr>
          <p:cNvPr id="8" name="Text 5"/>
          <p:cNvSpPr txBox="1"/>
          <p:nvPr/>
        </p:nvSpPr>
        <p:spPr>
          <a:xfrm>
            <a:off x="1234440" y="3154680"/>
            <a:ext cx="1801368" cy="1097280"/>
          </a:xfrm>
          <a:prstGeom prst="rect">
            <a:avLst/>
          </a:prstGeom>
          <a:noFill/>
          <a:ln/>
        </p:spPr>
        <p:txBody>
          <a:bodyPr wrap="square" lIns="0" tIns="0" rIns="0" bIns="0" rtlCol="0" anchor="t"/>
          <a:lstStyle/>
          <a:p>
            <a:pPr indent="0" marL="0">
              <a:buNone/>
            </a:pPr>
            <a:r>
              <a:rPr lang="en-US" sz="1800" dirty="0">
                <a:solidFill>
                  <a:schemeClr val="accent6"/>
                </a:solidFill>
              </a:rPr>
              <a:t>Bubblegum, mango, cotton candy</a:t>
            </a:r>
            <a:endParaRPr lang="en-US" sz="1800" dirty="0"/>
          </a:p>
        </p:txBody>
      </p:sp>
      <p:sp>
        <p:nvSpPr>
          <p:cNvPr id="9" name="Shape 6"/>
          <p:cNvSpPr/>
          <p:nvPr/>
        </p:nvSpPr>
        <p:spPr>
          <a:xfrm>
            <a:off x="3630168" y="1417320"/>
            <a:ext cx="2441448" cy="3017520"/>
          </a:xfrm>
          <a:prstGeom prst="rect">
            <a:avLst/>
          </a:prstGeom>
          <a:solidFill>
            <a:schemeClr val="bg2"/>
          </a:solidFill>
          <a:ln w="12700">
            <a:solidFill>
              <a:schemeClr val="bg2"/>
            </a:solidFill>
            <a:prstDash val="solid"/>
          </a:ln>
        </p:spPr>
      </p:sp>
      <p:sp>
        <p:nvSpPr>
          <p:cNvPr id="10" name="Shape 7"/>
          <p:cNvSpPr/>
          <p:nvPr/>
        </p:nvSpPr>
        <p:spPr>
          <a:xfrm>
            <a:off x="3950208" y="1691640"/>
            <a:ext cx="731520" cy="731520"/>
          </a:xfrm>
          <a:prstGeom prst="ellipse">
            <a:avLst/>
          </a:prstGeom>
          <a:solidFill>
            <a:schemeClr val="accent1"/>
          </a:solidFill>
          <a:ln w="1270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4133088" y="1874520"/>
            <a:ext cx="365760" cy="365760"/>
          </a:xfrm>
          <a:prstGeom prst="rect">
            <a:avLst/>
          </a:prstGeom>
        </p:spPr>
      </p:pic>
      <p:sp>
        <p:nvSpPr>
          <p:cNvPr id="12" name="Text 8"/>
          <p:cNvSpPr txBox="1"/>
          <p:nvPr/>
        </p:nvSpPr>
        <p:spPr>
          <a:xfrm>
            <a:off x="3950208" y="2651760"/>
            <a:ext cx="1801368" cy="457200"/>
          </a:xfrm>
          <a:prstGeom prst="rect">
            <a:avLst/>
          </a:prstGeom>
          <a:noFill/>
          <a:ln/>
        </p:spPr>
        <p:txBody>
          <a:bodyPr wrap="square" lIns="0" tIns="0" rIns="0" bIns="0" rtlCol="0" anchor="t"/>
          <a:lstStyle/>
          <a:p>
            <a:pPr indent="0" marL="0">
              <a:buNone/>
            </a:pPr>
            <a:r>
              <a:rPr lang="en-US" sz="2400" b="1" dirty="0">
                <a:solidFill>
                  <a:schemeClr val="accent1"/>
                </a:solidFill>
              </a:rPr>
              <a:t>Look</a:t>
            </a:r>
            <a:endParaRPr lang="en-US" sz="2400" dirty="0"/>
          </a:p>
        </p:txBody>
      </p:sp>
      <p:sp>
        <p:nvSpPr>
          <p:cNvPr id="13" name="Text 9"/>
          <p:cNvSpPr txBox="1"/>
          <p:nvPr/>
        </p:nvSpPr>
        <p:spPr>
          <a:xfrm>
            <a:off x="3950208" y="3154680"/>
            <a:ext cx="1801368" cy="1097280"/>
          </a:xfrm>
          <a:prstGeom prst="rect">
            <a:avLst/>
          </a:prstGeom>
          <a:noFill/>
          <a:ln/>
        </p:spPr>
        <p:txBody>
          <a:bodyPr wrap="square" lIns="0" tIns="0" rIns="0" bIns="0" rtlCol="0" anchor="t"/>
          <a:lstStyle/>
          <a:p>
            <a:pPr indent="0" marL="0">
              <a:buNone/>
            </a:pPr>
            <a:r>
              <a:rPr lang="en-US" sz="1800" dirty="0">
                <a:solidFill>
                  <a:schemeClr val="accent6"/>
                </a:solidFill>
              </a:rPr>
              <a:t>Colourful, like a USB stick, easy to hide</a:t>
            </a:r>
            <a:endParaRPr lang="en-US" sz="1800" dirty="0"/>
          </a:p>
        </p:txBody>
      </p:sp>
      <p:sp>
        <p:nvSpPr>
          <p:cNvPr id="14" name="Shape 10"/>
          <p:cNvSpPr/>
          <p:nvPr/>
        </p:nvSpPr>
        <p:spPr>
          <a:xfrm>
            <a:off x="6345936" y="1417320"/>
            <a:ext cx="2441448" cy="3017520"/>
          </a:xfrm>
          <a:prstGeom prst="rect">
            <a:avLst/>
          </a:prstGeom>
          <a:solidFill>
            <a:schemeClr val="bg2"/>
          </a:solidFill>
          <a:ln w="12700">
            <a:solidFill>
              <a:schemeClr val="bg2"/>
            </a:solidFill>
            <a:prstDash val="solid"/>
          </a:ln>
        </p:spPr>
      </p:sp>
      <p:sp>
        <p:nvSpPr>
          <p:cNvPr id="15" name="Shape 11"/>
          <p:cNvSpPr/>
          <p:nvPr/>
        </p:nvSpPr>
        <p:spPr>
          <a:xfrm>
            <a:off x="6665976" y="1691640"/>
            <a:ext cx="731520" cy="73152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6848856" y="1874520"/>
            <a:ext cx="365760" cy="365760"/>
          </a:xfrm>
          <a:prstGeom prst="rect">
            <a:avLst/>
          </a:prstGeom>
        </p:spPr>
      </p:pic>
      <p:sp>
        <p:nvSpPr>
          <p:cNvPr id="17" name="Text 12"/>
          <p:cNvSpPr txBox="1"/>
          <p:nvPr/>
        </p:nvSpPr>
        <p:spPr>
          <a:xfrm>
            <a:off x="6665976" y="2651760"/>
            <a:ext cx="1801368" cy="457200"/>
          </a:xfrm>
          <a:prstGeom prst="rect">
            <a:avLst/>
          </a:prstGeom>
          <a:noFill/>
          <a:ln/>
        </p:spPr>
        <p:txBody>
          <a:bodyPr wrap="square" lIns="0" tIns="0" rIns="0" bIns="0" rtlCol="0" anchor="t"/>
          <a:lstStyle/>
          <a:p>
            <a:pPr indent="0" marL="0">
              <a:buNone/>
            </a:pPr>
            <a:r>
              <a:rPr lang="en-US" sz="2400" b="1" dirty="0">
                <a:solidFill>
                  <a:schemeClr val="accent1"/>
                </a:solidFill>
              </a:rPr>
              <a:t>Channel</a:t>
            </a:r>
            <a:endParaRPr lang="en-US" sz="2400" dirty="0"/>
          </a:p>
        </p:txBody>
      </p:sp>
      <p:sp>
        <p:nvSpPr>
          <p:cNvPr id="18" name="Text 13"/>
          <p:cNvSpPr txBox="1"/>
          <p:nvPr/>
        </p:nvSpPr>
        <p:spPr>
          <a:xfrm>
            <a:off x="6665976" y="3154680"/>
            <a:ext cx="1801368" cy="1097280"/>
          </a:xfrm>
          <a:prstGeom prst="rect">
            <a:avLst/>
          </a:prstGeom>
          <a:noFill/>
          <a:ln/>
        </p:spPr>
        <p:txBody>
          <a:bodyPr wrap="square" lIns="0" tIns="0" rIns="0" bIns="0" rtlCol="0" anchor="t"/>
          <a:lstStyle/>
          <a:p>
            <a:pPr indent="0" marL="0">
              <a:buNone/>
            </a:pPr>
            <a:r>
              <a:rPr lang="en-US" sz="1800" dirty="0">
                <a:solidFill>
                  <a:schemeClr val="accent6"/>
                </a:solidFill>
              </a:rPr>
              <a:t>Influencers and TikTok, not TV</a:t>
            </a:r>
            <a:endParaRPr lang="en-US" sz="1800" dirty="0"/>
          </a:p>
        </p:txBody>
      </p:sp>
      <p:sp>
        <p:nvSpPr>
          <p:cNvPr id="19" name="Shape 14"/>
          <p:cNvSpPr/>
          <p:nvPr/>
        </p:nvSpPr>
        <p:spPr>
          <a:xfrm>
            <a:off x="9061704" y="1417320"/>
            <a:ext cx="2441448" cy="3017520"/>
          </a:xfrm>
          <a:prstGeom prst="rect">
            <a:avLst/>
          </a:prstGeom>
          <a:solidFill>
            <a:schemeClr val="bg2"/>
          </a:solidFill>
          <a:ln w="12700">
            <a:solidFill>
              <a:schemeClr val="bg2"/>
            </a:solidFill>
            <a:prstDash val="solid"/>
          </a:ln>
        </p:spPr>
      </p:sp>
      <p:sp>
        <p:nvSpPr>
          <p:cNvPr id="20" name="Shape 15"/>
          <p:cNvSpPr/>
          <p:nvPr/>
        </p:nvSpPr>
        <p:spPr>
          <a:xfrm>
            <a:off x="9381744" y="1691640"/>
            <a:ext cx="731520" cy="731520"/>
          </a:xfrm>
          <a:prstGeom prst="ellipse">
            <a:avLst/>
          </a:prstGeom>
          <a:solidFill>
            <a:schemeClr val="accent1"/>
          </a:solidFill>
          <a:ln w="12700">
            <a:solidFill>
              <a:schemeClr val="accent1"/>
            </a:solidFill>
            <a:prstDash val="solid"/>
          </a:ln>
        </p:spPr>
      </p:sp>
      <p:pic>
        <p:nvPicPr>
          <p:cNvPr id="21" name="Image 3" descr="preencoded.png">    </p:cNvPr>
          <p:cNvPicPr>
            <a:picLocks noChangeAspect="1"/>
          </p:cNvPicPr>
          <p:nvPr/>
        </p:nvPicPr>
        <p:blipFill>
          <a:blip r:embed="rId4"/>
          <a:stretch>
            <a:fillRect/>
          </a:stretch>
        </p:blipFill>
        <p:spPr>
          <a:xfrm>
            <a:off x="9564624" y="1874520"/>
            <a:ext cx="365760" cy="365760"/>
          </a:xfrm>
          <a:prstGeom prst="rect">
            <a:avLst/>
          </a:prstGeom>
        </p:spPr>
      </p:pic>
      <p:sp>
        <p:nvSpPr>
          <p:cNvPr id="22" name="Text 16"/>
          <p:cNvSpPr txBox="1"/>
          <p:nvPr/>
        </p:nvSpPr>
        <p:spPr>
          <a:xfrm>
            <a:off x="9381744" y="2651760"/>
            <a:ext cx="1801368" cy="457200"/>
          </a:xfrm>
          <a:prstGeom prst="rect">
            <a:avLst/>
          </a:prstGeom>
          <a:noFill/>
          <a:ln/>
        </p:spPr>
        <p:txBody>
          <a:bodyPr wrap="square" lIns="0" tIns="0" rIns="0" bIns="0" rtlCol="0" anchor="t"/>
          <a:lstStyle/>
          <a:p>
            <a:pPr indent="0" marL="0">
              <a:buNone/>
            </a:pPr>
            <a:r>
              <a:rPr lang="en-US" sz="2400" b="1" dirty="0">
                <a:solidFill>
                  <a:schemeClr val="accent1"/>
                </a:solidFill>
              </a:rPr>
              <a:t>Price</a:t>
            </a:r>
            <a:endParaRPr lang="en-US" sz="2400" dirty="0"/>
          </a:p>
        </p:txBody>
      </p:sp>
      <p:sp>
        <p:nvSpPr>
          <p:cNvPr id="23" name="Text 17"/>
          <p:cNvSpPr txBox="1"/>
          <p:nvPr/>
        </p:nvSpPr>
        <p:spPr>
          <a:xfrm>
            <a:off x="9381744" y="3154680"/>
            <a:ext cx="1801368" cy="1097280"/>
          </a:xfrm>
          <a:prstGeom prst="rect">
            <a:avLst/>
          </a:prstGeom>
          <a:noFill/>
          <a:ln/>
        </p:spPr>
        <p:txBody>
          <a:bodyPr wrap="square" lIns="0" tIns="0" rIns="0" bIns="0" rtlCol="0" anchor="t"/>
          <a:lstStyle/>
          <a:p>
            <a:pPr indent="0" marL="0">
              <a:buNone/>
            </a:pPr>
            <a:r>
              <a:rPr lang="en-US" sz="1800" dirty="0">
                <a:solidFill>
                  <a:schemeClr val="accent6"/>
                </a:solidFill>
              </a:rPr>
              <a:t>Cheap disposables at every kiosk</a:t>
            </a:r>
            <a:endParaRPr lang="en-US" sz="1800" dirty="0"/>
          </a:p>
        </p:txBody>
      </p:sp>
      <p:sp>
        <p:nvSpPr>
          <p:cNvPr id="24" name="Text 18"/>
          <p:cNvSpPr txBox="1"/>
          <p:nvPr/>
        </p:nvSpPr>
        <p:spPr>
          <a:xfrm>
            <a:off x="914400" y="4754880"/>
            <a:ext cx="10588752" cy="1005840"/>
          </a:xfrm>
          <a:prstGeom prst="rect">
            <a:avLst/>
          </a:prstGeom>
          <a:solidFill>
            <a:schemeClr val="accent1"/>
          </a:solidFill>
          <a:ln/>
        </p:spPr>
        <p:txBody>
          <a:bodyPr wrap="square" lIns="228600" tIns="228600" rIns="228600" bIns="228600" rtlCol="0" anchor="ctr"/>
          <a:lstStyle/>
          <a:p>
            <a:pPr indent="0" marL="0">
              <a:buNone/>
            </a:pPr>
            <a:r>
              <a:rPr lang="en-US" sz="2600" b="1" dirty="0">
                <a:solidFill>
                  <a:schemeClr val="bg1"/>
                </a:solidFill>
              </a:rPr>
              <a:t>“A candy-flavoured trap.”</a:t>
            </a:r>
            <a:pPr indent="0" marL="0">
              <a:buNone/>
            </a:pPr>
            <a:r>
              <a:rPr lang="en-US" sz="1700" dirty="0">
                <a:solidFill>
                  <a:schemeClr val="accent4"/>
                </a:solidFill>
              </a:rPr>
              <a:t>   — the head of the World Health Organization on vapes</a:t>
            </a:r>
            <a:endParaRPr lang="en-US" sz="26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Look familiar?</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Same playbook, new channel</a:t>
            </a:r>
            <a:endParaRPr lang="en-US" sz="2600" dirty="0"/>
          </a:p>
        </p:txBody>
      </p:sp>
      <p:sp>
        <p:nvSpPr>
          <p:cNvPr id="4" name="Text 2"/>
          <p:cNvSpPr txBox="1"/>
          <p:nvPr/>
        </p:nvSpPr>
        <p:spPr>
          <a:xfrm>
            <a:off x="914400" y="5074920"/>
            <a:ext cx="5111496" cy="457200"/>
          </a:xfrm>
          <a:prstGeom prst="rect">
            <a:avLst/>
          </a:prstGeom>
          <a:noFill/>
          <a:ln/>
        </p:spPr>
        <p:txBody>
          <a:bodyPr wrap="square" lIns="0" tIns="0" rIns="0" bIns="0" rtlCol="0" anchor="t"/>
          <a:lstStyle/>
          <a:p>
            <a:pPr indent="0" marL="0">
              <a:buNone/>
            </a:pPr>
            <a:r>
              <a:rPr lang="en-US" sz="2400" b="1" dirty="0">
                <a:solidFill>
                  <a:schemeClr val="accent1"/>
                </a:solidFill>
              </a:rPr>
              <a:t>Then</a:t>
            </a:r>
            <a:endParaRPr lang="en-US" sz="2400" dirty="0"/>
          </a:p>
        </p:txBody>
      </p:sp>
      <p:sp>
        <p:nvSpPr>
          <p:cNvPr id="5" name="Text 3"/>
          <p:cNvSpPr txBox="1"/>
          <p:nvPr/>
        </p:nvSpPr>
        <p:spPr>
          <a:xfrm>
            <a:off x="914400" y="5577840"/>
            <a:ext cx="5111496" cy="411480"/>
          </a:xfrm>
          <a:prstGeom prst="rect">
            <a:avLst/>
          </a:prstGeom>
          <a:noFill/>
          <a:ln/>
        </p:spPr>
        <p:txBody>
          <a:bodyPr wrap="square" lIns="0" tIns="0" rIns="0" bIns="0" rtlCol="0" anchor="t"/>
          <a:lstStyle/>
          <a:p>
            <a:pPr indent="0" marL="0">
              <a:buNone/>
            </a:pPr>
            <a:r>
              <a:rPr lang="en-US" sz="1800" dirty="0">
                <a:solidFill>
                  <a:schemeClr val="accent6"/>
                </a:solidFill>
              </a:rPr>
              <a:t>A cartoon camel in a magazine</a:t>
            </a:r>
            <a:endParaRPr lang="en-US" sz="1800" dirty="0"/>
          </a:p>
        </p:txBody>
      </p:sp>
      <p:sp>
        <p:nvSpPr>
          <p:cNvPr id="6" name="Text 4"/>
          <p:cNvSpPr txBox="1"/>
          <p:nvPr/>
        </p:nvSpPr>
        <p:spPr>
          <a:xfrm>
            <a:off x="6391656" y="5074920"/>
            <a:ext cx="5111496" cy="457200"/>
          </a:xfrm>
          <a:prstGeom prst="rect">
            <a:avLst/>
          </a:prstGeom>
          <a:noFill/>
          <a:ln/>
        </p:spPr>
        <p:txBody>
          <a:bodyPr wrap="square" lIns="0" tIns="0" rIns="0" bIns="0" rtlCol="0" anchor="t"/>
          <a:lstStyle/>
          <a:p>
            <a:pPr indent="0" marL="0">
              <a:buNone/>
            </a:pPr>
            <a:r>
              <a:rPr lang="en-US" sz="2400" b="1" dirty="0">
                <a:solidFill>
                  <a:schemeClr val="accent2"/>
                </a:solidFill>
              </a:rPr>
              <a:t>Now</a:t>
            </a:r>
            <a:endParaRPr lang="en-US" sz="2400" dirty="0"/>
          </a:p>
        </p:txBody>
      </p:sp>
      <p:sp>
        <p:nvSpPr>
          <p:cNvPr id="7" name="Text 5"/>
          <p:cNvSpPr txBox="1"/>
          <p:nvPr/>
        </p:nvSpPr>
        <p:spPr>
          <a:xfrm>
            <a:off x="6391656" y="5577840"/>
            <a:ext cx="5111496" cy="411480"/>
          </a:xfrm>
          <a:prstGeom prst="rect">
            <a:avLst/>
          </a:prstGeom>
          <a:noFill/>
          <a:ln/>
        </p:spPr>
        <p:txBody>
          <a:bodyPr wrap="square" lIns="0" tIns="0" rIns="0" bIns="0" rtlCol="0" anchor="t"/>
          <a:lstStyle/>
          <a:p>
            <a:pPr indent="0" marL="0">
              <a:buNone/>
            </a:pPr>
            <a:r>
              <a:rPr lang="en-US" sz="1800" dirty="0">
                <a:solidFill>
                  <a:schemeClr val="accent6"/>
                </a:solidFill>
              </a:rPr>
              <a:t>A colourful vape on TikTok</a:t>
            </a:r>
            <a:endParaRPr lang="en-US" sz="1800" dirty="0"/>
          </a:p>
        </p:txBody>
      </p:sp>
      <p:sp>
        <p:nvSpPr>
          <p:cNvPr id="9" name="Text 2"/>
          <p:cNvSpPr/>
          <p:nvPr>
            <p:ph type="pic" idx="104" hasCustomPrompt="1"/>
          </p:nvPr>
        </p:nvSpPr>
        <p:spPr>
          <a:xfrm>
            <a:off x="914400" y="1325880"/>
            <a:ext cx="5111496" cy="3566160"/>
          </a:xfrm>
          <a:prstGeom prst="rect">
            <a:avLst/>
          </a:prstGeom>
          <a:noFill/>
          <a:ln/>
        </p:spPr>
        <p:txBody>
          <a:bodyPr wrap="square" rtlCol="0"/>
          <a:lstStyle/>
          <a:p>
            <a:pPr indent="0" marL="0">
              <a:buNone/>
            </a:pPr>
            <a:endParaRPr lang="en-US" sz="1200" dirty="0"/>
          </a:p>
        </p:txBody>
      </p:sp>
      <p:sp>
        <p:nvSpPr>
          <p:cNvPr id="10" name="Text 2"/>
          <p:cNvSpPr/>
          <p:nvPr>
            <p:ph type="pic" idx="105" hasCustomPrompt="1"/>
          </p:nvPr>
        </p:nvSpPr>
        <p:spPr>
          <a:xfrm>
            <a:off x="6391656" y="1325880"/>
            <a:ext cx="5111496" cy="356616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914400" y="1143000"/>
            <a:ext cx="10588752" cy="365760"/>
          </a:xfrm>
          <a:prstGeom prst="rect">
            <a:avLst/>
          </a:prstGeom>
          <a:noFill/>
          <a:ln/>
        </p:spPr>
        <p:txBody>
          <a:bodyPr wrap="square" lIns="0" tIns="0" rIns="0" bIns="0" rtlCol="0" anchor="t"/>
          <a:lstStyle/>
          <a:p>
            <a:pPr indent="0" marL="0">
              <a:buNone/>
            </a:pPr>
            <a:r>
              <a:rPr lang="en-US" sz="1600" b="1" spc="100" kern="0" dirty="0">
                <a:solidFill>
                  <a:srgbClr val="F2B8B8"/>
                </a:solidFill>
              </a:rPr>
              <a:t>So what did we learn?</a:t>
            </a:r>
            <a:endParaRPr lang="en-US" sz="1600" dirty="0"/>
          </a:p>
        </p:txBody>
      </p:sp>
      <p:sp>
        <p:nvSpPr>
          <p:cNvPr id="3" name="Text 1"/>
          <p:cNvSpPr txBox="1"/>
          <p:nvPr/>
        </p:nvSpPr>
        <p:spPr>
          <a:xfrm>
            <a:off x="914400" y="1600200"/>
            <a:ext cx="10588752" cy="822960"/>
          </a:xfrm>
          <a:prstGeom prst="rect">
            <a:avLst/>
          </a:prstGeom>
          <a:noFill/>
          <a:ln/>
        </p:spPr>
        <p:txBody>
          <a:bodyPr wrap="square" lIns="0" tIns="0" rIns="0" bIns="0" rtlCol="0" anchor="t"/>
          <a:lstStyle/>
          <a:p>
            <a:pPr indent="0" marL="0">
              <a:buNone/>
            </a:pPr>
            <a:r>
              <a:rPr lang="en-US" sz="4000" b="1" dirty="0">
                <a:solidFill>
                  <a:schemeClr val="bg1"/>
                </a:solidFill>
              </a:rPr>
              <a:t>Tobacco marketing didn’t die. It moved.</a:t>
            </a:r>
            <a:endParaRPr lang="en-US" sz="4000" dirty="0"/>
          </a:p>
        </p:txBody>
      </p:sp>
      <p:sp>
        <p:nvSpPr>
          <p:cNvPr id="4" name="Text 2"/>
          <p:cNvSpPr txBox="1"/>
          <p:nvPr/>
        </p:nvSpPr>
        <p:spPr>
          <a:xfrm>
            <a:off x="914400" y="2743200"/>
            <a:ext cx="2148840" cy="685800"/>
          </a:xfrm>
          <a:prstGeom prst="rect">
            <a:avLst/>
          </a:prstGeom>
          <a:solidFill>
            <a:srgbClr val="1B3A5C"/>
          </a:solidFill>
          <a:ln>
            <a:solidFill>
              <a:srgbClr val="1B3A5C"/>
            </a:solidFill>
          </a:ln>
        </p:spPr>
        <p:txBody>
          <a:bodyPr wrap="square" lIns="0" tIns="0" rIns="0" bIns="0" rtlCol="0" anchor="ctr"/>
          <a:lstStyle/>
          <a:p>
            <a:pPr algn="ctr" indent="0" marL="0">
              <a:buNone/>
            </a:pPr>
            <a:r>
              <a:rPr lang="en-US" sz="2000" b="1" dirty="0">
                <a:solidFill>
                  <a:schemeClr val="bg1"/>
                </a:solidFill>
              </a:rPr>
              <a:t>The ad</a:t>
            </a:r>
            <a:endParaRPr lang="en-US" sz="2000" dirty="0"/>
          </a:p>
        </p:txBody>
      </p:sp>
      <p:sp>
        <p:nvSpPr>
          <p:cNvPr id="5" name="Shape 3"/>
          <p:cNvSpPr/>
          <p:nvPr/>
        </p:nvSpPr>
        <p:spPr>
          <a:xfrm>
            <a:off x="3136392" y="3086100"/>
            <a:ext cx="518160" cy="0"/>
          </a:xfrm>
          <a:prstGeom prst="line">
            <a:avLst/>
          </a:prstGeom>
          <a:noFill/>
          <a:ln w="25400">
            <a:solidFill>
              <a:schemeClr val="accent4"/>
            </a:solidFill>
            <a:prstDash val="solid"/>
            <a:tailEnd type="triangle"/>
          </a:ln>
        </p:spPr>
      </p:sp>
      <p:sp>
        <p:nvSpPr>
          <p:cNvPr id="6" name="Text 4"/>
          <p:cNvSpPr txBox="1"/>
          <p:nvPr/>
        </p:nvSpPr>
        <p:spPr>
          <a:xfrm>
            <a:off x="3727704" y="2743200"/>
            <a:ext cx="2148840" cy="685800"/>
          </a:xfrm>
          <a:prstGeom prst="rect">
            <a:avLst/>
          </a:prstGeom>
          <a:solidFill>
            <a:srgbClr val="1B3A5C"/>
          </a:solidFill>
          <a:ln>
            <a:solidFill>
              <a:srgbClr val="1B3A5C"/>
            </a:solidFill>
          </a:ln>
        </p:spPr>
        <p:txBody>
          <a:bodyPr wrap="square" lIns="0" tIns="0" rIns="0" bIns="0" rtlCol="0" anchor="ctr"/>
          <a:lstStyle/>
          <a:p>
            <a:pPr algn="ctr" indent="0" marL="0">
              <a:buNone/>
            </a:pPr>
            <a:r>
              <a:rPr lang="en-US" sz="2000" b="1" dirty="0">
                <a:solidFill>
                  <a:schemeClr val="bg1"/>
                </a:solidFill>
              </a:rPr>
              <a:t>The pack</a:t>
            </a:r>
            <a:endParaRPr lang="en-US" sz="2000" dirty="0"/>
          </a:p>
        </p:txBody>
      </p:sp>
      <p:sp>
        <p:nvSpPr>
          <p:cNvPr id="7" name="Shape 5"/>
          <p:cNvSpPr/>
          <p:nvPr/>
        </p:nvSpPr>
        <p:spPr>
          <a:xfrm>
            <a:off x="5949696" y="3086100"/>
            <a:ext cx="518160" cy="0"/>
          </a:xfrm>
          <a:prstGeom prst="line">
            <a:avLst/>
          </a:prstGeom>
          <a:noFill/>
          <a:ln w="25400">
            <a:solidFill>
              <a:schemeClr val="accent4"/>
            </a:solidFill>
            <a:prstDash val="solid"/>
            <a:tailEnd type="triangle"/>
          </a:ln>
        </p:spPr>
      </p:sp>
      <p:sp>
        <p:nvSpPr>
          <p:cNvPr id="8" name="Text 6"/>
          <p:cNvSpPr txBox="1"/>
          <p:nvPr/>
        </p:nvSpPr>
        <p:spPr>
          <a:xfrm>
            <a:off x="6541008" y="2743200"/>
            <a:ext cx="2148840" cy="685800"/>
          </a:xfrm>
          <a:prstGeom prst="rect">
            <a:avLst/>
          </a:prstGeom>
          <a:solidFill>
            <a:srgbClr val="1B3A5C"/>
          </a:solidFill>
          <a:ln>
            <a:solidFill>
              <a:srgbClr val="1B3A5C"/>
            </a:solidFill>
          </a:ln>
        </p:spPr>
        <p:txBody>
          <a:bodyPr wrap="square" lIns="0" tIns="0" rIns="0" bIns="0" rtlCol="0" anchor="ctr"/>
          <a:lstStyle/>
          <a:p>
            <a:pPr algn="ctr" indent="0" marL="0">
              <a:buNone/>
            </a:pPr>
            <a:r>
              <a:rPr lang="en-US" sz="2000" b="1" dirty="0">
                <a:solidFill>
                  <a:schemeClr val="bg1"/>
                </a:solidFill>
              </a:rPr>
              <a:t>The flavour</a:t>
            </a:r>
            <a:endParaRPr lang="en-US" sz="2000" dirty="0"/>
          </a:p>
        </p:txBody>
      </p:sp>
      <p:sp>
        <p:nvSpPr>
          <p:cNvPr id="9" name="Shape 7"/>
          <p:cNvSpPr/>
          <p:nvPr/>
        </p:nvSpPr>
        <p:spPr>
          <a:xfrm>
            <a:off x="8763000" y="3086100"/>
            <a:ext cx="518160" cy="0"/>
          </a:xfrm>
          <a:prstGeom prst="line">
            <a:avLst/>
          </a:prstGeom>
          <a:noFill/>
          <a:ln w="25400">
            <a:solidFill>
              <a:schemeClr val="accent4"/>
            </a:solidFill>
            <a:prstDash val="solid"/>
            <a:tailEnd type="triangle"/>
          </a:ln>
        </p:spPr>
      </p:sp>
      <p:sp>
        <p:nvSpPr>
          <p:cNvPr id="10" name="Text 8"/>
          <p:cNvSpPr txBox="1"/>
          <p:nvPr/>
        </p:nvSpPr>
        <p:spPr>
          <a:xfrm>
            <a:off x="9354312" y="2743200"/>
            <a:ext cx="2148840" cy="685800"/>
          </a:xfrm>
          <a:prstGeom prst="rect">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The phone</a:t>
            </a:r>
            <a:endParaRPr lang="en-US" sz="2000" dirty="0"/>
          </a:p>
        </p:txBody>
      </p:sp>
      <p:sp>
        <p:nvSpPr>
          <p:cNvPr id="11" name="Text 9"/>
          <p:cNvSpPr txBox="1"/>
          <p:nvPr/>
        </p:nvSpPr>
        <p:spPr>
          <a:xfrm>
            <a:off x="914400" y="4069080"/>
            <a:ext cx="10588752" cy="365760"/>
          </a:xfrm>
          <a:prstGeom prst="rect">
            <a:avLst/>
          </a:prstGeom>
          <a:noFill/>
          <a:ln/>
        </p:spPr>
        <p:txBody>
          <a:bodyPr wrap="square" lIns="0" tIns="0" rIns="0" bIns="0" rtlCol="0" anchor="t"/>
          <a:lstStyle/>
          <a:p>
            <a:pPr indent="0" marL="0">
              <a:buNone/>
            </a:pPr>
            <a:r>
              <a:rPr lang="en-US" sz="1600" b="1" dirty="0">
                <a:solidFill>
                  <a:schemeClr val="accent4"/>
                </a:solidFill>
              </a:rPr>
              <a:t>Question for you</a:t>
            </a:r>
            <a:endParaRPr lang="en-US" sz="1600" dirty="0"/>
          </a:p>
        </p:txBody>
      </p:sp>
      <p:sp>
        <p:nvSpPr>
          <p:cNvPr id="12" name="Text 10"/>
          <p:cNvSpPr txBox="1"/>
          <p:nvPr/>
        </p:nvSpPr>
        <p:spPr>
          <a:xfrm>
            <a:off x="914400" y="4480560"/>
            <a:ext cx="9875520" cy="1188720"/>
          </a:xfrm>
          <a:prstGeom prst="rect">
            <a:avLst/>
          </a:prstGeom>
          <a:noFill/>
          <a:ln/>
        </p:spPr>
        <p:txBody>
          <a:bodyPr wrap="square" lIns="0" tIns="0" rIns="0" bIns="0" rtlCol="0" anchor="t"/>
          <a:lstStyle/>
          <a:p>
            <a:pPr indent="0" marL="0">
              <a:buNone/>
            </a:pPr>
            <a:r>
              <a:rPr lang="en-US" sz="3000" b="1" dirty="0">
                <a:solidFill>
                  <a:schemeClr val="bg1"/>
                </a:solidFill>
              </a:rPr>
              <a:t>Where is the line between marketing a legal product and marketing to children?</a:t>
            </a:r>
            <a:endParaRPr lang="en-US" sz="3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Sources</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Bibliography</a:t>
            </a:r>
            <a:endParaRPr lang="en-US" sz="2600" dirty="0"/>
          </a:p>
        </p:txBody>
      </p:sp>
      <p:sp>
        <p:nvSpPr>
          <p:cNvPr id="4" name="Text 2"/>
          <p:cNvSpPr txBox="1"/>
          <p:nvPr/>
        </p:nvSpPr>
        <p:spPr>
          <a:xfrm>
            <a:off x="914400" y="1325880"/>
            <a:ext cx="10588752" cy="484632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Campaign for Tobacco-Free Kids (2025). Tobacco Control Laws: Kyrgyzstan, packaging and labeling.</a:t>
            </a:r>
            <a:endParaRPr lang="en-US" sz="1400" dirty="0"/>
          </a:p>
          <a:p>
            <a:pPr indent="0" marL="0">
              <a:spcAft>
                <a:spcPts val="1000"/>
              </a:spcAft>
              <a:buNone/>
            </a:pPr>
            <a:r>
              <a:rPr lang="en-US" sz="1400" dirty="0">
                <a:solidFill>
                  <a:schemeClr val="tx1"/>
                </a:solidFill>
              </a:rPr>
              <a:t>Canadian Cancer Society (2025). Cigarette Package Health Warnings: International Status Report, 9th ed.</a:t>
            </a:r>
            <a:endParaRPr lang="en-US" sz="1400" dirty="0"/>
          </a:p>
          <a:p>
            <a:pPr indent="0" marL="0">
              <a:spcAft>
                <a:spcPts val="1000"/>
              </a:spcAft>
              <a:buNone/>
            </a:pPr>
            <a:r>
              <a:rPr lang="en-US" sz="1400" dirty="0">
                <a:solidFill>
                  <a:schemeClr val="tx1"/>
                </a:solidFill>
              </a:rPr>
              <a:t>CDC (2015, 2019, 2024). Tobacco product use among middle and high school students. MMWR.</a:t>
            </a:r>
            <a:endParaRPr lang="en-US" sz="1400" dirty="0"/>
          </a:p>
          <a:p>
            <a:pPr indent="0" marL="0">
              <a:spcAft>
                <a:spcPts val="1000"/>
              </a:spcAft>
              <a:buNone/>
            </a:pPr>
            <a:r>
              <a:rPr lang="en-US" sz="1400" dirty="0">
                <a:solidFill>
                  <a:schemeClr val="tx1"/>
                </a:solidFill>
              </a:rPr>
              <a:t>Fischer, P. M. et al. (1991). Brand logo recognition by children aged 3 to 6 years: Mickey Mouse and Old Joe the Camel. JAMA 266(22).</a:t>
            </a:r>
            <a:endParaRPr lang="en-US" sz="1400" dirty="0"/>
          </a:p>
          <a:p>
            <a:pPr indent="0" marL="0">
              <a:spcAft>
                <a:spcPts val="1000"/>
              </a:spcAft>
              <a:buNone/>
            </a:pPr>
            <a:r>
              <a:rPr lang="en-US" sz="1400" dirty="0">
                <a:solidFill>
                  <a:schemeClr val="tx1"/>
                </a:solidFill>
              </a:rPr>
              <a:t>Keegan, W. J., &amp; Green, M. C. (2020). Global Marketing, 10th ed. Pearson.</a:t>
            </a:r>
            <a:endParaRPr lang="en-US" sz="1400" dirty="0"/>
          </a:p>
          <a:p>
            <a:pPr indent="0" marL="0">
              <a:spcAft>
                <a:spcPts val="1000"/>
              </a:spcAft>
              <a:buNone/>
            </a:pPr>
            <a:r>
              <a:rPr lang="en-US" sz="1400" dirty="0">
                <a:solidFill>
                  <a:schemeClr val="tx1"/>
                </a:solidFill>
              </a:rPr>
              <a:t>New York Attorney General (2023). JUUL settlement with six states and DC.</a:t>
            </a:r>
            <a:endParaRPr lang="en-US" sz="1400" dirty="0"/>
          </a:p>
          <a:p>
            <a:pPr indent="0" marL="0">
              <a:spcAft>
                <a:spcPts val="1000"/>
              </a:spcAft>
              <a:buNone/>
            </a:pPr>
            <a:r>
              <a:rPr lang="en-US" sz="1400" dirty="0">
                <a:solidFill>
                  <a:schemeClr val="tx1"/>
                </a:solidFill>
              </a:rPr>
              <a:t>WHO (2024). Hooking the next generation: how the tobacco industry captures young customers.</a:t>
            </a:r>
            <a:endParaRPr lang="en-US" sz="1400" dirty="0"/>
          </a:p>
          <a:p>
            <a:pPr indent="0" marL="0">
              <a:spcAft>
                <a:spcPts val="1000"/>
              </a:spcAft>
              <a:buNone/>
            </a:pPr>
            <a:r>
              <a:rPr lang="en-US" sz="1400" dirty="0">
                <a:solidFill>
                  <a:schemeClr val="tx1"/>
                </a:solidFill>
              </a:rPr>
              <a:t>WHO Framework Convention on Tobacco Control (2003), Article 13: advertising, promotion and sponsorship.</a:t>
            </a:r>
            <a:endParaRPr lang="en-US" sz="1400" dirty="0"/>
          </a:p>
          <a:p>
            <a:pPr indent="0" marL="0">
              <a:spcAft>
                <a:spcPts val="1000"/>
              </a:spcAft>
              <a:buNone/>
            </a:pPr>
            <a:r>
              <a:rPr lang="en-US" sz="1400" dirty="0">
                <a:solidFill>
                  <a:schemeClr val="tx1"/>
                </a:solidFill>
              </a:rPr>
              <a:t>Wikipedia. Marlboro Man; Joe Camel (history of the campaigns).</a:t>
            </a:r>
            <a:endParaRPr lang="en-US" sz="14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Corvinus Seminar">
  <a:themeElements>
    <a:clrScheme name="Corvinus Seminar">
      <a:dk1>
        <a:srgbClr val="1A1A1A"/>
      </a:dk1>
      <a:lt1>
        <a:srgbClr val="FFFFFF"/>
      </a:lt1>
      <a:dk2>
        <a:srgbClr val="0E2841"/>
      </a:dk2>
      <a:lt2>
        <a:srgbClr val="F3F4F6"/>
      </a:lt2>
      <a:accent1>
        <a:srgbClr val="0E2841"/>
      </a:accent1>
      <a:accent2>
        <a:srgbClr val="C00000"/>
      </a:accent2>
      <a:accent3>
        <a:srgbClr val="7F7F7F"/>
      </a:accent3>
      <a:accent4>
        <a:srgbClr val="D1D1D1"/>
      </a:accent4>
      <a:accent5>
        <a:srgbClr val="0080CC"/>
      </a:accent5>
      <a:accent6>
        <a:srgbClr val="404040"/>
      </a:accent6>
      <a:hlink>
        <a:srgbClr val="0080CC"/>
      </a:hlink>
      <a:folHlink>
        <a:srgbClr val="7F7F7F"/>
      </a:folHlink>
    </a:clrScheme>
    <a:fontScheme name="Corvinus Seminar">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Tobacco Marketing on International Markets</dc:title>
  <dc:subject>PptxGenJS Presentation</dc:subject>
  <dc:creator>Amir Kenenbaev</dc:creator>
  <cp:lastModifiedBy>Amir Kenenbaev</cp:lastModifiedBy>
  <cp:revision>1</cp:revision>
  <dcterms:created xsi:type="dcterms:W3CDTF">2026-10-14T21:18:43Z</dcterms:created>
  <dcterms:modified xsi:type="dcterms:W3CDTF">2026-10-14T21:18:43Z</dcterms:modified>
</cp:coreProperties>
</file>