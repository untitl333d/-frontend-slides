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Stolen funds</c:v>
                </c:pt>
              </c:strCache>
            </c:strRef>
          </c:tx>
          <c:spPr>
            <a:solidFill>
              <a:srgbClr val="0E2841"/>
            </a:solidFill>
            <a:effectLst/>
          </c:spPr>
          <c:invertIfNegative val="0"/>
          <c:dLbls>
            <c:numFmt formatCode="\$0.0&quot; bn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3.7</c:v>
                </c:pt>
                <c:pt idx="1">
                  <c:v>1.8</c:v>
                </c:pt>
                <c:pt idx="2">
                  <c:v>2.2</c:v>
                </c:pt>
                <c:pt idx="3">
                  <c:v>3.4</c:v>
                </c:pt>
              </c:numCache>
            </c:numRef>
          </c:val>
        </c:ser>
        <c:dLbls>
          <c:numFmt formatCode="\$0.0&quot; bn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1D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8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841"/>
                </a:solidFill>
                <a:latin typeface="+mn-lt"/>
              </a:rPr>
              <a:t>EURC share of the euro stablecoin market,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EURC share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7F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284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Start</c:v>
                  </c:pt>
                  <c:pt idx="1">
                    <c:v>One year later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41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1D1D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8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2841"/>
                </a:solidFill>
                <a:latin typeface="+mn-lt"/>
              </a:rPr>
              <a:t>Authorised CASPs by home country, 30 Sep 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CASPs</c:v>
                </c:pt>
              </c:strCache>
            </c:strRef>
          </c:tx>
          <c:spPr>
            <a:solidFill>
              <a:srgbClr val="0E28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Germany</c:v>
                  </c:pt>
                  <c:pt idx="1">
                    <c:v>France</c:v>
                  </c:pt>
                  <c:pt idx="2">
                    <c:v>Netherlands</c:v>
                  </c:pt>
                  <c:pt idx="3">
                    <c:v>Cyprus</c:v>
                  </c:pt>
                  <c:pt idx="4">
                    <c:v>Malta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95</c:v>
                </c:pt>
                <c:pt idx="1">
                  <c:v>36</c:v>
                </c:pt>
                <c:pt idx="2">
                  <c:v>28</c:v>
                </c:pt>
                <c:pt idx="3">
                  <c:v>24</c:v>
                </c:pt>
                <c:pt idx="4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1D1D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0404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7F7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Stablecoins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1D1D1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0000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USD and other</c:v>
                </c:pt>
                <c:pt idx="1">
                  <c:v>EUR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99.7</c:v>
                </c:pt>
                <c:pt idx="1">
                  <c:v>0.3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1 (slides 1-7, ~10 min). Photo circles: right-click a circle &gt; Format Shape &gt; Fill &gt; Picture fill to insert a portrait.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$2.2 bn (2024) and $9.3 bn (2024) measure different things: hacks of crypto services worldwide vs. fraud losses reported by US victims to the FBI. Illicit volume is &lt;1% of all crypto activity (Chainalysis).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Hungary ended its transition a year early (30 June 2025); EU-wide the transition ended on 1 July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0"/>
            <a:ext cx="274320" cy="9875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9144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Can Europe Regulate Crypto Without Killing Innovation?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ICTUR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0"/>
            <a:ext cx="274320" cy="9875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5" name="Text 1"/>
          <p:cNvSpPr/>
          <p:nvPr/>
        </p:nvSpPr>
        <p:spPr>
          <a:xfrm>
            <a:off x="91440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Can Europe Regulate Crypto Without Killing Innovation?</a:t>
            </a:r>
            <a:endParaRPr lang="en-US" sz="1000" dirty="0"/>
          </a:p>
        </p:txBody>
      </p:sp>
      <p:sp>
        <p:nvSpPr>
          <p:cNvPr id="6" name="Text 2"/>
          <p:cNvSpPr/>
          <p:nvPr>
            <p:ph idx="104" hasCustomPrompt="1"/>
          </p:nvPr>
        </p:nvSpPr>
        <p:spPr>
          <a:xfrm>
            <a:off x="8549640" y="1417320"/>
            <a:ext cx="2953512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Insert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515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4"/>
                </a:solidFill>
              </a:rPr>
              <a:t>Doing Business in Europe  ·  Seminar presentation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Europe Regulate Crypto Without Killing Innovation?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MiCA two years 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064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Corvinus University of Budapest  ·  Fall 2026</a:t>
            </a:r>
            <a:endParaRPr lang="en-US" sz="1400" dirty="0"/>
          </a:p>
        </p:txBody>
      </p:sp>
      <p:sp>
        <p:nvSpPr>
          <p:cNvPr id="6" name="Photo Amir Kenenbaev"/>
          <p:cNvSpPr/>
          <p:nvPr/>
        </p:nvSpPr>
        <p:spPr>
          <a:xfrm>
            <a:off x="8001000" y="1828800"/>
            <a:ext cx="1828800" cy="1828800"/>
          </a:xfrm>
          <a:prstGeom prst="ellipse">
            <a:avLst/>
          </a:prstGeom>
          <a:solidFill>
            <a:srgbClr val="1B3A5C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Amir Kenenbaev</a:t>
            </a:r>
            <a:endParaRPr lang="en-US" sz="1500" dirty="0"/>
          </a:p>
        </p:txBody>
      </p:sp>
      <p:sp>
        <p:nvSpPr>
          <p:cNvPr id="8" name="Photo Aruuke Dzhumabaeva"/>
          <p:cNvSpPr/>
          <p:nvPr/>
        </p:nvSpPr>
        <p:spPr>
          <a:xfrm>
            <a:off x="10104120" y="1828800"/>
            <a:ext cx="1828800" cy="1828800"/>
          </a:xfrm>
          <a:prstGeom prst="ellipse">
            <a:avLst/>
          </a:prstGeom>
          <a:solidFill>
            <a:srgbClr val="1B3A5C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298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Aruuke Dzhumabaeva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Structure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Agenda</a:t>
            </a:r>
            <a:endParaRPr lang="en-US" sz="2600" dirty="0"/>
          </a:p>
        </p:txBody>
      </p:sp>
      <p:sp>
        <p:nvSpPr>
          <p:cNvPr id="4" name="Agenda card 1"/>
          <p:cNvSpPr/>
          <p:nvPr/>
        </p:nvSpPr>
        <p:spPr>
          <a:xfrm>
            <a:off x="914400" y="1463040"/>
            <a:ext cx="3346704" cy="2057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33172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Why regulate crypto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9260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Risks for users and why rules are needed</a:t>
            </a:r>
            <a:endParaRPr lang="en-US" sz="1400" dirty="0"/>
          </a:p>
        </p:txBody>
      </p:sp>
      <p:sp>
        <p:nvSpPr>
          <p:cNvPr id="8" name="Agenda card 2"/>
          <p:cNvSpPr/>
          <p:nvPr/>
        </p:nvSpPr>
        <p:spPr>
          <a:xfrm>
            <a:off x="4535424" y="1463040"/>
            <a:ext cx="3346704" cy="2057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55464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02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855464" y="233172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How MiCA works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855464" y="29260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Token types, licences and the timeline</a:t>
            </a:r>
            <a:endParaRPr lang="en-US" sz="1400" dirty="0"/>
          </a:p>
        </p:txBody>
      </p:sp>
      <p:sp>
        <p:nvSpPr>
          <p:cNvPr id="12" name="Agenda card 3"/>
          <p:cNvSpPr/>
          <p:nvPr/>
        </p:nvSpPr>
        <p:spPr>
          <a:xfrm>
            <a:off x="8156448" y="1463040"/>
            <a:ext cx="3346704" cy="2057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76488" y="16916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476488" y="233172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The case for and against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76488" y="292608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What MiCA improved and what it cost</a:t>
            </a:r>
            <a:endParaRPr lang="en-US" sz="1400" dirty="0"/>
          </a:p>
        </p:txBody>
      </p:sp>
      <p:sp>
        <p:nvSpPr>
          <p:cNvPr id="16" name="Agenda card 4"/>
          <p:cNvSpPr/>
          <p:nvPr/>
        </p:nvSpPr>
        <p:spPr>
          <a:xfrm>
            <a:off x="914400" y="3794760"/>
            <a:ext cx="3346704" cy="2057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4023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66344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EU vs US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25780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Two different ways to regulate stablecoins</a:t>
            </a:r>
            <a:endParaRPr lang="en-US" sz="1400" dirty="0"/>
          </a:p>
        </p:txBody>
      </p:sp>
      <p:sp>
        <p:nvSpPr>
          <p:cNvPr id="20" name="Agenda card 5"/>
          <p:cNvSpPr/>
          <p:nvPr/>
        </p:nvSpPr>
        <p:spPr>
          <a:xfrm>
            <a:off x="4535424" y="3794760"/>
            <a:ext cx="3346704" cy="2057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5464" y="4023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4855464" y="466344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How the EU is adjusting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855464" y="525780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review known as “MiCA 2”</a:t>
            </a:r>
            <a:endParaRPr lang="en-US" sz="1400" dirty="0"/>
          </a:p>
        </p:txBody>
      </p:sp>
      <p:sp>
        <p:nvSpPr>
          <p:cNvPr id="24" name="Agenda card 6"/>
          <p:cNvSpPr/>
          <p:nvPr/>
        </p:nvSpPr>
        <p:spPr>
          <a:xfrm>
            <a:off x="8156448" y="3794760"/>
            <a:ext cx="3346704" cy="2057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76488" y="40233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06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8476488" y="466344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Verdict &amp; business implications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476488" y="5257800"/>
            <a:ext cx="2706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Our answer and what firms should 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Why regulate crypto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Why crypto should be regulated?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34440"/>
            <a:ext cx="10588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Crypto is growing fast, but its users face three different kinds of risk.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7830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 Hacks  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crypto stolen from exchanges and platforms, worldwide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2103120"/>
          <a:ext cx="64008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914400" y="5440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US$ bn. Source: Chainalysis (2022–2026); 2025 covers January to early December.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635240" y="178308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2  Scams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35240" y="2075688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$9.3 bn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2624328"/>
            <a:ext cx="3867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lost by people in the US to crypto fraud in 2024, mostly fake investment schemes (+66% vs 2023)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324612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FBI IC3, 2025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3566160"/>
            <a:ext cx="3867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 Crime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3858768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$154 bn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4407408"/>
            <a:ext cx="3867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received by criminal and sanctioned addresses in 2025 — a record, but still under 1% of all crypto activity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635240" y="5029200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Chainalysis, 2026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5669280"/>
            <a:ext cx="10588752" cy="59436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Why the numbers differ: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hacks = theft from platforms (global); scams = money tricked out of individuals (US victims only); crime = all money flowing to illicit addresses. Meanwhile crypto ownership in the euro area rose from 4% (2022) to 9% (2024) — more people are exposed (ECB).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Why regulate crypto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The problem MiCA was built to solve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5157216" cy="2514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1600200"/>
            <a:ext cx="442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2022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33172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Terra/Luna and FTX collapses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788920"/>
            <a:ext cx="4425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Two of the biggest names in crypto failed within six months. Retail investors lost billions — and there was no common EU rulebook to protect them.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45936" y="1417320"/>
            <a:ext cx="5157216" cy="2514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11696" y="1600200"/>
            <a:ext cx="4425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27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711696" y="2331720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National regimes before MiCA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11696" y="2788920"/>
            <a:ext cx="4425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Every EU country had its own rules and no EU-wide licence existed. A firm needed separate approvals in each market, and user protection depended on the country.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Core dilemma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526280"/>
            <a:ext cx="4882896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Consumer protection &amp; stability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797296" y="48006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vs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20256" y="4526280"/>
            <a:ext cx="4882896" cy="91440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Innovation &amp; competitiveness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623560"/>
            <a:ext cx="10588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MiCA tries to do both: protect people without pushing crypto businesses out of Europe.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How MiCA works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MiCA in one slide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34440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MiCA (Markets in Crypto-Assets Regulation) is one rulebook for all 27 EU countries. It sorts tokens into three types and licenses the firms that offer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2377440" cy="21945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214884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EMT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8346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E-money tokens: linked to one currency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3"/>
                </a:solidFill>
              </a:rPr>
              <a:t>e.g. USDC, EURC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4206240"/>
            <a:ext cx="0" cy="32004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2011680"/>
            <a:ext cx="2377440" cy="21945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67328" y="214884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ART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8346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Asset-referenced tokens: linked to a basket of assets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3"/>
                </a:solidFill>
              </a:rPr>
              <a:t>e.g. several currencies or commodities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4206240"/>
            <a:ext cx="0" cy="32004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2011680"/>
            <a:ext cx="2377440" cy="219456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2148840"/>
            <a:ext cx="19751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Other crypto-assets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834640"/>
            <a:ext cx="19751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Everything else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chemeClr val="accent3"/>
                </a:solidFill>
              </a:rPr>
              <a:t>e.g. BTC, ETH — white paper required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06640" y="4206240"/>
            <a:ext cx="0" cy="32004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914400" y="4526280"/>
            <a:ext cx="7680960" cy="11887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CASPs — crypto-asset service providers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Exchanges, brokers and custody wallets need a licence. One licence works in the whole EEA (the “passport”).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961120" y="2011680"/>
            <a:ext cx="2542032" cy="3703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35440" y="21488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Out of scope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274320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Fully decentralised DeFi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Most NFTs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397764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Not banned, but not covered by MiCA rules — for now.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How MiCA works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From adoption to full enforcement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0" y="2606040"/>
            <a:ext cx="8778240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73352" y="24505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2023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535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MiCA adopted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301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EU agrees on one rulebook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67912" y="24505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7180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June 2024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9535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Stablecoin rules apply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36301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EMT and ART issuers must comply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62472" y="24505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Dec 2024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9535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CASP rules apply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36301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Exchanges and brokers can apply for licences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57032" y="245059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30 June 2025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29535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Hungary's shortened transition ends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36301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Hungary chose a shorter period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451592" y="245059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5548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1 July 2026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555480" y="29535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EU-wide transition ends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36301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Only licensed firms may operate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663440"/>
            <a:ext cx="10588752" cy="86868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What “transition” means: 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firms already working under national rules could keep operating while they applied for a MiCA licence. Since 1 July 2026 this grace period is over everywhere in the EU.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The case for and against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MiCA builds trust and attracts capital</a:t>
            </a:r>
            <a:endParaRPr lang="en-US" sz="2600" dirty="0"/>
          </a:p>
        </p:txBody>
      </p:sp>
      <p:sp>
        <p:nvSpPr>
          <p:cNvPr id="4" name="Tag FOR"/>
          <p:cNvSpPr txBox="1"/>
          <p:nvPr/>
        </p:nvSpPr>
        <p:spPr>
          <a:xfrm>
            <a:off x="10222992" y="292608"/>
            <a:ext cx="1280160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FOR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32588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One licence = access to the whole EEA.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A firm licensed in one country can serve customers in all 30 EEA countries.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Banks enter.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Société Générale–FORGE issues stablecoins under MiCA — clear rules make traditional finance comfortable.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Clear rules build trust.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accent6"/>
                </a:solidFill>
              </a:rPr>
              <a:t>Users and investors know who is supervised and what rules apply.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512064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3977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+7–9%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more VC funding per quarter (2026 study)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500176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Late-stage startups: +14–17%. Early-stage: no change — the extra money goes to bigger, older firms.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623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Santos, Martins &amp; Soares (2026), NOVA SBE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00800" y="1325880"/>
          <a:ext cx="510235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6537960" y="5120640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EURC, Circle's MiCA-compliant euro stablecoin, more than doubled its share in one year: compliance can be a competitive advantage.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5760720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Second value is approximate (~41%).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The case for and against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The market shrank and concentrated</a:t>
            </a:r>
            <a:endParaRPr lang="en-US" sz="2600" dirty="0"/>
          </a:p>
        </p:txBody>
      </p:sp>
      <p:sp>
        <p:nvSpPr>
          <p:cNvPr id="4" name="Tag AGAINST"/>
          <p:cNvSpPr txBox="1"/>
          <p:nvPr/>
        </p:nvSpPr>
        <p:spPr>
          <a:xfrm>
            <a:off x="10222992" y="292608"/>
            <a:ext cx="1280160" cy="42062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AGAINST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3346704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44475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≈17%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488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Only ~210 of 1,200+ registered firms got a licence by the end of the transition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35424" y="1325880"/>
            <a:ext cx="3346704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9744" y="144475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up to 80%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809744" y="21488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of firms may leave the EU, according to the OKX Europe CEO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56448" y="1325880"/>
            <a:ext cx="3346704" cy="169164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30768" y="1444752"/>
            <a:ext cx="2798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−70%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430768" y="2148840"/>
            <a:ext cx="27980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EU crypto VC compared with the 2022 peak (Coincub 2025, industry source)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822960" y="3200400"/>
          <a:ext cx="6675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914400" y="59893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Approx. counts; ESMA interim MiCA register via public trackers (~360 CASPs in total).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726680" y="3246120"/>
            <a:ext cx="3776472" cy="2743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01000" y="3383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Where the big players licensed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379476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Binance  → 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France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001000" y="423367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Kraken &amp; Coinbase  → 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Ireland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001000" y="4672584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OKX  → 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Malta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001000" y="516636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Thanks to the passport, one licence is enough — so licences cluster in a few countries.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The case for and against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Stablecoins and DeFi</a:t>
            </a:r>
            <a:endParaRPr lang="en-US" sz="2600" dirty="0"/>
          </a:p>
        </p:txBody>
      </p:sp>
      <p:sp>
        <p:nvSpPr>
          <p:cNvPr id="4" name="Tag AGAINST"/>
          <p:cNvSpPr txBox="1"/>
          <p:nvPr/>
        </p:nvSpPr>
        <p:spPr>
          <a:xfrm>
            <a:off x="10222992" y="292608"/>
            <a:ext cx="1280160" cy="420624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bg1"/>
                </a:solidFill>
              </a:rPr>
              <a:t>AGAINST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3520440" cy="2240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USDT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03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Tether, the largest stablecoin, did not apply → no USDT pairs on licensed EEA exchanges from 1 July 2026.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520440" cy="2240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600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ARTs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03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No asset-referenced tokens licensed so far — the category is practically empty.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3886200"/>
            <a:ext cx="3520440" cy="2240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88720" y="4114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Interest ban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617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Holders cannot earn interest on stablecoins. This may make euro stablecoins less attractive.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09160" y="3886200"/>
            <a:ext cx="3520440" cy="2240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4114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DeFi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46177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most innovative segment sits outside MiCA: not banned, not regulated — legal uncertainty for builders.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8595360" y="1325880"/>
          <a:ext cx="290779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8595360" y="2331720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0.3%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4206240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Euro stablecoins' share of the global stablecoin market (~$0.9 bn of ~$304 bn). The market is dominated by the dollar.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595360" y="5349240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Stablecoin Beat, Sep–Oct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The case for and against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Fraud, AML &amp; KYC: the price of trust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447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Problem: 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scams, hacks, money laundering, sanctions evasion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EU response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377440"/>
            <a:ext cx="169164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97280" y="251460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263347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KYC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097280" y="34015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Mandatory: platforms must check who their customers are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788920" y="2377440"/>
            <a:ext cx="169164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971800" y="251460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263347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7180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Travel Rule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2971800" y="34015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Sender and receiver data travel with every transfer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63440" y="2377440"/>
            <a:ext cx="169164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251460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63347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84632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AMLA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4015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New EU authority fighting money laundering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537960" y="2377440"/>
            <a:ext cx="1691640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720840" y="251460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263347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72084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DAC8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6720840" y="34015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Platforms report users' crypto data to tax offices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914400" y="4617720"/>
            <a:ext cx="3520440" cy="1417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143000" y="4736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Pro-innovation view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1143000" y="508406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A clean market attracts institutional capital — banks and funds enter markets they trust.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4709160" y="4617720"/>
            <a:ext cx="3520440" cy="141732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4937760" y="4736592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Anti-innovation view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4937760" y="5084064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6"/>
                </a:solidFill>
              </a:rPr>
              <a:t>Compliance costs favour big players — startups struggle to pay for lawyers, audits and IT.</a:t>
            </a:r>
            <a:endParaRPr lang="en-US" sz="1350" dirty="0"/>
          </a:p>
        </p:txBody>
      </p:sp>
      <p:sp>
        <p:nvSpPr>
          <p:cNvPr id="34" name="Text 2"/>
          <p:cNvSpPr/>
          <p:nvPr>
            <p:ph idx="104" hasCustomPrompt="1"/>
          </p:nvPr>
        </p:nvSpPr>
        <p:spPr>
          <a:xfrm>
            <a:off x="8549640" y="1417320"/>
            <a:ext cx="2953512" cy="4663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EU vs US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EU vs US: contain risk or accelerate growth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5887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968496"/>
                <a:gridCol w="3968496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EU (MiCA)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US (GENIUS Act, 2025)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</a:rPr>
                        <a:t>Scope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</a:rPr>
                        <a:t>Whole crypto market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</a:rPr>
                        <a:t>Payment stablecoins only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</a:rPr>
                        <a:t>Philosophy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</a:rPr>
                        <a:t>Contain risk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</a:rPr>
                        <a:t>Accelerate growth, support the dollar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</a:rPr>
                        <a:t>USDT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</a:rPr>
                        <a:t>Already delisted on licensed venues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</a:rPr>
                        <a:t>Transition until ~2028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2841"/>
                          </a:solidFill>
                        </a:rPr>
                        <a:t>Interest to holders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</a:rPr>
                        <a:t>Banned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04040"/>
                          </a:solidFill>
                        </a:rPr>
                        <a:t>Banned</a:t>
                      </a:r>
                      <a:endParaRPr lang="en-US" sz="16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914400" y="4206240"/>
            <a:ext cx="10588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Both sides ban interest for holders, but their goals differ: the EU wants to limit risk inside its market, while the US wants dollar stablecoins to grow worldwide.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4983480"/>
            <a:ext cx="10588752" cy="8229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Bottom line: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Europe → compliant but smaller issuers;  US → global dollar champions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How the EU is adjusting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The EU is adjusting: “MiCA 2”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Two years of practice showed gaps, so the Commission is reviewing the rules.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69848" y="2194560"/>
            <a:ext cx="7004304" cy="0"/>
          </a:xfrm>
          <a:prstGeom prst="line">
            <a:avLst/>
          </a:prstGeom>
          <a:noFill/>
          <a:ln w="38100">
            <a:solidFill>
              <a:schemeClr val="accent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39112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May 2026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505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Commission opens MiCA review consultation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18704" y="2039112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30 June 2027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45059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Commission report due — possibly a new proposal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46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Under review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84448"/>
            <a:ext cx="768096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DeFi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819656" y="3584448"/>
            <a:ext cx="1124712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Staking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81528" y="3584448"/>
            <a:ext cx="1124712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Lending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584448"/>
            <a:ext cx="1719072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Interest ban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3584448"/>
            <a:ext cx="1837944" cy="42062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Reserve rules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0965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These are the areas that MiCA left open or that businesses say limit growth.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88720" y="46817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Parallel proposal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029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ESMA to supervise the largest crypto firms directly. Today national authorities do this, so standards can differ between countries.</a:t>
            </a:r>
            <a:endParaRPr lang="en-US" sz="1400" dirty="0"/>
          </a:p>
        </p:txBody>
      </p:sp>
      <p:sp>
        <p:nvSpPr>
          <p:cNvPr id="22" name="Text 2"/>
          <p:cNvSpPr/>
          <p:nvPr>
            <p:ph idx="104" hasCustomPrompt="1"/>
          </p:nvPr>
        </p:nvSpPr>
        <p:spPr>
          <a:xfrm>
            <a:off x="8549640" y="1417320"/>
            <a:ext cx="2953512" cy="4663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Verdict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“MiCA doesn’t kill innovation. It filters it.”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71600"/>
            <a:ext cx="5157216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Winners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5157216" cy="1783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057400"/>
            <a:ext cx="4517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Scale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can afford compliance costs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Institutions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trust a regulated market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Late-stage capital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VC funding +14–17%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45936" y="1371600"/>
            <a:ext cx="5157216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Losers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45936" y="1874520"/>
            <a:ext cx="5157216" cy="1783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65976" y="2057400"/>
            <a:ext cx="4517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Startups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licence costs are high and fixed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Early-stage projects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no extra funding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Offshore players 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cut off from EU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9319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4046220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54480" y="3950208"/>
            <a:ext cx="9948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Biggest risk ahead: 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how MiCA 2 treats DeFi. Too strict could push it out of Europe; too loose leaves users unprotected.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937760"/>
            <a:ext cx="10588752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Europe chose trust over speed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Business implications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What this means for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15773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7145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14630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Crypto service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703320" y="1463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Plan a 6–12 month licence process and choose your hub country carefully — one licence covers the whole EEA.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2487168"/>
            <a:ext cx="731520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15568" y="269290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8300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74520" y="257860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Stablecoin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257860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You need a bank or e-money licence, full reserves, and you may not pay interest to holders.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14400" y="3602736"/>
            <a:ext cx="7315200" cy="960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15568" y="38084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39456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74520" y="3694176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DeFi project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703320" y="369417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Not covered yet, but follow the MiCA 2 process now — rules may follow the 2027 report.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14400" y="4718304"/>
            <a:ext cx="7315200" cy="960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115568" y="492404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50612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74520" y="4809744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EU + US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3703320" y="480974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Run two separate compliance tracks: MiCA in Europe, the GENIUS Act for US stablecoins.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91440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Rule of thumb: compliance is now part of the business model, not an afterthought.</a:t>
            </a:r>
            <a:endParaRPr lang="en-US" sz="1400" dirty="0"/>
          </a:p>
        </p:txBody>
      </p:sp>
      <p:sp>
        <p:nvSpPr>
          <p:cNvPr id="25" name="Text 2"/>
          <p:cNvSpPr/>
          <p:nvPr>
            <p:ph idx="104" hasCustomPrompt="1"/>
          </p:nvPr>
        </p:nvSpPr>
        <p:spPr>
          <a:xfrm>
            <a:off x="8549640" y="1417320"/>
            <a:ext cx="2953512" cy="4663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Conclusion &amp; discussion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258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World’s first comprehensive crypto regime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— one rulebook for 27 countries.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2026 = enforcement year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— only licensed firms may operate.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Trade-off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accent6"/>
                </a:solidFill>
              </a:rPr>
              <a:t>— more trust and big players, but fewer small firms and less early-stage money.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017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Our answer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3375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i="1" dirty="0">
                <a:solidFill>
                  <a:schemeClr val="accent2"/>
                </a:solidFill>
              </a:rPr>
              <a:t>“Yes — but only for those who can afford compliance”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434840"/>
            <a:ext cx="7315200" cy="146304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228600" tIns="228600" rIns="228600" bIns="22860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4"/>
                </a:solidFill>
              </a:rPr>
              <a:t>Question for discussion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Would you choose a MiCA-licensed exchange over a cheaper offshore one?</a:t>
            </a:r>
            <a:endParaRPr lang="en-US" sz="1400" dirty="0"/>
          </a:p>
        </p:txBody>
      </p:sp>
      <p:sp>
        <p:nvSpPr>
          <p:cNvPr id="8" name="Text 2"/>
          <p:cNvSpPr/>
          <p:nvPr>
            <p:ph idx="104" hasCustomPrompt="1"/>
          </p:nvPr>
        </p:nvSpPr>
        <p:spPr>
          <a:xfrm>
            <a:off x="8549640" y="1417320"/>
            <a:ext cx="2953512" cy="4663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914400" y="182880"/>
            <a:ext cx="8778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Sources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914400" y="4754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Bibliography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325880"/>
            <a:ext cx="5111496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BlockEden (2026). MiCA’s July 2026 Cliff: The EU Stablecoin Delisting Map.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Chainalysis (2026). The 2026 Crypto Crime Report. Chainalysis Inc.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Chainalysis (2025). Crypto theft in 2025: stolen-funds update, December 2025. Chainalysis Inc.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Coincub (2025). Europe Crypto Report 2025.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Elliptic (2026). What the end of MiCA’s transitional period means for crypto businesses. https://www.elliptic.co/blog/the-end-of-micas-transitional-period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ESMA (2026). Statement on the end of transitional periods under MiCA, ESMA75-113276571-1679, 17 April 2026.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ESMA (2026). Interim MiCA register: authorised CASPs (snapshot 30 September 2026).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European Central Bank (2024). Study on the payment attitudes of consumers in the euro area (SPACE) – 2024.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European Commission (2026). Targeted consultation on the review of the Markets in Crypto-Assets Regulation, 20 May 2026.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FBI Internet Crime Complaint Center (2025). 2024 Internet Crime Report. Federal Bureau of Investigation.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391656" y="1325880"/>
            <a:ext cx="5111496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FinTelegram (2026). Stablecoins: US Acceleration Under GENIUS vs. EU Containment Under MiCA.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GENIUS Act (Guiding and Establishing National Innovation for U.S. Stablecoins Act), United States, 2025.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KPMG Cyprus (2026). CASPs grandfathering period, June 2026.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Latham &amp; Watkins (2026). MiCA Review: European Commission Launches Consultation on EU Cryptoasset Regulatory Framework. JD Supra.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Linklaters (2026). MiCA review asks whether EU’s crypto regime is fit for the future. https://techinsights.linklaters.com/post/102n0up/mica-review-asks-whether-eus-crypto-regime-is-fit-for-the-future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Regulation (EU) 2023/1114 on markets in crypto-assets (MiCA). Official Journal of the EU, L 150, 9.6.2023.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Santos, F. M., Martins, P., Soares, R. F. (2026). The impact of the Markets in Crypto-Assets Regulation on venture capital funding for cryptocurrency startups in Europe. NOVA SBE. http://hdl.handle.net/10362/203414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Stablecoin Beat (2026). EUR stablecoins and the MiCA era. https://stablecoinbeat.com/charts/eur-stablecoins/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Tech Insider (2026). USDT Is Gone From EU Exchanges.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4512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vinus Seminar">
  <a:themeElements>
    <a:clrScheme name="Corvinus Seminar">
      <a:dk1>
        <a:srgbClr val="1A1A1A"/>
      </a:dk1>
      <a:lt1>
        <a:srgbClr val="FFFFFF"/>
      </a:lt1>
      <a:dk2>
        <a:srgbClr val="0E2841"/>
      </a:dk2>
      <a:lt2>
        <a:srgbClr val="F3F4F6"/>
      </a:lt2>
      <a:accent1>
        <a:srgbClr val="0E2841"/>
      </a:accent1>
      <a:accent2>
        <a:srgbClr val="C00000"/>
      </a:accent2>
      <a:accent3>
        <a:srgbClr val="7F7F7F"/>
      </a:accent3>
      <a:accent4>
        <a:srgbClr val="D1D1D1"/>
      </a:accent4>
      <a:accent5>
        <a:srgbClr val="0080CC"/>
      </a:accent5>
      <a:accent6>
        <a:srgbClr val="404040"/>
      </a:accent6>
      <a:hlink>
        <a:srgbClr val="0080CC"/>
      </a:hlink>
      <a:folHlink>
        <a:srgbClr val="7F7F7F"/>
      </a:folHlink>
    </a:clrScheme>
    <a:fontScheme name="Corvinus Seminar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Europe Regulate Crypto Without Killing Innovation?</dc:title>
  <dc:subject>PptxGenJS Presentation</dc:subject>
  <dc:creator>Amir Kenenbaev, Aruuke Dzhumabaeva</dc:creator>
  <cp:lastModifiedBy>Amir Kenenbaev, Aruuke Dzhumabaeva</cp:lastModifiedBy>
  <cp:revision>1</cp:revision>
  <dcterms:created xsi:type="dcterms:W3CDTF">2026-10-14T13:22:30Z</dcterms:created>
  <dcterms:modified xsi:type="dcterms:W3CDTF">2026-10-14T13:22:30Z</dcterms:modified>
</cp:coreProperties>
</file>