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Stolen funds</c:v>
                </c:pt>
              </c:strCache>
            </c:strRef>
          </c:tx>
          <c:spPr>
            <a:solidFill>
              <a:srgbClr val="0E2841"/>
            </a:solidFill>
            <a:effectLst/>
          </c:spPr>
          <c:invertIfNegative val="0"/>
          <c:dLbls>
            <c:numFmt formatCode="\$0.0&quot; bn&quot;"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3.7</c:v>
                </c:pt>
                <c:pt idx="1">
                  <c:v>1.8</c:v>
                </c:pt>
                <c:pt idx="2">
                  <c:v>2.2</c:v>
                </c:pt>
                <c:pt idx="3">
                  <c:v>3.4</c:v>
                </c:pt>
              </c:numCache>
            </c:numRef>
          </c:val>
        </c:ser>
        <c:dLbls>
          <c:numFmt formatCode="\$0.0&quot; bn&quot;"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1D1D1"/>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9525" cap="flat">
              <a:solidFill>
                <a:srgbClr val="E5E5E5"/>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F7F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841"/>
                </a:solidFill>
                <a:latin typeface="+mn-lt"/>
              </a:defRPr>
            </a:pPr>
            <a:r>
              <a:rPr sz="1400" b="0" i="0" u="none" strike="noStrike">
                <a:solidFill>
                  <a:srgbClr val="0E2841"/>
                </a:solidFill>
                <a:latin typeface="+mn-lt"/>
              </a:rPr>
              <a:t>EURC share of the euro stablecoin market, %</a:t>
            </a:r>
          </a:p>
        </c:rich>
      </c:tx>
      <c:layout/>
      <c:overlay val="0"/>
    </c:title>
    <c:autoTitleDeleted val="0"/>
    <c:plotArea>
      <c:layout/>
      <c:barChart>
        <c:barDir val="col"/>
        <c:grouping val="clustered"/>
        <c:varyColors val="0"/>
        <c:ser>
          <c:idx val="0"/>
          <c:order val="0"/>
          <c:tx>
            <c:strRef>
              <c:f>Sheet1!$B$1</c:f>
              <c:strCache>
                <c:ptCount val="1"/>
                <c:pt idx="0">
                  <c:v>EURC share</c:v>
                </c:pt>
              </c:strCache>
            </c:strRef>
          </c:tx>
          <c:spPr>
            <a:solidFill>
              <a:srgbClr val="7F7F7F"/>
            </a:solidFill>
            <a:effectLst/>
          </c:spPr>
          <c:invertIfNegative val="0"/>
          <c:dLbls>
            <c:numFmt formatCode="0&quot;%&quot;"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0E2841"/>
              </a:solidFill>
              <a:effectLst/>
            </c:spPr>
          </c:dPt>
          <c:cat>
            <c:multiLvlStrRef>
              <c:f>Sheet1!$A$2:$A$3</c:f>
              <c:multiLvlStrCache>
                <c:ptCount val="2"/>
                <c:lvl>
                  <c:pt idx="0">
                    <c:v>Start</c:v>
                  </c:pt>
                  <c:pt idx="1">
                    <c:v>One year later</c:v>
                  </c:pt>
                </c:lvl>
              </c:multiLvlStrCache>
            </c:multiLvlStrRef>
          </c:cat>
          <c:val>
            <c:numRef>
              <c:f>Sheet1!$B$2:$B$3</c:f>
              <c:numCache>
                <c:formatCode>General</c:formatCode>
                <c:ptCount val="2"/>
                <c:pt idx="0">
                  <c:v>17</c:v>
                </c:pt>
                <c:pt idx="1">
                  <c:v>41</c:v>
                </c:pt>
              </c:numCache>
            </c:numRef>
          </c:val>
        </c:ser>
        <c:dLbls>
          <c:numFmt formatCode="0&quot;%&quot;"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1D1D1"/>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9525" cap="flat">
              <a:solidFill>
                <a:srgbClr val="E5E5E5"/>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F7F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841"/>
                </a:solidFill>
                <a:latin typeface="+mn-lt"/>
              </a:defRPr>
            </a:pPr>
            <a:r>
              <a:rPr sz="1400" b="0" i="0" u="none" strike="noStrike">
                <a:solidFill>
                  <a:srgbClr val="0E2841"/>
                </a:solidFill>
                <a:latin typeface="+mn-lt"/>
              </a:rPr>
              <a:t>Authorised CASPs by home country, 30 Sep 2026</a:t>
            </a:r>
          </a:p>
        </c:rich>
      </c:tx>
      <c:layout/>
      <c:overlay val="0"/>
    </c:title>
    <c:autoTitleDeleted val="0"/>
    <c:plotArea>
      <c:layout/>
      <c:barChart>
        <c:barDir val="bar"/>
        <c:grouping val="clustered"/>
        <c:varyColors val="0"/>
        <c:ser>
          <c:idx val="0"/>
          <c:order val="0"/>
          <c:tx>
            <c:strRef>
              <c:f>Sheet1!$B$1</c:f>
              <c:strCache>
                <c:ptCount val="1"/>
                <c:pt idx="0">
                  <c:v>CASPs</c:v>
                </c:pt>
              </c:strCache>
            </c:strRef>
          </c:tx>
          <c:spPr>
            <a:solidFill>
              <a:srgbClr val="0E2841"/>
            </a:solidFill>
            <a:effectLst/>
          </c:spPr>
          <c:invertIfNegative val="0"/>
          <c:dLbls>
            <c:numFmt formatCode="#,##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Germany</c:v>
                  </c:pt>
                  <c:pt idx="1">
                    <c:v>France</c:v>
                  </c:pt>
                  <c:pt idx="2">
                    <c:v>Netherlands</c:v>
                  </c:pt>
                  <c:pt idx="3">
                    <c:v>Cyprus</c:v>
                  </c:pt>
                  <c:pt idx="4">
                    <c:v>Malta</c:v>
                  </c:pt>
                </c:lvl>
              </c:multiLvlStrCache>
            </c:multiLvlStrRef>
          </c:cat>
          <c:val>
            <c:numRef>
              <c:f>Sheet1!$B$2:$B$6</c:f>
              <c:numCache>
                <c:formatCode>General</c:formatCode>
                <c:ptCount val="5"/>
                <c:pt idx="0">
                  <c:v>95</c:v>
                </c:pt>
                <c:pt idx="1">
                  <c:v>36</c:v>
                </c:pt>
                <c:pt idx="2">
                  <c:v>28</c:v>
                </c:pt>
                <c:pt idx="3">
                  <c:v>24</c:v>
                </c:pt>
                <c:pt idx="4">
                  <c:v>22</c:v>
                </c:pt>
              </c:numCache>
            </c:numRef>
          </c:val>
        </c:ser>
        <c:dLbls>
          <c:numFmt formatCode="#,##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1D1D1"/>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7F7F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Stablecoins</c:v>
                </c:pt>
              </c:strCache>
            </c:strRef>
          </c:tx>
          <c:spPr>
            <a:solidFill>
              <a:schemeClr val="accent1"/>
            </a:solidFill>
            <a:ln w="9525" cap="flat">
              <a:solidFill>
                <a:srgbClr val="F9F9F9"/>
              </a:solidFill>
              <a:prstDash val="solid"/>
              <a:round/>
            </a:ln>
            <a:effectLst/>
          </c:spPr>
          <c:dPt>
            <c:idx val="0"/>
            <c:bubble3D val="0"/>
            <c:spPr>
              <a:solidFill>
                <a:srgbClr val="D1D1D1"/>
              </a:solidFill>
              <a:ln w="12700" cap="flat">
                <a:solidFill>
                  <a:srgbClr val="FFFFFF"/>
                </a:solidFill>
                <a:prstDash val="solid"/>
                <a:round/>
              </a:ln>
              <a:effectLst/>
            </c:spPr>
          </c:dPt>
          <c:dPt>
            <c:idx val="1"/>
            <c:bubble3D val="0"/>
            <c:spPr>
              <a:solidFill>
                <a:srgbClr val="C00000"/>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USD and other</c:v>
                </c:pt>
                <c:pt idx="1">
                  <c:v>EUR</c:v>
                </c:pt>
              </c:strCache>
            </c:strRef>
          </c:cat>
          <c:val>
            <c:numRef>
              <c:f>Sheet1!$B$2:$B$3</c:f>
              <c:numCache>
                <c:ptCount val="2"/>
                <c:pt idx="0">
                  <c:v>99.7</c:v>
                </c:pt>
                <c:pt idx="1">
                  <c:v>0.3</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Title (Speaker 1, ~0:40)</a:t>
            </a:r>
          </a:p>
          <a:p/>
          <a:p>
            <a:r>
              <a:t>Good morning, everyone. My name is ___, and this is my colleague ___. Today we want to answer one question: can Europe regulate crypto without killing innovation? To answer it, we look at MiCA — the Markets in Crypto-Assets Regulation. It is the EU's rulebook for crypto, and 2026 is the year it really started to apply: since the first of July, only licensed firms may offer crypto services in the EU. So this is a good moment to look back and ask: did MiCA make the market safer, and what did it cost?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Agenda (Speaker 1, ~0:40)</a:t>
            </a:r>
          </a:p>
          <a:p/>
          <a:p>
            <a:r>
              <a:t>Our presentation has six parts. First, we explain why crypto needs regulation at all. Second, how MiCA works — the token types, the licences and the timeline. Third, the main part: the arguments for and against MiCA. Then we compare the EU with the United States, which chose a very different approach. After that, we show how the EU is already adjusting the rules — the so-called "MiCA 2". Finally, we give our verdict and explain what all this means for businesses. At the end, we have a question for discussion.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Why crypto should be regulated? (Speaker 1, ~1:45)</a:t>
            </a:r>
          </a:p>
          <a:p/>
          <a:p>
            <a:r>
              <a:t>Let's start with the basic question: why should crypto be regulated at all? Crypto is growing fast, but its users face three different kinds of risk.</a:t>
            </a:r>
          </a:p>
          <a:p/>
          <a:p>
            <a:r>
              <a:t>The first risk is hacks. The chart shows crypto stolen from exchanges and platforms worldwide, according to Chainalysis. In 2022 it was 3.7 billion dollars. It went down to 1.8 billion in 2023, but then went up again — 2.2 billion in 2024 and 3.4 billion in 2025. So this problem does not disappear by itself.</a:t>
            </a:r>
          </a:p>
          <a:p/>
          <a:p>
            <a:r>
              <a:t>The second risk is scams. Here we use data from the FBI: people in the US lost 9.3 billion dollars to crypto fraud in 2024, mostly through fake investment schemes. That is 66 percent more than a year before.</a:t>
            </a:r>
          </a:p>
          <a:p/>
          <a:p>
            <a:r>
              <a:t>The third risk is crime more broadly. In 2025, criminal and sanctioned addresses received 154 billion dollars in crypto — a record. To be fair, this is still less than one percent of all crypto activity, so most crypto use is legal.</a:t>
            </a:r>
          </a:p>
          <a:p/>
          <a:p>
            <a:r>
              <a:t>Please note that these numbers measure different things, which is why they don't match: hacks are theft from platforms, scams are money tricked out of individuals, and crime is all money going to illicit addresses.</a:t>
            </a:r>
          </a:p>
          <a:p/>
          <a:p>
            <a:r>
              <a:t>And more and more people are exposed to these risks: according to the ECB, crypto ownership in the euro area rose from 4 percent in 2022 to 9 percent in 2024.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problem MiCA was built to solve (Speaker 1, ~1:30)</a:t>
            </a:r>
          </a:p>
          <a:p/>
          <a:p>
            <a:r>
              <a:t>So the risks are real. But what exactly pushed the EU to act? Two things.</a:t>
            </a:r>
          </a:p>
          <a:p/>
          <a:p>
            <a:r>
              <a:t>First, 2022. In May, the Terra/Luna stablecoin system collapsed, and in November FTX — at that time one of the biggest crypto exchanges in the world — went bankrupt. Retail investors lost billions, and there was no common European rulebook to protect them.</a:t>
            </a:r>
          </a:p>
          <a:p/>
          <a:p>
            <a:r>
              <a:t>Second, fragmentation. Before MiCA, there were 27 national regimes. Every country had its own rules, and there was no EU-wide licence. A company that wanted to work across Europe needed separate approvals in each market, and the level of protection for users depended on where they lived.</a:t>
            </a:r>
          </a:p>
          <a:p/>
          <a:p>
            <a:r>
              <a:t>This leads to the core dilemma of our presentation. On one side, there is consumer protection and financial stability. On the other side, there is innovation and competitiveness. If the rules are too weak, people lose money. If they are too strict, companies move to other regions. MiCA tries to do both: protect people without pushing crypto businesses out of Europe. The rest of our presentation asks whether it succeeded.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MiCA in one slide (Speaker 1, ~1:45)</a:t>
            </a:r>
          </a:p>
          <a:p/>
          <a:p>
            <a:r>
              <a:t>So how does MiCA work? The short version: it is one rulebook for all 27 EU countries, and it does two things — it sorts tokens into three types, and it licenses the companies that offer crypto services.</a:t>
            </a:r>
          </a:p>
          <a:p/>
          <a:p>
            <a:r>
              <a:t>The first type is e-money tokens, or EMTs. These are stablecoins linked to one official currency — for example USDC, linked to the dollar, or EURC, linked to the euro.</a:t>
            </a:r>
          </a:p>
          <a:p/>
          <a:p>
            <a:r>
              <a:t>The second type is asset-referenced tokens, or ARTs. Their value is linked to a basket of assets, for example several currencies or commodities.</a:t>
            </a:r>
          </a:p>
          <a:p/>
          <a:p>
            <a:r>
              <a:t>The third group is everything else — for example Bitcoin or Ether. Here MiCA mainly requires a white paper: a document that explains the project and its risks to investors.</a:t>
            </a:r>
          </a:p>
          <a:p/>
          <a:p>
            <a:r>
              <a:t>Below the tokens you see the CASPs — crypto-asset service providers. These are exchanges, brokers and custody wallets, and they need a licence. The big advantage is the so-called "passport": a licence from one country is valid in the whole European Economic Area.</a:t>
            </a:r>
          </a:p>
          <a:p/>
          <a:p>
            <a:r>
              <a:t>Finally, some things are out of scope: fully decentralised finance, or DeFi, and most NFTs. They are not banned, but MiCA does not cover them — at least for now. Please keep DeFi in mind, because it will come back later.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From adoption to full enforcement (Speaker 1, ~1:15)</a:t>
            </a:r>
          </a:p>
          <a:p/>
          <a:p>
            <a:r>
              <a:t>MiCA did not start overnight. It was adopted in 2023. The rules for stablecoins — EMTs and ARTs — started to apply in June 2024. Six months later, in December 2024, the rules for service providers followed, so exchanges and brokers could apply for licences.</a:t>
            </a:r>
          </a:p>
          <a:p/>
          <a:p>
            <a:r>
              <a:t>Firms that were already active under national rules got a transition period: they could keep operating while they applied for a MiCA licence. Countries could make this period shorter. Hungary, for example, chose a shortened transition, which ended on the 30th of June 2025.</a:t>
            </a:r>
          </a:p>
          <a:p/>
          <a:p>
            <a:r>
              <a:t>The final deadline for the whole EU was the 1st of July 2026. Since that day, the grace period is over everywhere, and only licensed firms may operate. That is why we call 2026 the enforcement year — the moment when MiCA became real for the whole market.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MiCA builds trust and attracts capital (Speaker 1, ~1:45)</a:t>
            </a:r>
          </a:p>
          <a:p/>
          <a:p>
            <a:r>
              <a:t>Now to the main part: the arguments for and against. Let's start with the arguments for MiCA.</a:t>
            </a:r>
          </a:p>
          <a:p/>
          <a:p>
            <a:r>
              <a:t>First, the passport. One licence gives access to the whole EEA — that is 30 countries. Compared with 27 different national regimes, this is a huge simplification.</a:t>
            </a:r>
          </a:p>
          <a:p/>
          <a:p>
            <a:r>
              <a:t>Second, traditional banks are entering the market. For example, Société Générale, through its crypto unit FORGE, issues stablecoins under MiCA. Banks only do this when the rules are clear.</a:t>
            </a:r>
          </a:p>
          <a:p/>
          <a:p>
            <a:r>
              <a:t>Third, clear rules build trust: users and investors know who is supervised and which rules apply.</a:t>
            </a:r>
          </a:p>
          <a:p/>
          <a:p>
            <a:r>
              <a:t>We can also see this in the data. A 2026 study from NOVA SBE found that after MiCA, venture capital funding for crypto startups grew by 7 to 9 percent per quarter. But look at the details: for late-stage startups, funding increased by 14 to 17 percent, while for early-stage startups there was no change. So the extra money goes mainly to bigger, more established firms — please remember this point.</a:t>
            </a:r>
          </a:p>
          <a:p/>
          <a:p>
            <a:r>
              <a:t>The chart on the right shows another example. EURC, Circle's MiCA-compliant euro stablecoin, increased its share of the euro stablecoin market from 17 percent to around 41 percent in just one year. So compliance can actually be a competitive advantage.</a:t>
            </a:r>
          </a:p>
          <a:p/>
          <a:p>
            <a:r>
              <a:t>But there is another side to this story — and my colleague will now present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AGAINST: The market shrank and concentrated (Speaker 2, ~1:45)</a:t>
            </a:r>
          </a:p>
          <a:p/>
          <a:p>
            <a:r>
              <a:t>Thank you. Now let's look at the arguments against MiCA, starting with the market itself. Our main message here: the market shrank and became more concentrated.</a:t>
            </a:r>
          </a:p>
          <a:p/>
          <a:p>
            <a:r>
              <a:t>Before MiCA, more than 1,200 firms were registered under national rules. By the end of the transition period, only about 210 of them had a MiCA licence — around 17 percent.</a:t>
            </a:r>
          </a:p>
          <a:p/>
          <a:p>
            <a:r>
              <a:t>Some industry voices are even more pessimistic. The CEO of OKX Europe said that up to 80 percent of firms may leave the EU. And according to Coincub, crypto venture capital in the EU is down 70 percent compared with the 2022 peak. Coincub is an industry source, and part of this drop is the general crypto market cycle, so we should read this number carefully.</a:t>
            </a:r>
          </a:p>
          <a:p/>
          <a:p>
            <a:r>
              <a:t>The chart shows where licensed firms are based. The number of licences is still growing — by the end of September 2026, there were around 360 — but they are very concentrated: Germany alone has about 95, followed by France, the Netherlands, Cyprus and Malta.</a:t>
            </a:r>
          </a:p>
          <a:p/>
          <a:p>
            <a:r>
              <a:t>The big international players chose specific hub countries: Binance went to France, Kraken and Coinbase to Ireland, and OKX to Malta. Because of the passport, one licence is enough, so companies choose the country where they expect the best process — and licences cluster in a few places.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AGAINST: Stablecoins and DeFi (Speaker 2, ~1:30)</a:t>
            </a:r>
          </a:p>
          <a:p/>
          <a:p>
            <a:r>
              <a:t>The second problem area is stablecoins and DeFi.</a:t>
            </a:r>
          </a:p>
          <a:p/>
          <a:p>
            <a:r>
              <a:t>First, USDT. Tether, the issuer of the largest stablecoin, did not apply for a MiCA licence. As a result, since the 1st of July 2026 there are no USDT trading pairs on licensed exchanges in the EEA.</a:t>
            </a:r>
          </a:p>
          <a:p/>
          <a:p>
            <a:r>
              <a:t>Second, ARTs: so far, not a single asset-referenced token has been licensed. This whole category is practically empty.</a:t>
            </a:r>
          </a:p>
          <a:p/>
          <a:p>
            <a:r>
              <a:t>Third, the interest ban: holders of stablecoins cannot earn interest. This may make euro stablecoins less attractive.</a:t>
            </a:r>
          </a:p>
          <a:p/>
          <a:p>
            <a:r>
              <a:t>And fourth, DeFi — probably the most innovative part of crypto — sits outside MiCA. It is not banned, but not regulated either, which creates legal uncertainty for anyone who wants to build it in Europe.</a:t>
            </a:r>
          </a:p>
          <a:p/>
          <a:p>
            <a:r>
              <a:t>The chart on the right puts this in perspective: euro stablecoins are only about 0.3 percent of the global stablecoin market — less than one billion dollars out of more than 300 billion. The stablecoin world is dominated by the dollar.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Fraud, AML &amp; KYC: the price of trust (Speaker 2, ~1:30)</a:t>
            </a:r>
          </a:p>
          <a:p/>
          <a:p>
            <a:r>
              <a:t>Now an area where both sides partly agree: fraud, money laundering and KYC.</a:t>
            </a:r>
          </a:p>
          <a:p/>
          <a:p>
            <a:r>
              <a:t>The problem is clear: crypto has been used for scams, hacks, money laundering and sanctions evasion. The EU's response has four main elements.</a:t>
            </a:r>
          </a:p>
          <a:p/>
          <a:p>
            <a:r>
              <a:t>First, KYC — "know your customer": platforms must check who their customers are. Second, the Travel Rule: information about the sender and the receiver must travel with every crypto transfer, similar to bank transfers. Third, AMLA, the new EU Anti-Money Laundering Authority. And fourth, DAC8, which requires platforms to report users' crypto data to tax authorities.</a:t>
            </a:r>
          </a:p>
          <a:p/>
          <a:p>
            <a:r>
              <a:t>How you see these rules depends on your perspective. From a pro-innovation view, a clean market attracts institutional capital: banks and investment funds only enter markets they trust. From an anti-innovation view, compliance costs favour big players: a small startup struggles to pay for lawyers, audits and IT systems, while a big exchange can easily afford them. So trust has a price — and that price is not the same for everyone.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EU vs US (Speaker 2, ~1:30)</a:t>
            </a:r>
          </a:p>
          <a:p/>
          <a:p>
            <a:r>
              <a:t>How does Europe's approach compare with the United States? In 2025, the US adopted the GENIUS Act.</a:t>
            </a:r>
          </a:p>
          <a:p/>
          <a:p>
            <a:r>
              <a:t>The first difference is scope. MiCA covers the whole crypto market, while the GENIUS Act covers only payment stablecoins.</a:t>
            </a:r>
          </a:p>
          <a:p/>
          <a:p>
            <a:r>
              <a:t>The second difference is philosophy. The EU wants to contain risk. The US wants to accelerate growth and support the role of the dollar.</a:t>
            </a:r>
          </a:p>
          <a:p/>
          <a:p>
            <a:r>
              <a:t>You can see this clearly with USDT: in Europe it is already delisted on licensed platforms, while in the US there is a transition until around 2028.</a:t>
            </a:r>
          </a:p>
          <a:p/>
          <a:p>
            <a:r>
              <a:t>On one point they agree: both ban paying interest to stablecoin holders.</a:t>
            </a:r>
          </a:p>
          <a:p/>
          <a:p>
            <a:r>
              <a:t>But the goals are different. The EU wants to limit risk inside its own market, while the US wants dollar stablecoins to grow worldwide. So our bottom line is: Europe gets compliant but smaller issuers, while the US is building global dollar champions.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EU is adjusting: "MiCA 2" (Speaker 2, ~1:15)</a:t>
            </a:r>
          </a:p>
          <a:p/>
          <a:p>
            <a:r>
              <a:t>The EU is aware of these problems and is already adjusting. This process is often called "MiCA 2".</a:t>
            </a:r>
          </a:p>
          <a:p/>
          <a:p>
            <a:r>
              <a:t>In May 2026, the European Commission opened a consultation on the review of MiCA. It looks at topics that MiCA left open or that businesses say limit growth: DeFi, staking, lending, the interest ban and the reserve rules for stablecoins.</a:t>
            </a:r>
          </a:p>
          <a:p/>
          <a:p>
            <a:r>
              <a:t>The Commission has to deliver its report by the 30th of June 2027, and this report may come with a new legislative proposal.</a:t>
            </a:r>
          </a:p>
          <a:p/>
          <a:p>
            <a:r>
              <a:t>In parallel, there is a proposal to let ESMA — the European Securities and Markets Authority — directly supervise the largest crypto firms. Today, national authorities do this, so standards can differ from country to country. Central supervision would make the rules more uniform, but it would also move more power to the EU level.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Verdict (Speaker 2, ~1:15)</a:t>
            </a:r>
          </a:p>
          <a:p/>
          <a:p>
            <a:r>
              <a:t>So what is our verdict? We would summarise it like this: MiCA doesn't kill innovation — it filters it.</a:t>
            </a:r>
          </a:p>
          <a:p/>
          <a:p>
            <a:r>
              <a:t>The winners are firms with scale, which can afford compliance costs; institutions, which trust a regulated market; and late-stage capital — remember the 14 to 17 percent increase in funding.</a:t>
            </a:r>
          </a:p>
          <a:p/>
          <a:p>
            <a:r>
              <a:t>The losers are startups, for whom licence costs are high and fixed; early-stage projects, which received no extra funding; and offshore players, which are now cut off from EU users.</a:t>
            </a:r>
          </a:p>
          <a:p/>
          <a:p>
            <a:r>
              <a:t>The biggest risk ahead is how MiCA 2 treats DeFi. If the rules are too strict, DeFi could move out of Europe. If they are too loose, users stay unprotected.</a:t>
            </a:r>
          </a:p>
          <a:p/>
          <a:p>
            <a:r>
              <a:t>In short: Europe chose trust over speed.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this means for business (Speaker 2, ~1:00)</a:t>
            </a:r>
          </a:p>
          <a:p/>
          <a:p>
            <a:r>
              <a:t>What does this mean in practice for a business? It depends on what you want to do.</a:t>
            </a:r>
          </a:p>
          <a:p/>
          <a:p>
            <a:r>
              <a:t>If you run a crypto service, like an exchange, plan a licence process of 6 to 12 months and choose your hub country carefully — one licence covers the whole EEA.</a:t>
            </a:r>
          </a:p>
          <a:p/>
          <a:p>
            <a:r>
              <a:t>If you want to issue a stablecoin, you need a bank or e-money licence and full reserves, and you may not pay interest to holders.</a:t>
            </a:r>
          </a:p>
          <a:p/>
          <a:p>
            <a:r>
              <a:t>If you build a DeFi project, you are not covered yet, but you should follow the MiCA 2 process now, because new rules may follow the 2027 report.</a:t>
            </a:r>
          </a:p>
          <a:p/>
          <a:p>
            <a:r>
              <a:t>And if you operate in both the EU and the US, you need two separate compliance tracks: MiCA in Europe and the GENIUS Act for US stablecoins.</a:t>
            </a:r>
          </a:p>
          <a:p/>
          <a:p>
            <a:r>
              <a:t>The general lesson: compliance is now part of the business model, not an afterthought.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Conclusion &amp; discussion (Speaker 2, ~1:00)</a:t>
            </a:r>
          </a:p>
          <a:p/>
          <a:p>
            <a:r>
              <a:t>To conclude: MiCA is the world's first comprehensive crypto regime — one rulebook for 27 countries. 2026 is the enforcement year: only licensed firms may operate. And there is a clear trade-off: more trust and more big players, but fewer small firms and less money for early-stage projects.</a:t>
            </a:r>
          </a:p>
          <a:p/>
          <a:p>
            <a:r>
              <a:t>So, can Europe regulate crypto without killing innovation? Our answer is: yes — but only for those who can afford compliance.</a:t>
            </a:r>
          </a:p>
          <a:p/>
          <a:p>
            <a:r>
              <a:t>Now we would like to hear your opinion. Imagine you want to buy crypto: would you choose a MiCA-licensed exchange, or a cheaper offshore one? And why?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Bibliography (Speaker 2, ~0:10)</a:t>
            </a:r>
          </a:p>
          <a:p/>
          <a:p>
            <a:r>
              <a:t>Here you can see all our sources. Thank you for your attention — we are happy to answer your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914400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Can Europe Regulate Crypto Without Killing Innovation?</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PICTUR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914400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Can Europe Regulate Crypto Without Killing Innovation?</a:t>
            </a:r>
            <a:endParaRPr lang="en-US" sz="1000" dirty="0"/>
          </a:p>
        </p:txBody>
      </p:sp>
      <p:sp>
        <p:nvSpPr>
          <p:cNvPr id="6" name="Text 2"/>
          <p:cNvSpPr/>
          <p:nvPr>
            <p:ph idx="104" hasCustomPrompt="1"/>
          </p:nvPr>
        </p:nvSpPr>
        <p:spPr>
          <a:xfrm>
            <a:off x="8549640" y="1417320"/>
            <a:ext cx="2953512" cy="466344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Insert picture</a:t>
            </a:r>
            <a:endParaRPr lang="en-US"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51560"/>
            <a:ext cx="6949440" cy="365760"/>
          </a:xfrm>
          <a:prstGeom prst="rect">
            <a:avLst/>
          </a:prstGeom>
          <a:noFill/>
          <a:ln/>
        </p:spPr>
        <p:txBody>
          <a:bodyPr wrap="square" lIns="0" tIns="0" rIns="0" bIns="0" rtlCol="0" anchor="t"/>
          <a:lstStyle/>
          <a:p>
            <a:pPr indent="0" marL="0">
              <a:buNone/>
            </a:pPr>
            <a:r>
              <a:rPr lang="en-US" sz="1400" b="1" spc="100" kern="0" dirty="0">
                <a:solidFill>
                  <a:schemeClr val="accent4"/>
                </a:solidFill>
              </a:rPr>
              <a:t>Doing Business in Europe  ·  Seminar presentation</a:t>
            </a:r>
            <a:endParaRPr lang="en-US" sz="1400" dirty="0"/>
          </a:p>
        </p:txBody>
      </p:sp>
      <p:sp>
        <p:nvSpPr>
          <p:cNvPr id="3" name="Text 1"/>
          <p:cNvSpPr txBox="1"/>
          <p:nvPr/>
        </p:nvSpPr>
        <p:spPr>
          <a:xfrm>
            <a:off x="731520" y="1554480"/>
            <a:ext cx="6766560" cy="2103120"/>
          </a:xfrm>
          <a:prstGeom prst="rect">
            <a:avLst/>
          </a:prstGeom>
          <a:noFill/>
          <a:ln/>
        </p:spPr>
        <p:txBody>
          <a:bodyPr wrap="square" lIns="0" tIns="0" rIns="0" bIns="0" rtlCol="0" anchor="t"/>
          <a:lstStyle/>
          <a:p>
            <a:pPr indent="0" marL="0">
              <a:buNone/>
            </a:pPr>
            <a:r>
              <a:rPr lang="en-US" sz="4000" b="1" dirty="0">
                <a:solidFill>
                  <a:schemeClr val="bg1"/>
                </a:solidFill>
                <a:latin typeface="Aptos" pitchFamily="34" charset="0"/>
                <a:ea typeface="Aptos" pitchFamily="34" charset="-122"/>
                <a:cs typeface="Aptos" pitchFamily="34" charset="-120"/>
              </a:rPr>
              <a:t>Can Europe Regulate Crypto Without Killing Innovation?</a:t>
            </a:r>
            <a:endParaRPr lang="en-US" sz="4000" dirty="0"/>
          </a:p>
        </p:txBody>
      </p:sp>
      <p:sp>
        <p:nvSpPr>
          <p:cNvPr id="4" name="Text 2"/>
          <p:cNvSpPr txBox="1"/>
          <p:nvPr/>
        </p:nvSpPr>
        <p:spPr>
          <a:xfrm>
            <a:off x="731520" y="3794760"/>
            <a:ext cx="6766560" cy="457200"/>
          </a:xfrm>
          <a:prstGeom prst="rect">
            <a:avLst/>
          </a:prstGeom>
          <a:noFill/>
          <a:ln/>
        </p:spPr>
        <p:txBody>
          <a:bodyPr wrap="square" lIns="0" tIns="0" rIns="0" bIns="0" rtlCol="0" anchor="t"/>
          <a:lstStyle/>
          <a:p>
            <a:pPr indent="0" marL="0">
              <a:buNone/>
            </a:pPr>
            <a:r>
              <a:rPr lang="en-US" sz="2400" dirty="0">
                <a:solidFill>
                  <a:schemeClr val="accent4"/>
                </a:solidFill>
              </a:rPr>
              <a:t>MiCA two years on</a:t>
            </a:r>
            <a:endParaRPr lang="en-US" sz="2400" dirty="0"/>
          </a:p>
        </p:txBody>
      </p:sp>
      <p:sp>
        <p:nvSpPr>
          <p:cNvPr id="5" name="Text 3"/>
          <p:cNvSpPr txBox="1"/>
          <p:nvPr/>
        </p:nvSpPr>
        <p:spPr>
          <a:xfrm>
            <a:off x="731520" y="5806440"/>
            <a:ext cx="6766560" cy="365760"/>
          </a:xfrm>
          <a:prstGeom prst="rect">
            <a:avLst/>
          </a:prstGeom>
          <a:noFill/>
          <a:ln/>
        </p:spPr>
        <p:txBody>
          <a:bodyPr wrap="square" lIns="0" tIns="0" rIns="0" bIns="0" rtlCol="0" anchor="t"/>
          <a:lstStyle/>
          <a:p>
            <a:pPr indent="0" marL="0">
              <a:buNone/>
            </a:pPr>
            <a:r>
              <a:rPr lang="en-US" sz="1400" dirty="0">
                <a:solidFill>
                  <a:schemeClr val="accent4"/>
                </a:solidFill>
              </a:rPr>
              <a:t>Corvinus University of Budapest  ·  Fall 2026</a:t>
            </a:r>
            <a:endParaRPr lang="en-US" sz="1400" dirty="0"/>
          </a:p>
        </p:txBody>
      </p:sp>
      <p:sp>
        <p:nvSpPr>
          <p:cNvPr id="6" name="Photo Amir Kenenbaev"/>
          <p:cNvSpPr/>
          <p:nvPr/>
        </p:nvSpPr>
        <p:spPr>
          <a:xfrm>
            <a:off x="8001000" y="1828800"/>
            <a:ext cx="1828800" cy="1828800"/>
          </a:xfrm>
          <a:prstGeom prst="ellipse">
            <a:avLst/>
          </a:prstGeom>
          <a:solidFill>
            <a:srgbClr val="1B3A5C"/>
          </a:solidFill>
          <a:ln w="19050">
            <a:solidFill>
              <a:schemeClr val="bg1"/>
            </a:solidFill>
            <a:prstDash val="solid"/>
          </a:ln>
        </p:spPr>
      </p:sp>
      <p:sp>
        <p:nvSpPr>
          <p:cNvPr id="7" name="Text 5"/>
          <p:cNvSpPr txBox="1"/>
          <p:nvPr/>
        </p:nvSpPr>
        <p:spPr>
          <a:xfrm>
            <a:off x="7726680" y="3840480"/>
            <a:ext cx="2377440" cy="365760"/>
          </a:xfrm>
          <a:prstGeom prst="rect">
            <a:avLst/>
          </a:prstGeom>
          <a:noFill/>
          <a:ln/>
        </p:spPr>
        <p:txBody>
          <a:bodyPr wrap="square" lIns="0" tIns="0" rIns="0" bIns="0" rtlCol="0" anchor="t"/>
          <a:lstStyle/>
          <a:p>
            <a:pPr algn="ctr" indent="0" marL="0">
              <a:buNone/>
            </a:pPr>
            <a:r>
              <a:rPr lang="en-US" sz="1500" b="1" dirty="0">
                <a:solidFill>
                  <a:schemeClr val="bg1"/>
                </a:solidFill>
              </a:rPr>
              <a:t>Amir Kenenbaev</a:t>
            </a:r>
            <a:endParaRPr lang="en-US" sz="1500" dirty="0"/>
          </a:p>
        </p:txBody>
      </p:sp>
      <p:sp>
        <p:nvSpPr>
          <p:cNvPr id="8" name="Photo Aruuke Dzhumabaeva"/>
          <p:cNvSpPr/>
          <p:nvPr/>
        </p:nvSpPr>
        <p:spPr>
          <a:xfrm>
            <a:off x="10104120" y="1828800"/>
            <a:ext cx="1828800" cy="1828800"/>
          </a:xfrm>
          <a:prstGeom prst="ellipse">
            <a:avLst/>
          </a:prstGeom>
          <a:solidFill>
            <a:srgbClr val="1B3A5C"/>
          </a:solidFill>
          <a:ln w="19050">
            <a:solidFill>
              <a:schemeClr val="bg1"/>
            </a:solidFill>
            <a:prstDash val="solid"/>
          </a:ln>
        </p:spPr>
      </p:sp>
      <p:sp>
        <p:nvSpPr>
          <p:cNvPr id="9" name="Text 7"/>
          <p:cNvSpPr txBox="1"/>
          <p:nvPr/>
        </p:nvSpPr>
        <p:spPr>
          <a:xfrm>
            <a:off x="9829800" y="3840480"/>
            <a:ext cx="2377440" cy="365760"/>
          </a:xfrm>
          <a:prstGeom prst="rect">
            <a:avLst/>
          </a:prstGeom>
          <a:noFill/>
          <a:ln/>
        </p:spPr>
        <p:txBody>
          <a:bodyPr wrap="square" lIns="0" tIns="0" rIns="0" bIns="0" rtlCol="0" anchor="t"/>
          <a:lstStyle/>
          <a:p>
            <a:pPr algn="ctr" indent="0" marL="0">
              <a:buNone/>
            </a:pPr>
            <a:r>
              <a:rPr lang="en-US" sz="1500" b="1" dirty="0">
                <a:solidFill>
                  <a:schemeClr val="bg1"/>
                </a:solidFill>
              </a:rPr>
              <a:t>Aruuke Dzhumabaeva</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Structure</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Agenda</a:t>
            </a:r>
            <a:endParaRPr lang="en-US" sz="2600" dirty="0"/>
          </a:p>
        </p:txBody>
      </p:sp>
      <p:sp>
        <p:nvSpPr>
          <p:cNvPr id="4" name="Agenda card 1"/>
          <p:cNvSpPr/>
          <p:nvPr/>
        </p:nvSpPr>
        <p:spPr>
          <a:xfrm>
            <a:off x="914400" y="1463040"/>
            <a:ext cx="3346704" cy="2057400"/>
          </a:xfrm>
          <a:prstGeom prst="rect">
            <a:avLst/>
          </a:prstGeom>
          <a:solidFill>
            <a:schemeClr val="bg1"/>
          </a:solidFill>
          <a:ln w="12700">
            <a:solidFill>
              <a:schemeClr val="accent4"/>
            </a:solidFill>
            <a:prstDash val="solid"/>
          </a:ln>
        </p:spPr>
      </p:sp>
      <p:sp>
        <p:nvSpPr>
          <p:cNvPr id="5" name="Text 3"/>
          <p:cNvSpPr txBox="1"/>
          <p:nvPr/>
        </p:nvSpPr>
        <p:spPr>
          <a:xfrm>
            <a:off x="1234440" y="1691640"/>
            <a:ext cx="1371600" cy="594360"/>
          </a:xfrm>
          <a:prstGeom prst="rect">
            <a:avLst/>
          </a:prstGeom>
          <a:noFill/>
          <a:ln/>
        </p:spPr>
        <p:txBody>
          <a:bodyPr wrap="square" lIns="0" tIns="0" rIns="0" bIns="0" rtlCol="0" anchor="t"/>
          <a:lstStyle/>
          <a:p>
            <a:pPr indent="0" marL="0">
              <a:buNone/>
            </a:pPr>
            <a:r>
              <a:rPr lang="en-US" sz="3200" b="1" dirty="0">
                <a:solidFill>
                  <a:schemeClr val="accent2"/>
                </a:solidFill>
              </a:rPr>
              <a:t>01</a:t>
            </a:r>
            <a:endParaRPr lang="en-US" sz="3200" dirty="0"/>
          </a:p>
        </p:txBody>
      </p:sp>
      <p:sp>
        <p:nvSpPr>
          <p:cNvPr id="6" name="Text 4"/>
          <p:cNvSpPr txBox="1"/>
          <p:nvPr/>
        </p:nvSpPr>
        <p:spPr>
          <a:xfrm>
            <a:off x="1234440" y="2331720"/>
            <a:ext cx="2706624" cy="640080"/>
          </a:xfrm>
          <a:prstGeom prst="rect">
            <a:avLst/>
          </a:prstGeom>
          <a:noFill/>
          <a:ln/>
        </p:spPr>
        <p:txBody>
          <a:bodyPr wrap="square" lIns="0" tIns="0" rIns="0" bIns="0" rtlCol="0" anchor="t"/>
          <a:lstStyle/>
          <a:p>
            <a:pPr indent="0" marL="0">
              <a:buNone/>
            </a:pPr>
            <a:r>
              <a:rPr lang="en-US" sz="1900" b="1" dirty="0">
                <a:solidFill>
                  <a:schemeClr val="accent1"/>
                </a:solidFill>
              </a:rPr>
              <a:t>Why regulate crypto</a:t>
            </a:r>
            <a:endParaRPr lang="en-US" sz="1900" dirty="0"/>
          </a:p>
        </p:txBody>
      </p:sp>
      <p:sp>
        <p:nvSpPr>
          <p:cNvPr id="7" name="Text 5"/>
          <p:cNvSpPr txBox="1"/>
          <p:nvPr/>
        </p:nvSpPr>
        <p:spPr>
          <a:xfrm>
            <a:off x="1234440" y="2926080"/>
            <a:ext cx="2706624" cy="457200"/>
          </a:xfrm>
          <a:prstGeom prst="rect">
            <a:avLst/>
          </a:prstGeom>
          <a:noFill/>
          <a:ln/>
        </p:spPr>
        <p:txBody>
          <a:bodyPr wrap="square" lIns="0" tIns="0" rIns="0" bIns="0" rtlCol="0" anchor="t"/>
          <a:lstStyle/>
          <a:p>
            <a:pPr indent="0" marL="0">
              <a:buNone/>
            </a:pPr>
            <a:r>
              <a:rPr lang="en-US" sz="1400" dirty="0">
                <a:solidFill>
                  <a:schemeClr val="accent6"/>
                </a:solidFill>
              </a:rPr>
              <a:t>Risks for users and why rules are needed</a:t>
            </a:r>
            <a:endParaRPr lang="en-US" sz="1400" dirty="0"/>
          </a:p>
        </p:txBody>
      </p:sp>
      <p:sp>
        <p:nvSpPr>
          <p:cNvPr id="8" name="Agenda card 2"/>
          <p:cNvSpPr/>
          <p:nvPr/>
        </p:nvSpPr>
        <p:spPr>
          <a:xfrm>
            <a:off x="4535424" y="1463040"/>
            <a:ext cx="3346704" cy="2057400"/>
          </a:xfrm>
          <a:prstGeom prst="rect">
            <a:avLst/>
          </a:prstGeom>
          <a:solidFill>
            <a:schemeClr val="bg1"/>
          </a:solidFill>
          <a:ln w="12700">
            <a:solidFill>
              <a:schemeClr val="accent4"/>
            </a:solidFill>
            <a:prstDash val="solid"/>
          </a:ln>
        </p:spPr>
      </p:sp>
      <p:sp>
        <p:nvSpPr>
          <p:cNvPr id="9" name="Text 7"/>
          <p:cNvSpPr txBox="1"/>
          <p:nvPr/>
        </p:nvSpPr>
        <p:spPr>
          <a:xfrm>
            <a:off x="4855464" y="1691640"/>
            <a:ext cx="1371600" cy="594360"/>
          </a:xfrm>
          <a:prstGeom prst="rect">
            <a:avLst/>
          </a:prstGeom>
          <a:noFill/>
          <a:ln/>
        </p:spPr>
        <p:txBody>
          <a:bodyPr wrap="square" lIns="0" tIns="0" rIns="0" bIns="0" rtlCol="0" anchor="t"/>
          <a:lstStyle/>
          <a:p>
            <a:pPr indent="0" marL="0">
              <a:buNone/>
            </a:pPr>
            <a:r>
              <a:rPr lang="en-US" sz="3200" b="1" dirty="0">
                <a:solidFill>
                  <a:schemeClr val="accent2"/>
                </a:solidFill>
              </a:rPr>
              <a:t>02</a:t>
            </a:r>
            <a:endParaRPr lang="en-US" sz="3200" dirty="0"/>
          </a:p>
        </p:txBody>
      </p:sp>
      <p:sp>
        <p:nvSpPr>
          <p:cNvPr id="10" name="Text 8"/>
          <p:cNvSpPr txBox="1"/>
          <p:nvPr/>
        </p:nvSpPr>
        <p:spPr>
          <a:xfrm>
            <a:off x="4855464" y="2331720"/>
            <a:ext cx="2706624" cy="640080"/>
          </a:xfrm>
          <a:prstGeom prst="rect">
            <a:avLst/>
          </a:prstGeom>
          <a:noFill/>
          <a:ln/>
        </p:spPr>
        <p:txBody>
          <a:bodyPr wrap="square" lIns="0" tIns="0" rIns="0" bIns="0" rtlCol="0" anchor="t"/>
          <a:lstStyle/>
          <a:p>
            <a:pPr indent="0" marL="0">
              <a:buNone/>
            </a:pPr>
            <a:r>
              <a:rPr lang="en-US" sz="1900" b="1" dirty="0">
                <a:solidFill>
                  <a:schemeClr val="accent1"/>
                </a:solidFill>
              </a:rPr>
              <a:t>How MiCA works</a:t>
            </a:r>
            <a:endParaRPr lang="en-US" sz="1900" dirty="0"/>
          </a:p>
        </p:txBody>
      </p:sp>
      <p:sp>
        <p:nvSpPr>
          <p:cNvPr id="11" name="Text 9"/>
          <p:cNvSpPr txBox="1"/>
          <p:nvPr/>
        </p:nvSpPr>
        <p:spPr>
          <a:xfrm>
            <a:off x="4855464" y="2926080"/>
            <a:ext cx="2706624" cy="457200"/>
          </a:xfrm>
          <a:prstGeom prst="rect">
            <a:avLst/>
          </a:prstGeom>
          <a:noFill/>
          <a:ln/>
        </p:spPr>
        <p:txBody>
          <a:bodyPr wrap="square" lIns="0" tIns="0" rIns="0" bIns="0" rtlCol="0" anchor="t"/>
          <a:lstStyle/>
          <a:p>
            <a:pPr indent="0" marL="0">
              <a:buNone/>
            </a:pPr>
            <a:r>
              <a:rPr lang="en-US" sz="1400" dirty="0">
                <a:solidFill>
                  <a:schemeClr val="accent6"/>
                </a:solidFill>
              </a:rPr>
              <a:t>Token types, licences and the timeline</a:t>
            </a:r>
            <a:endParaRPr lang="en-US" sz="1400" dirty="0"/>
          </a:p>
        </p:txBody>
      </p:sp>
      <p:sp>
        <p:nvSpPr>
          <p:cNvPr id="12" name="Agenda card 3"/>
          <p:cNvSpPr/>
          <p:nvPr/>
        </p:nvSpPr>
        <p:spPr>
          <a:xfrm>
            <a:off x="8156448" y="1463040"/>
            <a:ext cx="3346704" cy="2057400"/>
          </a:xfrm>
          <a:prstGeom prst="rect">
            <a:avLst/>
          </a:prstGeom>
          <a:solidFill>
            <a:schemeClr val="bg1"/>
          </a:solidFill>
          <a:ln w="12700">
            <a:solidFill>
              <a:schemeClr val="accent4"/>
            </a:solidFill>
            <a:prstDash val="solid"/>
          </a:ln>
        </p:spPr>
      </p:sp>
      <p:sp>
        <p:nvSpPr>
          <p:cNvPr id="13" name="Text 11"/>
          <p:cNvSpPr txBox="1"/>
          <p:nvPr/>
        </p:nvSpPr>
        <p:spPr>
          <a:xfrm>
            <a:off x="8476488" y="1691640"/>
            <a:ext cx="1371600" cy="594360"/>
          </a:xfrm>
          <a:prstGeom prst="rect">
            <a:avLst/>
          </a:prstGeom>
          <a:noFill/>
          <a:ln/>
        </p:spPr>
        <p:txBody>
          <a:bodyPr wrap="square" lIns="0" tIns="0" rIns="0" bIns="0" rtlCol="0" anchor="t"/>
          <a:lstStyle/>
          <a:p>
            <a:pPr indent="0" marL="0">
              <a:buNone/>
            </a:pPr>
            <a:r>
              <a:rPr lang="en-US" sz="3200" b="1" dirty="0">
                <a:solidFill>
                  <a:schemeClr val="accent2"/>
                </a:solidFill>
              </a:rPr>
              <a:t>03</a:t>
            </a:r>
            <a:endParaRPr lang="en-US" sz="3200" dirty="0"/>
          </a:p>
        </p:txBody>
      </p:sp>
      <p:sp>
        <p:nvSpPr>
          <p:cNvPr id="14" name="Text 12"/>
          <p:cNvSpPr txBox="1"/>
          <p:nvPr/>
        </p:nvSpPr>
        <p:spPr>
          <a:xfrm>
            <a:off x="8476488" y="2331720"/>
            <a:ext cx="2706624" cy="640080"/>
          </a:xfrm>
          <a:prstGeom prst="rect">
            <a:avLst/>
          </a:prstGeom>
          <a:noFill/>
          <a:ln/>
        </p:spPr>
        <p:txBody>
          <a:bodyPr wrap="square" lIns="0" tIns="0" rIns="0" bIns="0" rtlCol="0" anchor="t"/>
          <a:lstStyle/>
          <a:p>
            <a:pPr indent="0" marL="0">
              <a:buNone/>
            </a:pPr>
            <a:r>
              <a:rPr lang="en-US" sz="1900" b="1" dirty="0">
                <a:solidFill>
                  <a:schemeClr val="accent1"/>
                </a:solidFill>
              </a:rPr>
              <a:t>The case for and against</a:t>
            </a:r>
            <a:endParaRPr lang="en-US" sz="1900" dirty="0"/>
          </a:p>
        </p:txBody>
      </p:sp>
      <p:sp>
        <p:nvSpPr>
          <p:cNvPr id="15" name="Text 13"/>
          <p:cNvSpPr txBox="1"/>
          <p:nvPr/>
        </p:nvSpPr>
        <p:spPr>
          <a:xfrm>
            <a:off x="8476488" y="2926080"/>
            <a:ext cx="2706624" cy="457200"/>
          </a:xfrm>
          <a:prstGeom prst="rect">
            <a:avLst/>
          </a:prstGeom>
          <a:noFill/>
          <a:ln/>
        </p:spPr>
        <p:txBody>
          <a:bodyPr wrap="square" lIns="0" tIns="0" rIns="0" bIns="0" rtlCol="0" anchor="t"/>
          <a:lstStyle/>
          <a:p>
            <a:pPr indent="0" marL="0">
              <a:buNone/>
            </a:pPr>
            <a:r>
              <a:rPr lang="en-US" sz="1400" dirty="0">
                <a:solidFill>
                  <a:schemeClr val="accent6"/>
                </a:solidFill>
              </a:rPr>
              <a:t>What MiCA improved and what it cost</a:t>
            </a:r>
            <a:endParaRPr lang="en-US" sz="1400" dirty="0"/>
          </a:p>
        </p:txBody>
      </p:sp>
      <p:sp>
        <p:nvSpPr>
          <p:cNvPr id="16" name="Agenda card 4"/>
          <p:cNvSpPr/>
          <p:nvPr/>
        </p:nvSpPr>
        <p:spPr>
          <a:xfrm>
            <a:off x="914400" y="3794760"/>
            <a:ext cx="3346704" cy="2057400"/>
          </a:xfrm>
          <a:prstGeom prst="rect">
            <a:avLst/>
          </a:prstGeom>
          <a:solidFill>
            <a:schemeClr val="bg1"/>
          </a:solidFill>
          <a:ln w="12700">
            <a:solidFill>
              <a:schemeClr val="accent4"/>
            </a:solidFill>
            <a:prstDash val="solid"/>
          </a:ln>
        </p:spPr>
      </p:sp>
      <p:sp>
        <p:nvSpPr>
          <p:cNvPr id="17" name="Text 15"/>
          <p:cNvSpPr txBox="1"/>
          <p:nvPr/>
        </p:nvSpPr>
        <p:spPr>
          <a:xfrm>
            <a:off x="1234440" y="4023360"/>
            <a:ext cx="1371600" cy="594360"/>
          </a:xfrm>
          <a:prstGeom prst="rect">
            <a:avLst/>
          </a:prstGeom>
          <a:noFill/>
          <a:ln/>
        </p:spPr>
        <p:txBody>
          <a:bodyPr wrap="square" lIns="0" tIns="0" rIns="0" bIns="0" rtlCol="0" anchor="t"/>
          <a:lstStyle/>
          <a:p>
            <a:pPr indent="0" marL="0">
              <a:buNone/>
            </a:pPr>
            <a:r>
              <a:rPr lang="en-US" sz="3200" b="1" dirty="0">
                <a:solidFill>
                  <a:schemeClr val="accent2"/>
                </a:solidFill>
              </a:rPr>
              <a:t>04</a:t>
            </a:r>
            <a:endParaRPr lang="en-US" sz="3200" dirty="0"/>
          </a:p>
        </p:txBody>
      </p:sp>
      <p:sp>
        <p:nvSpPr>
          <p:cNvPr id="18" name="Text 16"/>
          <p:cNvSpPr txBox="1"/>
          <p:nvPr/>
        </p:nvSpPr>
        <p:spPr>
          <a:xfrm>
            <a:off x="1234440" y="4663440"/>
            <a:ext cx="2706624" cy="640080"/>
          </a:xfrm>
          <a:prstGeom prst="rect">
            <a:avLst/>
          </a:prstGeom>
          <a:noFill/>
          <a:ln/>
        </p:spPr>
        <p:txBody>
          <a:bodyPr wrap="square" lIns="0" tIns="0" rIns="0" bIns="0" rtlCol="0" anchor="t"/>
          <a:lstStyle/>
          <a:p>
            <a:pPr indent="0" marL="0">
              <a:buNone/>
            </a:pPr>
            <a:r>
              <a:rPr lang="en-US" sz="1900" b="1" dirty="0">
                <a:solidFill>
                  <a:schemeClr val="accent1"/>
                </a:solidFill>
              </a:rPr>
              <a:t>EU vs US</a:t>
            </a:r>
            <a:endParaRPr lang="en-US" sz="1900" dirty="0"/>
          </a:p>
        </p:txBody>
      </p:sp>
      <p:sp>
        <p:nvSpPr>
          <p:cNvPr id="19" name="Text 17"/>
          <p:cNvSpPr txBox="1"/>
          <p:nvPr/>
        </p:nvSpPr>
        <p:spPr>
          <a:xfrm>
            <a:off x="1234440" y="5257800"/>
            <a:ext cx="2706624" cy="457200"/>
          </a:xfrm>
          <a:prstGeom prst="rect">
            <a:avLst/>
          </a:prstGeom>
          <a:noFill/>
          <a:ln/>
        </p:spPr>
        <p:txBody>
          <a:bodyPr wrap="square" lIns="0" tIns="0" rIns="0" bIns="0" rtlCol="0" anchor="t"/>
          <a:lstStyle/>
          <a:p>
            <a:pPr indent="0" marL="0">
              <a:buNone/>
            </a:pPr>
            <a:r>
              <a:rPr lang="en-US" sz="1400" dirty="0">
                <a:solidFill>
                  <a:schemeClr val="accent6"/>
                </a:solidFill>
              </a:rPr>
              <a:t>Two different ways to regulate stablecoins</a:t>
            </a:r>
            <a:endParaRPr lang="en-US" sz="1400" dirty="0"/>
          </a:p>
        </p:txBody>
      </p:sp>
      <p:sp>
        <p:nvSpPr>
          <p:cNvPr id="20" name="Agenda card 5"/>
          <p:cNvSpPr/>
          <p:nvPr/>
        </p:nvSpPr>
        <p:spPr>
          <a:xfrm>
            <a:off x="4535424" y="3794760"/>
            <a:ext cx="3346704" cy="2057400"/>
          </a:xfrm>
          <a:prstGeom prst="rect">
            <a:avLst/>
          </a:prstGeom>
          <a:solidFill>
            <a:schemeClr val="bg1"/>
          </a:solidFill>
          <a:ln w="12700">
            <a:solidFill>
              <a:schemeClr val="accent4"/>
            </a:solidFill>
            <a:prstDash val="solid"/>
          </a:ln>
        </p:spPr>
      </p:sp>
      <p:sp>
        <p:nvSpPr>
          <p:cNvPr id="21" name="Text 19"/>
          <p:cNvSpPr txBox="1"/>
          <p:nvPr/>
        </p:nvSpPr>
        <p:spPr>
          <a:xfrm>
            <a:off x="4855464" y="4023360"/>
            <a:ext cx="1371600" cy="594360"/>
          </a:xfrm>
          <a:prstGeom prst="rect">
            <a:avLst/>
          </a:prstGeom>
          <a:noFill/>
          <a:ln/>
        </p:spPr>
        <p:txBody>
          <a:bodyPr wrap="square" lIns="0" tIns="0" rIns="0" bIns="0" rtlCol="0" anchor="t"/>
          <a:lstStyle/>
          <a:p>
            <a:pPr indent="0" marL="0">
              <a:buNone/>
            </a:pPr>
            <a:r>
              <a:rPr lang="en-US" sz="3200" b="1" dirty="0">
                <a:solidFill>
                  <a:schemeClr val="accent2"/>
                </a:solidFill>
              </a:rPr>
              <a:t>05</a:t>
            </a:r>
            <a:endParaRPr lang="en-US" sz="3200" dirty="0"/>
          </a:p>
        </p:txBody>
      </p:sp>
      <p:sp>
        <p:nvSpPr>
          <p:cNvPr id="22" name="Text 20"/>
          <p:cNvSpPr txBox="1"/>
          <p:nvPr/>
        </p:nvSpPr>
        <p:spPr>
          <a:xfrm>
            <a:off x="4855464" y="4663440"/>
            <a:ext cx="2706624" cy="640080"/>
          </a:xfrm>
          <a:prstGeom prst="rect">
            <a:avLst/>
          </a:prstGeom>
          <a:noFill/>
          <a:ln/>
        </p:spPr>
        <p:txBody>
          <a:bodyPr wrap="square" lIns="0" tIns="0" rIns="0" bIns="0" rtlCol="0" anchor="t"/>
          <a:lstStyle/>
          <a:p>
            <a:pPr indent="0" marL="0">
              <a:buNone/>
            </a:pPr>
            <a:r>
              <a:rPr lang="en-US" sz="1900" b="1" dirty="0">
                <a:solidFill>
                  <a:schemeClr val="accent1"/>
                </a:solidFill>
              </a:rPr>
              <a:t>How the EU is adjusting</a:t>
            </a:r>
            <a:endParaRPr lang="en-US" sz="1900" dirty="0"/>
          </a:p>
        </p:txBody>
      </p:sp>
      <p:sp>
        <p:nvSpPr>
          <p:cNvPr id="23" name="Text 21"/>
          <p:cNvSpPr txBox="1"/>
          <p:nvPr/>
        </p:nvSpPr>
        <p:spPr>
          <a:xfrm>
            <a:off x="4855464" y="5257800"/>
            <a:ext cx="2706624" cy="457200"/>
          </a:xfrm>
          <a:prstGeom prst="rect">
            <a:avLst/>
          </a:prstGeom>
          <a:noFill/>
          <a:ln/>
        </p:spPr>
        <p:txBody>
          <a:bodyPr wrap="square" lIns="0" tIns="0" rIns="0" bIns="0" rtlCol="0" anchor="t"/>
          <a:lstStyle/>
          <a:p>
            <a:pPr indent="0" marL="0">
              <a:buNone/>
            </a:pPr>
            <a:r>
              <a:rPr lang="en-US" sz="1400" dirty="0">
                <a:solidFill>
                  <a:schemeClr val="accent6"/>
                </a:solidFill>
              </a:rPr>
              <a:t>The review known as “MiCA 2”</a:t>
            </a:r>
            <a:endParaRPr lang="en-US" sz="1400" dirty="0"/>
          </a:p>
        </p:txBody>
      </p:sp>
      <p:sp>
        <p:nvSpPr>
          <p:cNvPr id="24" name="Agenda card 6"/>
          <p:cNvSpPr/>
          <p:nvPr/>
        </p:nvSpPr>
        <p:spPr>
          <a:xfrm>
            <a:off x="8156448" y="3794760"/>
            <a:ext cx="3346704" cy="2057400"/>
          </a:xfrm>
          <a:prstGeom prst="rect">
            <a:avLst/>
          </a:prstGeom>
          <a:solidFill>
            <a:schemeClr val="bg1"/>
          </a:solidFill>
          <a:ln w="12700">
            <a:solidFill>
              <a:schemeClr val="accent4"/>
            </a:solidFill>
            <a:prstDash val="solid"/>
          </a:ln>
        </p:spPr>
      </p:sp>
      <p:sp>
        <p:nvSpPr>
          <p:cNvPr id="25" name="Text 23"/>
          <p:cNvSpPr txBox="1"/>
          <p:nvPr/>
        </p:nvSpPr>
        <p:spPr>
          <a:xfrm>
            <a:off x="8476488" y="4023360"/>
            <a:ext cx="1371600" cy="594360"/>
          </a:xfrm>
          <a:prstGeom prst="rect">
            <a:avLst/>
          </a:prstGeom>
          <a:noFill/>
          <a:ln/>
        </p:spPr>
        <p:txBody>
          <a:bodyPr wrap="square" lIns="0" tIns="0" rIns="0" bIns="0" rtlCol="0" anchor="t"/>
          <a:lstStyle/>
          <a:p>
            <a:pPr indent="0" marL="0">
              <a:buNone/>
            </a:pPr>
            <a:r>
              <a:rPr lang="en-US" sz="3200" b="1" dirty="0">
                <a:solidFill>
                  <a:schemeClr val="accent2"/>
                </a:solidFill>
              </a:rPr>
              <a:t>06</a:t>
            </a:r>
            <a:endParaRPr lang="en-US" sz="3200" dirty="0"/>
          </a:p>
        </p:txBody>
      </p:sp>
      <p:sp>
        <p:nvSpPr>
          <p:cNvPr id="26" name="Text 24"/>
          <p:cNvSpPr txBox="1"/>
          <p:nvPr/>
        </p:nvSpPr>
        <p:spPr>
          <a:xfrm>
            <a:off x="8476488" y="4663440"/>
            <a:ext cx="2706624" cy="640080"/>
          </a:xfrm>
          <a:prstGeom prst="rect">
            <a:avLst/>
          </a:prstGeom>
          <a:noFill/>
          <a:ln/>
        </p:spPr>
        <p:txBody>
          <a:bodyPr wrap="square" lIns="0" tIns="0" rIns="0" bIns="0" rtlCol="0" anchor="t"/>
          <a:lstStyle/>
          <a:p>
            <a:pPr indent="0" marL="0">
              <a:buNone/>
            </a:pPr>
            <a:r>
              <a:rPr lang="en-US" sz="1900" b="1" dirty="0">
                <a:solidFill>
                  <a:schemeClr val="accent1"/>
                </a:solidFill>
              </a:rPr>
              <a:t>Verdict &amp; business implications</a:t>
            </a:r>
            <a:endParaRPr lang="en-US" sz="1900" dirty="0"/>
          </a:p>
        </p:txBody>
      </p:sp>
      <p:sp>
        <p:nvSpPr>
          <p:cNvPr id="27" name="Text 25"/>
          <p:cNvSpPr txBox="1"/>
          <p:nvPr/>
        </p:nvSpPr>
        <p:spPr>
          <a:xfrm>
            <a:off x="8476488" y="5257800"/>
            <a:ext cx="2706624" cy="457200"/>
          </a:xfrm>
          <a:prstGeom prst="rect">
            <a:avLst/>
          </a:prstGeom>
          <a:noFill/>
          <a:ln/>
        </p:spPr>
        <p:txBody>
          <a:bodyPr wrap="square" lIns="0" tIns="0" rIns="0" bIns="0" rtlCol="0" anchor="t"/>
          <a:lstStyle/>
          <a:p>
            <a:pPr indent="0" marL="0">
              <a:buNone/>
            </a:pPr>
            <a:r>
              <a:rPr lang="en-US" sz="1400" dirty="0">
                <a:solidFill>
                  <a:schemeClr val="accent6"/>
                </a:solidFill>
              </a:rPr>
              <a:t>Our answer and what firms should do</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Why regulate crypto</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Why crypto should be regulated?</a:t>
            </a:r>
            <a:endParaRPr lang="en-US" sz="2600" dirty="0"/>
          </a:p>
        </p:txBody>
      </p:sp>
      <p:sp>
        <p:nvSpPr>
          <p:cNvPr id="4" name="Text 2"/>
          <p:cNvSpPr txBox="1"/>
          <p:nvPr/>
        </p:nvSpPr>
        <p:spPr>
          <a:xfrm>
            <a:off x="914400" y="1234440"/>
            <a:ext cx="10588752" cy="365760"/>
          </a:xfrm>
          <a:prstGeom prst="rect">
            <a:avLst/>
          </a:prstGeom>
          <a:noFill/>
          <a:ln/>
        </p:spPr>
        <p:txBody>
          <a:bodyPr wrap="square" lIns="0" tIns="0" rIns="0" bIns="0" rtlCol="0" anchor="t"/>
          <a:lstStyle/>
          <a:p>
            <a:pPr indent="0" marL="0">
              <a:buNone/>
            </a:pPr>
            <a:r>
              <a:rPr lang="en-US" sz="1700" dirty="0">
                <a:solidFill>
                  <a:schemeClr val="accent6"/>
                </a:solidFill>
              </a:rPr>
              <a:t>Crypto is growing fast, but its users face three different kinds of risk.</a:t>
            </a:r>
            <a:endParaRPr lang="en-US" sz="1700" dirty="0"/>
          </a:p>
        </p:txBody>
      </p:sp>
      <p:sp>
        <p:nvSpPr>
          <p:cNvPr id="5" name="Text 3"/>
          <p:cNvSpPr txBox="1"/>
          <p:nvPr/>
        </p:nvSpPr>
        <p:spPr>
          <a:xfrm>
            <a:off x="914400" y="1783080"/>
            <a:ext cx="6309360" cy="320040"/>
          </a:xfrm>
          <a:prstGeom prst="rect">
            <a:avLst/>
          </a:prstGeom>
          <a:noFill/>
          <a:ln/>
        </p:spPr>
        <p:txBody>
          <a:bodyPr wrap="square" lIns="0" tIns="0" rIns="0" bIns="0" rtlCol="0" anchor="t"/>
          <a:lstStyle/>
          <a:p>
            <a:pPr indent="0" marL="0">
              <a:buNone/>
            </a:pPr>
            <a:r>
              <a:rPr lang="en-US" sz="1500" b="1" dirty="0">
                <a:solidFill>
                  <a:schemeClr val="accent2"/>
                </a:solidFill>
              </a:rPr>
              <a:t>1  Hacks  </a:t>
            </a:r>
            <a:pPr indent="0" marL="0">
              <a:buNone/>
            </a:pPr>
            <a:r>
              <a:rPr lang="en-US" sz="1500" dirty="0">
                <a:solidFill>
                  <a:schemeClr val="accent6"/>
                </a:solidFill>
              </a:rPr>
              <a:t>crypto stolen from exchanges and platforms, worldwide</a:t>
            </a:r>
            <a:endParaRPr lang="en-US" sz="1500" dirty="0"/>
          </a:p>
        </p:txBody>
      </p:sp>
      <p:graphicFrame>
        <p:nvGraphicFramePr>
          <p:cNvPr id="6" name="Chart 0" descr=""/>
          <p:cNvGraphicFramePr/>
          <p:nvPr/>
        </p:nvGraphicFramePr>
        <p:xfrm>
          <a:off x="822960" y="2103120"/>
          <a:ext cx="6400800" cy="33375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914400" y="5440680"/>
            <a:ext cx="6400800" cy="256032"/>
          </a:xfrm>
          <a:prstGeom prst="rect">
            <a:avLst/>
          </a:prstGeom>
          <a:noFill/>
          <a:ln/>
        </p:spPr>
        <p:txBody>
          <a:bodyPr wrap="square" lIns="0" tIns="0" rIns="0" bIns="0" rtlCol="0" anchor="t"/>
          <a:lstStyle/>
          <a:p>
            <a:pPr indent="0" marL="0">
              <a:buNone/>
            </a:pPr>
            <a:r>
              <a:rPr lang="en-US" sz="1000" i="1" dirty="0">
                <a:solidFill>
                  <a:schemeClr val="accent3"/>
                </a:solidFill>
              </a:rPr>
              <a:t>US$ bn. Source: Chainalysis (2022–2026); 2025 covers January to early December.</a:t>
            </a:r>
            <a:endParaRPr lang="en-US" sz="1000" dirty="0"/>
          </a:p>
        </p:txBody>
      </p:sp>
      <p:sp>
        <p:nvSpPr>
          <p:cNvPr id="8" name="Text 5"/>
          <p:cNvSpPr txBox="1"/>
          <p:nvPr/>
        </p:nvSpPr>
        <p:spPr>
          <a:xfrm>
            <a:off x="7635240" y="1783080"/>
            <a:ext cx="3867912" cy="292608"/>
          </a:xfrm>
          <a:prstGeom prst="rect">
            <a:avLst/>
          </a:prstGeom>
          <a:noFill/>
          <a:ln/>
        </p:spPr>
        <p:txBody>
          <a:bodyPr wrap="square" lIns="0" tIns="0" rIns="0" bIns="0" rtlCol="0" anchor="t"/>
          <a:lstStyle/>
          <a:p>
            <a:pPr indent="0" marL="0">
              <a:buNone/>
            </a:pPr>
            <a:r>
              <a:rPr lang="en-US" sz="1500" b="1" dirty="0">
                <a:solidFill>
                  <a:schemeClr val="accent2"/>
                </a:solidFill>
              </a:rPr>
              <a:t>2  Scams</a:t>
            </a:r>
            <a:endParaRPr lang="en-US" sz="1500" dirty="0"/>
          </a:p>
        </p:txBody>
      </p:sp>
      <p:sp>
        <p:nvSpPr>
          <p:cNvPr id="9" name="Text 6"/>
          <p:cNvSpPr txBox="1"/>
          <p:nvPr/>
        </p:nvSpPr>
        <p:spPr>
          <a:xfrm>
            <a:off x="7635240" y="2075688"/>
            <a:ext cx="3867912" cy="548640"/>
          </a:xfrm>
          <a:prstGeom prst="rect">
            <a:avLst/>
          </a:prstGeom>
          <a:noFill/>
          <a:ln/>
        </p:spPr>
        <p:txBody>
          <a:bodyPr wrap="square" lIns="0" tIns="0" rIns="0" bIns="0" rtlCol="0" anchor="t"/>
          <a:lstStyle/>
          <a:p>
            <a:pPr indent="0" marL="0">
              <a:buNone/>
            </a:pPr>
            <a:r>
              <a:rPr lang="en-US" sz="3000" b="1" dirty="0">
                <a:solidFill>
                  <a:schemeClr val="accent1"/>
                </a:solidFill>
              </a:rPr>
              <a:t>$9.3 bn</a:t>
            </a:r>
            <a:endParaRPr lang="en-US" sz="3000" dirty="0"/>
          </a:p>
        </p:txBody>
      </p:sp>
      <p:sp>
        <p:nvSpPr>
          <p:cNvPr id="10" name="Text 7"/>
          <p:cNvSpPr txBox="1"/>
          <p:nvPr/>
        </p:nvSpPr>
        <p:spPr>
          <a:xfrm>
            <a:off x="7635240" y="2624328"/>
            <a:ext cx="3867912" cy="658368"/>
          </a:xfrm>
          <a:prstGeom prst="rect">
            <a:avLst/>
          </a:prstGeom>
          <a:noFill/>
          <a:ln/>
        </p:spPr>
        <p:txBody>
          <a:bodyPr wrap="square" lIns="0" tIns="0" rIns="0" bIns="0" rtlCol="0" anchor="t"/>
          <a:lstStyle/>
          <a:p>
            <a:pPr indent="0" marL="0">
              <a:buNone/>
            </a:pPr>
            <a:r>
              <a:rPr lang="en-US" sz="1300" dirty="0">
                <a:solidFill>
                  <a:schemeClr val="accent6"/>
                </a:solidFill>
              </a:rPr>
              <a:t>lost by people in the US to crypto fraud in 2024, mostly fake investment schemes (+66% vs 2023)</a:t>
            </a:r>
            <a:endParaRPr lang="en-US" sz="1300" dirty="0"/>
          </a:p>
        </p:txBody>
      </p:sp>
      <p:sp>
        <p:nvSpPr>
          <p:cNvPr id="11" name="Text 8"/>
          <p:cNvSpPr txBox="1"/>
          <p:nvPr/>
        </p:nvSpPr>
        <p:spPr>
          <a:xfrm>
            <a:off x="7635240" y="3246120"/>
            <a:ext cx="3867912" cy="201168"/>
          </a:xfrm>
          <a:prstGeom prst="rect">
            <a:avLst/>
          </a:prstGeom>
          <a:noFill/>
          <a:ln/>
        </p:spPr>
        <p:txBody>
          <a:bodyPr wrap="square" lIns="0" tIns="0" rIns="0" bIns="0" rtlCol="0" anchor="t"/>
          <a:lstStyle/>
          <a:p>
            <a:pPr indent="0" marL="0">
              <a:buNone/>
            </a:pPr>
            <a:r>
              <a:rPr lang="en-US" sz="1000" i="1" dirty="0">
                <a:solidFill>
                  <a:schemeClr val="accent3"/>
                </a:solidFill>
              </a:rPr>
              <a:t>FBI IC3, 2025</a:t>
            </a:r>
            <a:endParaRPr lang="en-US" sz="1000" dirty="0"/>
          </a:p>
        </p:txBody>
      </p:sp>
      <p:sp>
        <p:nvSpPr>
          <p:cNvPr id="12" name="Text 9"/>
          <p:cNvSpPr txBox="1"/>
          <p:nvPr/>
        </p:nvSpPr>
        <p:spPr>
          <a:xfrm>
            <a:off x="7635240" y="3566160"/>
            <a:ext cx="3867912" cy="292608"/>
          </a:xfrm>
          <a:prstGeom prst="rect">
            <a:avLst/>
          </a:prstGeom>
          <a:noFill/>
          <a:ln/>
        </p:spPr>
        <p:txBody>
          <a:bodyPr wrap="square" lIns="0" tIns="0" rIns="0" bIns="0" rtlCol="0" anchor="t"/>
          <a:lstStyle/>
          <a:p>
            <a:pPr indent="0" marL="0">
              <a:buNone/>
            </a:pPr>
            <a:r>
              <a:rPr lang="en-US" sz="1500" b="1" dirty="0">
                <a:solidFill>
                  <a:schemeClr val="accent2"/>
                </a:solidFill>
              </a:rPr>
              <a:t>3  Crime</a:t>
            </a:r>
            <a:endParaRPr lang="en-US" sz="1500" dirty="0"/>
          </a:p>
        </p:txBody>
      </p:sp>
      <p:sp>
        <p:nvSpPr>
          <p:cNvPr id="13" name="Text 10"/>
          <p:cNvSpPr txBox="1"/>
          <p:nvPr/>
        </p:nvSpPr>
        <p:spPr>
          <a:xfrm>
            <a:off x="7635240" y="3858768"/>
            <a:ext cx="3867912" cy="548640"/>
          </a:xfrm>
          <a:prstGeom prst="rect">
            <a:avLst/>
          </a:prstGeom>
          <a:noFill/>
          <a:ln/>
        </p:spPr>
        <p:txBody>
          <a:bodyPr wrap="square" lIns="0" tIns="0" rIns="0" bIns="0" rtlCol="0" anchor="t"/>
          <a:lstStyle/>
          <a:p>
            <a:pPr indent="0" marL="0">
              <a:buNone/>
            </a:pPr>
            <a:r>
              <a:rPr lang="en-US" sz="3000" b="1" dirty="0">
                <a:solidFill>
                  <a:schemeClr val="accent1"/>
                </a:solidFill>
              </a:rPr>
              <a:t>$154 bn</a:t>
            </a:r>
            <a:endParaRPr lang="en-US" sz="3000" dirty="0"/>
          </a:p>
        </p:txBody>
      </p:sp>
      <p:sp>
        <p:nvSpPr>
          <p:cNvPr id="14" name="Text 11"/>
          <p:cNvSpPr txBox="1"/>
          <p:nvPr/>
        </p:nvSpPr>
        <p:spPr>
          <a:xfrm>
            <a:off x="7635240" y="4407408"/>
            <a:ext cx="3867912" cy="658368"/>
          </a:xfrm>
          <a:prstGeom prst="rect">
            <a:avLst/>
          </a:prstGeom>
          <a:noFill/>
          <a:ln/>
        </p:spPr>
        <p:txBody>
          <a:bodyPr wrap="square" lIns="0" tIns="0" rIns="0" bIns="0" rtlCol="0" anchor="t"/>
          <a:lstStyle/>
          <a:p>
            <a:pPr indent="0" marL="0">
              <a:buNone/>
            </a:pPr>
            <a:r>
              <a:rPr lang="en-US" sz="1300" dirty="0">
                <a:solidFill>
                  <a:schemeClr val="accent6"/>
                </a:solidFill>
              </a:rPr>
              <a:t>received by criminal and sanctioned addresses in 2025 — a record, but still under 1% of all crypto activity</a:t>
            </a:r>
            <a:endParaRPr lang="en-US" sz="1300" dirty="0"/>
          </a:p>
        </p:txBody>
      </p:sp>
      <p:sp>
        <p:nvSpPr>
          <p:cNvPr id="15" name="Text 12"/>
          <p:cNvSpPr txBox="1"/>
          <p:nvPr/>
        </p:nvSpPr>
        <p:spPr>
          <a:xfrm>
            <a:off x="7635240" y="5029200"/>
            <a:ext cx="3867912" cy="201168"/>
          </a:xfrm>
          <a:prstGeom prst="rect">
            <a:avLst/>
          </a:prstGeom>
          <a:noFill/>
          <a:ln/>
        </p:spPr>
        <p:txBody>
          <a:bodyPr wrap="square" lIns="0" tIns="0" rIns="0" bIns="0" rtlCol="0" anchor="t"/>
          <a:lstStyle/>
          <a:p>
            <a:pPr indent="0" marL="0">
              <a:buNone/>
            </a:pPr>
            <a:r>
              <a:rPr lang="en-US" sz="1000" i="1" dirty="0">
                <a:solidFill>
                  <a:schemeClr val="accent3"/>
                </a:solidFill>
              </a:rPr>
              <a:t>Chainalysis, 2026</a:t>
            </a:r>
            <a:endParaRPr lang="en-US" sz="1000" dirty="0"/>
          </a:p>
        </p:txBody>
      </p:sp>
      <p:sp>
        <p:nvSpPr>
          <p:cNvPr id="16" name="Text 13"/>
          <p:cNvSpPr txBox="1"/>
          <p:nvPr/>
        </p:nvSpPr>
        <p:spPr>
          <a:xfrm>
            <a:off x="914400" y="5669280"/>
            <a:ext cx="10588752" cy="594360"/>
          </a:xfrm>
          <a:prstGeom prst="rect">
            <a:avLst/>
          </a:prstGeom>
          <a:solidFill>
            <a:schemeClr val="bg2"/>
          </a:solidFill>
          <a:ln/>
        </p:spPr>
        <p:txBody>
          <a:bodyPr wrap="square" lIns="0" tIns="0" rIns="0" bIns="0" rtlCol="0" anchor="t"/>
          <a:lstStyle/>
          <a:p>
            <a:pPr indent="0" marL="0">
              <a:buNone/>
            </a:pPr>
            <a:r>
              <a:rPr lang="en-US" sz="1300" b="1" dirty="0">
                <a:solidFill>
                  <a:schemeClr val="accent1"/>
                </a:solidFill>
              </a:rPr>
              <a:t>Why the numbers differ: </a:t>
            </a:r>
            <a:pPr indent="0" marL="0">
              <a:buNone/>
            </a:pPr>
            <a:r>
              <a:rPr lang="en-US" sz="1300" dirty="0">
                <a:solidFill>
                  <a:schemeClr val="accent6"/>
                </a:solidFill>
              </a:rPr>
              <a:t>hacks = theft from platforms (global); scams = money tricked out of individuals (US victims only); crime = all money flowing to illicit addresses. Meanwhile crypto ownership in the euro area rose from 4% (2022) to 9% (2024) — more people are exposed (ECB).</a:t>
            </a:r>
            <a:endParaRPr lang="en-US" sz="13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Why regulate crypto</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problem MiCA was built to solve</a:t>
            </a:r>
            <a:endParaRPr lang="en-US" sz="2600" dirty="0"/>
          </a:p>
        </p:txBody>
      </p:sp>
      <p:sp>
        <p:nvSpPr>
          <p:cNvPr id="4" name="Shape 2"/>
          <p:cNvSpPr/>
          <p:nvPr/>
        </p:nvSpPr>
        <p:spPr>
          <a:xfrm>
            <a:off x="914400" y="1417320"/>
            <a:ext cx="5157216" cy="2514600"/>
          </a:xfrm>
          <a:prstGeom prst="rect">
            <a:avLst/>
          </a:prstGeom>
          <a:solidFill>
            <a:schemeClr val="bg1"/>
          </a:solidFill>
          <a:ln w="12700">
            <a:solidFill>
              <a:schemeClr val="accent4"/>
            </a:solidFill>
            <a:prstDash val="solid"/>
          </a:ln>
        </p:spPr>
      </p:sp>
      <p:sp>
        <p:nvSpPr>
          <p:cNvPr id="5" name="Text 3"/>
          <p:cNvSpPr txBox="1"/>
          <p:nvPr/>
        </p:nvSpPr>
        <p:spPr>
          <a:xfrm>
            <a:off x="1280160" y="1600200"/>
            <a:ext cx="4425696" cy="685800"/>
          </a:xfrm>
          <a:prstGeom prst="rect">
            <a:avLst/>
          </a:prstGeom>
          <a:noFill/>
          <a:ln/>
        </p:spPr>
        <p:txBody>
          <a:bodyPr wrap="square" lIns="0" tIns="0" rIns="0" bIns="0" rtlCol="0" anchor="t"/>
          <a:lstStyle/>
          <a:p>
            <a:pPr indent="0" marL="0">
              <a:buNone/>
            </a:pPr>
            <a:r>
              <a:rPr lang="en-US" sz="4000" b="1" dirty="0">
                <a:solidFill>
                  <a:schemeClr val="accent2"/>
                </a:solidFill>
              </a:rPr>
              <a:t>2022</a:t>
            </a:r>
            <a:endParaRPr lang="en-US" sz="4000" dirty="0"/>
          </a:p>
        </p:txBody>
      </p:sp>
      <p:sp>
        <p:nvSpPr>
          <p:cNvPr id="6" name="Text 4"/>
          <p:cNvSpPr txBox="1"/>
          <p:nvPr/>
        </p:nvSpPr>
        <p:spPr>
          <a:xfrm>
            <a:off x="1280160" y="2331720"/>
            <a:ext cx="4425696" cy="384048"/>
          </a:xfrm>
          <a:prstGeom prst="rect">
            <a:avLst/>
          </a:prstGeom>
          <a:noFill/>
          <a:ln/>
        </p:spPr>
        <p:txBody>
          <a:bodyPr wrap="square" lIns="0" tIns="0" rIns="0" bIns="0" rtlCol="0" anchor="t"/>
          <a:lstStyle/>
          <a:p>
            <a:pPr indent="0" marL="0">
              <a:buNone/>
            </a:pPr>
            <a:r>
              <a:rPr lang="en-US" sz="2000" b="1" dirty="0">
                <a:solidFill>
                  <a:schemeClr val="accent1"/>
                </a:solidFill>
              </a:rPr>
              <a:t>Terra/Luna and FTX collapses</a:t>
            </a:r>
            <a:endParaRPr lang="en-US" sz="2000" dirty="0"/>
          </a:p>
        </p:txBody>
      </p:sp>
      <p:sp>
        <p:nvSpPr>
          <p:cNvPr id="7" name="Text 5"/>
          <p:cNvSpPr txBox="1"/>
          <p:nvPr/>
        </p:nvSpPr>
        <p:spPr>
          <a:xfrm>
            <a:off x="1280160" y="2788920"/>
            <a:ext cx="4425696" cy="1005840"/>
          </a:xfrm>
          <a:prstGeom prst="rect">
            <a:avLst/>
          </a:prstGeom>
          <a:noFill/>
          <a:ln/>
        </p:spPr>
        <p:txBody>
          <a:bodyPr wrap="square" lIns="0" tIns="0" rIns="0" bIns="0" rtlCol="0" anchor="t"/>
          <a:lstStyle/>
          <a:p>
            <a:pPr indent="0" marL="0">
              <a:buNone/>
            </a:pPr>
            <a:r>
              <a:rPr lang="en-US" sz="1500" dirty="0">
                <a:solidFill>
                  <a:schemeClr val="accent6"/>
                </a:solidFill>
              </a:rPr>
              <a:t>Two of the biggest names in crypto failed within six months. Retail investors lost billions — and there was no common EU rulebook to protect them.</a:t>
            </a:r>
            <a:endParaRPr lang="en-US" sz="1500" dirty="0"/>
          </a:p>
        </p:txBody>
      </p:sp>
      <p:sp>
        <p:nvSpPr>
          <p:cNvPr id="8" name="Shape 6"/>
          <p:cNvSpPr/>
          <p:nvPr/>
        </p:nvSpPr>
        <p:spPr>
          <a:xfrm>
            <a:off x="6345936" y="1417320"/>
            <a:ext cx="5157216" cy="2514600"/>
          </a:xfrm>
          <a:prstGeom prst="rect">
            <a:avLst/>
          </a:prstGeom>
          <a:solidFill>
            <a:schemeClr val="bg1"/>
          </a:solidFill>
          <a:ln w="12700">
            <a:solidFill>
              <a:schemeClr val="accent4"/>
            </a:solidFill>
            <a:prstDash val="solid"/>
          </a:ln>
        </p:spPr>
      </p:sp>
      <p:sp>
        <p:nvSpPr>
          <p:cNvPr id="9" name="Text 7"/>
          <p:cNvSpPr txBox="1"/>
          <p:nvPr/>
        </p:nvSpPr>
        <p:spPr>
          <a:xfrm>
            <a:off x="6711696" y="1600200"/>
            <a:ext cx="4425696" cy="685800"/>
          </a:xfrm>
          <a:prstGeom prst="rect">
            <a:avLst/>
          </a:prstGeom>
          <a:noFill/>
          <a:ln/>
        </p:spPr>
        <p:txBody>
          <a:bodyPr wrap="square" lIns="0" tIns="0" rIns="0" bIns="0" rtlCol="0" anchor="t"/>
          <a:lstStyle/>
          <a:p>
            <a:pPr indent="0" marL="0">
              <a:buNone/>
            </a:pPr>
            <a:r>
              <a:rPr lang="en-US" sz="4000" b="1" dirty="0">
                <a:solidFill>
                  <a:schemeClr val="accent2"/>
                </a:solidFill>
              </a:rPr>
              <a:t>27</a:t>
            </a:r>
            <a:endParaRPr lang="en-US" sz="4000" dirty="0"/>
          </a:p>
        </p:txBody>
      </p:sp>
      <p:sp>
        <p:nvSpPr>
          <p:cNvPr id="10" name="Text 8"/>
          <p:cNvSpPr txBox="1"/>
          <p:nvPr/>
        </p:nvSpPr>
        <p:spPr>
          <a:xfrm>
            <a:off x="6711696" y="2331720"/>
            <a:ext cx="4425696" cy="384048"/>
          </a:xfrm>
          <a:prstGeom prst="rect">
            <a:avLst/>
          </a:prstGeom>
          <a:noFill/>
          <a:ln/>
        </p:spPr>
        <p:txBody>
          <a:bodyPr wrap="square" lIns="0" tIns="0" rIns="0" bIns="0" rtlCol="0" anchor="t"/>
          <a:lstStyle/>
          <a:p>
            <a:pPr indent="0" marL="0">
              <a:buNone/>
            </a:pPr>
            <a:r>
              <a:rPr lang="en-US" sz="2000" b="1" dirty="0">
                <a:solidFill>
                  <a:schemeClr val="accent1"/>
                </a:solidFill>
              </a:rPr>
              <a:t>National regimes before MiCA</a:t>
            </a:r>
            <a:endParaRPr lang="en-US" sz="2000" dirty="0"/>
          </a:p>
        </p:txBody>
      </p:sp>
      <p:sp>
        <p:nvSpPr>
          <p:cNvPr id="11" name="Text 9"/>
          <p:cNvSpPr txBox="1"/>
          <p:nvPr/>
        </p:nvSpPr>
        <p:spPr>
          <a:xfrm>
            <a:off x="6711696" y="2788920"/>
            <a:ext cx="4425696" cy="1005840"/>
          </a:xfrm>
          <a:prstGeom prst="rect">
            <a:avLst/>
          </a:prstGeom>
          <a:noFill/>
          <a:ln/>
        </p:spPr>
        <p:txBody>
          <a:bodyPr wrap="square" lIns="0" tIns="0" rIns="0" bIns="0" rtlCol="0" anchor="t"/>
          <a:lstStyle/>
          <a:p>
            <a:pPr indent="0" marL="0">
              <a:buNone/>
            </a:pPr>
            <a:r>
              <a:rPr lang="en-US" sz="1500" dirty="0">
                <a:solidFill>
                  <a:schemeClr val="accent6"/>
                </a:solidFill>
              </a:rPr>
              <a:t>Every EU country had its own rules and no EU-wide licence existed. A firm needed separate approvals in each market, and user protection depended on the country.</a:t>
            </a:r>
            <a:endParaRPr lang="en-US" sz="1500" dirty="0"/>
          </a:p>
        </p:txBody>
      </p:sp>
      <p:sp>
        <p:nvSpPr>
          <p:cNvPr id="12" name="Text 10"/>
          <p:cNvSpPr txBox="1"/>
          <p:nvPr/>
        </p:nvSpPr>
        <p:spPr>
          <a:xfrm>
            <a:off x="914400" y="4160520"/>
            <a:ext cx="3657600" cy="320040"/>
          </a:xfrm>
          <a:prstGeom prst="rect">
            <a:avLst/>
          </a:prstGeom>
          <a:noFill/>
          <a:ln/>
        </p:spPr>
        <p:txBody>
          <a:bodyPr wrap="square" lIns="0" tIns="0" rIns="0" bIns="0" rtlCol="0" anchor="t"/>
          <a:lstStyle/>
          <a:p>
            <a:pPr indent="0" marL="0">
              <a:buNone/>
            </a:pPr>
            <a:r>
              <a:rPr lang="en-US" sz="1400" b="1" dirty="0">
                <a:solidFill>
                  <a:schemeClr val="accent3"/>
                </a:solidFill>
              </a:rPr>
              <a:t>Core dilemma</a:t>
            </a:r>
            <a:endParaRPr lang="en-US" sz="1400" dirty="0"/>
          </a:p>
        </p:txBody>
      </p:sp>
      <p:sp>
        <p:nvSpPr>
          <p:cNvPr id="13" name="Text 11"/>
          <p:cNvSpPr txBox="1"/>
          <p:nvPr/>
        </p:nvSpPr>
        <p:spPr>
          <a:xfrm>
            <a:off x="914400" y="4526280"/>
            <a:ext cx="4882896" cy="914400"/>
          </a:xfrm>
          <a:prstGeom prst="rect">
            <a:avLst/>
          </a:prstGeom>
          <a:solidFill>
            <a:schemeClr val="accent1"/>
          </a:solidFill>
          <a:ln/>
        </p:spPr>
        <p:txBody>
          <a:bodyPr wrap="square" rtlCol="0" anchor="ctr"/>
          <a:lstStyle/>
          <a:p>
            <a:pPr algn="ctr" indent="0" marL="0">
              <a:buNone/>
            </a:pPr>
            <a:r>
              <a:rPr lang="en-US" sz="2000" b="1" dirty="0">
                <a:solidFill>
                  <a:schemeClr val="bg1"/>
                </a:solidFill>
              </a:rPr>
              <a:t>Consumer protection &amp; stability</a:t>
            </a:r>
            <a:endParaRPr lang="en-US" sz="2000" dirty="0"/>
          </a:p>
        </p:txBody>
      </p:sp>
      <p:sp>
        <p:nvSpPr>
          <p:cNvPr id="14" name="Text 12"/>
          <p:cNvSpPr txBox="1"/>
          <p:nvPr/>
        </p:nvSpPr>
        <p:spPr>
          <a:xfrm>
            <a:off x="5797296" y="4800600"/>
            <a:ext cx="822960" cy="365760"/>
          </a:xfrm>
          <a:prstGeom prst="rect">
            <a:avLst/>
          </a:prstGeom>
          <a:noFill/>
          <a:ln/>
        </p:spPr>
        <p:txBody>
          <a:bodyPr wrap="square" lIns="0" tIns="0" rIns="0" bIns="0" rtlCol="0" anchor="t"/>
          <a:lstStyle/>
          <a:p>
            <a:pPr algn="ctr" indent="0" marL="0">
              <a:buNone/>
            </a:pPr>
            <a:r>
              <a:rPr lang="en-US" sz="1800" b="1" dirty="0">
                <a:solidFill>
                  <a:schemeClr val="accent3"/>
                </a:solidFill>
              </a:rPr>
              <a:t>vs</a:t>
            </a:r>
            <a:endParaRPr lang="en-US" sz="1800" dirty="0"/>
          </a:p>
        </p:txBody>
      </p:sp>
      <p:sp>
        <p:nvSpPr>
          <p:cNvPr id="15" name="Text 13"/>
          <p:cNvSpPr txBox="1"/>
          <p:nvPr/>
        </p:nvSpPr>
        <p:spPr>
          <a:xfrm>
            <a:off x="6620256" y="4526280"/>
            <a:ext cx="4882896" cy="914400"/>
          </a:xfrm>
          <a:prstGeom prst="rect">
            <a:avLst/>
          </a:prstGeom>
          <a:solidFill>
            <a:schemeClr val="accent2"/>
          </a:solidFill>
          <a:ln/>
        </p:spPr>
        <p:txBody>
          <a:bodyPr wrap="square" rtlCol="0" anchor="ctr"/>
          <a:lstStyle/>
          <a:p>
            <a:pPr algn="ctr" indent="0" marL="0">
              <a:buNone/>
            </a:pPr>
            <a:r>
              <a:rPr lang="en-US" sz="2000" b="1" dirty="0">
                <a:solidFill>
                  <a:schemeClr val="bg1"/>
                </a:solidFill>
              </a:rPr>
              <a:t>Innovation &amp; competitiveness</a:t>
            </a:r>
            <a:endParaRPr lang="en-US" sz="2000" dirty="0"/>
          </a:p>
        </p:txBody>
      </p:sp>
      <p:sp>
        <p:nvSpPr>
          <p:cNvPr id="16" name="Text 14"/>
          <p:cNvSpPr txBox="1"/>
          <p:nvPr/>
        </p:nvSpPr>
        <p:spPr>
          <a:xfrm>
            <a:off x="914400" y="5623560"/>
            <a:ext cx="10588752" cy="365760"/>
          </a:xfrm>
          <a:prstGeom prst="rect">
            <a:avLst/>
          </a:prstGeom>
          <a:noFill/>
          <a:ln/>
        </p:spPr>
        <p:txBody>
          <a:bodyPr wrap="square" lIns="0" tIns="0" rIns="0" bIns="0" rtlCol="0" anchor="t"/>
          <a:lstStyle/>
          <a:p>
            <a:pPr indent="0" marL="0">
              <a:buNone/>
            </a:pPr>
            <a:r>
              <a:rPr lang="en-US" sz="1600" i="1" dirty="0">
                <a:solidFill>
                  <a:schemeClr val="accent6"/>
                </a:solidFill>
              </a:rPr>
              <a:t>MiCA tries to do both: protect people without pushing crypto businesses out of Europe.</a:t>
            </a:r>
            <a:endParaRPr lang="en-US" sz="16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How MiCA works</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MiCA in one slide</a:t>
            </a:r>
            <a:endParaRPr lang="en-US" sz="2600" dirty="0"/>
          </a:p>
        </p:txBody>
      </p:sp>
      <p:sp>
        <p:nvSpPr>
          <p:cNvPr id="4" name="Text 2"/>
          <p:cNvSpPr txBox="1"/>
          <p:nvPr/>
        </p:nvSpPr>
        <p:spPr>
          <a:xfrm>
            <a:off x="914400" y="1234440"/>
            <a:ext cx="10588752" cy="594360"/>
          </a:xfrm>
          <a:prstGeom prst="rect">
            <a:avLst/>
          </a:prstGeom>
          <a:noFill/>
          <a:ln/>
        </p:spPr>
        <p:txBody>
          <a:bodyPr wrap="square" lIns="0" tIns="0" rIns="0" bIns="0" rtlCol="0" anchor="t"/>
          <a:lstStyle/>
          <a:p>
            <a:pPr indent="0" marL="0">
              <a:buNone/>
            </a:pPr>
            <a:r>
              <a:rPr lang="en-US" sz="1600" dirty="0">
                <a:solidFill>
                  <a:schemeClr val="accent6"/>
                </a:solidFill>
              </a:rPr>
              <a:t>MiCA (Markets in Crypto-Assets Regulation) is one rulebook for all 27 EU countries. It sorts tokens into three types and licenses the firms that offer them.</a:t>
            </a:r>
            <a:endParaRPr lang="en-US" sz="1600" dirty="0"/>
          </a:p>
        </p:txBody>
      </p:sp>
      <p:sp>
        <p:nvSpPr>
          <p:cNvPr id="5" name="Shape 3"/>
          <p:cNvSpPr/>
          <p:nvPr/>
        </p:nvSpPr>
        <p:spPr>
          <a:xfrm>
            <a:off x="914400" y="2011680"/>
            <a:ext cx="2377440" cy="2194560"/>
          </a:xfrm>
          <a:prstGeom prst="rect">
            <a:avLst/>
          </a:prstGeom>
          <a:solidFill>
            <a:schemeClr val="bg1"/>
          </a:solidFill>
          <a:ln w="15875">
            <a:solidFill>
              <a:schemeClr val="accent1"/>
            </a:solidFill>
            <a:prstDash val="solid"/>
          </a:ln>
        </p:spPr>
      </p:sp>
      <p:sp>
        <p:nvSpPr>
          <p:cNvPr id="6" name="Text 4"/>
          <p:cNvSpPr txBox="1"/>
          <p:nvPr/>
        </p:nvSpPr>
        <p:spPr>
          <a:xfrm>
            <a:off x="1115568" y="2148840"/>
            <a:ext cx="1975104" cy="640080"/>
          </a:xfrm>
          <a:prstGeom prst="rect">
            <a:avLst/>
          </a:prstGeom>
          <a:noFill/>
          <a:ln/>
        </p:spPr>
        <p:txBody>
          <a:bodyPr wrap="square" lIns="0" tIns="0" rIns="0" bIns="0" rtlCol="0" anchor="t"/>
          <a:lstStyle/>
          <a:p>
            <a:pPr indent="0" marL="0">
              <a:buNone/>
            </a:pPr>
            <a:r>
              <a:rPr lang="en-US" sz="1900" b="1" dirty="0">
                <a:solidFill>
                  <a:schemeClr val="accent1"/>
                </a:solidFill>
              </a:rPr>
              <a:t>EMT</a:t>
            </a:r>
            <a:endParaRPr lang="en-US" sz="1900" dirty="0"/>
          </a:p>
        </p:txBody>
      </p:sp>
      <p:sp>
        <p:nvSpPr>
          <p:cNvPr id="7" name="Text 5"/>
          <p:cNvSpPr txBox="1"/>
          <p:nvPr/>
        </p:nvSpPr>
        <p:spPr>
          <a:xfrm>
            <a:off x="1115568" y="2834640"/>
            <a:ext cx="1975104" cy="1280160"/>
          </a:xfrm>
          <a:prstGeom prst="rect">
            <a:avLst/>
          </a:prstGeom>
          <a:noFill/>
          <a:ln/>
        </p:spPr>
        <p:txBody>
          <a:bodyPr wrap="square" lIns="0" tIns="0" rIns="0" bIns="0" rtlCol="0" anchor="t"/>
          <a:lstStyle/>
          <a:p>
            <a:pPr indent="0" marL="0">
              <a:spcAft>
                <a:spcPts val="600"/>
              </a:spcAft>
              <a:buNone/>
            </a:pPr>
            <a:r>
              <a:rPr lang="en-US" sz="1400" dirty="0">
                <a:solidFill>
                  <a:schemeClr val="accent6"/>
                </a:solidFill>
              </a:rPr>
              <a:t>E-money tokens: linked to one currency</a:t>
            </a:r>
            <a:endParaRPr lang="en-US" sz="1400" dirty="0"/>
          </a:p>
          <a:p>
            <a:pPr indent="0" marL="0">
              <a:spcAft>
                <a:spcPts val="600"/>
              </a:spcAft>
              <a:buNone/>
            </a:pPr>
            <a:r>
              <a:rPr lang="en-US" sz="1400" i="1" dirty="0">
                <a:solidFill>
                  <a:schemeClr val="accent3"/>
                </a:solidFill>
              </a:rPr>
              <a:t>e.g. USDC, EURC</a:t>
            </a:r>
            <a:endParaRPr lang="en-US" sz="1400" dirty="0"/>
          </a:p>
        </p:txBody>
      </p:sp>
      <p:sp>
        <p:nvSpPr>
          <p:cNvPr id="8" name="Shape 6"/>
          <p:cNvSpPr/>
          <p:nvPr/>
        </p:nvSpPr>
        <p:spPr>
          <a:xfrm>
            <a:off x="2103120" y="4206240"/>
            <a:ext cx="0" cy="320040"/>
          </a:xfrm>
          <a:prstGeom prst="line">
            <a:avLst/>
          </a:prstGeom>
          <a:noFill/>
          <a:ln w="15875">
            <a:solidFill>
              <a:schemeClr val="accent1"/>
            </a:solidFill>
            <a:prstDash val="solid"/>
            <a:tailEnd type="triangle"/>
          </a:ln>
        </p:spPr>
      </p:sp>
      <p:sp>
        <p:nvSpPr>
          <p:cNvPr id="9" name="Shape 7"/>
          <p:cNvSpPr/>
          <p:nvPr/>
        </p:nvSpPr>
        <p:spPr>
          <a:xfrm>
            <a:off x="3566160" y="2011680"/>
            <a:ext cx="2377440" cy="2194560"/>
          </a:xfrm>
          <a:prstGeom prst="rect">
            <a:avLst/>
          </a:prstGeom>
          <a:solidFill>
            <a:schemeClr val="bg1"/>
          </a:solidFill>
          <a:ln w="15875">
            <a:solidFill>
              <a:schemeClr val="accent1"/>
            </a:solidFill>
            <a:prstDash val="solid"/>
          </a:ln>
        </p:spPr>
      </p:sp>
      <p:sp>
        <p:nvSpPr>
          <p:cNvPr id="10" name="Text 8"/>
          <p:cNvSpPr txBox="1"/>
          <p:nvPr/>
        </p:nvSpPr>
        <p:spPr>
          <a:xfrm>
            <a:off x="3767328" y="2148840"/>
            <a:ext cx="1975104" cy="640080"/>
          </a:xfrm>
          <a:prstGeom prst="rect">
            <a:avLst/>
          </a:prstGeom>
          <a:noFill/>
          <a:ln/>
        </p:spPr>
        <p:txBody>
          <a:bodyPr wrap="square" lIns="0" tIns="0" rIns="0" bIns="0" rtlCol="0" anchor="t"/>
          <a:lstStyle/>
          <a:p>
            <a:pPr indent="0" marL="0">
              <a:buNone/>
            </a:pPr>
            <a:r>
              <a:rPr lang="en-US" sz="1900" b="1" dirty="0">
                <a:solidFill>
                  <a:schemeClr val="accent1"/>
                </a:solidFill>
              </a:rPr>
              <a:t>ART</a:t>
            </a:r>
            <a:endParaRPr lang="en-US" sz="1900" dirty="0"/>
          </a:p>
        </p:txBody>
      </p:sp>
      <p:sp>
        <p:nvSpPr>
          <p:cNvPr id="11" name="Text 9"/>
          <p:cNvSpPr txBox="1"/>
          <p:nvPr/>
        </p:nvSpPr>
        <p:spPr>
          <a:xfrm>
            <a:off x="3767328" y="2834640"/>
            <a:ext cx="1975104" cy="1280160"/>
          </a:xfrm>
          <a:prstGeom prst="rect">
            <a:avLst/>
          </a:prstGeom>
          <a:noFill/>
          <a:ln/>
        </p:spPr>
        <p:txBody>
          <a:bodyPr wrap="square" lIns="0" tIns="0" rIns="0" bIns="0" rtlCol="0" anchor="t"/>
          <a:lstStyle/>
          <a:p>
            <a:pPr indent="0" marL="0">
              <a:spcAft>
                <a:spcPts val="600"/>
              </a:spcAft>
              <a:buNone/>
            </a:pPr>
            <a:r>
              <a:rPr lang="en-US" sz="1400" dirty="0">
                <a:solidFill>
                  <a:schemeClr val="accent6"/>
                </a:solidFill>
              </a:rPr>
              <a:t>Asset-referenced tokens: linked to a basket of assets</a:t>
            </a:r>
            <a:endParaRPr lang="en-US" sz="1400" dirty="0"/>
          </a:p>
          <a:p>
            <a:pPr indent="0" marL="0">
              <a:spcAft>
                <a:spcPts val="600"/>
              </a:spcAft>
              <a:buNone/>
            </a:pPr>
            <a:r>
              <a:rPr lang="en-US" sz="1400" i="1" dirty="0">
                <a:solidFill>
                  <a:schemeClr val="accent3"/>
                </a:solidFill>
              </a:rPr>
              <a:t>e.g. several currencies or commodities</a:t>
            </a:r>
            <a:endParaRPr lang="en-US" sz="1400" dirty="0"/>
          </a:p>
        </p:txBody>
      </p:sp>
      <p:sp>
        <p:nvSpPr>
          <p:cNvPr id="12" name="Shape 10"/>
          <p:cNvSpPr/>
          <p:nvPr/>
        </p:nvSpPr>
        <p:spPr>
          <a:xfrm>
            <a:off x="4754880" y="4206240"/>
            <a:ext cx="0" cy="320040"/>
          </a:xfrm>
          <a:prstGeom prst="line">
            <a:avLst/>
          </a:prstGeom>
          <a:noFill/>
          <a:ln w="15875">
            <a:solidFill>
              <a:schemeClr val="accent1"/>
            </a:solidFill>
            <a:prstDash val="solid"/>
            <a:tailEnd type="triangle"/>
          </a:ln>
        </p:spPr>
      </p:sp>
      <p:sp>
        <p:nvSpPr>
          <p:cNvPr id="13" name="Shape 11"/>
          <p:cNvSpPr/>
          <p:nvPr/>
        </p:nvSpPr>
        <p:spPr>
          <a:xfrm>
            <a:off x="6217920" y="2011680"/>
            <a:ext cx="2377440" cy="2194560"/>
          </a:xfrm>
          <a:prstGeom prst="rect">
            <a:avLst/>
          </a:prstGeom>
          <a:solidFill>
            <a:schemeClr val="bg1"/>
          </a:solidFill>
          <a:ln w="15875">
            <a:solidFill>
              <a:schemeClr val="accent1"/>
            </a:solidFill>
            <a:prstDash val="solid"/>
          </a:ln>
        </p:spPr>
      </p:sp>
      <p:sp>
        <p:nvSpPr>
          <p:cNvPr id="14" name="Text 12"/>
          <p:cNvSpPr txBox="1"/>
          <p:nvPr/>
        </p:nvSpPr>
        <p:spPr>
          <a:xfrm>
            <a:off x="6419088" y="2148840"/>
            <a:ext cx="1975104" cy="640080"/>
          </a:xfrm>
          <a:prstGeom prst="rect">
            <a:avLst/>
          </a:prstGeom>
          <a:noFill/>
          <a:ln/>
        </p:spPr>
        <p:txBody>
          <a:bodyPr wrap="square" lIns="0" tIns="0" rIns="0" bIns="0" rtlCol="0" anchor="t"/>
          <a:lstStyle/>
          <a:p>
            <a:pPr indent="0" marL="0">
              <a:buNone/>
            </a:pPr>
            <a:r>
              <a:rPr lang="en-US" sz="1900" b="1" dirty="0">
                <a:solidFill>
                  <a:schemeClr val="accent1"/>
                </a:solidFill>
              </a:rPr>
              <a:t>Other crypto-assets</a:t>
            </a:r>
            <a:endParaRPr lang="en-US" sz="1900" dirty="0"/>
          </a:p>
        </p:txBody>
      </p:sp>
      <p:sp>
        <p:nvSpPr>
          <p:cNvPr id="15" name="Text 13"/>
          <p:cNvSpPr txBox="1"/>
          <p:nvPr/>
        </p:nvSpPr>
        <p:spPr>
          <a:xfrm>
            <a:off x="6419088" y="2834640"/>
            <a:ext cx="1975104" cy="1280160"/>
          </a:xfrm>
          <a:prstGeom prst="rect">
            <a:avLst/>
          </a:prstGeom>
          <a:noFill/>
          <a:ln/>
        </p:spPr>
        <p:txBody>
          <a:bodyPr wrap="square" lIns="0" tIns="0" rIns="0" bIns="0" rtlCol="0" anchor="t"/>
          <a:lstStyle/>
          <a:p>
            <a:pPr indent="0" marL="0">
              <a:spcAft>
                <a:spcPts val="600"/>
              </a:spcAft>
              <a:buNone/>
            </a:pPr>
            <a:r>
              <a:rPr lang="en-US" sz="1400" dirty="0">
                <a:solidFill>
                  <a:schemeClr val="accent6"/>
                </a:solidFill>
              </a:rPr>
              <a:t>Everything else</a:t>
            </a:r>
            <a:endParaRPr lang="en-US" sz="1400" dirty="0"/>
          </a:p>
          <a:p>
            <a:pPr indent="0" marL="0">
              <a:spcAft>
                <a:spcPts val="600"/>
              </a:spcAft>
              <a:buNone/>
            </a:pPr>
            <a:r>
              <a:rPr lang="en-US" sz="1400" i="1" dirty="0">
                <a:solidFill>
                  <a:schemeClr val="accent3"/>
                </a:solidFill>
              </a:rPr>
              <a:t>e.g. BTC, ETH — white paper required</a:t>
            </a:r>
            <a:endParaRPr lang="en-US" sz="1400" dirty="0"/>
          </a:p>
        </p:txBody>
      </p:sp>
      <p:sp>
        <p:nvSpPr>
          <p:cNvPr id="16" name="Shape 14"/>
          <p:cNvSpPr/>
          <p:nvPr/>
        </p:nvSpPr>
        <p:spPr>
          <a:xfrm>
            <a:off x="7406640" y="4206240"/>
            <a:ext cx="0" cy="320040"/>
          </a:xfrm>
          <a:prstGeom prst="line">
            <a:avLst/>
          </a:prstGeom>
          <a:noFill/>
          <a:ln w="15875">
            <a:solidFill>
              <a:schemeClr val="accent1"/>
            </a:solidFill>
            <a:prstDash val="solid"/>
            <a:tailEnd type="triangle"/>
          </a:ln>
        </p:spPr>
      </p:sp>
      <p:sp>
        <p:nvSpPr>
          <p:cNvPr id="17" name="Text 15"/>
          <p:cNvSpPr txBox="1"/>
          <p:nvPr/>
        </p:nvSpPr>
        <p:spPr>
          <a:xfrm>
            <a:off x="914400" y="4526280"/>
            <a:ext cx="7680960" cy="1188720"/>
          </a:xfrm>
          <a:prstGeom prst="rect">
            <a:avLst/>
          </a:prstGeom>
          <a:solidFill>
            <a:schemeClr val="accent1"/>
          </a:solidFill>
          <a:ln/>
        </p:spPr>
        <p:txBody>
          <a:bodyPr wrap="square" lIns="177800" tIns="177800" rIns="177800" bIns="177800" rtlCol="0" anchor="ctr"/>
          <a:lstStyle/>
          <a:p>
            <a:pPr indent="0" marL="0">
              <a:spcAft>
                <a:spcPts val="400"/>
              </a:spcAft>
              <a:buNone/>
            </a:pPr>
            <a:r>
              <a:rPr lang="en-US" sz="1900" b="1" dirty="0">
                <a:solidFill>
                  <a:schemeClr val="bg1"/>
                </a:solidFill>
              </a:rPr>
              <a:t>CASPs — crypto-asset service providers</a:t>
            </a:r>
            <a:endParaRPr lang="en-US" sz="1900" dirty="0"/>
          </a:p>
          <a:p>
            <a:pPr indent="0" marL="0">
              <a:spcAft>
                <a:spcPts val="400"/>
              </a:spcAft>
              <a:buNone/>
            </a:pPr>
            <a:r>
              <a:rPr lang="en-US" sz="1500" dirty="0">
                <a:solidFill>
                  <a:schemeClr val="bg1"/>
                </a:solidFill>
              </a:rPr>
              <a:t>Exchanges, brokers and custody wallets need a licence. One licence works in the whole EEA (the “passport”).</a:t>
            </a:r>
            <a:endParaRPr lang="en-US" sz="1900" dirty="0"/>
          </a:p>
        </p:txBody>
      </p:sp>
      <p:sp>
        <p:nvSpPr>
          <p:cNvPr id="18" name="Shape 16"/>
          <p:cNvSpPr/>
          <p:nvPr/>
        </p:nvSpPr>
        <p:spPr>
          <a:xfrm>
            <a:off x="8961120" y="2011680"/>
            <a:ext cx="2542032" cy="3703320"/>
          </a:xfrm>
          <a:prstGeom prst="rect">
            <a:avLst/>
          </a:prstGeom>
          <a:solidFill>
            <a:schemeClr val="bg2"/>
          </a:solidFill>
          <a:ln w="12700">
            <a:solidFill>
              <a:schemeClr val="bg2"/>
            </a:solidFill>
            <a:prstDash val="solid"/>
          </a:ln>
        </p:spPr>
      </p:sp>
      <p:sp>
        <p:nvSpPr>
          <p:cNvPr id="19" name="Text 17"/>
          <p:cNvSpPr txBox="1"/>
          <p:nvPr/>
        </p:nvSpPr>
        <p:spPr>
          <a:xfrm>
            <a:off x="9235440" y="2148840"/>
            <a:ext cx="1993392" cy="457200"/>
          </a:xfrm>
          <a:prstGeom prst="rect">
            <a:avLst/>
          </a:prstGeom>
          <a:noFill/>
          <a:ln/>
        </p:spPr>
        <p:txBody>
          <a:bodyPr wrap="square" lIns="0" tIns="0" rIns="0" bIns="0" rtlCol="0" anchor="t"/>
          <a:lstStyle/>
          <a:p>
            <a:pPr indent="0" marL="0">
              <a:buNone/>
            </a:pPr>
            <a:r>
              <a:rPr lang="en-US" sz="2000" b="1" dirty="0">
                <a:solidFill>
                  <a:schemeClr val="accent1"/>
                </a:solidFill>
              </a:rPr>
              <a:t>Out of scope</a:t>
            </a:r>
            <a:endParaRPr lang="en-US" sz="2000" dirty="0"/>
          </a:p>
        </p:txBody>
      </p:sp>
      <p:sp>
        <p:nvSpPr>
          <p:cNvPr id="20" name="Text 18"/>
          <p:cNvSpPr txBox="1"/>
          <p:nvPr/>
        </p:nvSpPr>
        <p:spPr>
          <a:xfrm>
            <a:off x="9235440" y="2743200"/>
            <a:ext cx="1993392" cy="914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Fully decentralised DeFi</a:t>
            </a:r>
            <a:endParaRPr lang="en-US" sz="1600" dirty="0"/>
          </a:p>
          <a:p>
            <a:pPr marL="342900" indent="-342900">
              <a:spcAft>
                <a:spcPts val="800"/>
              </a:spcAft>
              <a:buSzPct val="100000"/>
              <a:buChar char="•"/>
            </a:pPr>
            <a:r>
              <a:rPr lang="en-US" sz="1600" dirty="0">
                <a:solidFill>
                  <a:schemeClr val="accent6"/>
                </a:solidFill>
              </a:rPr>
              <a:t>Most NFTs</a:t>
            </a:r>
            <a:endParaRPr lang="en-US" sz="1600" dirty="0"/>
          </a:p>
        </p:txBody>
      </p:sp>
      <p:sp>
        <p:nvSpPr>
          <p:cNvPr id="21" name="Text 19"/>
          <p:cNvSpPr txBox="1"/>
          <p:nvPr/>
        </p:nvSpPr>
        <p:spPr>
          <a:xfrm>
            <a:off x="9235440" y="3977640"/>
            <a:ext cx="1993392" cy="822960"/>
          </a:xfrm>
          <a:prstGeom prst="rect">
            <a:avLst/>
          </a:prstGeom>
          <a:noFill/>
          <a:ln/>
        </p:spPr>
        <p:txBody>
          <a:bodyPr wrap="square" lIns="0" tIns="0" rIns="0" bIns="0" rtlCol="0" anchor="t"/>
          <a:lstStyle/>
          <a:p>
            <a:pPr indent="0" marL="0">
              <a:buNone/>
            </a:pPr>
            <a:r>
              <a:rPr lang="en-US" sz="1400" i="1" dirty="0">
                <a:solidFill>
                  <a:schemeClr val="accent3"/>
                </a:solidFill>
              </a:rPr>
              <a:t>Not banned, but not covered by MiCA rules — for now.</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How MiCA works</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From adoption to full enforcement</a:t>
            </a:r>
            <a:endParaRPr lang="en-US" sz="2600" dirty="0"/>
          </a:p>
        </p:txBody>
      </p:sp>
      <p:sp>
        <p:nvSpPr>
          <p:cNvPr id="4" name="Shape 2"/>
          <p:cNvSpPr/>
          <p:nvPr/>
        </p:nvSpPr>
        <p:spPr>
          <a:xfrm>
            <a:off x="1828800" y="2606040"/>
            <a:ext cx="8778240" cy="0"/>
          </a:xfrm>
          <a:prstGeom prst="line">
            <a:avLst/>
          </a:prstGeom>
          <a:noFill/>
          <a:ln w="38100">
            <a:solidFill>
              <a:schemeClr val="accent4"/>
            </a:solidFill>
            <a:prstDash val="solid"/>
          </a:ln>
        </p:spPr>
      </p:sp>
      <p:sp>
        <p:nvSpPr>
          <p:cNvPr id="5" name="Shape 3"/>
          <p:cNvSpPr/>
          <p:nvPr/>
        </p:nvSpPr>
        <p:spPr>
          <a:xfrm>
            <a:off x="1673352" y="2450592"/>
            <a:ext cx="310896" cy="310896"/>
          </a:xfrm>
          <a:prstGeom prst="ellipse">
            <a:avLst/>
          </a:prstGeom>
          <a:solidFill>
            <a:schemeClr val="accent1"/>
          </a:solidFill>
          <a:ln w="25400">
            <a:solidFill>
              <a:schemeClr val="bg1"/>
            </a:solidFill>
            <a:prstDash val="solid"/>
          </a:ln>
        </p:spPr>
      </p:sp>
      <p:sp>
        <p:nvSpPr>
          <p:cNvPr id="6" name="Text 4"/>
          <p:cNvSpPr txBox="1"/>
          <p:nvPr/>
        </p:nvSpPr>
        <p:spPr>
          <a:xfrm>
            <a:off x="777240" y="1783080"/>
            <a:ext cx="2103120" cy="411480"/>
          </a:xfrm>
          <a:prstGeom prst="rect">
            <a:avLst/>
          </a:prstGeom>
          <a:noFill/>
          <a:ln/>
        </p:spPr>
        <p:txBody>
          <a:bodyPr wrap="square" lIns="0" tIns="0" rIns="0" bIns="0" rtlCol="0" anchor="t"/>
          <a:lstStyle/>
          <a:p>
            <a:pPr algn="ctr" indent="0" marL="0">
              <a:buNone/>
            </a:pPr>
            <a:r>
              <a:rPr lang="en-US" sz="1900" b="1" dirty="0">
                <a:solidFill>
                  <a:schemeClr val="accent1"/>
                </a:solidFill>
              </a:rPr>
              <a:t>2023</a:t>
            </a:r>
            <a:endParaRPr lang="en-US" sz="1900" dirty="0"/>
          </a:p>
        </p:txBody>
      </p:sp>
      <p:sp>
        <p:nvSpPr>
          <p:cNvPr id="7" name="Text 5"/>
          <p:cNvSpPr txBox="1"/>
          <p:nvPr/>
        </p:nvSpPr>
        <p:spPr>
          <a:xfrm>
            <a:off x="777240" y="2953512"/>
            <a:ext cx="2103120" cy="685800"/>
          </a:xfrm>
          <a:prstGeom prst="rect">
            <a:avLst/>
          </a:prstGeom>
          <a:noFill/>
          <a:ln/>
        </p:spPr>
        <p:txBody>
          <a:bodyPr wrap="square" lIns="0" tIns="0" rIns="0" bIns="0" rtlCol="0" anchor="t"/>
          <a:lstStyle/>
          <a:p>
            <a:pPr algn="ctr" indent="0" marL="0">
              <a:buNone/>
            </a:pPr>
            <a:r>
              <a:rPr lang="en-US" sz="1500" b="1" dirty="0">
                <a:solidFill>
                  <a:schemeClr val="accent1"/>
                </a:solidFill>
              </a:rPr>
              <a:t>MiCA adopted</a:t>
            </a:r>
            <a:endParaRPr lang="en-US" sz="1500" dirty="0"/>
          </a:p>
        </p:txBody>
      </p:sp>
      <p:sp>
        <p:nvSpPr>
          <p:cNvPr id="8" name="Text 6"/>
          <p:cNvSpPr txBox="1"/>
          <p:nvPr/>
        </p:nvSpPr>
        <p:spPr>
          <a:xfrm>
            <a:off x="822960" y="3630168"/>
            <a:ext cx="2011680" cy="685800"/>
          </a:xfrm>
          <a:prstGeom prst="rect">
            <a:avLst/>
          </a:prstGeom>
          <a:noFill/>
          <a:ln/>
        </p:spPr>
        <p:txBody>
          <a:bodyPr wrap="square" lIns="0" tIns="0" rIns="0" bIns="0" rtlCol="0" anchor="t"/>
          <a:lstStyle/>
          <a:p>
            <a:pPr algn="ctr" indent="0" marL="0">
              <a:buNone/>
            </a:pPr>
            <a:r>
              <a:rPr lang="en-US" sz="1300" dirty="0">
                <a:solidFill>
                  <a:schemeClr val="accent6"/>
                </a:solidFill>
              </a:rPr>
              <a:t>The EU agrees on one rulebook</a:t>
            </a:r>
            <a:endParaRPr lang="en-US" sz="1300" dirty="0"/>
          </a:p>
        </p:txBody>
      </p:sp>
      <p:sp>
        <p:nvSpPr>
          <p:cNvPr id="9" name="Shape 7"/>
          <p:cNvSpPr/>
          <p:nvPr/>
        </p:nvSpPr>
        <p:spPr>
          <a:xfrm>
            <a:off x="3867912" y="2450592"/>
            <a:ext cx="310896" cy="310896"/>
          </a:xfrm>
          <a:prstGeom prst="ellipse">
            <a:avLst/>
          </a:prstGeom>
          <a:solidFill>
            <a:schemeClr val="accent1"/>
          </a:solidFill>
          <a:ln w="25400">
            <a:solidFill>
              <a:schemeClr val="bg1"/>
            </a:solidFill>
            <a:prstDash val="solid"/>
          </a:ln>
        </p:spPr>
      </p:sp>
      <p:sp>
        <p:nvSpPr>
          <p:cNvPr id="10" name="Text 8"/>
          <p:cNvSpPr txBox="1"/>
          <p:nvPr/>
        </p:nvSpPr>
        <p:spPr>
          <a:xfrm>
            <a:off x="2971800" y="1783080"/>
            <a:ext cx="2103120" cy="411480"/>
          </a:xfrm>
          <a:prstGeom prst="rect">
            <a:avLst/>
          </a:prstGeom>
          <a:noFill/>
          <a:ln/>
        </p:spPr>
        <p:txBody>
          <a:bodyPr wrap="square" lIns="0" tIns="0" rIns="0" bIns="0" rtlCol="0" anchor="t"/>
          <a:lstStyle/>
          <a:p>
            <a:pPr algn="ctr" indent="0" marL="0">
              <a:buNone/>
            </a:pPr>
            <a:r>
              <a:rPr lang="en-US" sz="1900" b="1" dirty="0">
                <a:solidFill>
                  <a:schemeClr val="accent1"/>
                </a:solidFill>
              </a:rPr>
              <a:t>June 2024</a:t>
            </a:r>
            <a:endParaRPr lang="en-US" sz="1900" dirty="0"/>
          </a:p>
        </p:txBody>
      </p:sp>
      <p:sp>
        <p:nvSpPr>
          <p:cNvPr id="11" name="Text 9"/>
          <p:cNvSpPr txBox="1"/>
          <p:nvPr/>
        </p:nvSpPr>
        <p:spPr>
          <a:xfrm>
            <a:off x="2971800" y="2953512"/>
            <a:ext cx="2103120" cy="685800"/>
          </a:xfrm>
          <a:prstGeom prst="rect">
            <a:avLst/>
          </a:prstGeom>
          <a:noFill/>
          <a:ln/>
        </p:spPr>
        <p:txBody>
          <a:bodyPr wrap="square" lIns="0" tIns="0" rIns="0" bIns="0" rtlCol="0" anchor="t"/>
          <a:lstStyle/>
          <a:p>
            <a:pPr algn="ctr" indent="0" marL="0">
              <a:buNone/>
            </a:pPr>
            <a:r>
              <a:rPr lang="en-US" sz="1500" b="1" dirty="0">
                <a:solidFill>
                  <a:schemeClr val="accent1"/>
                </a:solidFill>
              </a:rPr>
              <a:t>Stablecoin rules apply</a:t>
            </a:r>
            <a:endParaRPr lang="en-US" sz="1500" dirty="0"/>
          </a:p>
        </p:txBody>
      </p:sp>
      <p:sp>
        <p:nvSpPr>
          <p:cNvPr id="12" name="Text 10"/>
          <p:cNvSpPr txBox="1"/>
          <p:nvPr/>
        </p:nvSpPr>
        <p:spPr>
          <a:xfrm>
            <a:off x="3017520" y="3630168"/>
            <a:ext cx="2011680" cy="685800"/>
          </a:xfrm>
          <a:prstGeom prst="rect">
            <a:avLst/>
          </a:prstGeom>
          <a:noFill/>
          <a:ln/>
        </p:spPr>
        <p:txBody>
          <a:bodyPr wrap="square" lIns="0" tIns="0" rIns="0" bIns="0" rtlCol="0" anchor="t"/>
          <a:lstStyle/>
          <a:p>
            <a:pPr algn="ctr" indent="0" marL="0">
              <a:buNone/>
            </a:pPr>
            <a:r>
              <a:rPr lang="en-US" sz="1300" dirty="0">
                <a:solidFill>
                  <a:schemeClr val="accent6"/>
                </a:solidFill>
              </a:rPr>
              <a:t>EMT and ART issuers must comply</a:t>
            </a:r>
            <a:endParaRPr lang="en-US" sz="1300" dirty="0"/>
          </a:p>
        </p:txBody>
      </p:sp>
      <p:sp>
        <p:nvSpPr>
          <p:cNvPr id="13" name="Shape 11"/>
          <p:cNvSpPr/>
          <p:nvPr/>
        </p:nvSpPr>
        <p:spPr>
          <a:xfrm>
            <a:off x="6062472" y="2450592"/>
            <a:ext cx="310896" cy="310896"/>
          </a:xfrm>
          <a:prstGeom prst="ellipse">
            <a:avLst/>
          </a:prstGeom>
          <a:solidFill>
            <a:schemeClr val="accent1"/>
          </a:solidFill>
          <a:ln w="25400">
            <a:solidFill>
              <a:schemeClr val="bg1"/>
            </a:solidFill>
            <a:prstDash val="solid"/>
          </a:ln>
        </p:spPr>
      </p:sp>
      <p:sp>
        <p:nvSpPr>
          <p:cNvPr id="14" name="Text 12"/>
          <p:cNvSpPr txBox="1"/>
          <p:nvPr/>
        </p:nvSpPr>
        <p:spPr>
          <a:xfrm>
            <a:off x="5166360" y="1783080"/>
            <a:ext cx="2103120" cy="411480"/>
          </a:xfrm>
          <a:prstGeom prst="rect">
            <a:avLst/>
          </a:prstGeom>
          <a:noFill/>
          <a:ln/>
        </p:spPr>
        <p:txBody>
          <a:bodyPr wrap="square" lIns="0" tIns="0" rIns="0" bIns="0" rtlCol="0" anchor="t"/>
          <a:lstStyle/>
          <a:p>
            <a:pPr algn="ctr" indent="0" marL="0">
              <a:buNone/>
            </a:pPr>
            <a:r>
              <a:rPr lang="en-US" sz="1900" b="1" dirty="0">
                <a:solidFill>
                  <a:schemeClr val="accent1"/>
                </a:solidFill>
              </a:rPr>
              <a:t>Dec 2024</a:t>
            </a:r>
            <a:endParaRPr lang="en-US" sz="1900" dirty="0"/>
          </a:p>
        </p:txBody>
      </p:sp>
      <p:sp>
        <p:nvSpPr>
          <p:cNvPr id="15" name="Text 13"/>
          <p:cNvSpPr txBox="1"/>
          <p:nvPr/>
        </p:nvSpPr>
        <p:spPr>
          <a:xfrm>
            <a:off x="5166360" y="2953512"/>
            <a:ext cx="2103120" cy="685800"/>
          </a:xfrm>
          <a:prstGeom prst="rect">
            <a:avLst/>
          </a:prstGeom>
          <a:noFill/>
          <a:ln/>
        </p:spPr>
        <p:txBody>
          <a:bodyPr wrap="square" lIns="0" tIns="0" rIns="0" bIns="0" rtlCol="0" anchor="t"/>
          <a:lstStyle/>
          <a:p>
            <a:pPr algn="ctr" indent="0" marL="0">
              <a:buNone/>
            </a:pPr>
            <a:r>
              <a:rPr lang="en-US" sz="1500" b="1" dirty="0">
                <a:solidFill>
                  <a:schemeClr val="accent1"/>
                </a:solidFill>
              </a:rPr>
              <a:t>CASP rules apply</a:t>
            </a:r>
            <a:endParaRPr lang="en-US" sz="1500" dirty="0"/>
          </a:p>
        </p:txBody>
      </p:sp>
      <p:sp>
        <p:nvSpPr>
          <p:cNvPr id="16" name="Text 14"/>
          <p:cNvSpPr txBox="1"/>
          <p:nvPr/>
        </p:nvSpPr>
        <p:spPr>
          <a:xfrm>
            <a:off x="5212080" y="3630168"/>
            <a:ext cx="2011680" cy="685800"/>
          </a:xfrm>
          <a:prstGeom prst="rect">
            <a:avLst/>
          </a:prstGeom>
          <a:noFill/>
          <a:ln/>
        </p:spPr>
        <p:txBody>
          <a:bodyPr wrap="square" lIns="0" tIns="0" rIns="0" bIns="0" rtlCol="0" anchor="t"/>
          <a:lstStyle/>
          <a:p>
            <a:pPr algn="ctr" indent="0" marL="0">
              <a:buNone/>
            </a:pPr>
            <a:r>
              <a:rPr lang="en-US" sz="1300" dirty="0">
                <a:solidFill>
                  <a:schemeClr val="accent6"/>
                </a:solidFill>
              </a:rPr>
              <a:t>Exchanges and brokers can apply for licences</a:t>
            </a:r>
            <a:endParaRPr lang="en-US" sz="1300" dirty="0"/>
          </a:p>
        </p:txBody>
      </p:sp>
      <p:sp>
        <p:nvSpPr>
          <p:cNvPr id="17" name="Shape 15"/>
          <p:cNvSpPr/>
          <p:nvPr/>
        </p:nvSpPr>
        <p:spPr>
          <a:xfrm>
            <a:off x="8257032" y="2450592"/>
            <a:ext cx="310896" cy="310896"/>
          </a:xfrm>
          <a:prstGeom prst="ellipse">
            <a:avLst/>
          </a:prstGeom>
          <a:solidFill>
            <a:schemeClr val="accent1"/>
          </a:solidFill>
          <a:ln w="25400">
            <a:solidFill>
              <a:schemeClr val="bg1"/>
            </a:solidFill>
            <a:prstDash val="solid"/>
          </a:ln>
        </p:spPr>
      </p:sp>
      <p:sp>
        <p:nvSpPr>
          <p:cNvPr id="18" name="Text 16"/>
          <p:cNvSpPr txBox="1"/>
          <p:nvPr/>
        </p:nvSpPr>
        <p:spPr>
          <a:xfrm>
            <a:off x="7360920" y="1783080"/>
            <a:ext cx="2103120" cy="411480"/>
          </a:xfrm>
          <a:prstGeom prst="rect">
            <a:avLst/>
          </a:prstGeom>
          <a:noFill/>
          <a:ln/>
        </p:spPr>
        <p:txBody>
          <a:bodyPr wrap="square" lIns="0" tIns="0" rIns="0" bIns="0" rtlCol="0" anchor="t"/>
          <a:lstStyle/>
          <a:p>
            <a:pPr algn="ctr" indent="0" marL="0">
              <a:buNone/>
            </a:pPr>
            <a:r>
              <a:rPr lang="en-US" sz="1900" b="1" dirty="0">
                <a:solidFill>
                  <a:schemeClr val="accent1"/>
                </a:solidFill>
              </a:rPr>
              <a:t>30 June 2025</a:t>
            </a:r>
            <a:endParaRPr lang="en-US" sz="1900" dirty="0"/>
          </a:p>
        </p:txBody>
      </p:sp>
      <p:sp>
        <p:nvSpPr>
          <p:cNvPr id="19" name="Text 17"/>
          <p:cNvSpPr txBox="1"/>
          <p:nvPr/>
        </p:nvSpPr>
        <p:spPr>
          <a:xfrm>
            <a:off x="7360920" y="2953512"/>
            <a:ext cx="2103120" cy="685800"/>
          </a:xfrm>
          <a:prstGeom prst="rect">
            <a:avLst/>
          </a:prstGeom>
          <a:noFill/>
          <a:ln/>
        </p:spPr>
        <p:txBody>
          <a:bodyPr wrap="square" lIns="0" tIns="0" rIns="0" bIns="0" rtlCol="0" anchor="t"/>
          <a:lstStyle/>
          <a:p>
            <a:pPr algn="ctr" indent="0" marL="0">
              <a:buNone/>
            </a:pPr>
            <a:r>
              <a:rPr lang="en-US" sz="1500" b="1" dirty="0">
                <a:solidFill>
                  <a:schemeClr val="accent1"/>
                </a:solidFill>
              </a:rPr>
              <a:t>Hungary's shortened transition ends</a:t>
            </a:r>
            <a:endParaRPr lang="en-US" sz="1500" dirty="0"/>
          </a:p>
        </p:txBody>
      </p:sp>
      <p:sp>
        <p:nvSpPr>
          <p:cNvPr id="20" name="Text 18"/>
          <p:cNvSpPr txBox="1"/>
          <p:nvPr/>
        </p:nvSpPr>
        <p:spPr>
          <a:xfrm>
            <a:off x="7406640" y="3630168"/>
            <a:ext cx="2011680" cy="685800"/>
          </a:xfrm>
          <a:prstGeom prst="rect">
            <a:avLst/>
          </a:prstGeom>
          <a:noFill/>
          <a:ln/>
        </p:spPr>
        <p:txBody>
          <a:bodyPr wrap="square" lIns="0" tIns="0" rIns="0" bIns="0" rtlCol="0" anchor="t"/>
          <a:lstStyle/>
          <a:p>
            <a:pPr algn="ctr" indent="0" marL="0">
              <a:buNone/>
            </a:pPr>
            <a:r>
              <a:rPr lang="en-US" sz="1300" dirty="0">
                <a:solidFill>
                  <a:schemeClr val="accent6"/>
                </a:solidFill>
              </a:rPr>
              <a:t>Hungary chose a shorter period</a:t>
            </a:r>
            <a:endParaRPr lang="en-US" sz="1300" dirty="0"/>
          </a:p>
        </p:txBody>
      </p:sp>
      <p:sp>
        <p:nvSpPr>
          <p:cNvPr id="21" name="Shape 19"/>
          <p:cNvSpPr/>
          <p:nvPr/>
        </p:nvSpPr>
        <p:spPr>
          <a:xfrm>
            <a:off x="10451592" y="2450592"/>
            <a:ext cx="310896" cy="310896"/>
          </a:xfrm>
          <a:prstGeom prst="ellipse">
            <a:avLst/>
          </a:prstGeom>
          <a:solidFill>
            <a:schemeClr val="accent2"/>
          </a:solidFill>
          <a:ln w="25400">
            <a:solidFill>
              <a:schemeClr val="bg1"/>
            </a:solidFill>
            <a:prstDash val="solid"/>
          </a:ln>
        </p:spPr>
      </p:sp>
      <p:sp>
        <p:nvSpPr>
          <p:cNvPr id="22" name="Text 20"/>
          <p:cNvSpPr txBox="1"/>
          <p:nvPr/>
        </p:nvSpPr>
        <p:spPr>
          <a:xfrm>
            <a:off x="9555480" y="1783080"/>
            <a:ext cx="2103120" cy="411480"/>
          </a:xfrm>
          <a:prstGeom prst="rect">
            <a:avLst/>
          </a:prstGeom>
          <a:noFill/>
          <a:ln/>
        </p:spPr>
        <p:txBody>
          <a:bodyPr wrap="square" lIns="0" tIns="0" rIns="0" bIns="0" rtlCol="0" anchor="t"/>
          <a:lstStyle/>
          <a:p>
            <a:pPr algn="ctr" indent="0" marL="0">
              <a:buNone/>
            </a:pPr>
            <a:r>
              <a:rPr lang="en-US" sz="1900" b="1" dirty="0">
                <a:solidFill>
                  <a:schemeClr val="accent2"/>
                </a:solidFill>
              </a:rPr>
              <a:t>1 July 2026</a:t>
            </a:r>
            <a:endParaRPr lang="en-US" sz="1900" dirty="0"/>
          </a:p>
        </p:txBody>
      </p:sp>
      <p:sp>
        <p:nvSpPr>
          <p:cNvPr id="23" name="Text 21"/>
          <p:cNvSpPr txBox="1"/>
          <p:nvPr/>
        </p:nvSpPr>
        <p:spPr>
          <a:xfrm>
            <a:off x="9555480" y="2953512"/>
            <a:ext cx="2103120" cy="685800"/>
          </a:xfrm>
          <a:prstGeom prst="rect">
            <a:avLst/>
          </a:prstGeom>
          <a:noFill/>
          <a:ln/>
        </p:spPr>
        <p:txBody>
          <a:bodyPr wrap="square" lIns="0" tIns="0" rIns="0" bIns="0" rtlCol="0" anchor="t"/>
          <a:lstStyle/>
          <a:p>
            <a:pPr algn="ctr" indent="0" marL="0">
              <a:buNone/>
            </a:pPr>
            <a:r>
              <a:rPr lang="en-US" sz="1500" b="1" dirty="0">
                <a:solidFill>
                  <a:schemeClr val="accent2"/>
                </a:solidFill>
              </a:rPr>
              <a:t>EU-wide transition ends</a:t>
            </a:r>
            <a:endParaRPr lang="en-US" sz="1500" dirty="0"/>
          </a:p>
        </p:txBody>
      </p:sp>
      <p:sp>
        <p:nvSpPr>
          <p:cNvPr id="24" name="Text 22"/>
          <p:cNvSpPr txBox="1"/>
          <p:nvPr/>
        </p:nvSpPr>
        <p:spPr>
          <a:xfrm>
            <a:off x="9601200" y="3630168"/>
            <a:ext cx="2011680" cy="685800"/>
          </a:xfrm>
          <a:prstGeom prst="rect">
            <a:avLst/>
          </a:prstGeom>
          <a:noFill/>
          <a:ln/>
        </p:spPr>
        <p:txBody>
          <a:bodyPr wrap="square" lIns="0" tIns="0" rIns="0" bIns="0" rtlCol="0" anchor="t"/>
          <a:lstStyle/>
          <a:p>
            <a:pPr algn="ctr" indent="0" marL="0">
              <a:buNone/>
            </a:pPr>
            <a:r>
              <a:rPr lang="en-US" sz="1300" dirty="0">
                <a:solidFill>
                  <a:schemeClr val="accent6"/>
                </a:solidFill>
              </a:rPr>
              <a:t>Only licensed firms may operate</a:t>
            </a:r>
            <a:endParaRPr lang="en-US" sz="1300" dirty="0"/>
          </a:p>
        </p:txBody>
      </p:sp>
      <p:sp>
        <p:nvSpPr>
          <p:cNvPr id="25" name="Text 23"/>
          <p:cNvSpPr txBox="1"/>
          <p:nvPr/>
        </p:nvSpPr>
        <p:spPr>
          <a:xfrm>
            <a:off x="914400" y="4663440"/>
            <a:ext cx="10588752" cy="868680"/>
          </a:xfrm>
          <a:prstGeom prst="rect">
            <a:avLst/>
          </a:prstGeom>
          <a:solidFill>
            <a:schemeClr val="bg2"/>
          </a:solidFill>
          <a:ln/>
        </p:spPr>
        <p:txBody>
          <a:bodyPr wrap="square" lIns="177800" tIns="177800" rIns="177800" bIns="177800" rtlCol="0" anchor="ctr"/>
          <a:lstStyle/>
          <a:p>
            <a:pPr indent="0" marL="0">
              <a:buNone/>
            </a:pPr>
            <a:r>
              <a:rPr lang="en-US" sz="1500" b="1" dirty="0">
                <a:solidFill>
                  <a:schemeClr val="accent1"/>
                </a:solidFill>
              </a:rPr>
              <a:t>What “transition” means: </a:t>
            </a:r>
            <a:pPr indent="0" marL="0">
              <a:buNone/>
            </a:pPr>
            <a:r>
              <a:rPr lang="en-US" sz="1500" dirty="0">
                <a:solidFill>
                  <a:schemeClr val="accent6"/>
                </a:solidFill>
              </a:rPr>
              <a:t>firms already working under national rules could keep operating while they applied for a MiCA licence. Since 1 July 2026 this grace period is over everywhere in the EU.</a:t>
            </a:r>
            <a:endParaRPr lang="en-US" sz="15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The case for and against</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MiCA builds trust and attracts capital</a:t>
            </a:r>
            <a:endParaRPr lang="en-US" sz="2600" dirty="0"/>
          </a:p>
        </p:txBody>
      </p:sp>
      <p:sp>
        <p:nvSpPr>
          <p:cNvPr id="4" name="Tag FOR"/>
          <p:cNvSpPr txBox="1"/>
          <p:nvPr/>
        </p:nvSpPr>
        <p:spPr>
          <a:xfrm>
            <a:off x="10222992" y="292608"/>
            <a:ext cx="1280160" cy="420624"/>
          </a:xfrm>
          <a:prstGeom prst="rect">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FOR</a:t>
            </a:r>
            <a:endParaRPr lang="en-US" sz="1400" dirty="0"/>
          </a:p>
        </p:txBody>
      </p:sp>
      <p:sp>
        <p:nvSpPr>
          <p:cNvPr id="5" name="Text 3"/>
          <p:cNvSpPr txBox="1"/>
          <p:nvPr/>
        </p:nvSpPr>
        <p:spPr>
          <a:xfrm>
            <a:off x="914400" y="1325880"/>
            <a:ext cx="5120640" cy="237744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chemeClr val="accent1"/>
                </a:solidFill>
              </a:rPr>
              <a:t>One licence = access to the whole EEA. </a:t>
            </a:r>
            <a:pPr indent="0" marL="0">
              <a:spcAft>
                <a:spcPts val="1000"/>
              </a:spcAft>
              <a:buNone/>
            </a:pPr>
            <a:r>
              <a:rPr lang="en-US" sz="1500" dirty="0">
                <a:solidFill>
                  <a:schemeClr val="accent6"/>
                </a:solidFill>
              </a:rPr>
              <a:t>A firm licensed in one country can serve customers in all 30 EEA countries.</a:t>
            </a:r>
            <a:endParaRPr lang="en-US" sz="1500" dirty="0"/>
          </a:p>
          <a:p>
            <a:pPr marL="342900" indent="-342900">
              <a:spcAft>
                <a:spcPts val="1000"/>
              </a:spcAft>
              <a:buSzPct val="100000"/>
              <a:buChar char="•"/>
            </a:pPr>
            <a:r>
              <a:rPr lang="en-US" sz="1500" b="1" dirty="0">
                <a:solidFill>
                  <a:schemeClr val="accent1"/>
                </a:solidFill>
              </a:rPr>
              <a:t>Banks enter. </a:t>
            </a:r>
            <a:pPr indent="0" marL="0">
              <a:spcAft>
                <a:spcPts val="1000"/>
              </a:spcAft>
              <a:buNone/>
            </a:pPr>
            <a:r>
              <a:rPr lang="en-US" sz="1500" dirty="0">
                <a:solidFill>
                  <a:schemeClr val="accent6"/>
                </a:solidFill>
              </a:rPr>
              <a:t>Société Générale–FORGE issues stablecoins under MiCA — clear rules make traditional finance comfortable.</a:t>
            </a:r>
            <a:endParaRPr lang="en-US" sz="1500" dirty="0"/>
          </a:p>
          <a:p>
            <a:pPr marL="342900" indent="-342900">
              <a:spcAft>
                <a:spcPts val="1000"/>
              </a:spcAft>
              <a:buSzPct val="100000"/>
              <a:buChar char="•"/>
            </a:pPr>
            <a:r>
              <a:rPr lang="en-US" sz="1500" b="1" dirty="0">
                <a:solidFill>
                  <a:schemeClr val="accent1"/>
                </a:solidFill>
              </a:rPr>
              <a:t>Clear rules build trust. </a:t>
            </a:r>
            <a:pPr indent="0" marL="0">
              <a:spcAft>
                <a:spcPts val="1000"/>
              </a:spcAft>
              <a:buNone/>
            </a:pPr>
            <a:r>
              <a:rPr lang="en-US" sz="1500" dirty="0">
                <a:solidFill>
                  <a:schemeClr val="accent6"/>
                </a:solidFill>
              </a:rPr>
              <a:t>Users and investors know who is supervised and what rules apply.</a:t>
            </a:r>
            <a:endParaRPr lang="en-US" sz="1500" dirty="0"/>
          </a:p>
        </p:txBody>
      </p:sp>
      <p:sp>
        <p:nvSpPr>
          <p:cNvPr id="6" name="Shape 4"/>
          <p:cNvSpPr/>
          <p:nvPr/>
        </p:nvSpPr>
        <p:spPr>
          <a:xfrm>
            <a:off x="914400" y="3840480"/>
            <a:ext cx="5120640" cy="2148840"/>
          </a:xfrm>
          <a:prstGeom prst="rect">
            <a:avLst/>
          </a:prstGeom>
          <a:solidFill>
            <a:schemeClr val="bg2"/>
          </a:solidFill>
          <a:ln w="12700">
            <a:solidFill>
              <a:schemeClr val="bg2"/>
            </a:solidFill>
            <a:prstDash val="solid"/>
          </a:ln>
        </p:spPr>
      </p:sp>
      <p:sp>
        <p:nvSpPr>
          <p:cNvPr id="7" name="Text 5"/>
          <p:cNvSpPr txBox="1"/>
          <p:nvPr/>
        </p:nvSpPr>
        <p:spPr>
          <a:xfrm>
            <a:off x="1234440" y="3977640"/>
            <a:ext cx="4572000" cy="685800"/>
          </a:xfrm>
          <a:prstGeom prst="rect">
            <a:avLst/>
          </a:prstGeom>
          <a:noFill/>
          <a:ln/>
        </p:spPr>
        <p:txBody>
          <a:bodyPr wrap="square" lIns="0" tIns="0" rIns="0" bIns="0" rtlCol="0" anchor="t"/>
          <a:lstStyle/>
          <a:p>
            <a:pPr indent="0" marL="0">
              <a:buNone/>
            </a:pPr>
            <a:r>
              <a:rPr lang="en-US" sz="4000" b="1" dirty="0">
                <a:solidFill>
                  <a:schemeClr val="accent1"/>
                </a:solidFill>
              </a:rPr>
              <a:t>+7–9%</a:t>
            </a:r>
            <a:endParaRPr lang="en-US" sz="4000" dirty="0"/>
          </a:p>
        </p:txBody>
      </p:sp>
      <p:sp>
        <p:nvSpPr>
          <p:cNvPr id="8" name="Text 6"/>
          <p:cNvSpPr txBox="1"/>
          <p:nvPr/>
        </p:nvSpPr>
        <p:spPr>
          <a:xfrm>
            <a:off x="1234440" y="4663440"/>
            <a:ext cx="4572000" cy="320040"/>
          </a:xfrm>
          <a:prstGeom prst="rect">
            <a:avLst/>
          </a:prstGeom>
          <a:noFill/>
          <a:ln/>
        </p:spPr>
        <p:txBody>
          <a:bodyPr wrap="square" lIns="0" tIns="0" rIns="0" bIns="0" rtlCol="0" anchor="t"/>
          <a:lstStyle/>
          <a:p>
            <a:pPr indent="0" marL="0">
              <a:buNone/>
            </a:pPr>
            <a:r>
              <a:rPr lang="en-US" sz="1500" b="1" dirty="0">
                <a:solidFill>
                  <a:schemeClr val="accent1"/>
                </a:solidFill>
              </a:rPr>
              <a:t>more VC funding per quarter (2026 study)</a:t>
            </a:r>
            <a:endParaRPr lang="en-US" sz="1500" dirty="0"/>
          </a:p>
        </p:txBody>
      </p:sp>
      <p:sp>
        <p:nvSpPr>
          <p:cNvPr id="9" name="Text 7"/>
          <p:cNvSpPr txBox="1"/>
          <p:nvPr/>
        </p:nvSpPr>
        <p:spPr>
          <a:xfrm>
            <a:off x="1234440" y="5001768"/>
            <a:ext cx="4572000" cy="566928"/>
          </a:xfrm>
          <a:prstGeom prst="rect">
            <a:avLst/>
          </a:prstGeom>
          <a:noFill/>
          <a:ln/>
        </p:spPr>
        <p:txBody>
          <a:bodyPr wrap="square" lIns="0" tIns="0" rIns="0" bIns="0" rtlCol="0" anchor="t"/>
          <a:lstStyle/>
          <a:p>
            <a:pPr indent="0" marL="0">
              <a:buNone/>
            </a:pPr>
            <a:r>
              <a:rPr lang="en-US" sz="1300" dirty="0">
                <a:solidFill>
                  <a:schemeClr val="accent6"/>
                </a:solidFill>
              </a:rPr>
              <a:t>Late-stage startups: +14–17%. Early-stage: no change — the extra money goes to bigger, older firms.</a:t>
            </a:r>
            <a:endParaRPr lang="en-US" sz="1300" dirty="0"/>
          </a:p>
        </p:txBody>
      </p:sp>
      <p:sp>
        <p:nvSpPr>
          <p:cNvPr id="10" name="Text 8"/>
          <p:cNvSpPr txBox="1"/>
          <p:nvPr/>
        </p:nvSpPr>
        <p:spPr>
          <a:xfrm>
            <a:off x="1234440" y="5623560"/>
            <a:ext cx="4480560" cy="228600"/>
          </a:xfrm>
          <a:prstGeom prst="rect">
            <a:avLst/>
          </a:prstGeom>
          <a:noFill/>
          <a:ln/>
        </p:spPr>
        <p:txBody>
          <a:bodyPr wrap="square" lIns="0" tIns="0" rIns="0" bIns="0" rtlCol="0" anchor="t"/>
          <a:lstStyle/>
          <a:p>
            <a:pPr indent="0" marL="0">
              <a:buNone/>
            </a:pPr>
            <a:r>
              <a:rPr lang="en-US" sz="1000" i="1" dirty="0">
                <a:solidFill>
                  <a:schemeClr val="accent3"/>
                </a:solidFill>
              </a:rPr>
              <a:t>Santos, Martins &amp; Soares (2026), NOVA SBE</a:t>
            </a:r>
            <a:endParaRPr lang="en-US" sz="1000" dirty="0"/>
          </a:p>
        </p:txBody>
      </p:sp>
      <p:graphicFrame>
        <p:nvGraphicFramePr>
          <p:cNvPr id="11" name="Chart 0" descr=""/>
          <p:cNvGraphicFramePr/>
          <p:nvPr/>
        </p:nvGraphicFramePr>
        <p:xfrm>
          <a:off x="6400800" y="1325880"/>
          <a:ext cx="5102352" cy="37490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6537960" y="5120640"/>
            <a:ext cx="4965192" cy="594360"/>
          </a:xfrm>
          <a:prstGeom prst="rect">
            <a:avLst/>
          </a:prstGeom>
          <a:noFill/>
          <a:ln/>
        </p:spPr>
        <p:txBody>
          <a:bodyPr wrap="square" lIns="0" tIns="0" rIns="0" bIns="0" rtlCol="0" anchor="t"/>
          <a:lstStyle/>
          <a:p>
            <a:pPr indent="0" marL="0">
              <a:buNone/>
            </a:pPr>
            <a:r>
              <a:rPr lang="en-US" sz="1300" dirty="0">
                <a:solidFill>
                  <a:schemeClr val="accent6"/>
                </a:solidFill>
              </a:rPr>
              <a:t>EURC, Circle's MiCA-compliant euro stablecoin, more than doubled its share in one year: compliance can be a competitive advantage.</a:t>
            </a:r>
            <a:endParaRPr lang="en-US" sz="1300" dirty="0"/>
          </a:p>
        </p:txBody>
      </p:sp>
      <p:sp>
        <p:nvSpPr>
          <p:cNvPr id="13" name="Text 10"/>
          <p:cNvSpPr txBox="1"/>
          <p:nvPr/>
        </p:nvSpPr>
        <p:spPr>
          <a:xfrm>
            <a:off x="6537960" y="5760720"/>
            <a:ext cx="4965192" cy="256032"/>
          </a:xfrm>
          <a:prstGeom prst="rect">
            <a:avLst/>
          </a:prstGeom>
          <a:noFill/>
          <a:ln/>
        </p:spPr>
        <p:txBody>
          <a:bodyPr wrap="square" lIns="0" tIns="0" rIns="0" bIns="0" rtlCol="0" anchor="t"/>
          <a:lstStyle/>
          <a:p>
            <a:pPr indent="0" marL="0">
              <a:buNone/>
            </a:pPr>
            <a:r>
              <a:rPr lang="en-US" sz="1000" i="1" dirty="0">
                <a:solidFill>
                  <a:schemeClr val="accent3"/>
                </a:solidFill>
              </a:rPr>
              <a:t>Second value is approximate (~41%).</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The case for and against</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market shrank and concentrated</a:t>
            </a:r>
            <a:endParaRPr lang="en-US" sz="2600" dirty="0"/>
          </a:p>
        </p:txBody>
      </p:sp>
      <p:sp>
        <p:nvSpPr>
          <p:cNvPr id="4" name="Tag AGAINST"/>
          <p:cNvSpPr txBox="1"/>
          <p:nvPr/>
        </p:nvSpPr>
        <p:spPr>
          <a:xfrm>
            <a:off x="10222992" y="292608"/>
            <a:ext cx="1280160" cy="420624"/>
          </a:xfrm>
          <a:prstGeom prst="rect">
            <a:avLst/>
          </a:prstGeom>
          <a:solidFill>
            <a:schemeClr val="accent2"/>
          </a:solidFill>
          <a:ln/>
        </p:spPr>
        <p:txBody>
          <a:bodyPr wrap="square" lIns="0" tIns="0" rIns="0" bIns="0" rtlCol="0" anchor="ctr"/>
          <a:lstStyle/>
          <a:p>
            <a:pPr algn="ctr" indent="0" marL="0">
              <a:buNone/>
            </a:pPr>
            <a:r>
              <a:rPr lang="en-US" sz="1400" b="1" spc="200" kern="0" dirty="0">
                <a:solidFill>
                  <a:schemeClr val="bg1"/>
                </a:solidFill>
              </a:rPr>
              <a:t>AGAINST</a:t>
            </a:r>
            <a:endParaRPr lang="en-US" sz="1400" dirty="0"/>
          </a:p>
        </p:txBody>
      </p:sp>
      <p:sp>
        <p:nvSpPr>
          <p:cNvPr id="5" name="Shape 3"/>
          <p:cNvSpPr/>
          <p:nvPr/>
        </p:nvSpPr>
        <p:spPr>
          <a:xfrm>
            <a:off x="914400" y="1325880"/>
            <a:ext cx="3346704" cy="1691640"/>
          </a:xfrm>
          <a:prstGeom prst="rect">
            <a:avLst/>
          </a:prstGeom>
          <a:solidFill>
            <a:schemeClr val="bg1"/>
          </a:solidFill>
          <a:ln w="12700">
            <a:solidFill>
              <a:schemeClr val="accent4"/>
            </a:solidFill>
            <a:prstDash val="solid"/>
          </a:ln>
        </p:spPr>
      </p:sp>
      <p:sp>
        <p:nvSpPr>
          <p:cNvPr id="6" name="Text 4"/>
          <p:cNvSpPr txBox="1"/>
          <p:nvPr/>
        </p:nvSpPr>
        <p:spPr>
          <a:xfrm>
            <a:off x="1188720" y="1444752"/>
            <a:ext cx="2798064" cy="640080"/>
          </a:xfrm>
          <a:prstGeom prst="rect">
            <a:avLst/>
          </a:prstGeom>
          <a:noFill/>
          <a:ln/>
        </p:spPr>
        <p:txBody>
          <a:bodyPr wrap="square" lIns="0" tIns="0" rIns="0" bIns="0" rtlCol="0" anchor="t"/>
          <a:lstStyle/>
          <a:p>
            <a:pPr indent="0" marL="0">
              <a:buNone/>
            </a:pPr>
            <a:r>
              <a:rPr lang="en-US" sz="3600" b="1" dirty="0">
                <a:solidFill>
                  <a:schemeClr val="accent2"/>
                </a:solidFill>
              </a:rPr>
              <a:t>≈17%</a:t>
            </a:r>
            <a:endParaRPr lang="en-US" sz="3600" dirty="0"/>
          </a:p>
        </p:txBody>
      </p:sp>
      <p:sp>
        <p:nvSpPr>
          <p:cNvPr id="7" name="Text 5"/>
          <p:cNvSpPr txBox="1"/>
          <p:nvPr/>
        </p:nvSpPr>
        <p:spPr>
          <a:xfrm>
            <a:off x="1188720" y="2148840"/>
            <a:ext cx="2798064" cy="777240"/>
          </a:xfrm>
          <a:prstGeom prst="rect">
            <a:avLst/>
          </a:prstGeom>
          <a:noFill/>
          <a:ln/>
        </p:spPr>
        <p:txBody>
          <a:bodyPr wrap="square" lIns="0" tIns="0" rIns="0" bIns="0" rtlCol="0" anchor="t"/>
          <a:lstStyle/>
          <a:p>
            <a:pPr indent="0" marL="0">
              <a:buNone/>
            </a:pPr>
            <a:r>
              <a:rPr lang="en-US" sz="1400" dirty="0">
                <a:solidFill>
                  <a:schemeClr val="accent6"/>
                </a:solidFill>
              </a:rPr>
              <a:t>Only ~210 of 1,200+ registered firms got a licence by the end of the transition</a:t>
            </a:r>
            <a:endParaRPr lang="en-US" sz="1400" dirty="0"/>
          </a:p>
        </p:txBody>
      </p:sp>
      <p:sp>
        <p:nvSpPr>
          <p:cNvPr id="8" name="Shape 6"/>
          <p:cNvSpPr/>
          <p:nvPr/>
        </p:nvSpPr>
        <p:spPr>
          <a:xfrm>
            <a:off x="4535424" y="1325880"/>
            <a:ext cx="3346704" cy="1691640"/>
          </a:xfrm>
          <a:prstGeom prst="rect">
            <a:avLst/>
          </a:prstGeom>
          <a:solidFill>
            <a:schemeClr val="bg1"/>
          </a:solidFill>
          <a:ln w="12700">
            <a:solidFill>
              <a:schemeClr val="accent4"/>
            </a:solidFill>
            <a:prstDash val="solid"/>
          </a:ln>
        </p:spPr>
      </p:sp>
      <p:sp>
        <p:nvSpPr>
          <p:cNvPr id="9" name="Text 7"/>
          <p:cNvSpPr txBox="1"/>
          <p:nvPr/>
        </p:nvSpPr>
        <p:spPr>
          <a:xfrm>
            <a:off x="4809744" y="1444752"/>
            <a:ext cx="2798064" cy="640080"/>
          </a:xfrm>
          <a:prstGeom prst="rect">
            <a:avLst/>
          </a:prstGeom>
          <a:noFill/>
          <a:ln/>
        </p:spPr>
        <p:txBody>
          <a:bodyPr wrap="square" lIns="0" tIns="0" rIns="0" bIns="0" rtlCol="0" anchor="t"/>
          <a:lstStyle/>
          <a:p>
            <a:pPr indent="0" marL="0">
              <a:buNone/>
            </a:pPr>
            <a:r>
              <a:rPr lang="en-US" sz="3600" b="1" dirty="0">
                <a:solidFill>
                  <a:schemeClr val="accent2"/>
                </a:solidFill>
              </a:rPr>
              <a:t>up to 80%</a:t>
            </a:r>
            <a:endParaRPr lang="en-US" sz="3600" dirty="0"/>
          </a:p>
        </p:txBody>
      </p:sp>
      <p:sp>
        <p:nvSpPr>
          <p:cNvPr id="10" name="Text 8"/>
          <p:cNvSpPr txBox="1"/>
          <p:nvPr/>
        </p:nvSpPr>
        <p:spPr>
          <a:xfrm>
            <a:off x="4809744" y="2148840"/>
            <a:ext cx="2798064" cy="777240"/>
          </a:xfrm>
          <a:prstGeom prst="rect">
            <a:avLst/>
          </a:prstGeom>
          <a:noFill/>
          <a:ln/>
        </p:spPr>
        <p:txBody>
          <a:bodyPr wrap="square" lIns="0" tIns="0" rIns="0" bIns="0" rtlCol="0" anchor="t"/>
          <a:lstStyle/>
          <a:p>
            <a:pPr indent="0" marL="0">
              <a:buNone/>
            </a:pPr>
            <a:r>
              <a:rPr lang="en-US" sz="1400" dirty="0">
                <a:solidFill>
                  <a:schemeClr val="accent6"/>
                </a:solidFill>
              </a:rPr>
              <a:t>of firms may leave the EU, according to the OKX Europe CEO</a:t>
            </a:r>
            <a:endParaRPr lang="en-US" sz="1400" dirty="0"/>
          </a:p>
        </p:txBody>
      </p:sp>
      <p:sp>
        <p:nvSpPr>
          <p:cNvPr id="11" name="Shape 9"/>
          <p:cNvSpPr/>
          <p:nvPr/>
        </p:nvSpPr>
        <p:spPr>
          <a:xfrm>
            <a:off x="8156448" y="1325880"/>
            <a:ext cx="3346704" cy="1691640"/>
          </a:xfrm>
          <a:prstGeom prst="rect">
            <a:avLst/>
          </a:prstGeom>
          <a:solidFill>
            <a:schemeClr val="bg1"/>
          </a:solidFill>
          <a:ln w="12700">
            <a:solidFill>
              <a:schemeClr val="accent4"/>
            </a:solidFill>
            <a:prstDash val="solid"/>
          </a:ln>
        </p:spPr>
      </p:sp>
      <p:sp>
        <p:nvSpPr>
          <p:cNvPr id="12" name="Text 10"/>
          <p:cNvSpPr txBox="1"/>
          <p:nvPr/>
        </p:nvSpPr>
        <p:spPr>
          <a:xfrm>
            <a:off x="8430768" y="1444752"/>
            <a:ext cx="2798064" cy="640080"/>
          </a:xfrm>
          <a:prstGeom prst="rect">
            <a:avLst/>
          </a:prstGeom>
          <a:noFill/>
          <a:ln/>
        </p:spPr>
        <p:txBody>
          <a:bodyPr wrap="square" lIns="0" tIns="0" rIns="0" bIns="0" rtlCol="0" anchor="t"/>
          <a:lstStyle/>
          <a:p>
            <a:pPr indent="0" marL="0">
              <a:buNone/>
            </a:pPr>
            <a:r>
              <a:rPr lang="en-US" sz="3600" b="1" dirty="0">
                <a:solidFill>
                  <a:schemeClr val="accent2"/>
                </a:solidFill>
              </a:rPr>
              <a:t>−70%</a:t>
            </a:r>
            <a:endParaRPr lang="en-US" sz="3600" dirty="0"/>
          </a:p>
        </p:txBody>
      </p:sp>
      <p:sp>
        <p:nvSpPr>
          <p:cNvPr id="13" name="Text 11"/>
          <p:cNvSpPr txBox="1"/>
          <p:nvPr/>
        </p:nvSpPr>
        <p:spPr>
          <a:xfrm>
            <a:off x="8430768" y="2148840"/>
            <a:ext cx="2798064" cy="777240"/>
          </a:xfrm>
          <a:prstGeom prst="rect">
            <a:avLst/>
          </a:prstGeom>
          <a:noFill/>
          <a:ln/>
        </p:spPr>
        <p:txBody>
          <a:bodyPr wrap="square" lIns="0" tIns="0" rIns="0" bIns="0" rtlCol="0" anchor="t"/>
          <a:lstStyle/>
          <a:p>
            <a:pPr indent="0" marL="0">
              <a:buNone/>
            </a:pPr>
            <a:r>
              <a:rPr lang="en-US" sz="1400" dirty="0">
                <a:solidFill>
                  <a:schemeClr val="accent6"/>
                </a:solidFill>
              </a:rPr>
              <a:t>EU crypto VC compared with the 2022 peak (Coincub 2025, industry source)</a:t>
            </a:r>
            <a:endParaRPr lang="en-US" sz="1400" dirty="0"/>
          </a:p>
        </p:txBody>
      </p:sp>
      <p:graphicFrame>
        <p:nvGraphicFramePr>
          <p:cNvPr id="14" name="Chart 0" descr=""/>
          <p:cNvGraphicFramePr/>
          <p:nvPr/>
        </p:nvGraphicFramePr>
        <p:xfrm>
          <a:off x="822960" y="3200400"/>
          <a:ext cx="6675120" cy="274320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914400" y="5989320"/>
            <a:ext cx="6675120" cy="256032"/>
          </a:xfrm>
          <a:prstGeom prst="rect">
            <a:avLst/>
          </a:prstGeom>
          <a:noFill/>
          <a:ln/>
        </p:spPr>
        <p:txBody>
          <a:bodyPr wrap="square" lIns="0" tIns="0" rIns="0" bIns="0" rtlCol="0" anchor="t"/>
          <a:lstStyle/>
          <a:p>
            <a:pPr indent="0" marL="0">
              <a:buNone/>
            </a:pPr>
            <a:r>
              <a:rPr lang="en-US" sz="1000" i="1" dirty="0">
                <a:solidFill>
                  <a:schemeClr val="accent3"/>
                </a:solidFill>
              </a:rPr>
              <a:t>Approx. counts; ESMA interim MiCA register via public trackers (~360 CASPs in total).</a:t>
            </a:r>
            <a:endParaRPr lang="en-US" sz="1000" dirty="0"/>
          </a:p>
        </p:txBody>
      </p:sp>
      <p:sp>
        <p:nvSpPr>
          <p:cNvPr id="16" name="Shape 13"/>
          <p:cNvSpPr/>
          <p:nvPr/>
        </p:nvSpPr>
        <p:spPr>
          <a:xfrm>
            <a:off x="7726680" y="3246120"/>
            <a:ext cx="3776472" cy="2743200"/>
          </a:xfrm>
          <a:prstGeom prst="rect">
            <a:avLst/>
          </a:prstGeom>
          <a:solidFill>
            <a:schemeClr val="bg2"/>
          </a:solidFill>
          <a:ln w="12700">
            <a:solidFill>
              <a:schemeClr val="bg2"/>
            </a:solidFill>
            <a:prstDash val="solid"/>
          </a:ln>
        </p:spPr>
      </p:sp>
      <p:sp>
        <p:nvSpPr>
          <p:cNvPr id="17" name="Text 14"/>
          <p:cNvSpPr txBox="1"/>
          <p:nvPr/>
        </p:nvSpPr>
        <p:spPr>
          <a:xfrm>
            <a:off x="8001000" y="3383280"/>
            <a:ext cx="3227832" cy="320040"/>
          </a:xfrm>
          <a:prstGeom prst="rect">
            <a:avLst/>
          </a:prstGeom>
          <a:noFill/>
          <a:ln/>
        </p:spPr>
        <p:txBody>
          <a:bodyPr wrap="square" lIns="0" tIns="0" rIns="0" bIns="0" rtlCol="0" anchor="t"/>
          <a:lstStyle/>
          <a:p>
            <a:pPr indent="0" marL="0">
              <a:buNone/>
            </a:pPr>
            <a:r>
              <a:rPr lang="en-US" sz="1400" b="1" dirty="0">
                <a:solidFill>
                  <a:schemeClr val="accent3"/>
                </a:solidFill>
              </a:rPr>
              <a:t>Where the big players licensed</a:t>
            </a:r>
            <a:endParaRPr lang="en-US" sz="1400" dirty="0"/>
          </a:p>
        </p:txBody>
      </p:sp>
      <p:sp>
        <p:nvSpPr>
          <p:cNvPr id="18" name="Text 15"/>
          <p:cNvSpPr txBox="1"/>
          <p:nvPr/>
        </p:nvSpPr>
        <p:spPr>
          <a:xfrm>
            <a:off x="8001000" y="3794760"/>
            <a:ext cx="3319272" cy="365760"/>
          </a:xfrm>
          <a:prstGeom prst="rect">
            <a:avLst/>
          </a:prstGeom>
          <a:noFill/>
          <a:ln/>
        </p:spPr>
        <p:txBody>
          <a:bodyPr wrap="square" lIns="0" tIns="0" rIns="0" bIns="0" rtlCol="0" anchor="t"/>
          <a:lstStyle/>
          <a:p>
            <a:pPr indent="0" marL="0">
              <a:buNone/>
            </a:pPr>
            <a:r>
              <a:rPr lang="en-US" sz="1600" dirty="0">
                <a:solidFill>
                  <a:schemeClr val="accent6"/>
                </a:solidFill>
              </a:rPr>
              <a:t>Binance  →  </a:t>
            </a:r>
            <a:pPr indent="0" marL="0">
              <a:buNone/>
            </a:pPr>
            <a:r>
              <a:rPr lang="en-US" sz="1600" b="1" dirty="0">
                <a:solidFill>
                  <a:schemeClr val="accent1"/>
                </a:solidFill>
              </a:rPr>
              <a:t>France</a:t>
            </a:r>
            <a:endParaRPr lang="en-US" sz="1600" dirty="0"/>
          </a:p>
        </p:txBody>
      </p:sp>
      <p:sp>
        <p:nvSpPr>
          <p:cNvPr id="19" name="Text 16"/>
          <p:cNvSpPr txBox="1"/>
          <p:nvPr/>
        </p:nvSpPr>
        <p:spPr>
          <a:xfrm>
            <a:off x="8001000" y="4233672"/>
            <a:ext cx="3319272" cy="365760"/>
          </a:xfrm>
          <a:prstGeom prst="rect">
            <a:avLst/>
          </a:prstGeom>
          <a:noFill/>
          <a:ln/>
        </p:spPr>
        <p:txBody>
          <a:bodyPr wrap="square" lIns="0" tIns="0" rIns="0" bIns="0" rtlCol="0" anchor="t"/>
          <a:lstStyle/>
          <a:p>
            <a:pPr indent="0" marL="0">
              <a:buNone/>
            </a:pPr>
            <a:r>
              <a:rPr lang="en-US" sz="1600" dirty="0">
                <a:solidFill>
                  <a:schemeClr val="accent6"/>
                </a:solidFill>
              </a:rPr>
              <a:t>Kraken &amp; Coinbase  →  </a:t>
            </a:r>
            <a:pPr indent="0" marL="0">
              <a:buNone/>
            </a:pPr>
            <a:r>
              <a:rPr lang="en-US" sz="1600" b="1" dirty="0">
                <a:solidFill>
                  <a:schemeClr val="accent1"/>
                </a:solidFill>
              </a:rPr>
              <a:t>Ireland</a:t>
            </a:r>
            <a:endParaRPr lang="en-US" sz="1600" dirty="0"/>
          </a:p>
        </p:txBody>
      </p:sp>
      <p:sp>
        <p:nvSpPr>
          <p:cNvPr id="20" name="Text 17"/>
          <p:cNvSpPr txBox="1"/>
          <p:nvPr/>
        </p:nvSpPr>
        <p:spPr>
          <a:xfrm>
            <a:off x="8001000" y="4672584"/>
            <a:ext cx="3319272" cy="365760"/>
          </a:xfrm>
          <a:prstGeom prst="rect">
            <a:avLst/>
          </a:prstGeom>
          <a:noFill/>
          <a:ln/>
        </p:spPr>
        <p:txBody>
          <a:bodyPr wrap="square" lIns="0" tIns="0" rIns="0" bIns="0" rtlCol="0" anchor="t"/>
          <a:lstStyle/>
          <a:p>
            <a:pPr indent="0" marL="0">
              <a:buNone/>
            </a:pPr>
            <a:r>
              <a:rPr lang="en-US" sz="1600" dirty="0">
                <a:solidFill>
                  <a:schemeClr val="accent6"/>
                </a:solidFill>
              </a:rPr>
              <a:t>OKX  →  </a:t>
            </a:r>
            <a:pPr indent="0" marL="0">
              <a:buNone/>
            </a:pPr>
            <a:r>
              <a:rPr lang="en-US" sz="1600" b="1" dirty="0">
                <a:solidFill>
                  <a:schemeClr val="accent1"/>
                </a:solidFill>
              </a:rPr>
              <a:t>Malta</a:t>
            </a:r>
            <a:endParaRPr lang="en-US" sz="1600" dirty="0"/>
          </a:p>
        </p:txBody>
      </p:sp>
      <p:sp>
        <p:nvSpPr>
          <p:cNvPr id="21" name="Text 18"/>
          <p:cNvSpPr txBox="1"/>
          <p:nvPr/>
        </p:nvSpPr>
        <p:spPr>
          <a:xfrm>
            <a:off x="8001000" y="5166360"/>
            <a:ext cx="3227832" cy="685800"/>
          </a:xfrm>
          <a:prstGeom prst="rect">
            <a:avLst/>
          </a:prstGeom>
          <a:noFill/>
          <a:ln/>
        </p:spPr>
        <p:txBody>
          <a:bodyPr wrap="square" lIns="0" tIns="0" rIns="0" bIns="0" rtlCol="0" anchor="t"/>
          <a:lstStyle/>
          <a:p>
            <a:pPr indent="0" marL="0">
              <a:buNone/>
            </a:pPr>
            <a:r>
              <a:rPr lang="en-US" sz="1300" i="1" dirty="0">
                <a:solidFill>
                  <a:schemeClr val="accent6"/>
                </a:solidFill>
              </a:rPr>
              <a:t>Thanks to the passport, one licence is enough — so licences cluster in a few countries.</a:t>
            </a:r>
            <a:endParaRPr lang="en-US" sz="13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The case for and against</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Stablecoins and DeFi</a:t>
            </a:r>
            <a:endParaRPr lang="en-US" sz="2600" dirty="0"/>
          </a:p>
        </p:txBody>
      </p:sp>
      <p:sp>
        <p:nvSpPr>
          <p:cNvPr id="4" name="Tag AGAINST"/>
          <p:cNvSpPr txBox="1"/>
          <p:nvPr/>
        </p:nvSpPr>
        <p:spPr>
          <a:xfrm>
            <a:off x="10222992" y="292608"/>
            <a:ext cx="1280160" cy="420624"/>
          </a:xfrm>
          <a:prstGeom prst="rect">
            <a:avLst/>
          </a:prstGeom>
          <a:solidFill>
            <a:schemeClr val="accent2"/>
          </a:solidFill>
          <a:ln/>
        </p:spPr>
        <p:txBody>
          <a:bodyPr wrap="square" lIns="0" tIns="0" rIns="0" bIns="0" rtlCol="0" anchor="ctr"/>
          <a:lstStyle/>
          <a:p>
            <a:pPr algn="ctr" indent="0" marL="0">
              <a:buNone/>
            </a:pPr>
            <a:r>
              <a:rPr lang="en-US" sz="1400" b="1" spc="200" kern="0" dirty="0">
                <a:solidFill>
                  <a:schemeClr val="bg1"/>
                </a:solidFill>
              </a:rPr>
              <a:t>AGAINST</a:t>
            </a:r>
            <a:endParaRPr lang="en-US" sz="1400" dirty="0"/>
          </a:p>
        </p:txBody>
      </p:sp>
      <p:sp>
        <p:nvSpPr>
          <p:cNvPr id="5" name="Shape 3"/>
          <p:cNvSpPr/>
          <p:nvPr/>
        </p:nvSpPr>
        <p:spPr>
          <a:xfrm>
            <a:off x="914400" y="1371600"/>
            <a:ext cx="3520440" cy="2240280"/>
          </a:xfrm>
          <a:prstGeom prst="rect">
            <a:avLst/>
          </a:prstGeom>
          <a:solidFill>
            <a:schemeClr val="bg1"/>
          </a:solidFill>
          <a:ln w="12700">
            <a:solidFill>
              <a:schemeClr val="accent4"/>
            </a:solidFill>
            <a:prstDash val="solid"/>
          </a:ln>
        </p:spPr>
      </p:sp>
      <p:sp>
        <p:nvSpPr>
          <p:cNvPr id="6" name="Text 4"/>
          <p:cNvSpPr txBox="1"/>
          <p:nvPr/>
        </p:nvSpPr>
        <p:spPr>
          <a:xfrm>
            <a:off x="1188720" y="1600200"/>
            <a:ext cx="2971800" cy="411480"/>
          </a:xfrm>
          <a:prstGeom prst="rect">
            <a:avLst/>
          </a:prstGeom>
          <a:noFill/>
          <a:ln/>
        </p:spPr>
        <p:txBody>
          <a:bodyPr wrap="square" lIns="0" tIns="0" rIns="0" bIns="0" rtlCol="0" anchor="t"/>
          <a:lstStyle/>
          <a:p>
            <a:pPr indent="0" marL="0">
              <a:buNone/>
            </a:pPr>
            <a:r>
              <a:rPr lang="en-US" sz="2000" b="1" dirty="0">
                <a:solidFill>
                  <a:schemeClr val="accent2"/>
                </a:solidFill>
              </a:rPr>
              <a:t>USDT</a:t>
            </a:r>
            <a:endParaRPr lang="en-US" sz="2000" dirty="0"/>
          </a:p>
        </p:txBody>
      </p:sp>
      <p:sp>
        <p:nvSpPr>
          <p:cNvPr id="7" name="Text 5"/>
          <p:cNvSpPr txBox="1"/>
          <p:nvPr/>
        </p:nvSpPr>
        <p:spPr>
          <a:xfrm>
            <a:off x="1188720" y="2103120"/>
            <a:ext cx="2971800" cy="1371600"/>
          </a:xfrm>
          <a:prstGeom prst="rect">
            <a:avLst/>
          </a:prstGeom>
          <a:noFill/>
          <a:ln/>
        </p:spPr>
        <p:txBody>
          <a:bodyPr wrap="square" lIns="0" tIns="0" rIns="0" bIns="0" rtlCol="0" anchor="t"/>
          <a:lstStyle/>
          <a:p>
            <a:pPr indent="0" marL="0">
              <a:buNone/>
            </a:pPr>
            <a:r>
              <a:rPr lang="en-US" sz="1500" dirty="0">
                <a:solidFill>
                  <a:schemeClr val="accent6"/>
                </a:solidFill>
              </a:rPr>
              <a:t>Tether, the largest stablecoin, did not apply → no USDT pairs on licensed EEA exchanges from 1 July 2026.</a:t>
            </a:r>
            <a:endParaRPr lang="en-US" sz="1500" dirty="0"/>
          </a:p>
        </p:txBody>
      </p:sp>
      <p:sp>
        <p:nvSpPr>
          <p:cNvPr id="8" name="Shape 6"/>
          <p:cNvSpPr/>
          <p:nvPr/>
        </p:nvSpPr>
        <p:spPr>
          <a:xfrm>
            <a:off x="4709160" y="1371600"/>
            <a:ext cx="3520440" cy="2240280"/>
          </a:xfrm>
          <a:prstGeom prst="rect">
            <a:avLst/>
          </a:prstGeom>
          <a:solidFill>
            <a:schemeClr val="bg1"/>
          </a:solidFill>
          <a:ln w="12700">
            <a:solidFill>
              <a:schemeClr val="accent4"/>
            </a:solidFill>
            <a:prstDash val="solid"/>
          </a:ln>
        </p:spPr>
      </p:sp>
      <p:sp>
        <p:nvSpPr>
          <p:cNvPr id="9" name="Text 7"/>
          <p:cNvSpPr txBox="1"/>
          <p:nvPr/>
        </p:nvSpPr>
        <p:spPr>
          <a:xfrm>
            <a:off x="4983480" y="1600200"/>
            <a:ext cx="2971800" cy="411480"/>
          </a:xfrm>
          <a:prstGeom prst="rect">
            <a:avLst/>
          </a:prstGeom>
          <a:noFill/>
          <a:ln/>
        </p:spPr>
        <p:txBody>
          <a:bodyPr wrap="square" lIns="0" tIns="0" rIns="0" bIns="0" rtlCol="0" anchor="t"/>
          <a:lstStyle/>
          <a:p>
            <a:pPr indent="0" marL="0">
              <a:buNone/>
            </a:pPr>
            <a:r>
              <a:rPr lang="en-US" sz="2000" b="1" dirty="0">
                <a:solidFill>
                  <a:schemeClr val="accent2"/>
                </a:solidFill>
              </a:rPr>
              <a:t>ARTs</a:t>
            </a:r>
            <a:endParaRPr lang="en-US" sz="2000" dirty="0"/>
          </a:p>
        </p:txBody>
      </p:sp>
      <p:sp>
        <p:nvSpPr>
          <p:cNvPr id="10" name="Text 8"/>
          <p:cNvSpPr txBox="1"/>
          <p:nvPr/>
        </p:nvSpPr>
        <p:spPr>
          <a:xfrm>
            <a:off x="4983480" y="2103120"/>
            <a:ext cx="2971800" cy="1371600"/>
          </a:xfrm>
          <a:prstGeom prst="rect">
            <a:avLst/>
          </a:prstGeom>
          <a:noFill/>
          <a:ln/>
        </p:spPr>
        <p:txBody>
          <a:bodyPr wrap="square" lIns="0" tIns="0" rIns="0" bIns="0" rtlCol="0" anchor="t"/>
          <a:lstStyle/>
          <a:p>
            <a:pPr indent="0" marL="0">
              <a:buNone/>
            </a:pPr>
            <a:r>
              <a:rPr lang="en-US" sz="1500" dirty="0">
                <a:solidFill>
                  <a:schemeClr val="accent6"/>
                </a:solidFill>
              </a:rPr>
              <a:t>No asset-referenced tokens licensed so far — the category is practically empty.</a:t>
            </a:r>
            <a:endParaRPr lang="en-US" sz="1500" dirty="0"/>
          </a:p>
        </p:txBody>
      </p:sp>
      <p:sp>
        <p:nvSpPr>
          <p:cNvPr id="11" name="Shape 9"/>
          <p:cNvSpPr/>
          <p:nvPr/>
        </p:nvSpPr>
        <p:spPr>
          <a:xfrm>
            <a:off x="914400" y="3886200"/>
            <a:ext cx="3520440" cy="2240280"/>
          </a:xfrm>
          <a:prstGeom prst="rect">
            <a:avLst/>
          </a:prstGeom>
          <a:solidFill>
            <a:schemeClr val="bg1"/>
          </a:solidFill>
          <a:ln w="12700">
            <a:solidFill>
              <a:schemeClr val="accent4"/>
            </a:solidFill>
            <a:prstDash val="solid"/>
          </a:ln>
        </p:spPr>
      </p:sp>
      <p:sp>
        <p:nvSpPr>
          <p:cNvPr id="12" name="Text 10"/>
          <p:cNvSpPr txBox="1"/>
          <p:nvPr/>
        </p:nvSpPr>
        <p:spPr>
          <a:xfrm>
            <a:off x="1188720" y="4114800"/>
            <a:ext cx="2971800" cy="411480"/>
          </a:xfrm>
          <a:prstGeom prst="rect">
            <a:avLst/>
          </a:prstGeom>
          <a:noFill/>
          <a:ln/>
        </p:spPr>
        <p:txBody>
          <a:bodyPr wrap="square" lIns="0" tIns="0" rIns="0" bIns="0" rtlCol="0" anchor="t"/>
          <a:lstStyle/>
          <a:p>
            <a:pPr indent="0" marL="0">
              <a:buNone/>
            </a:pPr>
            <a:r>
              <a:rPr lang="en-US" sz="2000" b="1" dirty="0">
                <a:solidFill>
                  <a:schemeClr val="accent2"/>
                </a:solidFill>
              </a:rPr>
              <a:t>Interest ban</a:t>
            </a:r>
            <a:endParaRPr lang="en-US" sz="2000" dirty="0"/>
          </a:p>
        </p:txBody>
      </p:sp>
      <p:sp>
        <p:nvSpPr>
          <p:cNvPr id="13" name="Text 11"/>
          <p:cNvSpPr txBox="1"/>
          <p:nvPr/>
        </p:nvSpPr>
        <p:spPr>
          <a:xfrm>
            <a:off x="1188720" y="4617720"/>
            <a:ext cx="2971800" cy="1371600"/>
          </a:xfrm>
          <a:prstGeom prst="rect">
            <a:avLst/>
          </a:prstGeom>
          <a:noFill/>
          <a:ln/>
        </p:spPr>
        <p:txBody>
          <a:bodyPr wrap="square" lIns="0" tIns="0" rIns="0" bIns="0" rtlCol="0" anchor="t"/>
          <a:lstStyle/>
          <a:p>
            <a:pPr indent="0" marL="0">
              <a:buNone/>
            </a:pPr>
            <a:r>
              <a:rPr lang="en-US" sz="1500" dirty="0">
                <a:solidFill>
                  <a:schemeClr val="accent6"/>
                </a:solidFill>
              </a:rPr>
              <a:t>Holders cannot earn interest on stablecoins. This may make euro stablecoins less attractive.</a:t>
            </a:r>
            <a:endParaRPr lang="en-US" sz="1500" dirty="0"/>
          </a:p>
        </p:txBody>
      </p:sp>
      <p:sp>
        <p:nvSpPr>
          <p:cNvPr id="14" name="Shape 12"/>
          <p:cNvSpPr/>
          <p:nvPr/>
        </p:nvSpPr>
        <p:spPr>
          <a:xfrm>
            <a:off x="4709160" y="3886200"/>
            <a:ext cx="3520440" cy="2240280"/>
          </a:xfrm>
          <a:prstGeom prst="rect">
            <a:avLst/>
          </a:prstGeom>
          <a:solidFill>
            <a:schemeClr val="bg1"/>
          </a:solidFill>
          <a:ln w="12700">
            <a:solidFill>
              <a:schemeClr val="accent4"/>
            </a:solidFill>
            <a:prstDash val="solid"/>
          </a:ln>
        </p:spPr>
      </p:sp>
      <p:sp>
        <p:nvSpPr>
          <p:cNvPr id="15" name="Text 13"/>
          <p:cNvSpPr txBox="1"/>
          <p:nvPr/>
        </p:nvSpPr>
        <p:spPr>
          <a:xfrm>
            <a:off x="4983480" y="4114800"/>
            <a:ext cx="2971800" cy="411480"/>
          </a:xfrm>
          <a:prstGeom prst="rect">
            <a:avLst/>
          </a:prstGeom>
          <a:noFill/>
          <a:ln/>
        </p:spPr>
        <p:txBody>
          <a:bodyPr wrap="square" lIns="0" tIns="0" rIns="0" bIns="0" rtlCol="0" anchor="t"/>
          <a:lstStyle/>
          <a:p>
            <a:pPr indent="0" marL="0">
              <a:buNone/>
            </a:pPr>
            <a:r>
              <a:rPr lang="en-US" sz="2000" b="1" dirty="0">
                <a:solidFill>
                  <a:schemeClr val="accent2"/>
                </a:solidFill>
              </a:rPr>
              <a:t>DeFi</a:t>
            </a:r>
            <a:endParaRPr lang="en-US" sz="2000" dirty="0"/>
          </a:p>
        </p:txBody>
      </p:sp>
      <p:sp>
        <p:nvSpPr>
          <p:cNvPr id="16" name="Text 14"/>
          <p:cNvSpPr txBox="1"/>
          <p:nvPr/>
        </p:nvSpPr>
        <p:spPr>
          <a:xfrm>
            <a:off x="4983480" y="4617720"/>
            <a:ext cx="2971800" cy="1371600"/>
          </a:xfrm>
          <a:prstGeom prst="rect">
            <a:avLst/>
          </a:prstGeom>
          <a:noFill/>
          <a:ln/>
        </p:spPr>
        <p:txBody>
          <a:bodyPr wrap="square" lIns="0" tIns="0" rIns="0" bIns="0" rtlCol="0" anchor="t"/>
          <a:lstStyle/>
          <a:p>
            <a:pPr indent="0" marL="0">
              <a:buNone/>
            </a:pPr>
            <a:r>
              <a:rPr lang="en-US" sz="1500" dirty="0">
                <a:solidFill>
                  <a:schemeClr val="accent6"/>
                </a:solidFill>
              </a:rPr>
              <a:t>The most innovative segment sits outside MiCA: not banned, not regulated — legal uncertainty for builders.</a:t>
            </a:r>
            <a:endParaRPr lang="en-US" sz="1500" dirty="0"/>
          </a:p>
        </p:txBody>
      </p:sp>
      <p:graphicFrame>
        <p:nvGraphicFramePr>
          <p:cNvPr id="17" name="Chart 0" descr=""/>
          <p:cNvGraphicFramePr/>
          <p:nvPr/>
        </p:nvGraphicFramePr>
        <p:xfrm>
          <a:off x="8595360" y="1325880"/>
          <a:ext cx="2907792" cy="274320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8595360" y="2331720"/>
            <a:ext cx="2907792" cy="685800"/>
          </a:xfrm>
          <a:prstGeom prst="rect">
            <a:avLst/>
          </a:prstGeom>
          <a:noFill/>
          <a:ln/>
        </p:spPr>
        <p:txBody>
          <a:bodyPr wrap="square" lIns="0" tIns="0" rIns="0" bIns="0" rtlCol="0" anchor="ctr"/>
          <a:lstStyle/>
          <a:p>
            <a:pPr algn="ctr" indent="0" marL="0">
              <a:buNone/>
            </a:pPr>
            <a:r>
              <a:rPr lang="en-US" sz="3000" b="1" dirty="0">
                <a:solidFill>
                  <a:schemeClr val="accent2"/>
                </a:solidFill>
              </a:rPr>
              <a:t>0.3%</a:t>
            </a:r>
            <a:endParaRPr lang="en-US" sz="3000" dirty="0"/>
          </a:p>
        </p:txBody>
      </p:sp>
      <p:sp>
        <p:nvSpPr>
          <p:cNvPr id="19" name="Text 16"/>
          <p:cNvSpPr txBox="1"/>
          <p:nvPr/>
        </p:nvSpPr>
        <p:spPr>
          <a:xfrm>
            <a:off x="8595360" y="4206240"/>
            <a:ext cx="2907792" cy="1097280"/>
          </a:xfrm>
          <a:prstGeom prst="rect">
            <a:avLst/>
          </a:prstGeom>
          <a:noFill/>
          <a:ln/>
        </p:spPr>
        <p:txBody>
          <a:bodyPr wrap="square" lIns="0" tIns="0" rIns="0" bIns="0" rtlCol="0" anchor="t"/>
          <a:lstStyle/>
          <a:p>
            <a:pPr algn="ctr" indent="0" marL="0">
              <a:buNone/>
            </a:pPr>
            <a:r>
              <a:rPr lang="en-US" sz="1300" dirty="0">
                <a:solidFill>
                  <a:schemeClr val="accent6"/>
                </a:solidFill>
              </a:rPr>
              <a:t>Euro stablecoins' share of the global stablecoin market (~$0.9 bn of ~$304 bn). The market is dominated by the dollar.</a:t>
            </a:r>
            <a:endParaRPr lang="en-US" sz="1300" dirty="0"/>
          </a:p>
        </p:txBody>
      </p:sp>
      <p:sp>
        <p:nvSpPr>
          <p:cNvPr id="20" name="Text 17"/>
          <p:cNvSpPr txBox="1"/>
          <p:nvPr/>
        </p:nvSpPr>
        <p:spPr>
          <a:xfrm>
            <a:off x="8595360" y="5349240"/>
            <a:ext cx="2907792" cy="256032"/>
          </a:xfrm>
          <a:prstGeom prst="rect">
            <a:avLst/>
          </a:prstGeom>
          <a:noFill/>
          <a:ln/>
        </p:spPr>
        <p:txBody>
          <a:bodyPr wrap="square" lIns="0" tIns="0" rIns="0" bIns="0" rtlCol="0" anchor="t"/>
          <a:lstStyle/>
          <a:p>
            <a:pPr indent="0" marL="0">
              <a:buNone/>
            </a:pPr>
            <a:r>
              <a:rPr lang="en-US" sz="1000" i="1" dirty="0">
                <a:solidFill>
                  <a:schemeClr val="accent3"/>
                </a:solidFill>
              </a:rPr>
              <a:t>Stablecoin Beat, Sep–Oct 2026</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The case for and against</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Fraud, AML &amp; KYC: the price of trust</a:t>
            </a:r>
            <a:endParaRPr lang="en-US" sz="2600" dirty="0"/>
          </a:p>
        </p:txBody>
      </p:sp>
      <p:sp>
        <p:nvSpPr>
          <p:cNvPr id="4" name="Shape 2"/>
          <p:cNvSpPr/>
          <p:nvPr/>
        </p:nvSpPr>
        <p:spPr>
          <a:xfrm>
            <a:off x="914400" y="1371600"/>
            <a:ext cx="457200" cy="457200"/>
          </a:xfrm>
          <a:prstGeom prst="ellipse">
            <a:avLst/>
          </a:prstGeom>
          <a:solidFill>
            <a:schemeClr val="accent2"/>
          </a:solidFill>
          <a:ln w="12700">
            <a:solidFill>
              <a:schemeClr val="accent2"/>
            </a:solidFill>
            <a:prstDash val="solid"/>
          </a:ln>
        </p:spPr>
      </p:sp>
      <p:pic>
        <p:nvPicPr>
          <p:cNvPr id="5" name="Image 0" descr="preencoded.png">    </p:cNvPr>
          <p:cNvPicPr>
            <a:picLocks noChangeAspect="1"/>
          </p:cNvPicPr>
          <p:nvPr/>
        </p:nvPicPr>
        <p:blipFill>
          <a:blip r:embed="rId1"/>
          <a:stretch>
            <a:fillRect/>
          </a:stretch>
        </p:blipFill>
        <p:spPr>
          <a:xfrm>
            <a:off x="1028700" y="1485900"/>
            <a:ext cx="228600" cy="228600"/>
          </a:xfrm>
          <a:prstGeom prst="rect">
            <a:avLst/>
          </a:prstGeom>
        </p:spPr>
      </p:pic>
      <p:sp>
        <p:nvSpPr>
          <p:cNvPr id="6" name="Text 3"/>
          <p:cNvSpPr txBox="1"/>
          <p:nvPr/>
        </p:nvSpPr>
        <p:spPr>
          <a:xfrm>
            <a:off x="1554480" y="1444752"/>
            <a:ext cx="6675120" cy="365760"/>
          </a:xfrm>
          <a:prstGeom prst="rect">
            <a:avLst/>
          </a:prstGeom>
          <a:noFill/>
          <a:ln/>
        </p:spPr>
        <p:txBody>
          <a:bodyPr wrap="square" lIns="0" tIns="0" rIns="0" bIns="0" rtlCol="0" anchor="t"/>
          <a:lstStyle/>
          <a:p>
            <a:pPr indent="0" marL="0">
              <a:buNone/>
            </a:pPr>
            <a:r>
              <a:rPr lang="en-US" sz="1600" b="1" dirty="0">
                <a:solidFill>
                  <a:schemeClr val="accent2"/>
                </a:solidFill>
              </a:rPr>
              <a:t>Problem: </a:t>
            </a:r>
            <a:pPr indent="0" marL="0">
              <a:buNone/>
            </a:pPr>
            <a:r>
              <a:rPr lang="en-US" sz="1600" dirty="0">
                <a:solidFill>
                  <a:schemeClr val="accent6"/>
                </a:solidFill>
              </a:rPr>
              <a:t>scams, hacks, money laundering, sanctions evasion</a:t>
            </a:r>
            <a:endParaRPr lang="en-US" sz="1600" dirty="0"/>
          </a:p>
        </p:txBody>
      </p:sp>
      <p:sp>
        <p:nvSpPr>
          <p:cNvPr id="7" name="Text 4"/>
          <p:cNvSpPr txBox="1"/>
          <p:nvPr/>
        </p:nvSpPr>
        <p:spPr>
          <a:xfrm>
            <a:off x="914400" y="2011680"/>
            <a:ext cx="3657600" cy="292608"/>
          </a:xfrm>
          <a:prstGeom prst="rect">
            <a:avLst/>
          </a:prstGeom>
          <a:noFill/>
          <a:ln/>
        </p:spPr>
        <p:txBody>
          <a:bodyPr wrap="square" lIns="0" tIns="0" rIns="0" bIns="0" rtlCol="0" anchor="t"/>
          <a:lstStyle/>
          <a:p>
            <a:pPr indent="0" marL="0">
              <a:buNone/>
            </a:pPr>
            <a:r>
              <a:rPr lang="en-US" sz="1400" b="1" dirty="0">
                <a:solidFill>
                  <a:schemeClr val="accent3"/>
                </a:solidFill>
              </a:rPr>
              <a:t>EU response</a:t>
            </a:r>
            <a:endParaRPr lang="en-US" sz="1400" dirty="0"/>
          </a:p>
        </p:txBody>
      </p:sp>
      <p:sp>
        <p:nvSpPr>
          <p:cNvPr id="8" name="Shape 5"/>
          <p:cNvSpPr/>
          <p:nvPr/>
        </p:nvSpPr>
        <p:spPr>
          <a:xfrm>
            <a:off x="914400" y="2377440"/>
            <a:ext cx="1691640" cy="2011680"/>
          </a:xfrm>
          <a:prstGeom prst="rect">
            <a:avLst/>
          </a:prstGeom>
          <a:solidFill>
            <a:schemeClr val="bg2"/>
          </a:solidFill>
          <a:ln w="12700">
            <a:solidFill>
              <a:schemeClr val="bg2"/>
            </a:solidFill>
            <a:prstDash val="solid"/>
          </a:ln>
        </p:spPr>
      </p:sp>
      <p:sp>
        <p:nvSpPr>
          <p:cNvPr id="9" name="Shape 6"/>
          <p:cNvSpPr/>
          <p:nvPr/>
        </p:nvSpPr>
        <p:spPr>
          <a:xfrm>
            <a:off x="1097280" y="2514600"/>
            <a:ext cx="475488" cy="475488"/>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1216152" y="2633472"/>
            <a:ext cx="237744" cy="237744"/>
          </a:xfrm>
          <a:prstGeom prst="rect">
            <a:avLst/>
          </a:prstGeom>
        </p:spPr>
      </p:pic>
      <p:sp>
        <p:nvSpPr>
          <p:cNvPr id="11" name="Text 7"/>
          <p:cNvSpPr txBox="1"/>
          <p:nvPr/>
        </p:nvSpPr>
        <p:spPr>
          <a:xfrm>
            <a:off x="1097280" y="3063240"/>
            <a:ext cx="1371600" cy="320040"/>
          </a:xfrm>
          <a:prstGeom prst="rect">
            <a:avLst/>
          </a:prstGeom>
          <a:noFill/>
          <a:ln/>
        </p:spPr>
        <p:txBody>
          <a:bodyPr wrap="square" lIns="0" tIns="0" rIns="0" bIns="0" rtlCol="0" anchor="t"/>
          <a:lstStyle/>
          <a:p>
            <a:pPr indent="0" marL="0">
              <a:buNone/>
            </a:pPr>
            <a:r>
              <a:rPr lang="en-US" sz="1500" b="1" dirty="0">
                <a:solidFill>
                  <a:schemeClr val="accent1"/>
                </a:solidFill>
              </a:rPr>
              <a:t>KYC</a:t>
            </a:r>
            <a:endParaRPr lang="en-US" sz="1500" dirty="0"/>
          </a:p>
        </p:txBody>
      </p:sp>
      <p:sp>
        <p:nvSpPr>
          <p:cNvPr id="12" name="Text 8"/>
          <p:cNvSpPr txBox="1"/>
          <p:nvPr/>
        </p:nvSpPr>
        <p:spPr>
          <a:xfrm>
            <a:off x="1097280" y="3401568"/>
            <a:ext cx="1371600" cy="914400"/>
          </a:xfrm>
          <a:prstGeom prst="rect">
            <a:avLst/>
          </a:prstGeom>
          <a:noFill/>
          <a:ln/>
        </p:spPr>
        <p:txBody>
          <a:bodyPr wrap="square" lIns="0" tIns="0" rIns="0" bIns="0" rtlCol="0" anchor="t"/>
          <a:lstStyle/>
          <a:p>
            <a:pPr indent="0" marL="0">
              <a:buNone/>
            </a:pPr>
            <a:r>
              <a:rPr lang="en-US" sz="1250" dirty="0">
                <a:solidFill>
                  <a:schemeClr val="accent6"/>
                </a:solidFill>
              </a:rPr>
              <a:t>Mandatory: platforms must check who their customers are</a:t>
            </a:r>
            <a:endParaRPr lang="en-US" sz="1250" dirty="0"/>
          </a:p>
        </p:txBody>
      </p:sp>
      <p:sp>
        <p:nvSpPr>
          <p:cNvPr id="13" name="Shape 9"/>
          <p:cNvSpPr/>
          <p:nvPr/>
        </p:nvSpPr>
        <p:spPr>
          <a:xfrm>
            <a:off x="2788920" y="2377440"/>
            <a:ext cx="1691640" cy="2011680"/>
          </a:xfrm>
          <a:prstGeom prst="rect">
            <a:avLst/>
          </a:prstGeom>
          <a:solidFill>
            <a:schemeClr val="bg2"/>
          </a:solidFill>
          <a:ln w="12700">
            <a:solidFill>
              <a:schemeClr val="bg2"/>
            </a:solidFill>
            <a:prstDash val="solid"/>
          </a:ln>
        </p:spPr>
      </p:sp>
      <p:sp>
        <p:nvSpPr>
          <p:cNvPr id="14" name="Shape 10"/>
          <p:cNvSpPr/>
          <p:nvPr/>
        </p:nvSpPr>
        <p:spPr>
          <a:xfrm>
            <a:off x="2971800" y="2514600"/>
            <a:ext cx="475488" cy="475488"/>
          </a:xfrm>
          <a:prstGeom prst="ellipse">
            <a:avLst/>
          </a:prstGeom>
          <a:solidFill>
            <a:schemeClr val="accent1"/>
          </a:solidFill>
          <a:ln w="12700">
            <a:solidFill>
              <a:schemeClr val="accent1"/>
            </a:solidFill>
            <a:prstDash val="solid"/>
          </a:ln>
        </p:spPr>
      </p:sp>
      <p:pic>
        <p:nvPicPr>
          <p:cNvPr id="15" name="Image 2" descr="preencoded.png">    </p:cNvPr>
          <p:cNvPicPr>
            <a:picLocks noChangeAspect="1"/>
          </p:cNvPicPr>
          <p:nvPr/>
        </p:nvPicPr>
        <p:blipFill>
          <a:blip r:embed="rId3"/>
          <a:stretch>
            <a:fillRect/>
          </a:stretch>
        </p:blipFill>
        <p:spPr>
          <a:xfrm>
            <a:off x="3090672" y="2633472"/>
            <a:ext cx="237744" cy="237744"/>
          </a:xfrm>
          <a:prstGeom prst="rect">
            <a:avLst/>
          </a:prstGeom>
        </p:spPr>
      </p:pic>
      <p:sp>
        <p:nvSpPr>
          <p:cNvPr id="16" name="Text 11"/>
          <p:cNvSpPr txBox="1"/>
          <p:nvPr/>
        </p:nvSpPr>
        <p:spPr>
          <a:xfrm>
            <a:off x="2971800" y="3063240"/>
            <a:ext cx="1371600" cy="320040"/>
          </a:xfrm>
          <a:prstGeom prst="rect">
            <a:avLst/>
          </a:prstGeom>
          <a:noFill/>
          <a:ln/>
        </p:spPr>
        <p:txBody>
          <a:bodyPr wrap="square" lIns="0" tIns="0" rIns="0" bIns="0" rtlCol="0" anchor="t"/>
          <a:lstStyle/>
          <a:p>
            <a:pPr indent="0" marL="0">
              <a:buNone/>
            </a:pPr>
            <a:r>
              <a:rPr lang="en-US" sz="1500" b="1" dirty="0">
                <a:solidFill>
                  <a:schemeClr val="accent1"/>
                </a:solidFill>
              </a:rPr>
              <a:t>Travel Rule</a:t>
            </a:r>
            <a:endParaRPr lang="en-US" sz="1500" dirty="0"/>
          </a:p>
        </p:txBody>
      </p:sp>
      <p:sp>
        <p:nvSpPr>
          <p:cNvPr id="17" name="Text 12"/>
          <p:cNvSpPr txBox="1"/>
          <p:nvPr/>
        </p:nvSpPr>
        <p:spPr>
          <a:xfrm>
            <a:off x="2971800" y="3401568"/>
            <a:ext cx="1371600" cy="914400"/>
          </a:xfrm>
          <a:prstGeom prst="rect">
            <a:avLst/>
          </a:prstGeom>
          <a:noFill/>
          <a:ln/>
        </p:spPr>
        <p:txBody>
          <a:bodyPr wrap="square" lIns="0" tIns="0" rIns="0" bIns="0" rtlCol="0" anchor="t"/>
          <a:lstStyle/>
          <a:p>
            <a:pPr indent="0" marL="0">
              <a:buNone/>
            </a:pPr>
            <a:r>
              <a:rPr lang="en-US" sz="1250" dirty="0">
                <a:solidFill>
                  <a:schemeClr val="accent6"/>
                </a:solidFill>
              </a:rPr>
              <a:t>Sender and receiver data travel with every transfer</a:t>
            </a:r>
            <a:endParaRPr lang="en-US" sz="1250" dirty="0"/>
          </a:p>
        </p:txBody>
      </p:sp>
      <p:sp>
        <p:nvSpPr>
          <p:cNvPr id="18" name="Shape 13"/>
          <p:cNvSpPr/>
          <p:nvPr/>
        </p:nvSpPr>
        <p:spPr>
          <a:xfrm>
            <a:off x="4663440" y="2377440"/>
            <a:ext cx="1691640" cy="2011680"/>
          </a:xfrm>
          <a:prstGeom prst="rect">
            <a:avLst/>
          </a:prstGeom>
          <a:solidFill>
            <a:schemeClr val="bg2"/>
          </a:solidFill>
          <a:ln w="12700">
            <a:solidFill>
              <a:schemeClr val="bg2"/>
            </a:solidFill>
            <a:prstDash val="solid"/>
          </a:ln>
        </p:spPr>
      </p:sp>
      <p:sp>
        <p:nvSpPr>
          <p:cNvPr id="19" name="Shape 14"/>
          <p:cNvSpPr/>
          <p:nvPr/>
        </p:nvSpPr>
        <p:spPr>
          <a:xfrm>
            <a:off x="4846320" y="2514600"/>
            <a:ext cx="475488" cy="475488"/>
          </a:xfrm>
          <a:prstGeom prst="ellipse">
            <a:avLst/>
          </a:prstGeom>
          <a:solidFill>
            <a:schemeClr val="accent1"/>
          </a:solidFill>
          <a:ln w="12700">
            <a:solidFill>
              <a:schemeClr val="accent1"/>
            </a:solidFill>
            <a:prstDash val="solid"/>
          </a:ln>
        </p:spPr>
      </p:sp>
      <p:pic>
        <p:nvPicPr>
          <p:cNvPr id="20" name="Image 3" descr="preencoded.png">    </p:cNvPr>
          <p:cNvPicPr>
            <a:picLocks noChangeAspect="1"/>
          </p:cNvPicPr>
          <p:nvPr/>
        </p:nvPicPr>
        <p:blipFill>
          <a:blip r:embed="rId4"/>
          <a:stretch>
            <a:fillRect/>
          </a:stretch>
        </p:blipFill>
        <p:spPr>
          <a:xfrm>
            <a:off x="4965192" y="2633472"/>
            <a:ext cx="237744" cy="237744"/>
          </a:xfrm>
          <a:prstGeom prst="rect">
            <a:avLst/>
          </a:prstGeom>
        </p:spPr>
      </p:pic>
      <p:sp>
        <p:nvSpPr>
          <p:cNvPr id="21" name="Text 15"/>
          <p:cNvSpPr txBox="1"/>
          <p:nvPr/>
        </p:nvSpPr>
        <p:spPr>
          <a:xfrm>
            <a:off x="4846320" y="3063240"/>
            <a:ext cx="1371600" cy="320040"/>
          </a:xfrm>
          <a:prstGeom prst="rect">
            <a:avLst/>
          </a:prstGeom>
          <a:noFill/>
          <a:ln/>
        </p:spPr>
        <p:txBody>
          <a:bodyPr wrap="square" lIns="0" tIns="0" rIns="0" bIns="0" rtlCol="0" anchor="t"/>
          <a:lstStyle/>
          <a:p>
            <a:pPr indent="0" marL="0">
              <a:buNone/>
            </a:pPr>
            <a:r>
              <a:rPr lang="en-US" sz="1500" b="1" dirty="0">
                <a:solidFill>
                  <a:schemeClr val="accent1"/>
                </a:solidFill>
              </a:rPr>
              <a:t>AMLA</a:t>
            </a:r>
            <a:endParaRPr lang="en-US" sz="1500" dirty="0"/>
          </a:p>
        </p:txBody>
      </p:sp>
      <p:sp>
        <p:nvSpPr>
          <p:cNvPr id="22" name="Text 16"/>
          <p:cNvSpPr txBox="1"/>
          <p:nvPr/>
        </p:nvSpPr>
        <p:spPr>
          <a:xfrm>
            <a:off x="4846320" y="3401568"/>
            <a:ext cx="1371600" cy="914400"/>
          </a:xfrm>
          <a:prstGeom prst="rect">
            <a:avLst/>
          </a:prstGeom>
          <a:noFill/>
          <a:ln/>
        </p:spPr>
        <p:txBody>
          <a:bodyPr wrap="square" lIns="0" tIns="0" rIns="0" bIns="0" rtlCol="0" anchor="t"/>
          <a:lstStyle/>
          <a:p>
            <a:pPr indent="0" marL="0">
              <a:buNone/>
            </a:pPr>
            <a:r>
              <a:rPr lang="en-US" sz="1250" dirty="0">
                <a:solidFill>
                  <a:schemeClr val="accent6"/>
                </a:solidFill>
              </a:rPr>
              <a:t>New EU authority fighting money laundering</a:t>
            </a:r>
            <a:endParaRPr lang="en-US" sz="1250" dirty="0"/>
          </a:p>
        </p:txBody>
      </p:sp>
      <p:sp>
        <p:nvSpPr>
          <p:cNvPr id="23" name="Shape 17"/>
          <p:cNvSpPr/>
          <p:nvPr/>
        </p:nvSpPr>
        <p:spPr>
          <a:xfrm>
            <a:off x="6537960" y="2377440"/>
            <a:ext cx="1691640" cy="2011680"/>
          </a:xfrm>
          <a:prstGeom prst="rect">
            <a:avLst/>
          </a:prstGeom>
          <a:solidFill>
            <a:schemeClr val="bg2"/>
          </a:solidFill>
          <a:ln w="12700">
            <a:solidFill>
              <a:schemeClr val="bg2"/>
            </a:solidFill>
            <a:prstDash val="solid"/>
          </a:ln>
        </p:spPr>
      </p:sp>
      <p:sp>
        <p:nvSpPr>
          <p:cNvPr id="24" name="Shape 18"/>
          <p:cNvSpPr/>
          <p:nvPr/>
        </p:nvSpPr>
        <p:spPr>
          <a:xfrm>
            <a:off x="6720840" y="2514600"/>
            <a:ext cx="475488" cy="475488"/>
          </a:xfrm>
          <a:prstGeom prst="ellipse">
            <a:avLst/>
          </a:prstGeom>
          <a:solidFill>
            <a:schemeClr val="accent1"/>
          </a:solidFill>
          <a:ln w="12700">
            <a:solidFill>
              <a:schemeClr val="accent1"/>
            </a:solidFill>
            <a:prstDash val="solid"/>
          </a:ln>
        </p:spPr>
      </p:sp>
      <p:pic>
        <p:nvPicPr>
          <p:cNvPr id="25" name="Image 4" descr="preencoded.png">    </p:cNvPr>
          <p:cNvPicPr>
            <a:picLocks noChangeAspect="1"/>
          </p:cNvPicPr>
          <p:nvPr/>
        </p:nvPicPr>
        <p:blipFill>
          <a:blip r:embed="rId5"/>
          <a:stretch>
            <a:fillRect/>
          </a:stretch>
        </p:blipFill>
        <p:spPr>
          <a:xfrm>
            <a:off x="6839712" y="2633472"/>
            <a:ext cx="237744" cy="237744"/>
          </a:xfrm>
          <a:prstGeom prst="rect">
            <a:avLst/>
          </a:prstGeom>
        </p:spPr>
      </p:pic>
      <p:sp>
        <p:nvSpPr>
          <p:cNvPr id="26" name="Text 19"/>
          <p:cNvSpPr txBox="1"/>
          <p:nvPr/>
        </p:nvSpPr>
        <p:spPr>
          <a:xfrm>
            <a:off x="6720840" y="3063240"/>
            <a:ext cx="1371600" cy="320040"/>
          </a:xfrm>
          <a:prstGeom prst="rect">
            <a:avLst/>
          </a:prstGeom>
          <a:noFill/>
          <a:ln/>
        </p:spPr>
        <p:txBody>
          <a:bodyPr wrap="square" lIns="0" tIns="0" rIns="0" bIns="0" rtlCol="0" anchor="t"/>
          <a:lstStyle/>
          <a:p>
            <a:pPr indent="0" marL="0">
              <a:buNone/>
            </a:pPr>
            <a:r>
              <a:rPr lang="en-US" sz="1500" b="1" dirty="0">
                <a:solidFill>
                  <a:schemeClr val="accent1"/>
                </a:solidFill>
              </a:rPr>
              <a:t>DAC8</a:t>
            </a:r>
            <a:endParaRPr lang="en-US" sz="1500" dirty="0"/>
          </a:p>
        </p:txBody>
      </p:sp>
      <p:sp>
        <p:nvSpPr>
          <p:cNvPr id="27" name="Text 20"/>
          <p:cNvSpPr txBox="1"/>
          <p:nvPr/>
        </p:nvSpPr>
        <p:spPr>
          <a:xfrm>
            <a:off x="6720840" y="3401568"/>
            <a:ext cx="1371600" cy="914400"/>
          </a:xfrm>
          <a:prstGeom prst="rect">
            <a:avLst/>
          </a:prstGeom>
          <a:noFill/>
          <a:ln/>
        </p:spPr>
        <p:txBody>
          <a:bodyPr wrap="square" lIns="0" tIns="0" rIns="0" bIns="0" rtlCol="0" anchor="t"/>
          <a:lstStyle/>
          <a:p>
            <a:pPr indent="0" marL="0">
              <a:buNone/>
            </a:pPr>
            <a:r>
              <a:rPr lang="en-US" sz="1250" dirty="0">
                <a:solidFill>
                  <a:schemeClr val="accent6"/>
                </a:solidFill>
              </a:rPr>
              <a:t>Platforms report users' crypto data to tax offices</a:t>
            </a:r>
            <a:endParaRPr lang="en-US" sz="1250" dirty="0"/>
          </a:p>
        </p:txBody>
      </p:sp>
      <p:sp>
        <p:nvSpPr>
          <p:cNvPr id="28" name="Shape 21"/>
          <p:cNvSpPr/>
          <p:nvPr/>
        </p:nvSpPr>
        <p:spPr>
          <a:xfrm>
            <a:off x="914400" y="4617720"/>
            <a:ext cx="3520440" cy="1417320"/>
          </a:xfrm>
          <a:prstGeom prst="rect">
            <a:avLst/>
          </a:prstGeom>
          <a:solidFill>
            <a:schemeClr val="bg1"/>
          </a:solidFill>
          <a:ln w="15875">
            <a:solidFill>
              <a:schemeClr val="accent1"/>
            </a:solidFill>
            <a:prstDash val="solid"/>
          </a:ln>
        </p:spPr>
      </p:sp>
      <p:sp>
        <p:nvSpPr>
          <p:cNvPr id="29" name="Text 22"/>
          <p:cNvSpPr txBox="1"/>
          <p:nvPr/>
        </p:nvSpPr>
        <p:spPr>
          <a:xfrm>
            <a:off x="1143000" y="4736592"/>
            <a:ext cx="3063240" cy="320040"/>
          </a:xfrm>
          <a:prstGeom prst="rect">
            <a:avLst/>
          </a:prstGeom>
          <a:noFill/>
          <a:ln/>
        </p:spPr>
        <p:txBody>
          <a:bodyPr wrap="square" lIns="0" tIns="0" rIns="0" bIns="0" rtlCol="0" anchor="t"/>
          <a:lstStyle/>
          <a:p>
            <a:pPr indent="0" marL="0">
              <a:buNone/>
            </a:pPr>
            <a:r>
              <a:rPr lang="en-US" sz="1600" b="1" dirty="0">
                <a:solidFill>
                  <a:schemeClr val="accent1"/>
                </a:solidFill>
              </a:rPr>
              <a:t>Pro-innovation view</a:t>
            </a:r>
            <a:endParaRPr lang="en-US" sz="1600" dirty="0"/>
          </a:p>
        </p:txBody>
      </p:sp>
      <p:sp>
        <p:nvSpPr>
          <p:cNvPr id="30" name="Text 23"/>
          <p:cNvSpPr txBox="1"/>
          <p:nvPr/>
        </p:nvSpPr>
        <p:spPr>
          <a:xfrm>
            <a:off x="1143000" y="5084064"/>
            <a:ext cx="3063240" cy="868680"/>
          </a:xfrm>
          <a:prstGeom prst="rect">
            <a:avLst/>
          </a:prstGeom>
          <a:noFill/>
          <a:ln/>
        </p:spPr>
        <p:txBody>
          <a:bodyPr wrap="square" lIns="0" tIns="0" rIns="0" bIns="0" rtlCol="0" anchor="t"/>
          <a:lstStyle/>
          <a:p>
            <a:pPr indent="0" marL="0">
              <a:buNone/>
            </a:pPr>
            <a:r>
              <a:rPr lang="en-US" sz="1350" dirty="0">
                <a:solidFill>
                  <a:schemeClr val="accent6"/>
                </a:solidFill>
              </a:rPr>
              <a:t>A clean market attracts institutional capital — banks and funds enter markets they trust.</a:t>
            </a:r>
            <a:endParaRPr lang="en-US" sz="1350" dirty="0"/>
          </a:p>
        </p:txBody>
      </p:sp>
      <p:sp>
        <p:nvSpPr>
          <p:cNvPr id="31" name="Shape 24"/>
          <p:cNvSpPr/>
          <p:nvPr/>
        </p:nvSpPr>
        <p:spPr>
          <a:xfrm>
            <a:off x="4709160" y="4617720"/>
            <a:ext cx="3520440" cy="1417320"/>
          </a:xfrm>
          <a:prstGeom prst="rect">
            <a:avLst/>
          </a:prstGeom>
          <a:solidFill>
            <a:schemeClr val="bg1"/>
          </a:solidFill>
          <a:ln w="15875">
            <a:solidFill>
              <a:schemeClr val="accent2"/>
            </a:solidFill>
            <a:prstDash val="solid"/>
          </a:ln>
        </p:spPr>
      </p:sp>
      <p:sp>
        <p:nvSpPr>
          <p:cNvPr id="32" name="Text 25"/>
          <p:cNvSpPr txBox="1"/>
          <p:nvPr/>
        </p:nvSpPr>
        <p:spPr>
          <a:xfrm>
            <a:off x="4937760" y="4736592"/>
            <a:ext cx="3063240" cy="320040"/>
          </a:xfrm>
          <a:prstGeom prst="rect">
            <a:avLst/>
          </a:prstGeom>
          <a:noFill/>
          <a:ln/>
        </p:spPr>
        <p:txBody>
          <a:bodyPr wrap="square" lIns="0" tIns="0" rIns="0" bIns="0" rtlCol="0" anchor="t"/>
          <a:lstStyle/>
          <a:p>
            <a:pPr indent="0" marL="0">
              <a:buNone/>
            </a:pPr>
            <a:r>
              <a:rPr lang="en-US" sz="1600" b="1" dirty="0">
                <a:solidFill>
                  <a:schemeClr val="accent2"/>
                </a:solidFill>
              </a:rPr>
              <a:t>Anti-innovation view</a:t>
            </a:r>
            <a:endParaRPr lang="en-US" sz="1600" dirty="0"/>
          </a:p>
        </p:txBody>
      </p:sp>
      <p:sp>
        <p:nvSpPr>
          <p:cNvPr id="33" name="Text 26"/>
          <p:cNvSpPr txBox="1"/>
          <p:nvPr/>
        </p:nvSpPr>
        <p:spPr>
          <a:xfrm>
            <a:off x="4937760" y="5084064"/>
            <a:ext cx="3063240" cy="868680"/>
          </a:xfrm>
          <a:prstGeom prst="rect">
            <a:avLst/>
          </a:prstGeom>
          <a:noFill/>
          <a:ln/>
        </p:spPr>
        <p:txBody>
          <a:bodyPr wrap="square" lIns="0" tIns="0" rIns="0" bIns="0" rtlCol="0" anchor="t"/>
          <a:lstStyle/>
          <a:p>
            <a:pPr indent="0" marL="0">
              <a:buNone/>
            </a:pPr>
            <a:r>
              <a:rPr lang="en-US" sz="1350" dirty="0">
                <a:solidFill>
                  <a:schemeClr val="accent6"/>
                </a:solidFill>
              </a:rPr>
              <a:t>Compliance costs favour big players — startups struggle to pay for lawyers, audits and IT.</a:t>
            </a:r>
            <a:endParaRPr lang="en-US" sz="1350" dirty="0"/>
          </a:p>
        </p:txBody>
      </p:sp>
      <p:sp>
        <p:nvSpPr>
          <p:cNvPr id="34" name="Text 2"/>
          <p:cNvSpPr/>
          <p:nvPr>
            <p:ph idx="104" hasCustomPrompt="1"/>
          </p:nvPr>
        </p:nvSpPr>
        <p:spPr>
          <a:xfrm>
            <a:off x="8549640" y="1417320"/>
            <a:ext cx="2953512" cy="466344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EU vs US</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EU vs US: contain risk or accelerate growth</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914400" y="1371600"/>
          <a:ext cx="10588752" cy="914400"/>
        </p:xfrm>
        <a:graphic>
          <a:graphicData uri="http://schemas.openxmlformats.org/drawingml/2006/table">
            <a:tbl>
              <a:tblPr/>
              <a:tblGrid>
                <a:gridCol w="2651760"/>
                <a:gridCol w="3968496"/>
                <a:gridCol w="3968496"/>
              </a:tblGrid>
              <a:tr h="530352">
                <a:tc>
                  <a:txBody>
                    <a:bodyPr/>
                    <a:lstStyle/>
                    <a:p>
                      <a:pPr indent="0" marL="0">
                        <a:buNone/>
                      </a:pP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0E2841"/>
                    </a:solidFill>
                  </a:tcPr>
                </a:tc>
                <a:tc>
                  <a:txBody>
                    <a:bodyPr/>
                    <a:lstStyle/>
                    <a:p>
                      <a:pPr indent="0" marL="0">
                        <a:buNone/>
                      </a:pPr>
                      <a:r>
                        <a:rPr lang="en-US" sz="1600" b="1" dirty="0">
                          <a:solidFill>
                            <a:srgbClr val="FFFFFF"/>
                          </a:solidFill>
                        </a:rPr>
                        <a:t>EU (MiCA)</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0E2841"/>
                    </a:solidFill>
                  </a:tcPr>
                </a:tc>
                <a:tc>
                  <a:txBody>
                    <a:bodyPr/>
                    <a:lstStyle/>
                    <a:p>
                      <a:pPr indent="0" marL="0">
                        <a:buNone/>
                      </a:pPr>
                      <a:r>
                        <a:rPr lang="en-US" sz="1600" b="1" dirty="0">
                          <a:solidFill>
                            <a:srgbClr val="FFFFFF"/>
                          </a:solidFill>
                        </a:rPr>
                        <a:t>US (GENIUS Act, 2025)</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0E2841"/>
                    </a:solidFill>
                  </a:tcPr>
                </a:tc>
              </a:tr>
              <a:tr h="530352">
                <a:tc>
                  <a:txBody>
                    <a:bodyPr/>
                    <a:lstStyle/>
                    <a:p>
                      <a:pPr indent="0" marL="0">
                        <a:buNone/>
                      </a:pPr>
                      <a:r>
                        <a:rPr lang="en-US" sz="1600" b="1" dirty="0">
                          <a:solidFill>
                            <a:srgbClr val="0E2841"/>
                          </a:solidFill>
                        </a:rPr>
                        <a:t>Scope</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F3F4F6"/>
                    </a:solidFill>
                  </a:tcPr>
                </a:tc>
                <a:tc>
                  <a:txBody>
                    <a:bodyPr/>
                    <a:lstStyle/>
                    <a:p>
                      <a:pPr indent="0" marL="0">
                        <a:buNone/>
                      </a:pPr>
                      <a:r>
                        <a:rPr lang="en-US" sz="1600" dirty="0">
                          <a:solidFill>
                            <a:srgbClr val="404040"/>
                          </a:solidFill>
                        </a:rPr>
                        <a:t>Whole crypto market</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c>
                  <a:txBody>
                    <a:bodyPr/>
                    <a:lstStyle/>
                    <a:p>
                      <a:pPr indent="0" marL="0">
                        <a:buNone/>
                      </a:pPr>
                      <a:r>
                        <a:rPr lang="en-US" sz="1600" dirty="0">
                          <a:solidFill>
                            <a:srgbClr val="404040"/>
                          </a:solidFill>
                        </a:rPr>
                        <a:t>Payment stablecoins only</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r>
              <a:tr h="530352">
                <a:tc>
                  <a:txBody>
                    <a:bodyPr/>
                    <a:lstStyle/>
                    <a:p>
                      <a:pPr indent="0" marL="0">
                        <a:buNone/>
                      </a:pPr>
                      <a:r>
                        <a:rPr lang="en-US" sz="1600" b="1" dirty="0">
                          <a:solidFill>
                            <a:srgbClr val="0E2841"/>
                          </a:solidFill>
                        </a:rPr>
                        <a:t>Philosophy</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F3F4F6"/>
                    </a:solidFill>
                  </a:tcPr>
                </a:tc>
                <a:tc>
                  <a:txBody>
                    <a:bodyPr/>
                    <a:lstStyle/>
                    <a:p>
                      <a:pPr indent="0" marL="0">
                        <a:buNone/>
                      </a:pPr>
                      <a:r>
                        <a:rPr lang="en-US" sz="1600" dirty="0">
                          <a:solidFill>
                            <a:srgbClr val="404040"/>
                          </a:solidFill>
                        </a:rPr>
                        <a:t>Contain risk</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c>
                  <a:txBody>
                    <a:bodyPr/>
                    <a:lstStyle/>
                    <a:p>
                      <a:pPr indent="0" marL="0">
                        <a:buNone/>
                      </a:pPr>
                      <a:r>
                        <a:rPr lang="en-US" sz="1600" dirty="0">
                          <a:solidFill>
                            <a:srgbClr val="404040"/>
                          </a:solidFill>
                        </a:rPr>
                        <a:t>Accelerate growth, support the dollar</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r>
              <a:tr h="530352">
                <a:tc>
                  <a:txBody>
                    <a:bodyPr/>
                    <a:lstStyle/>
                    <a:p>
                      <a:pPr indent="0" marL="0">
                        <a:buNone/>
                      </a:pPr>
                      <a:r>
                        <a:rPr lang="en-US" sz="1600" b="1" dirty="0">
                          <a:solidFill>
                            <a:srgbClr val="0E2841"/>
                          </a:solidFill>
                        </a:rPr>
                        <a:t>USDT</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F3F4F6"/>
                    </a:solidFill>
                  </a:tcPr>
                </a:tc>
                <a:tc>
                  <a:txBody>
                    <a:bodyPr/>
                    <a:lstStyle/>
                    <a:p>
                      <a:pPr indent="0" marL="0">
                        <a:buNone/>
                      </a:pPr>
                      <a:r>
                        <a:rPr lang="en-US" sz="1600" dirty="0">
                          <a:solidFill>
                            <a:srgbClr val="404040"/>
                          </a:solidFill>
                        </a:rPr>
                        <a:t>Already delisted on licensed venues</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c>
                  <a:txBody>
                    <a:bodyPr/>
                    <a:lstStyle/>
                    <a:p>
                      <a:pPr indent="0" marL="0">
                        <a:buNone/>
                      </a:pPr>
                      <a:r>
                        <a:rPr lang="en-US" sz="1600" dirty="0">
                          <a:solidFill>
                            <a:srgbClr val="404040"/>
                          </a:solidFill>
                        </a:rPr>
                        <a:t>Transition until ~2028</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r>
              <a:tr h="530352">
                <a:tc>
                  <a:txBody>
                    <a:bodyPr/>
                    <a:lstStyle/>
                    <a:p>
                      <a:pPr indent="0" marL="0">
                        <a:buNone/>
                      </a:pPr>
                      <a:r>
                        <a:rPr lang="en-US" sz="1600" b="1" dirty="0">
                          <a:solidFill>
                            <a:srgbClr val="0E2841"/>
                          </a:solidFill>
                        </a:rPr>
                        <a:t>Interest to holders</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F3F4F6"/>
                    </a:solidFill>
                  </a:tcPr>
                </a:tc>
                <a:tc>
                  <a:txBody>
                    <a:bodyPr/>
                    <a:lstStyle/>
                    <a:p>
                      <a:pPr indent="0" marL="0">
                        <a:buNone/>
                      </a:pPr>
                      <a:r>
                        <a:rPr lang="en-US" sz="1600" dirty="0">
                          <a:solidFill>
                            <a:srgbClr val="404040"/>
                          </a:solidFill>
                        </a:rPr>
                        <a:t>Banned</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c>
                  <a:txBody>
                    <a:bodyPr/>
                    <a:lstStyle/>
                    <a:p>
                      <a:pPr indent="0" marL="0">
                        <a:buNone/>
                      </a:pPr>
                      <a:r>
                        <a:rPr lang="en-US" sz="1600" dirty="0">
                          <a:solidFill>
                            <a:srgbClr val="404040"/>
                          </a:solidFill>
                        </a:rPr>
                        <a:t>Banned</a:t>
                      </a:r>
                      <a:endParaRPr lang="en-US" sz="1600" dirty="0"/>
                    </a:p>
                  </a:txBody>
                  <a:tcPr marL="109728" marR="109728" marT="109728" marB="109728"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r>
            </a:tbl>
          </a:graphicData>
        </a:graphic>
      </p:graphicFrame>
      <p:sp>
        <p:nvSpPr>
          <p:cNvPr id="5" name="Text 2"/>
          <p:cNvSpPr txBox="1"/>
          <p:nvPr/>
        </p:nvSpPr>
        <p:spPr>
          <a:xfrm>
            <a:off x="914400" y="4206240"/>
            <a:ext cx="10588752" cy="594360"/>
          </a:xfrm>
          <a:prstGeom prst="rect">
            <a:avLst/>
          </a:prstGeom>
          <a:noFill/>
          <a:ln/>
        </p:spPr>
        <p:txBody>
          <a:bodyPr wrap="square" lIns="0" tIns="0" rIns="0" bIns="0" rtlCol="0" anchor="t"/>
          <a:lstStyle/>
          <a:p>
            <a:pPr indent="0" marL="0">
              <a:buNone/>
            </a:pPr>
            <a:r>
              <a:rPr lang="en-US" sz="1500" dirty="0">
                <a:solidFill>
                  <a:schemeClr val="accent6"/>
                </a:solidFill>
              </a:rPr>
              <a:t>Both sides ban interest for holders, but their goals differ: the EU wants to limit risk inside its market, while the US wants dollar stablecoins to grow worldwide.</a:t>
            </a:r>
            <a:endParaRPr lang="en-US" sz="1500" dirty="0"/>
          </a:p>
        </p:txBody>
      </p:sp>
      <p:sp>
        <p:nvSpPr>
          <p:cNvPr id="6" name="Text 3"/>
          <p:cNvSpPr txBox="1"/>
          <p:nvPr/>
        </p:nvSpPr>
        <p:spPr>
          <a:xfrm>
            <a:off x="914400" y="4983480"/>
            <a:ext cx="10588752" cy="822960"/>
          </a:xfrm>
          <a:prstGeom prst="rect">
            <a:avLst/>
          </a:prstGeom>
          <a:solidFill>
            <a:schemeClr val="accent1"/>
          </a:solidFill>
          <a:ln/>
        </p:spPr>
        <p:txBody>
          <a:bodyPr wrap="square" lIns="177800" tIns="177800" rIns="177800" bIns="177800" rtlCol="0" anchor="ctr"/>
          <a:lstStyle/>
          <a:p>
            <a:pPr indent="0" marL="0">
              <a:buNone/>
            </a:pPr>
            <a:r>
              <a:rPr lang="en-US" sz="1800" b="1" dirty="0">
                <a:solidFill>
                  <a:schemeClr val="bg1"/>
                </a:solidFill>
              </a:rPr>
              <a:t>Bottom line:  </a:t>
            </a:r>
            <a:pPr indent="0" marL="0">
              <a:buNone/>
            </a:pPr>
            <a:r>
              <a:rPr lang="en-US" sz="1800" dirty="0">
                <a:solidFill>
                  <a:schemeClr val="bg1"/>
                </a:solidFill>
              </a:rPr>
              <a:t>Europe → compliant but smaller issuers;  US → global dollar champions</a:t>
            </a:r>
            <a:endParaRPr lang="en-US" sz="18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How the EU is adjusting</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EU is adjusting: “MiCA 2”</a:t>
            </a:r>
            <a:endParaRPr lang="en-US" sz="2600" dirty="0"/>
          </a:p>
        </p:txBody>
      </p:sp>
      <p:sp>
        <p:nvSpPr>
          <p:cNvPr id="4" name="Text 2"/>
          <p:cNvSpPr txBox="1"/>
          <p:nvPr/>
        </p:nvSpPr>
        <p:spPr>
          <a:xfrm>
            <a:off x="914400" y="1234440"/>
            <a:ext cx="7315200" cy="320040"/>
          </a:xfrm>
          <a:prstGeom prst="rect">
            <a:avLst/>
          </a:prstGeom>
          <a:noFill/>
          <a:ln/>
        </p:spPr>
        <p:txBody>
          <a:bodyPr wrap="square" lIns="0" tIns="0" rIns="0" bIns="0" rtlCol="0" anchor="t"/>
          <a:lstStyle/>
          <a:p>
            <a:pPr indent="0" marL="0">
              <a:buNone/>
            </a:pPr>
            <a:r>
              <a:rPr lang="en-US" sz="1500" dirty="0">
                <a:solidFill>
                  <a:schemeClr val="accent6"/>
                </a:solidFill>
              </a:rPr>
              <a:t>Two years of practice showed gaps, so the Commission is reviewing the rules.</a:t>
            </a:r>
            <a:endParaRPr lang="en-US" sz="1500" dirty="0"/>
          </a:p>
        </p:txBody>
      </p:sp>
      <p:sp>
        <p:nvSpPr>
          <p:cNvPr id="5" name="Shape 3"/>
          <p:cNvSpPr/>
          <p:nvPr/>
        </p:nvSpPr>
        <p:spPr>
          <a:xfrm>
            <a:off x="1069848" y="2194560"/>
            <a:ext cx="7004304" cy="0"/>
          </a:xfrm>
          <a:prstGeom prst="line">
            <a:avLst/>
          </a:prstGeom>
          <a:noFill/>
          <a:ln w="38100">
            <a:solidFill>
              <a:schemeClr val="accent4"/>
            </a:solidFill>
            <a:prstDash val="solid"/>
          </a:ln>
        </p:spPr>
      </p:sp>
      <p:sp>
        <p:nvSpPr>
          <p:cNvPr id="6" name="Shape 4"/>
          <p:cNvSpPr/>
          <p:nvPr/>
        </p:nvSpPr>
        <p:spPr>
          <a:xfrm>
            <a:off x="914400" y="2039112"/>
            <a:ext cx="310896" cy="310896"/>
          </a:xfrm>
          <a:prstGeom prst="ellipse">
            <a:avLst/>
          </a:prstGeom>
          <a:solidFill>
            <a:schemeClr val="accent1"/>
          </a:solidFill>
          <a:ln w="25400">
            <a:solidFill>
              <a:schemeClr val="bg1"/>
            </a:solidFill>
            <a:prstDash val="solid"/>
          </a:ln>
        </p:spPr>
      </p:sp>
      <p:sp>
        <p:nvSpPr>
          <p:cNvPr id="7" name="Text 5"/>
          <p:cNvSpPr txBox="1"/>
          <p:nvPr/>
        </p:nvSpPr>
        <p:spPr>
          <a:xfrm>
            <a:off x="914400" y="1691640"/>
            <a:ext cx="3291840" cy="320040"/>
          </a:xfrm>
          <a:prstGeom prst="rect">
            <a:avLst/>
          </a:prstGeom>
          <a:noFill/>
          <a:ln/>
        </p:spPr>
        <p:txBody>
          <a:bodyPr wrap="square" lIns="0" tIns="0" rIns="0" bIns="0" rtlCol="0" anchor="t"/>
          <a:lstStyle/>
          <a:p>
            <a:pPr algn="l" indent="0" marL="0">
              <a:buNone/>
            </a:pPr>
            <a:r>
              <a:rPr lang="en-US" sz="1700" b="1" dirty="0">
                <a:solidFill>
                  <a:schemeClr val="accent1"/>
                </a:solidFill>
              </a:rPr>
              <a:t>May 2026</a:t>
            </a:r>
            <a:endParaRPr lang="en-US" sz="1700" dirty="0"/>
          </a:p>
        </p:txBody>
      </p:sp>
      <p:sp>
        <p:nvSpPr>
          <p:cNvPr id="8" name="Text 6"/>
          <p:cNvSpPr txBox="1"/>
          <p:nvPr/>
        </p:nvSpPr>
        <p:spPr>
          <a:xfrm>
            <a:off x="914400" y="2450592"/>
            <a:ext cx="3291840" cy="594360"/>
          </a:xfrm>
          <a:prstGeom prst="rect">
            <a:avLst/>
          </a:prstGeom>
          <a:noFill/>
          <a:ln/>
        </p:spPr>
        <p:txBody>
          <a:bodyPr wrap="square" lIns="0" tIns="0" rIns="0" bIns="0" rtlCol="0" anchor="t"/>
          <a:lstStyle/>
          <a:p>
            <a:pPr algn="l" indent="0" marL="0">
              <a:buNone/>
            </a:pPr>
            <a:r>
              <a:rPr lang="en-US" sz="1400" dirty="0">
                <a:solidFill>
                  <a:schemeClr val="accent6"/>
                </a:solidFill>
              </a:rPr>
              <a:t>Commission opens MiCA review consultation</a:t>
            </a:r>
            <a:endParaRPr lang="en-US" sz="1400" dirty="0"/>
          </a:p>
        </p:txBody>
      </p:sp>
      <p:sp>
        <p:nvSpPr>
          <p:cNvPr id="9" name="Shape 7"/>
          <p:cNvSpPr/>
          <p:nvPr/>
        </p:nvSpPr>
        <p:spPr>
          <a:xfrm>
            <a:off x="7918704" y="2039112"/>
            <a:ext cx="310896" cy="310896"/>
          </a:xfrm>
          <a:prstGeom prst="ellipse">
            <a:avLst/>
          </a:prstGeom>
          <a:solidFill>
            <a:schemeClr val="accent2"/>
          </a:solidFill>
          <a:ln w="25400">
            <a:solidFill>
              <a:schemeClr val="bg1"/>
            </a:solidFill>
            <a:prstDash val="solid"/>
          </a:ln>
        </p:spPr>
      </p:sp>
      <p:sp>
        <p:nvSpPr>
          <p:cNvPr id="10" name="Text 8"/>
          <p:cNvSpPr txBox="1"/>
          <p:nvPr/>
        </p:nvSpPr>
        <p:spPr>
          <a:xfrm>
            <a:off x="4937760" y="1691640"/>
            <a:ext cx="3291840" cy="320040"/>
          </a:xfrm>
          <a:prstGeom prst="rect">
            <a:avLst/>
          </a:prstGeom>
          <a:noFill/>
          <a:ln/>
        </p:spPr>
        <p:txBody>
          <a:bodyPr wrap="square" lIns="0" tIns="0" rIns="0" bIns="0" rtlCol="0" anchor="t"/>
          <a:lstStyle/>
          <a:p>
            <a:pPr algn="r" indent="0" marL="0">
              <a:buNone/>
            </a:pPr>
            <a:r>
              <a:rPr lang="en-US" sz="1700" b="1" dirty="0">
                <a:solidFill>
                  <a:schemeClr val="accent2"/>
                </a:solidFill>
              </a:rPr>
              <a:t>30 June 2027</a:t>
            </a:r>
            <a:endParaRPr lang="en-US" sz="1700" dirty="0"/>
          </a:p>
        </p:txBody>
      </p:sp>
      <p:sp>
        <p:nvSpPr>
          <p:cNvPr id="11" name="Text 9"/>
          <p:cNvSpPr txBox="1"/>
          <p:nvPr/>
        </p:nvSpPr>
        <p:spPr>
          <a:xfrm>
            <a:off x="4937760" y="2450592"/>
            <a:ext cx="3291840" cy="594360"/>
          </a:xfrm>
          <a:prstGeom prst="rect">
            <a:avLst/>
          </a:prstGeom>
          <a:noFill/>
          <a:ln/>
        </p:spPr>
        <p:txBody>
          <a:bodyPr wrap="square" lIns="0" tIns="0" rIns="0" bIns="0" rtlCol="0" anchor="t"/>
          <a:lstStyle/>
          <a:p>
            <a:pPr algn="r" indent="0" marL="0">
              <a:buNone/>
            </a:pPr>
            <a:r>
              <a:rPr lang="en-US" sz="1400" dirty="0">
                <a:solidFill>
                  <a:schemeClr val="accent6"/>
                </a:solidFill>
              </a:rPr>
              <a:t>Commission report due — possibly a new proposal</a:t>
            </a:r>
            <a:endParaRPr lang="en-US" sz="1400" dirty="0"/>
          </a:p>
        </p:txBody>
      </p:sp>
      <p:sp>
        <p:nvSpPr>
          <p:cNvPr id="12" name="Text 10"/>
          <p:cNvSpPr txBox="1"/>
          <p:nvPr/>
        </p:nvSpPr>
        <p:spPr>
          <a:xfrm>
            <a:off x="914400" y="3246120"/>
            <a:ext cx="3657600" cy="292608"/>
          </a:xfrm>
          <a:prstGeom prst="rect">
            <a:avLst/>
          </a:prstGeom>
          <a:noFill/>
          <a:ln/>
        </p:spPr>
        <p:txBody>
          <a:bodyPr wrap="square" lIns="0" tIns="0" rIns="0" bIns="0" rtlCol="0" anchor="t"/>
          <a:lstStyle/>
          <a:p>
            <a:pPr indent="0" marL="0">
              <a:buNone/>
            </a:pPr>
            <a:r>
              <a:rPr lang="en-US" sz="1400" b="1" dirty="0">
                <a:solidFill>
                  <a:schemeClr val="accent3"/>
                </a:solidFill>
              </a:rPr>
              <a:t>Under review</a:t>
            </a:r>
            <a:endParaRPr lang="en-US" sz="1400" dirty="0"/>
          </a:p>
        </p:txBody>
      </p:sp>
      <p:sp>
        <p:nvSpPr>
          <p:cNvPr id="13" name="Text 11"/>
          <p:cNvSpPr txBox="1"/>
          <p:nvPr/>
        </p:nvSpPr>
        <p:spPr>
          <a:xfrm>
            <a:off x="914400" y="3584448"/>
            <a:ext cx="768096" cy="420624"/>
          </a:xfrm>
          <a:prstGeom prst="rect">
            <a:avLst/>
          </a:prstGeom>
          <a:solidFill>
            <a:schemeClr val="bg2"/>
          </a:solidFill>
          <a:ln w="12700">
            <a:solidFill>
              <a:schemeClr val="accent4"/>
            </a:solidFill>
          </a:ln>
        </p:spPr>
        <p:txBody>
          <a:bodyPr wrap="square" lIns="0" tIns="0" rIns="0" bIns="0" rtlCol="0" anchor="ctr"/>
          <a:lstStyle/>
          <a:p>
            <a:pPr algn="ctr" indent="0" marL="0">
              <a:buNone/>
            </a:pPr>
            <a:r>
              <a:rPr lang="en-US" sz="1400" b="1" dirty="0">
                <a:solidFill>
                  <a:schemeClr val="accent1"/>
                </a:solidFill>
              </a:rPr>
              <a:t>DeFi</a:t>
            </a:r>
            <a:endParaRPr lang="en-US" sz="1400" dirty="0"/>
          </a:p>
        </p:txBody>
      </p:sp>
      <p:sp>
        <p:nvSpPr>
          <p:cNvPr id="14" name="Text 12"/>
          <p:cNvSpPr txBox="1"/>
          <p:nvPr/>
        </p:nvSpPr>
        <p:spPr>
          <a:xfrm>
            <a:off x="1819656" y="3584448"/>
            <a:ext cx="1124712" cy="420624"/>
          </a:xfrm>
          <a:prstGeom prst="rect">
            <a:avLst/>
          </a:prstGeom>
          <a:solidFill>
            <a:schemeClr val="bg2"/>
          </a:solidFill>
          <a:ln w="12700">
            <a:solidFill>
              <a:schemeClr val="accent4"/>
            </a:solidFill>
          </a:ln>
        </p:spPr>
        <p:txBody>
          <a:bodyPr wrap="square" lIns="0" tIns="0" rIns="0" bIns="0" rtlCol="0" anchor="ctr"/>
          <a:lstStyle/>
          <a:p>
            <a:pPr algn="ctr" indent="0" marL="0">
              <a:buNone/>
            </a:pPr>
            <a:r>
              <a:rPr lang="en-US" sz="1400" b="1" dirty="0">
                <a:solidFill>
                  <a:schemeClr val="accent1"/>
                </a:solidFill>
              </a:rPr>
              <a:t>Staking</a:t>
            </a:r>
            <a:endParaRPr lang="en-US" sz="1400" dirty="0"/>
          </a:p>
        </p:txBody>
      </p:sp>
      <p:sp>
        <p:nvSpPr>
          <p:cNvPr id="15" name="Text 13"/>
          <p:cNvSpPr txBox="1"/>
          <p:nvPr/>
        </p:nvSpPr>
        <p:spPr>
          <a:xfrm>
            <a:off x="3081528" y="3584448"/>
            <a:ext cx="1124712" cy="420624"/>
          </a:xfrm>
          <a:prstGeom prst="rect">
            <a:avLst/>
          </a:prstGeom>
          <a:solidFill>
            <a:schemeClr val="bg2"/>
          </a:solidFill>
          <a:ln w="12700">
            <a:solidFill>
              <a:schemeClr val="accent4"/>
            </a:solidFill>
          </a:ln>
        </p:spPr>
        <p:txBody>
          <a:bodyPr wrap="square" lIns="0" tIns="0" rIns="0" bIns="0" rtlCol="0" anchor="ctr"/>
          <a:lstStyle/>
          <a:p>
            <a:pPr algn="ctr" indent="0" marL="0">
              <a:buNone/>
            </a:pPr>
            <a:r>
              <a:rPr lang="en-US" sz="1400" b="1" dirty="0">
                <a:solidFill>
                  <a:schemeClr val="accent1"/>
                </a:solidFill>
              </a:rPr>
              <a:t>Lending</a:t>
            </a:r>
            <a:endParaRPr lang="en-US" sz="1400" dirty="0"/>
          </a:p>
        </p:txBody>
      </p:sp>
      <p:sp>
        <p:nvSpPr>
          <p:cNvPr id="16" name="Text 14"/>
          <p:cNvSpPr txBox="1"/>
          <p:nvPr/>
        </p:nvSpPr>
        <p:spPr>
          <a:xfrm>
            <a:off x="4343400" y="3584448"/>
            <a:ext cx="1719072" cy="420624"/>
          </a:xfrm>
          <a:prstGeom prst="rect">
            <a:avLst/>
          </a:prstGeom>
          <a:solidFill>
            <a:schemeClr val="bg2"/>
          </a:solidFill>
          <a:ln w="12700">
            <a:solidFill>
              <a:schemeClr val="accent4"/>
            </a:solidFill>
          </a:ln>
        </p:spPr>
        <p:txBody>
          <a:bodyPr wrap="square" lIns="0" tIns="0" rIns="0" bIns="0" rtlCol="0" anchor="ctr"/>
          <a:lstStyle/>
          <a:p>
            <a:pPr algn="ctr" indent="0" marL="0">
              <a:buNone/>
            </a:pPr>
            <a:r>
              <a:rPr lang="en-US" sz="1400" b="1" dirty="0">
                <a:solidFill>
                  <a:schemeClr val="accent1"/>
                </a:solidFill>
              </a:rPr>
              <a:t>Interest ban</a:t>
            </a:r>
            <a:endParaRPr lang="en-US" sz="1400" dirty="0"/>
          </a:p>
        </p:txBody>
      </p:sp>
      <p:sp>
        <p:nvSpPr>
          <p:cNvPr id="17" name="Text 15"/>
          <p:cNvSpPr txBox="1"/>
          <p:nvPr/>
        </p:nvSpPr>
        <p:spPr>
          <a:xfrm>
            <a:off x="6199632" y="3584448"/>
            <a:ext cx="1837944" cy="420624"/>
          </a:xfrm>
          <a:prstGeom prst="rect">
            <a:avLst/>
          </a:prstGeom>
          <a:solidFill>
            <a:schemeClr val="bg2"/>
          </a:solidFill>
          <a:ln w="12700">
            <a:solidFill>
              <a:schemeClr val="accent4"/>
            </a:solidFill>
          </a:ln>
        </p:spPr>
        <p:txBody>
          <a:bodyPr wrap="square" lIns="0" tIns="0" rIns="0" bIns="0" rtlCol="0" anchor="ctr"/>
          <a:lstStyle/>
          <a:p>
            <a:pPr algn="ctr" indent="0" marL="0">
              <a:buNone/>
            </a:pPr>
            <a:r>
              <a:rPr lang="en-US" sz="1400" b="1" dirty="0">
                <a:solidFill>
                  <a:schemeClr val="accent1"/>
                </a:solidFill>
              </a:rPr>
              <a:t>Reserve rules</a:t>
            </a:r>
            <a:endParaRPr lang="en-US" sz="1400" dirty="0"/>
          </a:p>
        </p:txBody>
      </p:sp>
      <p:sp>
        <p:nvSpPr>
          <p:cNvPr id="18" name="Text 16"/>
          <p:cNvSpPr txBox="1"/>
          <p:nvPr/>
        </p:nvSpPr>
        <p:spPr>
          <a:xfrm>
            <a:off x="914400" y="4096512"/>
            <a:ext cx="7315200" cy="320040"/>
          </a:xfrm>
          <a:prstGeom prst="rect">
            <a:avLst/>
          </a:prstGeom>
          <a:noFill/>
          <a:ln/>
        </p:spPr>
        <p:txBody>
          <a:bodyPr wrap="square" lIns="0" tIns="0" rIns="0" bIns="0" rtlCol="0" anchor="t"/>
          <a:lstStyle/>
          <a:p>
            <a:pPr indent="0" marL="0">
              <a:buNone/>
            </a:pPr>
            <a:r>
              <a:rPr lang="en-US" sz="1300" i="1" dirty="0">
                <a:solidFill>
                  <a:schemeClr val="accent6"/>
                </a:solidFill>
              </a:rPr>
              <a:t>These are the areas that MiCA left open or that businesses say limit growth.</a:t>
            </a:r>
            <a:endParaRPr lang="en-US" sz="1300" dirty="0"/>
          </a:p>
        </p:txBody>
      </p:sp>
      <p:sp>
        <p:nvSpPr>
          <p:cNvPr id="19" name="Shape 17"/>
          <p:cNvSpPr/>
          <p:nvPr/>
        </p:nvSpPr>
        <p:spPr>
          <a:xfrm>
            <a:off x="914400" y="4572000"/>
            <a:ext cx="7315200" cy="1371600"/>
          </a:xfrm>
          <a:prstGeom prst="rect">
            <a:avLst/>
          </a:prstGeom>
          <a:solidFill>
            <a:schemeClr val="bg1"/>
          </a:solidFill>
          <a:ln w="15875">
            <a:solidFill>
              <a:schemeClr val="accent1"/>
            </a:solidFill>
            <a:prstDash val="solid"/>
          </a:ln>
        </p:spPr>
      </p:sp>
      <p:sp>
        <p:nvSpPr>
          <p:cNvPr id="20" name="Text 18"/>
          <p:cNvSpPr txBox="1"/>
          <p:nvPr/>
        </p:nvSpPr>
        <p:spPr>
          <a:xfrm>
            <a:off x="1188720" y="4681728"/>
            <a:ext cx="6766560" cy="320040"/>
          </a:xfrm>
          <a:prstGeom prst="rect">
            <a:avLst/>
          </a:prstGeom>
          <a:noFill/>
          <a:ln/>
        </p:spPr>
        <p:txBody>
          <a:bodyPr wrap="square" lIns="0" tIns="0" rIns="0" bIns="0" rtlCol="0" anchor="t"/>
          <a:lstStyle/>
          <a:p>
            <a:pPr indent="0" marL="0">
              <a:buNone/>
            </a:pPr>
            <a:r>
              <a:rPr lang="en-US" sz="1700" b="1" dirty="0">
                <a:solidFill>
                  <a:schemeClr val="accent1"/>
                </a:solidFill>
              </a:rPr>
              <a:t>Parallel proposal</a:t>
            </a:r>
            <a:endParaRPr lang="en-US" sz="1700" dirty="0"/>
          </a:p>
        </p:txBody>
      </p:sp>
      <p:sp>
        <p:nvSpPr>
          <p:cNvPr id="21" name="Text 19"/>
          <p:cNvSpPr txBox="1"/>
          <p:nvPr/>
        </p:nvSpPr>
        <p:spPr>
          <a:xfrm>
            <a:off x="1188720" y="5029200"/>
            <a:ext cx="6766560" cy="822960"/>
          </a:xfrm>
          <a:prstGeom prst="rect">
            <a:avLst/>
          </a:prstGeom>
          <a:noFill/>
          <a:ln/>
        </p:spPr>
        <p:txBody>
          <a:bodyPr wrap="square" lIns="0" tIns="0" rIns="0" bIns="0" rtlCol="0" anchor="t"/>
          <a:lstStyle/>
          <a:p>
            <a:pPr indent="0" marL="0">
              <a:buNone/>
            </a:pPr>
            <a:r>
              <a:rPr lang="en-US" sz="1400" dirty="0">
                <a:solidFill>
                  <a:schemeClr val="accent6"/>
                </a:solidFill>
              </a:rPr>
              <a:t>ESMA to supervise the largest crypto firms directly. Today national authorities do this, so standards can differ between countries.</a:t>
            </a:r>
            <a:endParaRPr lang="en-US" sz="1400" dirty="0"/>
          </a:p>
        </p:txBody>
      </p:sp>
      <p:sp>
        <p:nvSpPr>
          <p:cNvPr id="22" name="Text 2"/>
          <p:cNvSpPr/>
          <p:nvPr>
            <p:ph idx="104" hasCustomPrompt="1"/>
          </p:nvPr>
        </p:nvSpPr>
        <p:spPr>
          <a:xfrm>
            <a:off x="8549640" y="1417320"/>
            <a:ext cx="2953512" cy="466344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Verdict</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“MiCA doesn’t kill innovation. It filters it.”</a:t>
            </a:r>
            <a:endParaRPr lang="en-US" sz="2600" dirty="0"/>
          </a:p>
        </p:txBody>
      </p:sp>
      <p:sp>
        <p:nvSpPr>
          <p:cNvPr id="4" name="Text 2"/>
          <p:cNvSpPr txBox="1"/>
          <p:nvPr/>
        </p:nvSpPr>
        <p:spPr>
          <a:xfrm>
            <a:off x="914400" y="1371600"/>
            <a:ext cx="5157216" cy="502920"/>
          </a:xfrm>
          <a:prstGeom prst="rect">
            <a:avLst/>
          </a:prstGeom>
          <a:solidFill>
            <a:schemeClr val="accent1"/>
          </a:solidFill>
          <a:ln/>
        </p:spPr>
        <p:txBody>
          <a:bodyPr wrap="square" lIns="177800" tIns="177800" rIns="177800" bIns="177800" rtlCol="0" anchor="ctr"/>
          <a:lstStyle/>
          <a:p>
            <a:pPr indent="0" marL="0">
              <a:buNone/>
            </a:pPr>
            <a:r>
              <a:rPr lang="en-US" sz="1900" b="1" dirty="0">
                <a:solidFill>
                  <a:schemeClr val="bg1"/>
                </a:solidFill>
              </a:rPr>
              <a:t>Winners</a:t>
            </a:r>
            <a:endParaRPr lang="en-US" sz="1900" dirty="0"/>
          </a:p>
        </p:txBody>
      </p:sp>
      <p:sp>
        <p:nvSpPr>
          <p:cNvPr id="5" name="Shape 3"/>
          <p:cNvSpPr/>
          <p:nvPr/>
        </p:nvSpPr>
        <p:spPr>
          <a:xfrm>
            <a:off x="914400" y="1874520"/>
            <a:ext cx="5157216" cy="1783080"/>
          </a:xfrm>
          <a:prstGeom prst="rect">
            <a:avLst/>
          </a:prstGeom>
          <a:solidFill>
            <a:schemeClr val="bg1"/>
          </a:solidFill>
          <a:ln w="12700">
            <a:solidFill>
              <a:schemeClr val="accent4"/>
            </a:solidFill>
            <a:prstDash val="solid"/>
          </a:ln>
        </p:spPr>
      </p:sp>
      <p:sp>
        <p:nvSpPr>
          <p:cNvPr id="6" name="Text 4"/>
          <p:cNvSpPr txBox="1"/>
          <p:nvPr/>
        </p:nvSpPr>
        <p:spPr>
          <a:xfrm>
            <a:off x="1234440" y="2057400"/>
            <a:ext cx="4517136" cy="1554480"/>
          </a:xfrm>
          <a:prstGeom prst="rect">
            <a:avLst/>
          </a:prstGeom>
          <a:noFill/>
          <a:ln/>
        </p:spPr>
        <p:txBody>
          <a:bodyPr wrap="square" lIns="0" tIns="0" rIns="0" bIns="0" rtlCol="0" anchor="t"/>
          <a:lstStyle/>
          <a:p>
            <a:pPr marL="342900" indent="-342900">
              <a:spcAft>
                <a:spcPts val="800"/>
              </a:spcAft>
              <a:buSzPct val="100000"/>
              <a:buChar char="•"/>
            </a:pPr>
            <a:r>
              <a:rPr lang="en-US" sz="1600" b="1" dirty="0">
                <a:solidFill>
                  <a:schemeClr val="accent1"/>
                </a:solidFill>
              </a:rPr>
              <a:t>Scale — </a:t>
            </a:r>
            <a:pPr indent="0" marL="0">
              <a:spcAft>
                <a:spcPts val="800"/>
              </a:spcAft>
              <a:buNone/>
            </a:pPr>
            <a:r>
              <a:rPr lang="en-US" sz="1600" dirty="0">
                <a:solidFill>
                  <a:schemeClr val="accent6"/>
                </a:solidFill>
              </a:rPr>
              <a:t>can afford compliance costs</a:t>
            </a:r>
            <a:endParaRPr lang="en-US" sz="1600" dirty="0"/>
          </a:p>
          <a:p>
            <a:pPr marL="342900" indent="-342900">
              <a:spcAft>
                <a:spcPts val="800"/>
              </a:spcAft>
              <a:buSzPct val="100000"/>
              <a:buChar char="•"/>
            </a:pPr>
            <a:r>
              <a:rPr lang="en-US" sz="1600" b="1" dirty="0">
                <a:solidFill>
                  <a:schemeClr val="accent1"/>
                </a:solidFill>
              </a:rPr>
              <a:t>Institutions — </a:t>
            </a:r>
            <a:pPr indent="0" marL="0">
              <a:spcAft>
                <a:spcPts val="800"/>
              </a:spcAft>
              <a:buNone/>
            </a:pPr>
            <a:r>
              <a:rPr lang="en-US" sz="1600" dirty="0">
                <a:solidFill>
                  <a:schemeClr val="accent6"/>
                </a:solidFill>
              </a:rPr>
              <a:t>trust a regulated market</a:t>
            </a:r>
            <a:endParaRPr lang="en-US" sz="1600" dirty="0"/>
          </a:p>
          <a:p>
            <a:pPr marL="342900" indent="-342900">
              <a:spcAft>
                <a:spcPts val="800"/>
              </a:spcAft>
              <a:buSzPct val="100000"/>
              <a:buChar char="•"/>
            </a:pPr>
            <a:r>
              <a:rPr lang="en-US" sz="1600" b="1" dirty="0">
                <a:solidFill>
                  <a:schemeClr val="accent1"/>
                </a:solidFill>
              </a:rPr>
              <a:t>Late-stage capital — </a:t>
            </a:r>
            <a:pPr indent="0" marL="0">
              <a:spcAft>
                <a:spcPts val="800"/>
              </a:spcAft>
              <a:buNone/>
            </a:pPr>
            <a:r>
              <a:rPr lang="en-US" sz="1600" dirty="0">
                <a:solidFill>
                  <a:schemeClr val="accent6"/>
                </a:solidFill>
              </a:rPr>
              <a:t>VC funding +14–17%</a:t>
            </a:r>
            <a:endParaRPr lang="en-US" sz="1600" dirty="0"/>
          </a:p>
        </p:txBody>
      </p:sp>
      <p:sp>
        <p:nvSpPr>
          <p:cNvPr id="7" name="Text 5"/>
          <p:cNvSpPr txBox="1"/>
          <p:nvPr/>
        </p:nvSpPr>
        <p:spPr>
          <a:xfrm>
            <a:off x="6345936" y="1371600"/>
            <a:ext cx="5157216" cy="502920"/>
          </a:xfrm>
          <a:prstGeom prst="rect">
            <a:avLst/>
          </a:prstGeom>
          <a:solidFill>
            <a:schemeClr val="accent2"/>
          </a:solidFill>
          <a:ln/>
        </p:spPr>
        <p:txBody>
          <a:bodyPr wrap="square" lIns="177800" tIns="177800" rIns="177800" bIns="177800" rtlCol="0" anchor="ctr"/>
          <a:lstStyle/>
          <a:p>
            <a:pPr indent="0" marL="0">
              <a:buNone/>
            </a:pPr>
            <a:r>
              <a:rPr lang="en-US" sz="1900" b="1" dirty="0">
                <a:solidFill>
                  <a:schemeClr val="bg1"/>
                </a:solidFill>
              </a:rPr>
              <a:t>Losers</a:t>
            </a:r>
            <a:endParaRPr lang="en-US" sz="1900" dirty="0"/>
          </a:p>
        </p:txBody>
      </p:sp>
      <p:sp>
        <p:nvSpPr>
          <p:cNvPr id="8" name="Shape 6"/>
          <p:cNvSpPr/>
          <p:nvPr/>
        </p:nvSpPr>
        <p:spPr>
          <a:xfrm>
            <a:off x="6345936" y="1874520"/>
            <a:ext cx="5157216" cy="1783080"/>
          </a:xfrm>
          <a:prstGeom prst="rect">
            <a:avLst/>
          </a:prstGeom>
          <a:solidFill>
            <a:schemeClr val="bg1"/>
          </a:solidFill>
          <a:ln w="12700">
            <a:solidFill>
              <a:schemeClr val="accent4"/>
            </a:solidFill>
            <a:prstDash val="solid"/>
          </a:ln>
        </p:spPr>
      </p:sp>
      <p:sp>
        <p:nvSpPr>
          <p:cNvPr id="9" name="Text 7"/>
          <p:cNvSpPr txBox="1"/>
          <p:nvPr/>
        </p:nvSpPr>
        <p:spPr>
          <a:xfrm>
            <a:off x="6665976" y="2057400"/>
            <a:ext cx="4517136" cy="1554480"/>
          </a:xfrm>
          <a:prstGeom prst="rect">
            <a:avLst/>
          </a:prstGeom>
          <a:noFill/>
          <a:ln/>
        </p:spPr>
        <p:txBody>
          <a:bodyPr wrap="square" lIns="0" tIns="0" rIns="0" bIns="0" rtlCol="0" anchor="t"/>
          <a:lstStyle/>
          <a:p>
            <a:pPr marL="342900" indent="-342900">
              <a:spcAft>
                <a:spcPts val="800"/>
              </a:spcAft>
              <a:buSzPct val="100000"/>
              <a:buChar char="•"/>
            </a:pPr>
            <a:r>
              <a:rPr lang="en-US" sz="1600" b="1" dirty="0">
                <a:solidFill>
                  <a:schemeClr val="accent1"/>
                </a:solidFill>
              </a:rPr>
              <a:t>Startups — </a:t>
            </a:r>
            <a:pPr indent="0" marL="0">
              <a:spcAft>
                <a:spcPts val="800"/>
              </a:spcAft>
              <a:buNone/>
            </a:pPr>
            <a:r>
              <a:rPr lang="en-US" sz="1600" dirty="0">
                <a:solidFill>
                  <a:schemeClr val="accent6"/>
                </a:solidFill>
              </a:rPr>
              <a:t>licence costs are high and fixed</a:t>
            </a:r>
            <a:endParaRPr lang="en-US" sz="1600" dirty="0"/>
          </a:p>
          <a:p>
            <a:pPr marL="342900" indent="-342900">
              <a:spcAft>
                <a:spcPts val="800"/>
              </a:spcAft>
              <a:buSzPct val="100000"/>
              <a:buChar char="•"/>
            </a:pPr>
            <a:r>
              <a:rPr lang="en-US" sz="1600" b="1" dirty="0">
                <a:solidFill>
                  <a:schemeClr val="accent1"/>
                </a:solidFill>
              </a:rPr>
              <a:t>Early-stage projects — </a:t>
            </a:r>
            <a:pPr indent="0" marL="0">
              <a:spcAft>
                <a:spcPts val="800"/>
              </a:spcAft>
              <a:buNone/>
            </a:pPr>
            <a:r>
              <a:rPr lang="en-US" sz="1600" dirty="0">
                <a:solidFill>
                  <a:schemeClr val="accent6"/>
                </a:solidFill>
              </a:rPr>
              <a:t>no extra funding</a:t>
            </a:r>
            <a:endParaRPr lang="en-US" sz="1600" dirty="0"/>
          </a:p>
          <a:p>
            <a:pPr marL="342900" indent="-342900">
              <a:spcAft>
                <a:spcPts val="800"/>
              </a:spcAft>
              <a:buSzPct val="100000"/>
              <a:buChar char="•"/>
            </a:pPr>
            <a:r>
              <a:rPr lang="en-US" sz="1600" b="1" dirty="0">
                <a:solidFill>
                  <a:schemeClr val="accent1"/>
                </a:solidFill>
              </a:rPr>
              <a:t>Offshore players — </a:t>
            </a:r>
            <a:pPr indent="0" marL="0">
              <a:spcAft>
                <a:spcPts val="800"/>
              </a:spcAft>
              <a:buNone/>
            </a:pPr>
            <a:r>
              <a:rPr lang="en-US" sz="1600" dirty="0">
                <a:solidFill>
                  <a:schemeClr val="accent6"/>
                </a:solidFill>
              </a:rPr>
              <a:t>cut off from EU users</a:t>
            </a:r>
            <a:endParaRPr lang="en-US" sz="1600" dirty="0"/>
          </a:p>
        </p:txBody>
      </p:sp>
      <p:sp>
        <p:nvSpPr>
          <p:cNvPr id="10" name="Shape 8"/>
          <p:cNvSpPr/>
          <p:nvPr/>
        </p:nvSpPr>
        <p:spPr>
          <a:xfrm>
            <a:off x="914400" y="3931920"/>
            <a:ext cx="457200" cy="457200"/>
          </a:xfrm>
          <a:prstGeom prst="ellipse">
            <a:avLst/>
          </a:prstGeom>
          <a:solidFill>
            <a:schemeClr val="accent2"/>
          </a:solidFill>
          <a:ln w="12700">
            <a:solidFill>
              <a:schemeClr val="accent2"/>
            </a:solidFill>
            <a:prstDash val="solid"/>
          </a:ln>
        </p:spPr>
      </p:sp>
      <p:pic>
        <p:nvPicPr>
          <p:cNvPr id="11" name="Image 0" descr="preencoded.png">    </p:cNvPr>
          <p:cNvPicPr>
            <a:picLocks noChangeAspect="1"/>
          </p:cNvPicPr>
          <p:nvPr/>
        </p:nvPicPr>
        <p:blipFill>
          <a:blip r:embed="rId1"/>
          <a:stretch>
            <a:fillRect/>
          </a:stretch>
        </p:blipFill>
        <p:spPr>
          <a:xfrm>
            <a:off x="1028700" y="4046220"/>
            <a:ext cx="228600" cy="228600"/>
          </a:xfrm>
          <a:prstGeom prst="rect">
            <a:avLst/>
          </a:prstGeom>
        </p:spPr>
      </p:pic>
      <p:sp>
        <p:nvSpPr>
          <p:cNvPr id="12" name="Text 9"/>
          <p:cNvSpPr txBox="1"/>
          <p:nvPr/>
        </p:nvSpPr>
        <p:spPr>
          <a:xfrm>
            <a:off x="1554480" y="3950208"/>
            <a:ext cx="9948672" cy="685800"/>
          </a:xfrm>
          <a:prstGeom prst="rect">
            <a:avLst/>
          </a:prstGeom>
          <a:noFill/>
          <a:ln/>
        </p:spPr>
        <p:txBody>
          <a:bodyPr wrap="square" lIns="0" tIns="0" rIns="0" bIns="0" rtlCol="0" anchor="t"/>
          <a:lstStyle/>
          <a:p>
            <a:pPr indent="0" marL="0">
              <a:buNone/>
            </a:pPr>
            <a:r>
              <a:rPr lang="en-US" sz="1600" b="1" dirty="0">
                <a:solidFill>
                  <a:schemeClr val="accent2"/>
                </a:solidFill>
              </a:rPr>
              <a:t>Biggest risk ahead: </a:t>
            </a:r>
            <a:pPr indent="0" marL="0">
              <a:buNone/>
            </a:pPr>
            <a:r>
              <a:rPr lang="en-US" sz="1600" dirty="0">
                <a:solidFill>
                  <a:schemeClr val="accent6"/>
                </a:solidFill>
              </a:rPr>
              <a:t>how MiCA 2 treats DeFi. Too strict could push it out of Europe; too loose leaves users unprotected.</a:t>
            </a:r>
            <a:endParaRPr lang="en-US" sz="1600" dirty="0"/>
          </a:p>
        </p:txBody>
      </p:sp>
      <p:sp>
        <p:nvSpPr>
          <p:cNvPr id="13" name="Text 10"/>
          <p:cNvSpPr txBox="1"/>
          <p:nvPr/>
        </p:nvSpPr>
        <p:spPr>
          <a:xfrm>
            <a:off x="914400" y="4937760"/>
            <a:ext cx="10588752" cy="868680"/>
          </a:xfrm>
          <a:prstGeom prst="rect">
            <a:avLst/>
          </a:prstGeom>
          <a:solidFill>
            <a:schemeClr val="accent1"/>
          </a:solidFill>
          <a:ln/>
        </p:spPr>
        <p:txBody>
          <a:bodyPr wrap="square" lIns="177800" tIns="177800" rIns="177800" bIns="177800" rtlCol="0" anchor="ctr"/>
          <a:lstStyle/>
          <a:p>
            <a:pPr indent="0" marL="0">
              <a:buNone/>
            </a:pPr>
            <a:r>
              <a:rPr lang="en-US" sz="2400" b="1" dirty="0">
                <a:solidFill>
                  <a:schemeClr val="bg1"/>
                </a:solidFill>
              </a:rPr>
              <a:t>Europe chose trust over speed</a:t>
            </a:r>
            <a:endParaRPr lang="en-US" sz="2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Business implications</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What this means for business</a:t>
            </a:r>
            <a:endParaRPr lang="en-US" sz="2600" dirty="0"/>
          </a:p>
        </p:txBody>
      </p:sp>
      <p:sp>
        <p:nvSpPr>
          <p:cNvPr id="4" name="Shape 2"/>
          <p:cNvSpPr/>
          <p:nvPr/>
        </p:nvSpPr>
        <p:spPr>
          <a:xfrm>
            <a:off x="914400" y="1371600"/>
            <a:ext cx="7315200" cy="960120"/>
          </a:xfrm>
          <a:prstGeom prst="rect">
            <a:avLst/>
          </a:prstGeom>
          <a:solidFill>
            <a:schemeClr val="bg2"/>
          </a:solidFill>
          <a:ln w="12700">
            <a:solidFill>
              <a:schemeClr val="bg2"/>
            </a:solidFill>
            <a:prstDash val="solid"/>
          </a:ln>
        </p:spPr>
      </p:sp>
      <p:sp>
        <p:nvSpPr>
          <p:cNvPr id="5" name="Shape 3"/>
          <p:cNvSpPr/>
          <p:nvPr/>
        </p:nvSpPr>
        <p:spPr>
          <a:xfrm>
            <a:off x="1115568" y="1577340"/>
            <a:ext cx="548640" cy="54864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252728" y="1714500"/>
            <a:ext cx="274320" cy="274320"/>
          </a:xfrm>
          <a:prstGeom prst="rect">
            <a:avLst/>
          </a:prstGeom>
        </p:spPr>
      </p:pic>
      <p:sp>
        <p:nvSpPr>
          <p:cNvPr id="7" name="Text 4"/>
          <p:cNvSpPr txBox="1"/>
          <p:nvPr/>
        </p:nvSpPr>
        <p:spPr>
          <a:xfrm>
            <a:off x="1874520" y="1463040"/>
            <a:ext cx="1783080" cy="777240"/>
          </a:xfrm>
          <a:prstGeom prst="rect">
            <a:avLst/>
          </a:prstGeom>
          <a:noFill/>
          <a:ln/>
        </p:spPr>
        <p:txBody>
          <a:bodyPr wrap="square" lIns="0" tIns="0" rIns="0" bIns="0" rtlCol="0" anchor="ctr"/>
          <a:lstStyle/>
          <a:p>
            <a:pPr indent="0" marL="0">
              <a:buNone/>
            </a:pPr>
            <a:r>
              <a:rPr lang="en-US" sz="1700" b="1" dirty="0">
                <a:solidFill>
                  <a:schemeClr val="accent1"/>
                </a:solidFill>
              </a:rPr>
              <a:t>Crypto service</a:t>
            </a:r>
            <a:endParaRPr lang="en-US" sz="1700" dirty="0"/>
          </a:p>
        </p:txBody>
      </p:sp>
      <p:sp>
        <p:nvSpPr>
          <p:cNvPr id="8" name="Text 5"/>
          <p:cNvSpPr txBox="1"/>
          <p:nvPr/>
        </p:nvSpPr>
        <p:spPr>
          <a:xfrm>
            <a:off x="3703320" y="1463040"/>
            <a:ext cx="4343400" cy="777240"/>
          </a:xfrm>
          <a:prstGeom prst="rect">
            <a:avLst/>
          </a:prstGeom>
          <a:noFill/>
          <a:ln/>
        </p:spPr>
        <p:txBody>
          <a:bodyPr wrap="square" lIns="0" tIns="0" rIns="0" bIns="0" rtlCol="0" anchor="ctr"/>
          <a:lstStyle/>
          <a:p>
            <a:pPr indent="0" marL="0">
              <a:buNone/>
            </a:pPr>
            <a:r>
              <a:rPr lang="en-US" sz="1400" dirty="0">
                <a:solidFill>
                  <a:schemeClr val="accent6"/>
                </a:solidFill>
              </a:rPr>
              <a:t>Plan a 6–12 month licence process and choose your hub country carefully — one licence covers the whole EEA.</a:t>
            </a:r>
            <a:endParaRPr lang="en-US" sz="1400" dirty="0"/>
          </a:p>
        </p:txBody>
      </p:sp>
      <p:sp>
        <p:nvSpPr>
          <p:cNvPr id="9" name="Shape 6"/>
          <p:cNvSpPr/>
          <p:nvPr/>
        </p:nvSpPr>
        <p:spPr>
          <a:xfrm>
            <a:off x="914400" y="2487168"/>
            <a:ext cx="7315200" cy="960120"/>
          </a:xfrm>
          <a:prstGeom prst="rect">
            <a:avLst/>
          </a:prstGeom>
          <a:solidFill>
            <a:schemeClr val="bg1"/>
          </a:solidFill>
          <a:ln w="12700">
            <a:solidFill>
              <a:schemeClr val="accent4"/>
            </a:solidFill>
            <a:prstDash val="solid"/>
          </a:ln>
        </p:spPr>
      </p:sp>
      <p:sp>
        <p:nvSpPr>
          <p:cNvPr id="10" name="Shape 7"/>
          <p:cNvSpPr/>
          <p:nvPr/>
        </p:nvSpPr>
        <p:spPr>
          <a:xfrm>
            <a:off x="1115568" y="2692908"/>
            <a:ext cx="548640" cy="548640"/>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1252728" y="2830068"/>
            <a:ext cx="274320" cy="274320"/>
          </a:xfrm>
          <a:prstGeom prst="rect">
            <a:avLst/>
          </a:prstGeom>
        </p:spPr>
      </p:pic>
      <p:sp>
        <p:nvSpPr>
          <p:cNvPr id="12" name="Text 8"/>
          <p:cNvSpPr txBox="1"/>
          <p:nvPr/>
        </p:nvSpPr>
        <p:spPr>
          <a:xfrm>
            <a:off x="1874520" y="2578608"/>
            <a:ext cx="1783080" cy="777240"/>
          </a:xfrm>
          <a:prstGeom prst="rect">
            <a:avLst/>
          </a:prstGeom>
          <a:noFill/>
          <a:ln/>
        </p:spPr>
        <p:txBody>
          <a:bodyPr wrap="square" lIns="0" tIns="0" rIns="0" bIns="0" rtlCol="0" anchor="ctr"/>
          <a:lstStyle/>
          <a:p>
            <a:pPr indent="0" marL="0">
              <a:buNone/>
            </a:pPr>
            <a:r>
              <a:rPr lang="en-US" sz="1700" b="1" dirty="0">
                <a:solidFill>
                  <a:schemeClr val="accent1"/>
                </a:solidFill>
              </a:rPr>
              <a:t>Stablecoin</a:t>
            </a:r>
            <a:endParaRPr lang="en-US" sz="1700" dirty="0"/>
          </a:p>
        </p:txBody>
      </p:sp>
      <p:sp>
        <p:nvSpPr>
          <p:cNvPr id="13" name="Text 9"/>
          <p:cNvSpPr txBox="1"/>
          <p:nvPr/>
        </p:nvSpPr>
        <p:spPr>
          <a:xfrm>
            <a:off x="3703320" y="2578608"/>
            <a:ext cx="4343400" cy="777240"/>
          </a:xfrm>
          <a:prstGeom prst="rect">
            <a:avLst/>
          </a:prstGeom>
          <a:noFill/>
          <a:ln/>
        </p:spPr>
        <p:txBody>
          <a:bodyPr wrap="square" lIns="0" tIns="0" rIns="0" bIns="0" rtlCol="0" anchor="ctr"/>
          <a:lstStyle/>
          <a:p>
            <a:pPr indent="0" marL="0">
              <a:buNone/>
            </a:pPr>
            <a:r>
              <a:rPr lang="en-US" sz="1400" dirty="0">
                <a:solidFill>
                  <a:schemeClr val="accent6"/>
                </a:solidFill>
              </a:rPr>
              <a:t>You need a bank or e-money licence, full reserves, and you may not pay interest to holders.</a:t>
            </a:r>
            <a:endParaRPr lang="en-US" sz="1400" dirty="0"/>
          </a:p>
        </p:txBody>
      </p:sp>
      <p:sp>
        <p:nvSpPr>
          <p:cNvPr id="14" name="Shape 10"/>
          <p:cNvSpPr/>
          <p:nvPr/>
        </p:nvSpPr>
        <p:spPr>
          <a:xfrm>
            <a:off x="914400" y="3602736"/>
            <a:ext cx="7315200" cy="960120"/>
          </a:xfrm>
          <a:prstGeom prst="rect">
            <a:avLst/>
          </a:prstGeom>
          <a:solidFill>
            <a:schemeClr val="bg2"/>
          </a:solidFill>
          <a:ln w="12700">
            <a:solidFill>
              <a:schemeClr val="bg2"/>
            </a:solidFill>
            <a:prstDash val="solid"/>
          </a:ln>
        </p:spPr>
      </p:sp>
      <p:sp>
        <p:nvSpPr>
          <p:cNvPr id="15" name="Shape 11"/>
          <p:cNvSpPr/>
          <p:nvPr/>
        </p:nvSpPr>
        <p:spPr>
          <a:xfrm>
            <a:off x="1115568" y="3808476"/>
            <a:ext cx="548640" cy="54864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1252728" y="3945636"/>
            <a:ext cx="274320" cy="274320"/>
          </a:xfrm>
          <a:prstGeom prst="rect">
            <a:avLst/>
          </a:prstGeom>
        </p:spPr>
      </p:pic>
      <p:sp>
        <p:nvSpPr>
          <p:cNvPr id="17" name="Text 12"/>
          <p:cNvSpPr txBox="1"/>
          <p:nvPr/>
        </p:nvSpPr>
        <p:spPr>
          <a:xfrm>
            <a:off x="1874520" y="3694176"/>
            <a:ext cx="1783080" cy="777240"/>
          </a:xfrm>
          <a:prstGeom prst="rect">
            <a:avLst/>
          </a:prstGeom>
          <a:noFill/>
          <a:ln/>
        </p:spPr>
        <p:txBody>
          <a:bodyPr wrap="square" lIns="0" tIns="0" rIns="0" bIns="0" rtlCol="0" anchor="ctr"/>
          <a:lstStyle/>
          <a:p>
            <a:pPr indent="0" marL="0">
              <a:buNone/>
            </a:pPr>
            <a:r>
              <a:rPr lang="en-US" sz="1700" b="1" dirty="0">
                <a:solidFill>
                  <a:schemeClr val="accent1"/>
                </a:solidFill>
              </a:rPr>
              <a:t>DeFi project</a:t>
            </a:r>
            <a:endParaRPr lang="en-US" sz="1700" dirty="0"/>
          </a:p>
        </p:txBody>
      </p:sp>
      <p:sp>
        <p:nvSpPr>
          <p:cNvPr id="18" name="Text 13"/>
          <p:cNvSpPr txBox="1"/>
          <p:nvPr/>
        </p:nvSpPr>
        <p:spPr>
          <a:xfrm>
            <a:off x="3703320" y="3694176"/>
            <a:ext cx="4343400" cy="777240"/>
          </a:xfrm>
          <a:prstGeom prst="rect">
            <a:avLst/>
          </a:prstGeom>
          <a:noFill/>
          <a:ln/>
        </p:spPr>
        <p:txBody>
          <a:bodyPr wrap="square" lIns="0" tIns="0" rIns="0" bIns="0" rtlCol="0" anchor="ctr"/>
          <a:lstStyle/>
          <a:p>
            <a:pPr indent="0" marL="0">
              <a:buNone/>
            </a:pPr>
            <a:r>
              <a:rPr lang="en-US" sz="1400" dirty="0">
                <a:solidFill>
                  <a:schemeClr val="accent6"/>
                </a:solidFill>
              </a:rPr>
              <a:t>Not covered yet, but follow the MiCA 2 process now — rules may follow the 2027 report.</a:t>
            </a:r>
            <a:endParaRPr lang="en-US" sz="1400" dirty="0"/>
          </a:p>
        </p:txBody>
      </p:sp>
      <p:sp>
        <p:nvSpPr>
          <p:cNvPr id="19" name="Shape 14"/>
          <p:cNvSpPr/>
          <p:nvPr/>
        </p:nvSpPr>
        <p:spPr>
          <a:xfrm>
            <a:off x="914400" y="4718304"/>
            <a:ext cx="7315200" cy="960120"/>
          </a:xfrm>
          <a:prstGeom prst="rect">
            <a:avLst/>
          </a:prstGeom>
          <a:solidFill>
            <a:schemeClr val="bg1"/>
          </a:solidFill>
          <a:ln w="12700">
            <a:solidFill>
              <a:schemeClr val="accent4"/>
            </a:solidFill>
            <a:prstDash val="solid"/>
          </a:ln>
        </p:spPr>
      </p:sp>
      <p:sp>
        <p:nvSpPr>
          <p:cNvPr id="20" name="Shape 15"/>
          <p:cNvSpPr/>
          <p:nvPr/>
        </p:nvSpPr>
        <p:spPr>
          <a:xfrm>
            <a:off x="1115568" y="4924044"/>
            <a:ext cx="548640" cy="548640"/>
          </a:xfrm>
          <a:prstGeom prst="ellipse">
            <a:avLst/>
          </a:prstGeom>
          <a:solidFill>
            <a:schemeClr val="accent1"/>
          </a:solidFill>
          <a:ln w="1270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1252728" y="5061204"/>
            <a:ext cx="274320" cy="274320"/>
          </a:xfrm>
          <a:prstGeom prst="rect">
            <a:avLst/>
          </a:prstGeom>
        </p:spPr>
      </p:pic>
      <p:sp>
        <p:nvSpPr>
          <p:cNvPr id="22" name="Text 16"/>
          <p:cNvSpPr txBox="1"/>
          <p:nvPr/>
        </p:nvSpPr>
        <p:spPr>
          <a:xfrm>
            <a:off x="1874520" y="4809744"/>
            <a:ext cx="1783080" cy="777240"/>
          </a:xfrm>
          <a:prstGeom prst="rect">
            <a:avLst/>
          </a:prstGeom>
          <a:noFill/>
          <a:ln/>
        </p:spPr>
        <p:txBody>
          <a:bodyPr wrap="square" lIns="0" tIns="0" rIns="0" bIns="0" rtlCol="0" anchor="ctr"/>
          <a:lstStyle/>
          <a:p>
            <a:pPr indent="0" marL="0">
              <a:buNone/>
            </a:pPr>
            <a:r>
              <a:rPr lang="en-US" sz="1700" b="1" dirty="0">
                <a:solidFill>
                  <a:schemeClr val="accent1"/>
                </a:solidFill>
              </a:rPr>
              <a:t>EU + US</a:t>
            </a:r>
            <a:endParaRPr lang="en-US" sz="1700" dirty="0"/>
          </a:p>
        </p:txBody>
      </p:sp>
      <p:sp>
        <p:nvSpPr>
          <p:cNvPr id="23" name="Text 17"/>
          <p:cNvSpPr txBox="1"/>
          <p:nvPr/>
        </p:nvSpPr>
        <p:spPr>
          <a:xfrm>
            <a:off x="3703320" y="4809744"/>
            <a:ext cx="4343400" cy="777240"/>
          </a:xfrm>
          <a:prstGeom prst="rect">
            <a:avLst/>
          </a:prstGeom>
          <a:noFill/>
          <a:ln/>
        </p:spPr>
        <p:txBody>
          <a:bodyPr wrap="square" lIns="0" tIns="0" rIns="0" bIns="0" rtlCol="0" anchor="ctr"/>
          <a:lstStyle/>
          <a:p>
            <a:pPr indent="0" marL="0">
              <a:buNone/>
            </a:pPr>
            <a:r>
              <a:rPr lang="en-US" sz="1400" dirty="0">
                <a:solidFill>
                  <a:schemeClr val="accent6"/>
                </a:solidFill>
              </a:rPr>
              <a:t>Run two separate compliance tracks: MiCA in Europe, the GENIUS Act for US stablecoins.</a:t>
            </a:r>
            <a:endParaRPr lang="en-US" sz="1400" dirty="0"/>
          </a:p>
        </p:txBody>
      </p:sp>
      <p:sp>
        <p:nvSpPr>
          <p:cNvPr id="24" name="Text 18"/>
          <p:cNvSpPr txBox="1"/>
          <p:nvPr/>
        </p:nvSpPr>
        <p:spPr>
          <a:xfrm>
            <a:off x="914400" y="5806440"/>
            <a:ext cx="7315200" cy="320040"/>
          </a:xfrm>
          <a:prstGeom prst="rect">
            <a:avLst/>
          </a:prstGeom>
          <a:noFill/>
          <a:ln/>
        </p:spPr>
        <p:txBody>
          <a:bodyPr wrap="square" lIns="0" tIns="0" rIns="0" bIns="0" rtlCol="0" anchor="t"/>
          <a:lstStyle/>
          <a:p>
            <a:pPr indent="0" marL="0">
              <a:buNone/>
            </a:pPr>
            <a:r>
              <a:rPr lang="en-US" sz="1400" i="1" dirty="0">
                <a:solidFill>
                  <a:schemeClr val="accent3"/>
                </a:solidFill>
              </a:rPr>
              <a:t>Rule of thumb: compliance is now part of the business model, not an afterthought.</a:t>
            </a:r>
            <a:endParaRPr lang="en-US" sz="1400" dirty="0"/>
          </a:p>
        </p:txBody>
      </p:sp>
      <p:sp>
        <p:nvSpPr>
          <p:cNvPr id="25" name="Text 2"/>
          <p:cNvSpPr/>
          <p:nvPr>
            <p:ph idx="104" hasCustomPrompt="1"/>
          </p:nvPr>
        </p:nvSpPr>
        <p:spPr>
          <a:xfrm>
            <a:off x="8549640" y="1417320"/>
            <a:ext cx="2953512" cy="466344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Conclusion</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Conclusion &amp; discussion</a:t>
            </a:r>
            <a:endParaRPr lang="en-US" sz="2600" dirty="0"/>
          </a:p>
        </p:txBody>
      </p:sp>
      <p:sp>
        <p:nvSpPr>
          <p:cNvPr id="4" name="Text 2"/>
          <p:cNvSpPr txBox="1"/>
          <p:nvPr/>
        </p:nvSpPr>
        <p:spPr>
          <a:xfrm>
            <a:off x="914400" y="1325880"/>
            <a:ext cx="7315200" cy="1554480"/>
          </a:xfrm>
          <a:prstGeom prst="rect">
            <a:avLst/>
          </a:prstGeom>
          <a:noFill/>
          <a:ln/>
        </p:spPr>
        <p:txBody>
          <a:bodyPr wrap="square" lIns="0" tIns="0" rIns="0" bIns="0" rtlCol="0" anchor="t"/>
          <a:lstStyle/>
          <a:p>
            <a:pPr marL="342900" indent="-342900">
              <a:spcAft>
                <a:spcPts val="800"/>
              </a:spcAft>
              <a:buSzPct val="100000"/>
              <a:buChar char="•"/>
            </a:pPr>
            <a:r>
              <a:rPr lang="en-US" sz="1600" b="1" dirty="0">
                <a:solidFill>
                  <a:schemeClr val="accent1"/>
                </a:solidFill>
              </a:rPr>
              <a:t>World’s first comprehensive crypto regime </a:t>
            </a:r>
            <a:pPr indent="0" marL="0">
              <a:spcAft>
                <a:spcPts val="800"/>
              </a:spcAft>
              <a:buNone/>
            </a:pPr>
            <a:r>
              <a:rPr lang="en-US" sz="1600" dirty="0">
                <a:solidFill>
                  <a:schemeClr val="accent6"/>
                </a:solidFill>
              </a:rPr>
              <a:t>— one rulebook for 27 countries.</a:t>
            </a:r>
            <a:endParaRPr lang="en-US" sz="1600" dirty="0"/>
          </a:p>
          <a:p>
            <a:pPr marL="342900" indent="-342900">
              <a:spcAft>
                <a:spcPts val="800"/>
              </a:spcAft>
              <a:buSzPct val="100000"/>
              <a:buChar char="•"/>
            </a:pPr>
            <a:r>
              <a:rPr lang="en-US" sz="1600" b="1" dirty="0">
                <a:solidFill>
                  <a:schemeClr val="accent1"/>
                </a:solidFill>
              </a:rPr>
              <a:t>2026 = enforcement year </a:t>
            </a:r>
            <a:pPr indent="0" marL="0">
              <a:spcAft>
                <a:spcPts val="800"/>
              </a:spcAft>
              <a:buNone/>
            </a:pPr>
            <a:r>
              <a:rPr lang="en-US" sz="1600" dirty="0">
                <a:solidFill>
                  <a:schemeClr val="accent6"/>
                </a:solidFill>
              </a:rPr>
              <a:t>— only licensed firms may operate.</a:t>
            </a:r>
            <a:endParaRPr lang="en-US" sz="1600" dirty="0"/>
          </a:p>
          <a:p>
            <a:pPr marL="342900" indent="-342900">
              <a:spcAft>
                <a:spcPts val="800"/>
              </a:spcAft>
              <a:buSzPct val="100000"/>
              <a:buChar char="•"/>
            </a:pPr>
            <a:r>
              <a:rPr lang="en-US" sz="1600" b="1" dirty="0">
                <a:solidFill>
                  <a:schemeClr val="accent1"/>
                </a:solidFill>
              </a:rPr>
              <a:t>Trade-off </a:t>
            </a:r>
            <a:pPr indent="0" marL="0">
              <a:spcAft>
                <a:spcPts val="800"/>
              </a:spcAft>
              <a:buNone/>
            </a:pPr>
            <a:r>
              <a:rPr lang="en-US" sz="1600" dirty="0">
                <a:solidFill>
                  <a:schemeClr val="accent6"/>
                </a:solidFill>
              </a:rPr>
              <a:t>— more trust and big players, but fewer small firms and less early-stage money.</a:t>
            </a:r>
            <a:endParaRPr lang="en-US" sz="1600" dirty="0"/>
          </a:p>
        </p:txBody>
      </p:sp>
      <p:sp>
        <p:nvSpPr>
          <p:cNvPr id="5" name="Text 3"/>
          <p:cNvSpPr txBox="1"/>
          <p:nvPr/>
        </p:nvSpPr>
        <p:spPr>
          <a:xfrm>
            <a:off x="914400" y="3017520"/>
            <a:ext cx="3657600" cy="292608"/>
          </a:xfrm>
          <a:prstGeom prst="rect">
            <a:avLst/>
          </a:prstGeom>
          <a:noFill/>
          <a:ln/>
        </p:spPr>
        <p:txBody>
          <a:bodyPr wrap="square" lIns="0" tIns="0" rIns="0" bIns="0" rtlCol="0" anchor="t"/>
          <a:lstStyle/>
          <a:p>
            <a:pPr indent="0" marL="0">
              <a:buNone/>
            </a:pPr>
            <a:r>
              <a:rPr lang="en-US" sz="1400" b="1" dirty="0">
                <a:solidFill>
                  <a:schemeClr val="accent3"/>
                </a:solidFill>
              </a:rPr>
              <a:t>Our answer</a:t>
            </a:r>
            <a:endParaRPr lang="en-US" sz="1400" dirty="0"/>
          </a:p>
        </p:txBody>
      </p:sp>
      <p:sp>
        <p:nvSpPr>
          <p:cNvPr id="6" name="Text 4"/>
          <p:cNvSpPr txBox="1"/>
          <p:nvPr/>
        </p:nvSpPr>
        <p:spPr>
          <a:xfrm>
            <a:off x="914400" y="3337560"/>
            <a:ext cx="7315200" cy="868680"/>
          </a:xfrm>
          <a:prstGeom prst="rect">
            <a:avLst/>
          </a:prstGeom>
          <a:noFill/>
          <a:ln/>
        </p:spPr>
        <p:txBody>
          <a:bodyPr wrap="square" lIns="0" tIns="0" rIns="0" bIns="0" rtlCol="0" anchor="t"/>
          <a:lstStyle/>
          <a:p>
            <a:pPr indent="0" marL="0">
              <a:buNone/>
            </a:pPr>
            <a:r>
              <a:rPr lang="en-US" sz="2400" b="1" i="1" dirty="0">
                <a:solidFill>
                  <a:schemeClr val="accent2"/>
                </a:solidFill>
              </a:rPr>
              <a:t>“Yes — but only for those who can afford compliance”</a:t>
            </a:r>
            <a:endParaRPr lang="en-US" sz="2400" dirty="0"/>
          </a:p>
        </p:txBody>
      </p:sp>
      <p:sp>
        <p:nvSpPr>
          <p:cNvPr id="7" name="Text 5"/>
          <p:cNvSpPr txBox="1"/>
          <p:nvPr/>
        </p:nvSpPr>
        <p:spPr>
          <a:xfrm>
            <a:off x="914400" y="4434840"/>
            <a:ext cx="7315200" cy="1463040"/>
          </a:xfrm>
          <a:prstGeom prst="rect">
            <a:avLst/>
          </a:prstGeom>
          <a:solidFill>
            <a:schemeClr val="accent1"/>
          </a:solidFill>
          <a:ln/>
        </p:spPr>
        <p:txBody>
          <a:bodyPr wrap="square" lIns="228600" tIns="228600" rIns="228600" bIns="228600" rtlCol="0" anchor="ctr"/>
          <a:lstStyle/>
          <a:p>
            <a:pPr indent="0" marL="0">
              <a:spcAft>
                <a:spcPts val="600"/>
              </a:spcAft>
              <a:buNone/>
            </a:pPr>
            <a:r>
              <a:rPr lang="en-US" sz="1400" b="1" dirty="0">
                <a:solidFill>
                  <a:schemeClr val="accent4"/>
                </a:solidFill>
              </a:rPr>
              <a:t>Question for discussion</a:t>
            </a:r>
            <a:endParaRPr lang="en-US" sz="1400" dirty="0"/>
          </a:p>
          <a:p>
            <a:pPr indent="0" marL="0">
              <a:spcAft>
                <a:spcPts val="600"/>
              </a:spcAft>
              <a:buNone/>
            </a:pPr>
            <a:r>
              <a:rPr lang="en-US" sz="2000" b="1" dirty="0">
                <a:solidFill>
                  <a:schemeClr val="bg1"/>
                </a:solidFill>
              </a:rPr>
              <a:t>Would you choose a MiCA-licensed exchange over a cheaper offshore one?</a:t>
            </a:r>
            <a:endParaRPr lang="en-US" sz="1400" dirty="0"/>
          </a:p>
        </p:txBody>
      </p:sp>
      <p:sp>
        <p:nvSpPr>
          <p:cNvPr id="8" name="Text 2"/>
          <p:cNvSpPr/>
          <p:nvPr>
            <p:ph idx="104" hasCustomPrompt="1"/>
          </p:nvPr>
        </p:nvSpPr>
        <p:spPr>
          <a:xfrm>
            <a:off x="8549640" y="1417320"/>
            <a:ext cx="2953512" cy="466344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Sources</a:t>
            </a:r>
            <a:endParaRPr lang="en-US" sz="1400" dirty="0"/>
          </a:p>
        </p:txBody>
      </p:sp>
      <p:sp>
        <p:nvSpPr>
          <p:cNvPr id="3" name="Text 1"/>
          <p:cNvSpPr/>
          <p:nvPr>
            <p:ph idx="102" type="title" hasCustomPrompt="1"/>
          </p:nvPr>
        </p:nvSpPr>
        <p:spPr>
          <a:xfrm>
            <a:off x="914400" y="475488"/>
            <a:ext cx="9144000" cy="548640"/>
          </a:xfrm>
          <a:prstGeom prst="rect">
            <a:avLst/>
          </a:prstGeom>
          <a:noFill/>
          <a:ln/>
        </p:spPr>
        <p:txBody>
          <a:bodyPr wrap="square" lIns="0" tIns="0" rIns="0" bIns="0" rtlCol="0" anchor="ctr"/>
          <a:lstStyle/>
          <a:p>
            <a:pPr algn="l" indent="0" marL="0">
              <a:buNone/>
            </a:pPr>
            <a:r>
              <a:rPr lang="en-US" sz="2600" b="1" dirty="0">
                <a:solidFill>
                  <a:schemeClr val="accent1"/>
                </a:solidFill>
              </a:rPr>
              <a:t>Bibliography</a:t>
            </a:r>
            <a:endParaRPr lang="en-US" sz="2600" dirty="0"/>
          </a:p>
        </p:txBody>
      </p:sp>
      <p:sp>
        <p:nvSpPr>
          <p:cNvPr id="4" name="Text 2"/>
          <p:cNvSpPr txBox="1"/>
          <p:nvPr/>
        </p:nvSpPr>
        <p:spPr>
          <a:xfrm>
            <a:off x="914400" y="1325880"/>
            <a:ext cx="5111496" cy="489204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BlockEden (2026). MiCA’s July 2026 Cliff: The EU Stablecoin Delisting Map.</a:t>
            </a:r>
            <a:endParaRPr lang="en-US" sz="1200" dirty="0"/>
          </a:p>
          <a:p>
            <a:pPr indent="0" marL="0">
              <a:spcAft>
                <a:spcPts val="500"/>
              </a:spcAft>
              <a:buNone/>
            </a:pPr>
            <a:r>
              <a:rPr lang="en-US" sz="1200" dirty="0">
                <a:solidFill>
                  <a:schemeClr val="tx1"/>
                </a:solidFill>
              </a:rPr>
              <a:t>Chainalysis (2026). The 2026 Crypto Crime Report. Chainalysis Inc.</a:t>
            </a:r>
            <a:endParaRPr lang="en-US" sz="1200" dirty="0"/>
          </a:p>
          <a:p>
            <a:pPr indent="0" marL="0">
              <a:spcAft>
                <a:spcPts val="500"/>
              </a:spcAft>
              <a:buNone/>
            </a:pPr>
            <a:r>
              <a:rPr lang="en-US" sz="1200" dirty="0">
                <a:solidFill>
                  <a:schemeClr val="tx1"/>
                </a:solidFill>
              </a:rPr>
              <a:t>Chainalysis (2025). Crypto theft in 2025: stolen-funds update, December 2025. Chainalysis Inc.</a:t>
            </a:r>
            <a:endParaRPr lang="en-US" sz="1200" dirty="0"/>
          </a:p>
          <a:p>
            <a:pPr indent="0" marL="0">
              <a:spcAft>
                <a:spcPts val="500"/>
              </a:spcAft>
              <a:buNone/>
            </a:pPr>
            <a:r>
              <a:rPr lang="en-US" sz="1200" dirty="0">
                <a:solidFill>
                  <a:schemeClr val="tx1"/>
                </a:solidFill>
              </a:rPr>
              <a:t>Coincub (2025). Europe Crypto Report 2025.</a:t>
            </a:r>
            <a:endParaRPr lang="en-US" sz="1200" dirty="0"/>
          </a:p>
          <a:p>
            <a:pPr indent="0" marL="0">
              <a:spcAft>
                <a:spcPts val="500"/>
              </a:spcAft>
              <a:buNone/>
            </a:pPr>
            <a:r>
              <a:rPr lang="en-US" sz="1200" dirty="0">
                <a:solidFill>
                  <a:schemeClr val="tx1"/>
                </a:solidFill>
              </a:rPr>
              <a:t>Elliptic (2026). What the end of MiCA’s transitional period means for crypto businesses. https://www.elliptic.co/blog/the-end-of-micas-transitional-period</a:t>
            </a:r>
            <a:endParaRPr lang="en-US" sz="1200" dirty="0"/>
          </a:p>
          <a:p>
            <a:pPr indent="0" marL="0">
              <a:spcAft>
                <a:spcPts val="500"/>
              </a:spcAft>
              <a:buNone/>
            </a:pPr>
            <a:r>
              <a:rPr lang="en-US" sz="1200" dirty="0">
                <a:solidFill>
                  <a:schemeClr val="tx1"/>
                </a:solidFill>
              </a:rPr>
              <a:t>ESMA (2026). Statement on the end of transitional periods under MiCA, ESMA75-113276571-1679, 17 April 2026.</a:t>
            </a:r>
            <a:endParaRPr lang="en-US" sz="1200" dirty="0"/>
          </a:p>
          <a:p>
            <a:pPr indent="0" marL="0">
              <a:spcAft>
                <a:spcPts val="500"/>
              </a:spcAft>
              <a:buNone/>
            </a:pPr>
            <a:r>
              <a:rPr lang="en-US" sz="1200" dirty="0">
                <a:solidFill>
                  <a:schemeClr val="tx1"/>
                </a:solidFill>
              </a:rPr>
              <a:t>ESMA (2026). Interim MiCA register: authorised CASPs (snapshot 30 September 2026).</a:t>
            </a:r>
            <a:endParaRPr lang="en-US" sz="1200" dirty="0"/>
          </a:p>
          <a:p>
            <a:pPr indent="0" marL="0">
              <a:spcAft>
                <a:spcPts val="500"/>
              </a:spcAft>
              <a:buNone/>
            </a:pPr>
            <a:r>
              <a:rPr lang="en-US" sz="1200" dirty="0">
                <a:solidFill>
                  <a:schemeClr val="tx1"/>
                </a:solidFill>
              </a:rPr>
              <a:t>European Central Bank (2024). Study on the payment attitudes of consumers in the euro area (SPACE) – 2024.</a:t>
            </a:r>
            <a:endParaRPr lang="en-US" sz="1200" dirty="0"/>
          </a:p>
          <a:p>
            <a:pPr indent="0" marL="0">
              <a:spcAft>
                <a:spcPts val="500"/>
              </a:spcAft>
              <a:buNone/>
            </a:pPr>
            <a:r>
              <a:rPr lang="en-US" sz="1200" dirty="0">
                <a:solidFill>
                  <a:schemeClr val="tx1"/>
                </a:solidFill>
              </a:rPr>
              <a:t>European Commission (2026). Targeted consultation on the review of the Markets in Crypto-Assets Regulation, 20 May 2026.</a:t>
            </a:r>
            <a:endParaRPr lang="en-US" sz="1200" dirty="0"/>
          </a:p>
          <a:p>
            <a:pPr indent="0" marL="0">
              <a:spcAft>
                <a:spcPts val="500"/>
              </a:spcAft>
              <a:buNone/>
            </a:pPr>
            <a:r>
              <a:rPr lang="en-US" sz="1200" dirty="0">
                <a:solidFill>
                  <a:schemeClr val="tx1"/>
                </a:solidFill>
              </a:rPr>
              <a:t>FBI Internet Crime Complaint Center (2025). 2024 Internet Crime Report. Federal Bureau of Investigation.</a:t>
            </a:r>
            <a:endParaRPr lang="en-US" sz="1200" dirty="0"/>
          </a:p>
        </p:txBody>
      </p:sp>
      <p:sp>
        <p:nvSpPr>
          <p:cNvPr id="5" name="Text 3"/>
          <p:cNvSpPr txBox="1"/>
          <p:nvPr/>
        </p:nvSpPr>
        <p:spPr>
          <a:xfrm>
            <a:off x="6391656" y="1325880"/>
            <a:ext cx="5111496" cy="489204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FinTelegram (2026). Stablecoins: US Acceleration Under GENIUS vs. EU Containment Under MiCA.</a:t>
            </a:r>
            <a:endParaRPr lang="en-US" sz="1200" dirty="0"/>
          </a:p>
          <a:p>
            <a:pPr indent="0" marL="0">
              <a:spcAft>
                <a:spcPts val="500"/>
              </a:spcAft>
              <a:buNone/>
            </a:pPr>
            <a:r>
              <a:rPr lang="en-US" sz="1200" dirty="0">
                <a:solidFill>
                  <a:schemeClr val="tx1"/>
                </a:solidFill>
              </a:rPr>
              <a:t>GENIUS Act (Guiding and Establishing National Innovation for U.S. Stablecoins Act), United States, 2025.</a:t>
            </a:r>
            <a:endParaRPr lang="en-US" sz="1200" dirty="0"/>
          </a:p>
          <a:p>
            <a:pPr indent="0" marL="0">
              <a:spcAft>
                <a:spcPts val="500"/>
              </a:spcAft>
              <a:buNone/>
            </a:pPr>
            <a:r>
              <a:rPr lang="en-US" sz="1200" dirty="0">
                <a:solidFill>
                  <a:schemeClr val="tx1"/>
                </a:solidFill>
              </a:rPr>
              <a:t>KPMG Cyprus (2026). CASPs grandfathering period, June 2026.</a:t>
            </a:r>
            <a:endParaRPr lang="en-US" sz="1200" dirty="0"/>
          </a:p>
          <a:p>
            <a:pPr indent="0" marL="0">
              <a:spcAft>
                <a:spcPts val="500"/>
              </a:spcAft>
              <a:buNone/>
            </a:pPr>
            <a:r>
              <a:rPr lang="en-US" sz="1200" dirty="0">
                <a:solidFill>
                  <a:schemeClr val="tx1"/>
                </a:solidFill>
              </a:rPr>
              <a:t>Latham &amp; Watkins (2026). MiCA Review: European Commission Launches Consultation on EU Cryptoasset Regulatory Framework. JD Supra.</a:t>
            </a:r>
            <a:endParaRPr lang="en-US" sz="1200" dirty="0"/>
          </a:p>
          <a:p>
            <a:pPr indent="0" marL="0">
              <a:spcAft>
                <a:spcPts val="500"/>
              </a:spcAft>
              <a:buNone/>
            </a:pPr>
            <a:r>
              <a:rPr lang="en-US" sz="1200" dirty="0">
                <a:solidFill>
                  <a:schemeClr val="tx1"/>
                </a:solidFill>
              </a:rPr>
              <a:t>Linklaters (2026). MiCA review asks whether EU’s crypto regime is fit for the future. https://techinsights.linklaters.com/post/102n0up/mica-review-asks-whether-eus-crypto-regime-is-fit-for-the-future</a:t>
            </a:r>
            <a:endParaRPr lang="en-US" sz="1200" dirty="0"/>
          </a:p>
          <a:p>
            <a:pPr indent="0" marL="0">
              <a:spcAft>
                <a:spcPts val="500"/>
              </a:spcAft>
              <a:buNone/>
            </a:pPr>
            <a:r>
              <a:rPr lang="en-US" sz="1200" dirty="0">
                <a:solidFill>
                  <a:schemeClr val="tx1"/>
                </a:solidFill>
              </a:rPr>
              <a:t>Regulation (EU) 2023/1114 on markets in crypto-assets (MiCA). Official Journal of the EU, L 150, 9.6.2023.</a:t>
            </a:r>
            <a:endParaRPr lang="en-US" sz="1200" dirty="0"/>
          </a:p>
          <a:p>
            <a:pPr indent="0" marL="0">
              <a:spcAft>
                <a:spcPts val="500"/>
              </a:spcAft>
              <a:buNone/>
            </a:pPr>
            <a:r>
              <a:rPr lang="en-US" sz="1200" dirty="0">
                <a:solidFill>
                  <a:schemeClr val="tx1"/>
                </a:solidFill>
              </a:rPr>
              <a:t>Santos, F. M., Martins, P., Soares, R. F. (2026). The impact of the Markets in Crypto-Assets Regulation on venture capital funding for cryptocurrency startups in Europe. NOVA SBE. http://hdl.handle.net/10362/203414</a:t>
            </a:r>
            <a:endParaRPr lang="en-US" sz="1200" dirty="0"/>
          </a:p>
          <a:p>
            <a:pPr indent="0" marL="0">
              <a:spcAft>
                <a:spcPts val="500"/>
              </a:spcAft>
              <a:buNone/>
            </a:pPr>
            <a:r>
              <a:rPr lang="en-US" sz="1200" dirty="0">
                <a:solidFill>
                  <a:schemeClr val="tx1"/>
                </a:solidFill>
              </a:rPr>
              <a:t>Stablecoin Beat (2026). EUR stablecoins and the MiCA era. https://stablecoinbeat.com/charts/eur-stablecoins/</a:t>
            </a:r>
            <a:endParaRPr lang="en-US" sz="1200" dirty="0"/>
          </a:p>
          <a:p>
            <a:pPr indent="0" marL="0">
              <a:spcAft>
                <a:spcPts val="500"/>
              </a:spcAft>
              <a:buNone/>
            </a:pPr>
            <a:r>
              <a:rPr lang="en-US" sz="1200" dirty="0">
                <a:solidFill>
                  <a:schemeClr val="tx1"/>
                </a:solidFill>
              </a:rPr>
              <a:t>Tech Insider (2026). USDT Is Gone From EU Exchanges.</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Corvinus Seminar">
  <a:themeElements>
    <a:clrScheme name="Corvinus Seminar">
      <a:dk1>
        <a:srgbClr val="1A1A1A"/>
      </a:dk1>
      <a:lt1>
        <a:srgbClr val="FFFFFF"/>
      </a:lt1>
      <a:dk2>
        <a:srgbClr val="0E2841"/>
      </a:dk2>
      <a:lt2>
        <a:srgbClr val="F3F4F6"/>
      </a:lt2>
      <a:accent1>
        <a:srgbClr val="0E2841"/>
      </a:accent1>
      <a:accent2>
        <a:srgbClr val="C00000"/>
      </a:accent2>
      <a:accent3>
        <a:srgbClr val="7F7F7F"/>
      </a:accent3>
      <a:accent4>
        <a:srgbClr val="D1D1D1"/>
      </a:accent4>
      <a:accent5>
        <a:srgbClr val="0080CC"/>
      </a:accent5>
      <a:accent6>
        <a:srgbClr val="404040"/>
      </a:accent6>
      <a:hlink>
        <a:srgbClr val="0080CC"/>
      </a:hlink>
      <a:folHlink>
        <a:srgbClr val="7F7F7F"/>
      </a:folHlink>
    </a:clrScheme>
    <a:fontScheme name="Corvinus Seminar">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Europe Regulate Crypto Without Killing Innovation?</dc:title>
  <dc:subject>PptxGenJS Presentation</dc:subject>
  <dc:creator>Amir Kenenbaev, Aruuke Dzhumabaeva</dc:creator>
  <cp:lastModifiedBy>Amir Kenenbaev, Aruuke Dzhumabaeva</cp:lastModifiedBy>
  <cp:revision>1</cp:revision>
  <dcterms:created xsi:type="dcterms:W3CDTF">2026-10-14T13:22:30Z</dcterms:created>
  <dcterms:modified xsi:type="dcterms:W3CDTF">2026-10-14T13:22:30Z</dcterms:modified>
</cp:coreProperties>
</file>