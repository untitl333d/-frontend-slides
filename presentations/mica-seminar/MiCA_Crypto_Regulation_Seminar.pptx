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8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E2841"/>
                </a:solidFill>
                <a:latin typeface="+mn-lt"/>
              </a:rPr>
              <a:t>Funds stolen in crypto hacks, US$ bn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Stolen funds</c:v>
                </c:pt>
              </c:strCache>
            </c:strRef>
          </c:tx>
          <c:spPr>
            <a:solidFill>
              <a:srgbClr val="0E2841"/>
            </a:solidFill>
            <a:effectLst/>
          </c:spPr>
          <c:invertIfNegative val="0"/>
          <c:dLbls>
            <c:numFmt formatCode="\$0.0&quot; bn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3.7</c:v>
                </c:pt>
                <c:pt idx="1">
                  <c:v>1.8</c:v>
                </c:pt>
                <c:pt idx="2">
                  <c:v>2.2</c:v>
                </c:pt>
                <c:pt idx="3">
                  <c:v>3.4</c:v>
                </c:pt>
              </c:numCache>
            </c:numRef>
          </c:val>
        </c:ser>
        <c:dLbls>
          <c:numFmt formatCode="\$0.0&quot; bn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1D1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5"/>
          <c:min val="0"/>
        </c:scaling>
        <c:delete val="0"/>
        <c:axPos val="l"/>
        <c:majorGridlines>
          <c:spPr>
            <a:ln w="9525" cap="flat">
              <a:solidFill>
                <a:srgbClr val="E5E5E5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8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E2841"/>
                </a:solidFill>
                <a:latin typeface="+mn-lt"/>
              </a:rPr>
              <a:t>EURC share of the euro stablecoin market,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EURC share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F7F7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284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Start</c:v>
                  </c:pt>
                  <c:pt idx="1">
                    <c:v>One year later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</c:v>
                </c:pt>
                <c:pt idx="1">
                  <c:v>41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1D1D1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9525" cap="flat">
              <a:solidFill>
                <a:srgbClr val="E5E5E5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8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E2841"/>
                </a:solidFill>
                <a:latin typeface="+mn-lt"/>
              </a:rPr>
              <a:t>Authorised CASPs by home country, 30 Sep 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CASPs</c:v>
                </c:pt>
              </c:strCache>
            </c:strRef>
          </c:tx>
          <c:spPr>
            <a:solidFill>
              <a:srgbClr val="0E28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Germany</c:v>
                  </c:pt>
                  <c:pt idx="1">
                    <c:v>France</c:v>
                  </c:pt>
                  <c:pt idx="2">
                    <c:v>Netherlands</c:v>
                  </c:pt>
                  <c:pt idx="3">
                    <c:v>Cyprus</c:v>
                  </c:pt>
                  <c:pt idx="4">
                    <c:v>Malta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95</c:v>
                </c:pt>
                <c:pt idx="1">
                  <c:v>36</c:v>
                </c:pt>
                <c:pt idx="2">
                  <c:v>28</c:v>
                </c:pt>
                <c:pt idx="3">
                  <c:v>24</c:v>
                </c:pt>
                <c:pt idx="4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1D1D1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F7F7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Stablecoins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1D1D1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0000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USD and other</c:v>
                </c:pt>
                <c:pt idx="1">
                  <c:v>EUR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99.7</c:v>
                </c:pt>
                <c:pt idx="1">
                  <c:v>0.3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(slides 1-7, ~10 min). Photo circles: right-click a circle &gt; Format Shape &gt; Fill &gt; Picture fill to insert a portrait.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framing slide. Hacks are volatile but never below $1.8 bn a year; illicit volume is &lt;1% of all crypto activity (Chainalysis), yet retail exposure is rising fast (ECB: ownership more than doubled).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Hungary ended its transition a year early (30 June 2025); EU-wide the transition ended on 1 July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274320" cy="98755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Text 1"/>
          <p:cNvSpPr/>
          <p:nvPr/>
        </p:nvSpPr>
        <p:spPr>
          <a:xfrm>
            <a:off x="914400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Can Europe Regulate Crypto Without Killing Innovation?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PICTUR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0"/>
            <a:ext cx="274320" cy="987552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5" name="Text 1"/>
          <p:cNvSpPr/>
          <p:nvPr/>
        </p:nvSpPr>
        <p:spPr>
          <a:xfrm>
            <a:off x="914400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Can Europe Regulate Crypto Without Killing Innovation?</a:t>
            </a:r>
            <a:endParaRPr lang="en-US" sz="1000" dirty="0"/>
          </a:p>
        </p:txBody>
      </p:sp>
      <p:sp>
        <p:nvSpPr>
          <p:cNvPr id="6" name="Text 2"/>
          <p:cNvSpPr/>
          <p:nvPr>
            <p:ph idx="104" hasCustomPrompt="1"/>
          </p:nvPr>
        </p:nvSpPr>
        <p:spPr>
          <a:xfrm>
            <a:off x="8549640" y="1417320"/>
            <a:ext cx="2953512" cy="4663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Insert picture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515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4"/>
                </a:solidFill>
              </a:rPr>
              <a:t>Doing Business in Europe  ·  Seminar presentation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Europe Regulate Crypto Without Killing Innovation?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accent4"/>
                </a:solidFill>
              </a:rPr>
              <a:t>MiCA two years 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8064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Corvinus University of Budapest  ·  Fall 2026</a:t>
            </a:r>
            <a:endParaRPr lang="en-US" sz="1400" dirty="0"/>
          </a:p>
        </p:txBody>
      </p:sp>
      <p:sp>
        <p:nvSpPr>
          <p:cNvPr id="6" name="Photo Amir Kenenbaev"/>
          <p:cNvSpPr/>
          <p:nvPr/>
        </p:nvSpPr>
        <p:spPr>
          <a:xfrm>
            <a:off x="8001000" y="1828800"/>
            <a:ext cx="1828800" cy="1828800"/>
          </a:xfrm>
          <a:prstGeom prst="ellipse">
            <a:avLst/>
          </a:prstGeom>
          <a:solidFill>
            <a:srgbClr val="1B3A5C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2668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Amir Kenenbaev</a:t>
            </a:r>
            <a:endParaRPr lang="en-US" sz="1500" dirty="0"/>
          </a:p>
        </p:txBody>
      </p:sp>
      <p:sp>
        <p:nvSpPr>
          <p:cNvPr id="8" name="Photo Aruuke Dzhumabaeva"/>
          <p:cNvSpPr/>
          <p:nvPr/>
        </p:nvSpPr>
        <p:spPr>
          <a:xfrm>
            <a:off x="10104120" y="1828800"/>
            <a:ext cx="1828800" cy="1828800"/>
          </a:xfrm>
          <a:prstGeom prst="ellipse">
            <a:avLst/>
          </a:prstGeom>
          <a:solidFill>
            <a:srgbClr val="1B3A5C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829800" y="3840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Aruuke Dzhumabaeva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Structure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Agenda</a:t>
            </a:r>
            <a:endParaRPr lang="en-US" sz="2600" dirty="0"/>
          </a:p>
        </p:txBody>
      </p:sp>
      <p:sp>
        <p:nvSpPr>
          <p:cNvPr id="4" name="Agenda card 1"/>
          <p:cNvSpPr/>
          <p:nvPr/>
        </p:nvSpPr>
        <p:spPr>
          <a:xfrm>
            <a:off x="914400" y="1600200"/>
            <a:ext cx="3346704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01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06040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Why regulate crypto</a:t>
            </a:r>
            <a:endParaRPr lang="en-US" sz="2000" dirty="0"/>
          </a:p>
        </p:txBody>
      </p:sp>
      <p:sp>
        <p:nvSpPr>
          <p:cNvPr id="7" name="Agenda card 2"/>
          <p:cNvSpPr/>
          <p:nvPr/>
        </p:nvSpPr>
        <p:spPr>
          <a:xfrm>
            <a:off x="4535424" y="1600200"/>
            <a:ext cx="3346704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02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606040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How MiCA works</a:t>
            </a:r>
            <a:endParaRPr lang="en-US" sz="2000" dirty="0"/>
          </a:p>
        </p:txBody>
      </p:sp>
      <p:sp>
        <p:nvSpPr>
          <p:cNvPr id="10" name="Agenda card 3"/>
          <p:cNvSpPr/>
          <p:nvPr/>
        </p:nvSpPr>
        <p:spPr>
          <a:xfrm>
            <a:off x="8156448" y="1600200"/>
            <a:ext cx="3346704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76488" y="18745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03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8476488" y="2606040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The case for and against</a:t>
            </a:r>
            <a:endParaRPr lang="en-US" sz="2000" dirty="0"/>
          </a:p>
        </p:txBody>
      </p:sp>
      <p:sp>
        <p:nvSpPr>
          <p:cNvPr id="13" name="Agenda card 4"/>
          <p:cNvSpPr/>
          <p:nvPr/>
        </p:nvSpPr>
        <p:spPr>
          <a:xfrm>
            <a:off x="914400" y="3840480"/>
            <a:ext cx="3346704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34440" y="41148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04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846320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EU vs US</a:t>
            </a:r>
            <a:endParaRPr lang="en-US" sz="2000" dirty="0"/>
          </a:p>
        </p:txBody>
      </p:sp>
      <p:sp>
        <p:nvSpPr>
          <p:cNvPr id="16" name="Agenda card 5"/>
          <p:cNvSpPr/>
          <p:nvPr/>
        </p:nvSpPr>
        <p:spPr>
          <a:xfrm>
            <a:off x="4535424" y="3840480"/>
            <a:ext cx="3346704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55464" y="41148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05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4855464" y="4846320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How the EU is adjusting</a:t>
            </a:r>
            <a:endParaRPr lang="en-US" sz="2000" dirty="0"/>
          </a:p>
        </p:txBody>
      </p:sp>
      <p:sp>
        <p:nvSpPr>
          <p:cNvPr id="19" name="Agenda card 6"/>
          <p:cNvSpPr/>
          <p:nvPr/>
        </p:nvSpPr>
        <p:spPr>
          <a:xfrm>
            <a:off x="8156448" y="3840480"/>
            <a:ext cx="3346704" cy="1965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76488" y="41148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06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8476488" y="4846320"/>
            <a:ext cx="2706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Verdict &amp; business implications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Why regulate crypto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Why crypto should be regulated?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822960" y="1371600"/>
          <a:ext cx="64008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914400" y="5943600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Source: Chainalysis (2022–2026); 2025 covers January to early December.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726680" y="1463040"/>
            <a:ext cx="3776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$154 bn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6654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Illicit crypto volume in 2025, a record (lower-bound estimate)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2560320"/>
            <a:ext cx="3776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Chainalysis, 2026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726680" y="2788920"/>
            <a:ext cx="3776472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2971800"/>
            <a:ext cx="3776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$9.3 bn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357530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 crypto fraud losses in 2024, +66% vs 2023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26680" y="4069080"/>
            <a:ext cx="3776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FBI IC3, 2025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726680" y="4297680"/>
            <a:ext cx="3776472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26680" y="4480560"/>
            <a:ext cx="3776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4% → 9%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508406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Euro-area adults owning crypto, 2022 → 2024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26680" y="5577840"/>
            <a:ext cx="3776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ECB SPACE study, 2024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Why regulate crypto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The problem MiCA was built to solve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14400" y="1463040"/>
            <a:ext cx="5157216" cy="2148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691640"/>
            <a:ext cx="4425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2022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514600"/>
            <a:ext cx="4425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Terra/Luna and FTX collapses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971800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Billions in retail losses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45936" y="1463040"/>
            <a:ext cx="5157216" cy="2148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11696" y="1691640"/>
            <a:ext cx="4425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27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6711696" y="2514600"/>
            <a:ext cx="44256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National regimes before MiCA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711696" y="2971800"/>
            <a:ext cx="4425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 EU-wide licence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977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Core dilemma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389120"/>
            <a:ext cx="4882896" cy="123444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Consumer protection &amp; stability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97296" y="480060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vs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620256" y="4389120"/>
            <a:ext cx="4882896" cy="123444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Innovation &amp; competitiveness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How MiCA works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MiCA in one slide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371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Three token types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783080"/>
            <a:ext cx="2377440" cy="20574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19385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EMT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6974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E-money tokens: one currency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USDC, EURC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03120" y="384048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66160" y="1783080"/>
            <a:ext cx="2377440" cy="20574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94760" y="19385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ART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26974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Asset-referenced tokens: basket of assets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54880" y="384048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1783080"/>
            <a:ext cx="2377440" cy="205740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19385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Other crypto-assets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2697480"/>
            <a:ext cx="1920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BTC, ETH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White paper required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06640" y="3840480"/>
            <a:ext cx="0" cy="4114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914400" y="4251960"/>
            <a:ext cx="7680960" cy="123444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CASPs</a:t>
            </a:r>
            <a:endParaRPr lang="en-US" sz="22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Crypto-asset service providers: licence + EU-wide passport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961120" y="1783080"/>
            <a:ext cx="2542032" cy="3703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35440" y="196596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Out of scope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9235440" y="2560320"/>
            <a:ext cx="1993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Fully decentralised DeFi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Most NFTs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How MiCA works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From adoption to full enforcement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828800" y="3246120"/>
            <a:ext cx="8778240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73352" y="3090672"/>
            <a:ext cx="310896" cy="31089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2023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11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MiCA adopted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867912" y="3090672"/>
            <a:ext cx="310896" cy="31089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7180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June 2024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3611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Stablecoin rules apply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62472" y="3090672"/>
            <a:ext cx="310896" cy="31089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6636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Dec 2024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166360" y="3611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CASP rules apply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57032" y="3090672"/>
            <a:ext cx="310896" cy="31089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6092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30 June 2025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360920" y="3611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Hungary's shortened transition ends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451592" y="3090672"/>
            <a:ext cx="310896" cy="31089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55480" y="2377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1 July 2026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555480" y="3611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EU-wide transition ends — only licensed firms may operate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The case for and against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MiCA builds trust and attracts capital</a:t>
            </a:r>
            <a:endParaRPr lang="en-US" sz="2600" dirty="0"/>
          </a:p>
        </p:txBody>
      </p:sp>
      <p:sp>
        <p:nvSpPr>
          <p:cNvPr id="4" name="Tag FOR"/>
          <p:cNvSpPr txBox="1"/>
          <p:nvPr/>
        </p:nvSpPr>
        <p:spPr>
          <a:xfrm>
            <a:off x="10222992" y="292608"/>
            <a:ext cx="1280160" cy="420624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FOR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4630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One licence = access to the whole EEA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Banks enter: Société Générale–FORGE issues stablecoins under MiCA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3246120"/>
            <a:ext cx="5120640" cy="2514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34440" y="34747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+7–9%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2793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VC funding per quarter (2026 study)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46634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Late-stage: +14–17%  ·  early-stage: no change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Santos, Martins &amp; Soares (2026), NOVA SBE</a:t>
            </a:r>
            <a:endParaRPr lang="en-US" sz="10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400800" y="1371600"/>
          <a:ext cx="5102352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6400800" y="5943600"/>
            <a:ext cx="5102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Second value is approximate (~41%).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The case for and against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The market shrank and concentrated</a:t>
            </a:r>
            <a:endParaRPr lang="en-US" sz="2600" dirty="0"/>
          </a:p>
        </p:txBody>
      </p:sp>
      <p:sp>
        <p:nvSpPr>
          <p:cNvPr id="4" name="Tag AGAINST"/>
          <p:cNvSpPr txBox="1"/>
          <p:nvPr/>
        </p:nvSpPr>
        <p:spPr>
          <a:xfrm>
            <a:off x="10222992" y="292608"/>
            <a:ext cx="1280160" cy="420624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AGAINST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417320"/>
            <a:ext cx="3346704" cy="17830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1572768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≈17%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331720"/>
            <a:ext cx="2798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~210 of 1,200+ registered firms got a licence by the end of the transition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35424" y="1417320"/>
            <a:ext cx="3346704" cy="17830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9744" y="1572768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up to 80%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809744" y="2331720"/>
            <a:ext cx="2798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 firms may leave the EU (OKX Europe CEO)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56448" y="1417320"/>
            <a:ext cx="3346704" cy="17830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30768" y="1572768"/>
            <a:ext cx="27980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−70%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430768" y="2331720"/>
            <a:ext cx="27980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EU crypto VC vs the 2022 peak (Coincub 2025, industry source)</a:t>
            </a:r>
            <a:endParaRPr lang="en-US" sz="14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822960" y="3383280"/>
          <a:ext cx="66751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914400" y="6016752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Approx. counts; ESMA interim MiCA register via public trackers (~360 CASPs in total).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726680" y="3474720"/>
            <a:ext cx="3776472" cy="25146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0" y="3639312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Where the big players licensed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4114800"/>
            <a:ext cx="3319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Binance  → 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France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4663440"/>
            <a:ext cx="3319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Kraken &amp; Coinbase  → 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Ireland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5212080"/>
            <a:ext cx="33192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OKX  →  </a:t>
            </a:r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Malta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The case for and against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Stablecoins and DeFi</a:t>
            </a:r>
            <a:endParaRPr lang="en-US" sz="2600" dirty="0"/>
          </a:p>
        </p:txBody>
      </p:sp>
      <p:sp>
        <p:nvSpPr>
          <p:cNvPr id="4" name="Tag AGAINST"/>
          <p:cNvSpPr txBox="1"/>
          <p:nvPr/>
        </p:nvSpPr>
        <p:spPr>
          <a:xfrm>
            <a:off x="10222992" y="292608"/>
            <a:ext cx="1280160" cy="420624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chemeClr val="bg1"/>
                </a:solidFill>
              </a:rPr>
              <a:t>AGAINST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14400" y="1463040"/>
            <a:ext cx="3520440" cy="2148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16916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USDT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194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Tether did not apply → no USDT pairs on licensed EEA exchanges from 1 July 2026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709160" y="1463040"/>
            <a:ext cx="3520440" cy="2148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83480" y="16916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ARTs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983480" y="2194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asset-referenced tokens licensed so far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3886200"/>
            <a:ext cx="3520440" cy="2148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41148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Interest ban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6177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May weaken euro stablecoins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709160" y="3886200"/>
            <a:ext cx="3520440" cy="2148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83480" y="411480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DeFi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4983480" y="46177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most innovative segment sits outside MiCA: not banned, not regulated</a:t>
            </a:r>
            <a:endParaRPr lang="en-US" sz="16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8595360" y="1371600"/>
          <a:ext cx="2907792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8595360" y="2377440"/>
            <a:ext cx="2907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0.3%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8595360" y="425196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Euro stablecoins' share of the global stablecoin market (~$0.9 bn of ~$304 bn)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595360" y="5120640"/>
            <a:ext cx="2907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3"/>
                </a:solidFill>
              </a:rPr>
              <a:t>Stablecoin Beat, Sep–Oct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The case for and against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Fraud, AML &amp; KYC: the price of trust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14400" y="14630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158877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17904"/>
            <a:ext cx="6629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Problem: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scams, hacks, money laundering, sanctions evasion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EU response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14400" y="2606040"/>
            <a:ext cx="16916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000" y="278892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588" y="2921508"/>
            <a:ext cx="265176" cy="26517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43000" y="3456432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Mandatory KYC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2788920" y="2606040"/>
            <a:ext cx="16916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17520" y="278892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08" y="2921508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17520" y="3456432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Travel Rule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63440" y="2606040"/>
            <a:ext cx="16916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92040" y="278892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4628" y="2921508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2040" y="3456432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AML authority (AMLA)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537960" y="2606040"/>
            <a:ext cx="16916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766560" y="2788920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9148" y="2921508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766560" y="3456432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DAC8 tax reporting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914400" y="4480560"/>
            <a:ext cx="3520440" cy="14630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188720" y="46451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Pro-innovation view</a:t>
            </a:r>
            <a:endParaRPr lang="en-US" sz="1800" dirty="0"/>
          </a:p>
        </p:txBody>
      </p:sp>
      <p:sp>
        <p:nvSpPr>
          <p:cNvPr id="26" name="Text 19"/>
          <p:cNvSpPr txBox="1"/>
          <p:nvPr/>
        </p:nvSpPr>
        <p:spPr>
          <a:xfrm>
            <a:off x="1188720" y="50749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clean market attracts institutional capital</a:t>
            </a:r>
            <a:endParaRPr lang="en-US" sz="1600" dirty="0"/>
          </a:p>
        </p:txBody>
      </p:sp>
      <p:sp>
        <p:nvSpPr>
          <p:cNvPr id="27" name="Shape 20"/>
          <p:cNvSpPr/>
          <p:nvPr/>
        </p:nvSpPr>
        <p:spPr>
          <a:xfrm>
            <a:off x="4709160" y="4480560"/>
            <a:ext cx="3520440" cy="146304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983480" y="46451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Anti-innovation view</a:t>
            </a:r>
            <a:endParaRPr lang="en-US" sz="1800" dirty="0"/>
          </a:p>
        </p:txBody>
      </p:sp>
      <p:sp>
        <p:nvSpPr>
          <p:cNvPr id="29" name="Text 22"/>
          <p:cNvSpPr txBox="1"/>
          <p:nvPr/>
        </p:nvSpPr>
        <p:spPr>
          <a:xfrm>
            <a:off x="4983480" y="507492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Compliance costs favour big players</a:t>
            </a:r>
            <a:endParaRPr lang="en-US" sz="1600" dirty="0"/>
          </a:p>
        </p:txBody>
      </p:sp>
      <p:sp>
        <p:nvSpPr>
          <p:cNvPr id="30" name="Text 2"/>
          <p:cNvSpPr/>
          <p:nvPr>
            <p:ph idx="104" hasCustomPrompt="1"/>
          </p:nvPr>
        </p:nvSpPr>
        <p:spPr>
          <a:xfrm>
            <a:off x="8549640" y="1417320"/>
            <a:ext cx="2953512" cy="46634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EU vs US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EU vs US: contain risk or accelerate growth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588752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3968496"/>
                <a:gridCol w="396849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EU (MiCA)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US (GENIUS Act, 2025)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8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E2841"/>
                          </a:solidFill>
                        </a:rPr>
                        <a:t>Scope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</a:rPr>
                        <a:t>Whole crypto market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</a:rPr>
                        <a:t>Payment stablecoins only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E2841"/>
                          </a:solidFill>
                        </a:rPr>
                        <a:t>Philosophy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</a:rPr>
                        <a:t>Contain risk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</a:rPr>
                        <a:t>Accelerate growth, support the dollar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E2841"/>
                          </a:solidFill>
                        </a:rPr>
                        <a:t>USDT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</a:rPr>
                        <a:t>Already delisted on licensed venues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</a:rPr>
                        <a:t>Transition until ~2028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E2841"/>
                          </a:solidFill>
                        </a:rPr>
                        <a:t>Interest to holders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</a:rPr>
                        <a:t>Banned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A1A1A"/>
                          </a:solidFill>
                        </a:rPr>
                        <a:t>Banned</a:t>
                      </a:r>
                      <a:endParaRPr lang="en-US" sz="1700" dirty="0"/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1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914400" y="4754880"/>
            <a:ext cx="10588752" cy="868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Bottom line: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Europe → compliant but smaller issuers;  US → global dollar champions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How the EU is adjusting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The EU is adjusting: “MiCA 2”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069848" y="1920240"/>
            <a:ext cx="7004304" cy="0"/>
          </a:xfrm>
          <a:prstGeom prst="line">
            <a:avLst/>
          </a:prstGeom>
          <a:noFill/>
          <a:ln w="38100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764792"/>
            <a:ext cx="310896" cy="310896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May 2026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94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Commission opens MiCA review consultation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918704" y="1764792"/>
            <a:ext cx="310896" cy="310896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3716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30 June 2027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194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Commission report due — possibly a new proposal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Under review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566160"/>
            <a:ext cx="768096" cy="457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DeFi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819656" y="3566160"/>
            <a:ext cx="1124712" cy="457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Staking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081528" y="3566160"/>
            <a:ext cx="1124712" cy="457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Lending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343400" y="3566160"/>
            <a:ext cx="1719072" cy="457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Interest ban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199632" y="3566160"/>
            <a:ext cx="1837944" cy="457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Reserve rules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4480560"/>
            <a:ext cx="7315200" cy="1325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88720" y="4645152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Parallel proposal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50749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ESMA to supervise the largest crypto firms directly</a:t>
            </a:r>
            <a:endParaRPr lang="en-US" sz="1600" dirty="0"/>
          </a:p>
        </p:txBody>
      </p:sp>
      <p:sp>
        <p:nvSpPr>
          <p:cNvPr id="20" name="Text 2"/>
          <p:cNvSpPr/>
          <p:nvPr>
            <p:ph idx="104" hasCustomPrompt="1"/>
          </p:nvPr>
        </p:nvSpPr>
        <p:spPr>
          <a:xfrm>
            <a:off x="8549640" y="1417320"/>
            <a:ext cx="2953512" cy="46634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Verdict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“MiCA doesn’t kill innovation. It filters it.”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5157216" cy="54864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Winners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2011680"/>
            <a:ext cx="5157216" cy="17830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2194560"/>
            <a:ext cx="45171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Scale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Institutions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Late-stage capital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345936" y="1463040"/>
            <a:ext cx="5157216" cy="548640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Losers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345936" y="2011680"/>
            <a:ext cx="5157216" cy="178308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65976" y="2194560"/>
            <a:ext cx="451713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Startups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Early-stage projects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Offshore players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1148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4240530"/>
            <a:ext cx="251460" cy="25146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600200" y="418795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Biggest risk ahead: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how MiCA 2 treats DeFi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4892040"/>
            <a:ext cx="10588752" cy="86868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177800" tIns="177800" rIns="177800" bIns="17780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Europe chose trust over speed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Business implications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What this means for business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914400" y="1463040"/>
            <a:ext cx="7315200" cy="1005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168249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4732" y="1824228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572768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Crypto service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572768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6–12 month licence process; choose your hub country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914400" y="2633472"/>
            <a:ext cx="7315200" cy="1005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43000" y="285292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732" y="2994660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65960" y="2743200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Stablecoin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023360" y="2743200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Bank or e-money licence, full reserves, no interest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914400" y="3803904"/>
            <a:ext cx="7315200" cy="1005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43000" y="402336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2" y="41650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65960" y="3913632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DeFi project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4023360" y="3913632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Follow the MiCA 2 process now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914400" y="4974336"/>
            <a:ext cx="7315200" cy="100584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1143000" y="51937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4732" y="5335524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965960" y="5084064"/>
            <a:ext cx="20116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EU + US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4023360" y="5084064"/>
            <a:ext cx="4023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Two separate compliance tracks</a:t>
            </a:r>
            <a:endParaRPr lang="en-US" sz="1600" dirty="0"/>
          </a:p>
        </p:txBody>
      </p:sp>
      <p:sp>
        <p:nvSpPr>
          <p:cNvPr id="24" name="Text 2"/>
          <p:cNvSpPr/>
          <p:nvPr>
            <p:ph idx="104" hasCustomPrompt="1"/>
          </p:nvPr>
        </p:nvSpPr>
        <p:spPr>
          <a:xfrm>
            <a:off x="8549640" y="1417320"/>
            <a:ext cx="2953512" cy="46634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Conclusion &amp; discussion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World’s first comprehensive crypto regime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2026 = enforcement year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Our answer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718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i="1" dirty="0">
                <a:solidFill>
                  <a:schemeClr val="accent2"/>
                </a:solidFill>
              </a:rPr>
              <a:t>“Yes — but only for those who can afford compliance”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60520"/>
            <a:ext cx="7315200" cy="1600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228600" tIns="228600" rIns="228600" bIns="22860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accent4"/>
                </a:solidFill>
              </a:rPr>
              <a:t>Question for discussion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Would you choose a MiCA-licensed exchange over a cheaper offshore one?</a:t>
            </a:r>
            <a:endParaRPr lang="en-US" sz="1400" dirty="0"/>
          </a:p>
        </p:txBody>
      </p:sp>
      <p:sp>
        <p:nvSpPr>
          <p:cNvPr id="8" name="Text 2"/>
          <p:cNvSpPr/>
          <p:nvPr>
            <p:ph idx="104" hasCustomPrompt="1"/>
          </p:nvPr>
        </p:nvSpPr>
        <p:spPr>
          <a:xfrm>
            <a:off x="8549640" y="1417320"/>
            <a:ext cx="2953512" cy="46634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914400" y="182880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Sources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914400" y="475488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Bibliography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325880"/>
            <a:ext cx="5111496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BlockEden (2026). MiCA’s July 2026 Cliff: The EU Stablecoin Delisting Map.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Chainalysis (2026). The 2026 Crypto Crime Report. Chainalysis Inc.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Chainalysis (2025). Crypto theft in 2025: stolen-funds update, December 2025. Chainalysis Inc.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Coincub (2025). Europe Crypto Report 2025.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Elliptic (2026). What the end of MiCA’s transitional period means for crypto businesses. https://www.elliptic.co/blog/the-end-of-micas-transitional-period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ESMA (2026). Statement on the end of transitional periods under MiCA, ESMA75-113276571-1679, 17 April 2026.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ESMA (2026). Interim MiCA register: authorised CASPs (snapshot 30 September 2026).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European Central Bank (2024). Study on the payment attitudes of consumers in the euro area (SPACE) – 2024.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European Commission (2026). Targeted consultation on the review of the Markets in Crypto-Assets Regulation, 20 May 2026.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FBI Internet Crime Complaint Center (2025). 2024 Internet Crime Report. Federal Bureau of Investigation.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391656" y="1325880"/>
            <a:ext cx="5111496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FinTelegram (2026). Stablecoins: US Acceleration Under GENIUS vs. EU Containment Under MiCA.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GENIUS Act (Guiding and Establishing National Innovation for U.S. Stablecoins Act), United States, 2025.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KPMG Cyprus (2026). CASPs grandfathering period, June 2026.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Latham &amp; Watkins (2026). MiCA Review: European Commission Launches Consultation on EU Cryptoasset Regulatory Framework. JD Supra.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Linklaters (2026). MiCA review asks whether EU’s crypto regime is fit for the future. https://techinsights.linklaters.com/post/102n0up/mica-review-asks-whether-eus-crypto-regime-is-fit-for-the-future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Regulation (EU) 2023/1114 on markets in crypto-assets (MiCA). Official Journal of the EU, L 150, 9.6.2023.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Santos, F. M., Martins, P., Soares, R. F. (2026). The impact of the Markets in Crypto-Assets Regulation on venture capital funding for cryptocurrency startups in Europe. NOVA SBE. http://hdl.handle.net/10362/203414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Stablecoin Beat (2026). EUR stablecoins and the MiCA era. https://stablecoinbeat.com/charts/eur-stablecoins/</a:t>
            </a:r>
            <a:endParaRPr lang="en-US" sz="12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Tech Insider (2026). USDT Is Gone From EU Exchanges.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5451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vinus Seminar">
  <a:themeElements>
    <a:clrScheme name="Corvinus Seminar">
      <a:dk1>
        <a:srgbClr val="1A1A1A"/>
      </a:dk1>
      <a:lt1>
        <a:srgbClr val="FFFFFF"/>
      </a:lt1>
      <a:dk2>
        <a:srgbClr val="0E2841"/>
      </a:dk2>
      <a:lt2>
        <a:srgbClr val="F3F4F6"/>
      </a:lt2>
      <a:accent1>
        <a:srgbClr val="0E2841"/>
      </a:accent1>
      <a:accent2>
        <a:srgbClr val="C00000"/>
      </a:accent2>
      <a:accent3>
        <a:srgbClr val="7F7F7F"/>
      </a:accent3>
      <a:accent4>
        <a:srgbClr val="D1D1D1"/>
      </a:accent4>
      <a:accent5>
        <a:srgbClr val="0080CC"/>
      </a:accent5>
      <a:accent6>
        <a:srgbClr val="404040"/>
      </a:accent6>
      <a:hlink>
        <a:srgbClr val="0080CC"/>
      </a:hlink>
      <a:folHlink>
        <a:srgbClr val="7F7F7F"/>
      </a:folHlink>
    </a:clrScheme>
    <a:fontScheme name="Corvinus Seminar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 Europe Regulate Crypto Without Killing Innovation?</dc:title>
  <dc:subject>PptxGenJS Presentation</dc:subject>
  <dc:creator>Amir Kenenbaev, Aruuke Dzhumabaeva</dc:creator>
  <cp:lastModifiedBy>Amir Kenenbaev, Aruuke Dzhumabaeva</cp:lastModifiedBy>
  <cp:revision>1</cp:revision>
  <dcterms:created xsi:type="dcterms:W3CDTF">2026-10-14T13:04:28Z</dcterms:created>
  <dcterms:modified xsi:type="dcterms:W3CDTF">2026-10-14T13:04:28Z</dcterms:modified>
</cp:coreProperties>
</file>